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50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pitch
Hi everyone, I am Rongjun from ICRAR and MAUVE.
This work asks a simple question: at fixed local stellar mass density, does gas-phase metallicity follow star formation, or fight it?
Using MAUVE-MUSE data for Virgo spirals, we find that the answer depends on where you are in the disc.
At low Σ*, higher ΣSFR comes with lower metallicity, consistent with fresh gas supply and dilution dominating.
But at high Σ*, the trend flips: higher ΣSFR now comes with higher metallicity, suggesting star formation and enrichment dominate.
So the key message is that one galaxy disc can host two regulation modes, with a transition around log Σ* about 7.5 to 8.0.
[Sources]
- User-provided poster content and figures from MAUVE_Rongjun_Zgas_Sigma_SFR_poster.pptx / 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530352" y="23317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1D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Virgo spirals show a mass-dependent sign flip in the Zgas - ΣSFR relation.</a:t>
            </a:r>
            <a:endParaRPr lang="en-US" sz="1800" dirty="0"/>
          </a:p>
        </p:txBody>
      </p:sp>
      <p:pic>
        <p:nvPicPr>
          <p:cNvPr id="10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72099" y="438912"/>
            <a:ext cx="6377941" cy="42519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3383280"/>
            <a:ext cx="2276856" cy="1307592"/>
          </a:xfrm>
          <a:prstGeom prst="roundRect">
            <a:avLst>
              <a:gd name="adj" fmla="val 8421"/>
            </a:avLst>
          </a:prstGeom>
          <a:solidFill>
            <a:srgbClr val="24162F">
              <a:alpha val="92000"/>
            </a:srgbClr>
          </a:solidFill>
          <a:ln w="12700">
            <a:solidFill>
              <a:srgbClr val="7DDDF3"/>
            </a:solidFill>
            <a:prstDash val="solid"/>
          </a:ln>
          <a:effectLst>
            <a:outerShdw blurRad="1905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58368" y="3601941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DD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Σ* / outer disc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76656" y="4005072"/>
            <a:ext cx="21671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 supply / dilution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6656" y="4315968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DD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ΣSFR, ↓ Zgas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2971800" y="3383280"/>
            <a:ext cx="1613916" cy="1307592"/>
          </a:xfrm>
          <a:prstGeom prst="roundRect">
            <a:avLst>
              <a:gd name="adj" fmla="val 8421"/>
            </a:avLst>
          </a:prstGeom>
          <a:solidFill>
            <a:srgbClr val="24162F">
              <a:alpha val="92000"/>
            </a:srgbClr>
          </a:solidFill>
          <a:ln w="12700">
            <a:solidFill>
              <a:srgbClr val="D8CCEA"/>
            </a:solidFill>
            <a:prstDash val="solid"/>
          </a:ln>
          <a:effectLst>
            <a:outerShdw blurRad="1905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177540" y="352501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C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 SIGN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202624" y="3938346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3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log Σ*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255264" y="431596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C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7.5-8.0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76072" y="4976807"/>
            <a:ext cx="2880360" cy="896112"/>
          </a:xfrm>
          <a:prstGeom prst="roundRect">
            <a:avLst>
              <a:gd name="adj" fmla="val 8163"/>
            </a:avLst>
          </a:prstGeom>
          <a:solidFill>
            <a:srgbClr val="24162F">
              <a:alpha val="92000"/>
            </a:srgbClr>
          </a:solidFill>
          <a:ln w="12700">
            <a:solidFill>
              <a:srgbClr val="FFB44C"/>
            </a:solidFill>
            <a:prstDash val="solid"/>
          </a:ln>
          <a:effectLst>
            <a:outerShdw blurRad="1905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58368" y="5025679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Σ* / inner disc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8368" y="5275718"/>
            <a:ext cx="2624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formation / enrichment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58368" y="5577840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ΣSFR, ↑ Zgas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3611880" y="4976806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1C1227">
              <a:alpha val="90000"/>
            </a:srgbClr>
          </a:solidFill>
          <a:ln w="12700">
            <a:solidFill>
              <a:srgbClr val="6C3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803904" y="506305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E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takeaway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803904" y="5378278"/>
            <a:ext cx="7812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galaxy disc can switch from gas-supply-dominated regulation in the outer parts to enrichment-dominated regulation in the inner parts.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30352" y="6236208"/>
            <a:ext cx="4182618" cy="265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C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Rongjun Huang (</a:t>
            </a:r>
            <a:r>
              <a:rPr lang="en-US" sz="1200" dirty="0" err="1">
                <a:solidFill>
                  <a:srgbClr val="D0C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黄镕钧</a:t>
            </a:r>
            <a:r>
              <a:rPr lang="en-US" sz="1200" dirty="0">
                <a:solidFill>
                  <a:srgbClr val="D0C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 |  ICRAR / UWA  |  ACAMAR 11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1292840" y="6236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C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min</a:t>
            </a:r>
            <a:endParaRPr lang="en-US" sz="1000" dirty="0"/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1A79A0A6-598D-AA8C-D5BB-7F30DB869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" y="443042"/>
            <a:ext cx="3886199" cy="109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2400" b="1" dirty="0">
                <a:solidFill>
                  <a:srgbClr val="9161A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MAUVE-MUSE: </a:t>
            </a:r>
          </a:p>
          <a:p>
            <a:r>
              <a:rPr lang="en-GB" sz="2400" b="1" dirty="0">
                <a:solidFill>
                  <a:srgbClr val="9161A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When </a:t>
            </a:r>
            <a:r>
              <a:rPr lang="en-GB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Metallicity</a:t>
            </a:r>
            <a:r>
              <a:rPr lang="en-GB" sz="2400" b="1" dirty="0">
                <a:solidFill>
                  <a:srgbClr val="9161A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Follows or Fights </a:t>
            </a:r>
            <a:r>
              <a:rPr lang="en-GB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Star Formation</a:t>
            </a:r>
            <a:endParaRPr lang="en-AU" sz="2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Box 16">
            <a:extLst>
              <a:ext uri="{FF2B5EF4-FFF2-40B4-BE49-F238E27FC236}">
                <a16:creationId xmlns:a16="http://schemas.microsoft.com/office/drawing/2014/main" id="{9065BBFA-BB4C-4CFC-3DA0-9165F9B00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202" y="3318476"/>
            <a:ext cx="3616141" cy="811893"/>
          </a:xfrm>
          <a:prstGeom prst="rect">
            <a:avLst/>
          </a:prstGeom>
          <a:noFill/>
          <a:ln w="25400">
            <a:noFill/>
          </a:ln>
          <a:effectLst/>
        </p:spPr>
        <p:txBody>
          <a:bodyPr wrap="square" lIns="161009" tIns="161009" rIns="161009" bIns="161009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1600" dirty="0"/>
              <a:t>Coloured tracks: individual galaxies; black: ensemble trend</a:t>
            </a:r>
            <a:r>
              <a:rPr lang="en-AU" sz="2400" dirty="0"/>
              <a:t>.</a:t>
            </a:r>
            <a:endParaRPr lang="en-CA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C013A01-8B44-8070-C86D-450D38C05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970" y="6002443"/>
            <a:ext cx="2766060" cy="679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38E0180-484D-0189-B760-12E373B63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425" y="6002443"/>
            <a:ext cx="1319782" cy="67943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9E6AFB2-513B-4DB8-1B34-A7F6B71B3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5207" y="6002443"/>
            <a:ext cx="941238" cy="6794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276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MAUVE-MUSE SPARKLER slide</dc:title>
  <dc:subject>ACAMAR 11 SPARKLER single slide</dc:subject>
  <dc:creator>OpenAI</dc:creator>
  <cp:lastModifiedBy>Rongjun Huang</cp:lastModifiedBy>
  <cp:revision>4</cp:revision>
  <dcterms:created xsi:type="dcterms:W3CDTF">2026-03-21T06:59:01Z</dcterms:created>
  <dcterms:modified xsi:type="dcterms:W3CDTF">2026-03-21T07:36:13Z</dcterms:modified>
</cp:coreProperties>
</file>