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4"/>
  </p:sldMasterIdLst>
  <p:sldIdLst>
    <p:sldId id="256" r:id="rId5"/>
  </p:sldIdLst>
  <p:sldSz cx="43219688" cy="243109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61A5"/>
    <a:srgbClr val="CB91BE"/>
    <a:srgbClr val="FBC64F"/>
    <a:srgbClr val="009B9B"/>
    <a:srgbClr val="5C3983"/>
    <a:srgbClr val="BF3A55"/>
    <a:srgbClr val="366E89"/>
    <a:srgbClr val="4E298A"/>
    <a:srgbClr val="008BD5"/>
    <a:srgbClr val="1B75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2" autoAdjust="0"/>
    <p:restoredTop sz="94660"/>
  </p:normalViewPr>
  <p:slideViewPr>
    <p:cSldViewPr snapToGrid="0">
      <p:cViewPr varScale="1">
        <p:scale>
          <a:sx n="53" d="100"/>
          <a:sy n="53" d="100"/>
        </p:scale>
        <p:origin x="664" y="21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59067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71354" y="1294336"/>
            <a:ext cx="37276981" cy="46989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1354" y="6471672"/>
            <a:ext cx="37276981" cy="15425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71353" y="22532674"/>
            <a:ext cx="9724430" cy="1294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2/23/26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316522" y="22532674"/>
            <a:ext cx="14586645" cy="1294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523905" y="22532674"/>
            <a:ext cx="9724430" cy="12943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DC9889-0D38-5702-27C2-9F24C2EDD2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" y="0"/>
            <a:ext cx="43219511" cy="243109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57CFBF-F98E-D6C7-DAF9-2C1DFC3989CC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" y="0"/>
            <a:ext cx="43219496" cy="451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2776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3241457" rtl="0" eaLnBrk="1" latinLnBrk="0" hangingPunct="1">
        <a:lnSpc>
          <a:spcPct val="90000"/>
        </a:lnSpc>
        <a:spcBef>
          <a:spcPct val="0"/>
        </a:spcBef>
        <a:buNone/>
        <a:defRPr sz="155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10364" indent="-810364" algn="l" defTabSz="3241457" rtl="0" eaLnBrk="1" latinLnBrk="0" hangingPunct="1">
        <a:lnSpc>
          <a:spcPct val="90000"/>
        </a:lnSpc>
        <a:spcBef>
          <a:spcPts val="3545"/>
        </a:spcBef>
        <a:buFont typeface="Arial" panose="020B0604020202020204" pitchFamily="34" charset="0"/>
        <a:buChar char="•"/>
        <a:defRPr sz="9926" kern="1200">
          <a:solidFill>
            <a:schemeClr val="tx1"/>
          </a:solidFill>
          <a:latin typeface="+mn-lt"/>
          <a:ea typeface="+mn-ea"/>
          <a:cs typeface="+mn-cs"/>
        </a:defRPr>
      </a:lvl1pPr>
      <a:lvl2pPr marL="2431092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8" kern="1200">
          <a:solidFill>
            <a:schemeClr val="tx1"/>
          </a:solidFill>
          <a:latin typeface="+mn-lt"/>
          <a:ea typeface="+mn-ea"/>
          <a:cs typeface="+mn-cs"/>
        </a:defRPr>
      </a:lvl2pPr>
      <a:lvl3pPr marL="4051821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90" kern="1200">
          <a:solidFill>
            <a:schemeClr val="tx1"/>
          </a:solidFill>
          <a:latin typeface="+mn-lt"/>
          <a:ea typeface="+mn-ea"/>
          <a:cs typeface="+mn-cs"/>
        </a:defRPr>
      </a:lvl3pPr>
      <a:lvl4pPr marL="5672549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4pPr>
      <a:lvl5pPr marL="7293277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5pPr>
      <a:lvl6pPr marL="8914006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6pPr>
      <a:lvl7pPr marL="10534734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7pPr>
      <a:lvl8pPr marL="12155462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8pPr>
      <a:lvl9pPr marL="13776190" indent="-810364" algn="l" defTabSz="3241457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8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1pPr>
      <a:lvl2pPr marL="1620728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2pPr>
      <a:lvl3pPr marL="3241457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3pPr>
      <a:lvl4pPr marL="4862185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4pPr>
      <a:lvl5pPr marL="6482913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5pPr>
      <a:lvl6pPr marL="8103641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6pPr>
      <a:lvl7pPr marL="9724370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7pPr>
      <a:lvl8pPr marL="11345098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8pPr>
      <a:lvl9pPr marL="12965826" algn="l" defTabSz="3241457" rtl="0" eaLnBrk="1" latinLnBrk="0" hangingPunct="1">
        <a:defRPr sz="638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://www.rongjun-huang.com/" TargetMode="External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26" Type="http://schemas.openxmlformats.org/officeDocument/2006/relationships/image" Target="../media/image22.png"/><Relationship Id="rId3" Type="http://schemas.openxmlformats.org/officeDocument/2006/relationships/image" Target="../media/image5.png"/><Relationship Id="rId21" Type="http://schemas.openxmlformats.org/officeDocument/2006/relationships/image" Target="../media/image170.png"/><Relationship Id="rId7" Type="http://schemas.openxmlformats.org/officeDocument/2006/relationships/hyperlink" Target="mailto:Rongjun.Huang@icrar.org" TargetMode="External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10.png"/><Relationship Id="rId2" Type="http://schemas.openxmlformats.org/officeDocument/2006/relationships/image" Target="../media/image4.png"/><Relationship Id="rId16" Type="http://schemas.openxmlformats.org/officeDocument/2006/relationships/image" Target="../media/image16.svg"/><Relationship Id="rId20" Type="http://schemas.openxmlformats.org/officeDocument/2006/relationships/image" Target="../media/image20.sv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1.emf"/><Relationship Id="rId24" Type="http://schemas.openxmlformats.org/officeDocument/2006/relationships/image" Target="../media/image21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23" Type="http://schemas.openxmlformats.org/officeDocument/2006/relationships/image" Target="../media/image190.png"/><Relationship Id="rId28" Type="http://schemas.openxmlformats.org/officeDocument/2006/relationships/image" Target="../media/image24.png"/><Relationship Id="rId10" Type="http://schemas.openxmlformats.org/officeDocument/2006/relationships/image" Target="../media/image10.emf"/><Relationship Id="rId19" Type="http://schemas.openxmlformats.org/officeDocument/2006/relationships/image" Target="../media/image19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223405" y="575187"/>
            <a:ext cx="32609164" cy="1207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tx1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GB" sz="8102" b="1" dirty="0">
                <a:solidFill>
                  <a:srgbClr val="9161A5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MAUVE-MUSE: When Metallicity Follows or Fights Star Formation</a:t>
            </a:r>
            <a:endParaRPr lang="en-AU" sz="8102" dirty="0">
              <a:solidFill>
                <a:srgbClr val="9161A5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>
                <a:spLocks noChangeArrowheads="1"/>
              </p:cNvSpPr>
              <p:nvPr/>
            </p:nvSpPr>
            <p:spPr bwMode="auto">
              <a:xfrm>
                <a:off x="401172" y="4879487"/>
                <a:ext cx="10113765" cy="4432955"/>
              </a:xfrm>
              <a:prstGeom prst="rect">
                <a:avLst/>
              </a:prstGeom>
              <a:gradFill>
                <a:gsLst>
                  <a:gs pos="0">
                    <a:srgbClr val="9161A5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BC64F"/>
                </a:solidFill>
              </a:ln>
              <a:effectLst/>
            </p:spPr>
            <p:txBody>
              <a:bodyPr lIns="322011" tIns="322011" rIns="322011" bIns="32201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16427" eaLnBrk="0" hangingPunct="0">
                  <a:spcBef>
                    <a:spcPct val="50000"/>
                  </a:spcBef>
                </a:pPr>
                <a:r>
                  <a:rPr lang="en-US" sz="4716" b="1" cap="all" dirty="0">
                    <a:solidFill>
                      <a:srgbClr val="009B9B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Introduction</a:t>
                </a:r>
              </a:p>
              <a:p>
                <a:pPr defTabSz="816427" eaLnBrk="0" hangingPunct="0">
                  <a:spcBef>
                    <a:spcPct val="50000"/>
                  </a:spcBef>
                </a:pPr>
                <a:r>
                  <a:rPr lang="en-AU" sz="2800" dirty="0"/>
                  <a:t>Resolved Mass-Metallicity Relation (rMZR) probes the balance of </a:t>
                </a:r>
                <a:r>
                  <a:rPr lang="en-AU" sz="2800" b="1" dirty="0"/>
                  <a:t>metal</a:t>
                </a:r>
                <a:r>
                  <a:rPr lang="en-AU" sz="2800" dirty="0"/>
                  <a:t> </a:t>
                </a:r>
                <a:r>
                  <a:rPr lang="en-AU" sz="2800" b="1" dirty="0"/>
                  <a:t>enrichment vs dilution</a:t>
                </a:r>
                <a:r>
                  <a:rPr lang="en-AU" sz="2800" dirty="0"/>
                  <a:t> in discs.</a:t>
                </a:r>
              </a:p>
              <a:p>
                <a:pPr defTabSz="816427" eaLnBrk="0" hangingPunct="0">
                  <a:spcBef>
                    <a:spcPct val="50000"/>
                  </a:spcBef>
                </a:pPr>
                <a:r>
                  <a:rPr lang="en-AU" sz="2800" b="1" dirty="0"/>
                  <a:t>Key question</a:t>
                </a:r>
                <a:r>
                  <a:rPr lang="en-AU" sz="2800" dirty="0"/>
                  <a:t>: Does gas-phase metallicity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</m:oMath>
                </a14:m>
                <a:r>
                  <a:rPr lang="en-AU" sz="2800" b="1" dirty="0"/>
                  <a:t>) correlate or anti-correlate with</a:t>
                </a:r>
                <a:r>
                  <a:rPr lang="en-AU" sz="2800" dirty="0"/>
                  <a:t> Star formation rate (SFR) surface density </a:t>
                </a:r>
                <a:r>
                  <a:rPr lang="en-AU" sz="2800" b="1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𝑺𝑭𝑹</m:t>
                        </m:r>
                      </m:sub>
                    </m:sSub>
                  </m:oMath>
                </a14:m>
                <a:r>
                  <a:rPr lang="en-AU" sz="2800" dirty="0"/>
                  <a:t>) at fixed stellar mass surface density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dirty="0"/>
                  <a:t>), and does the sign changes across discs?</a:t>
                </a:r>
                <a:endParaRPr lang="en-CA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defTabSz="816427"/>
                <a:endParaRPr lang="en-AU" sz="2573" dirty="0">
                  <a:solidFill>
                    <a:srgbClr val="002269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172" y="4879487"/>
                <a:ext cx="10113765" cy="4432955"/>
              </a:xfrm>
              <a:prstGeom prst="rect">
                <a:avLst/>
              </a:prstGeom>
              <a:blipFill>
                <a:blip r:embed="rId2"/>
                <a:stretch>
                  <a:fillRect l="-250"/>
                </a:stretch>
              </a:blipFill>
              <a:ln w="25400">
                <a:solidFill>
                  <a:srgbClr val="FBC64F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>
                <a:spLocks noChangeArrowheads="1"/>
              </p:cNvSpPr>
              <p:nvPr/>
            </p:nvSpPr>
            <p:spPr bwMode="auto">
              <a:xfrm>
                <a:off x="25482884" y="16557821"/>
                <a:ext cx="7305690" cy="7177964"/>
              </a:xfrm>
              <a:prstGeom prst="rect">
                <a:avLst/>
              </a:prstGeom>
              <a:gradFill>
                <a:gsLst>
                  <a:gs pos="0">
                    <a:srgbClr val="9161A5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 lIns="322011" tIns="322011" rIns="322011" bIns="32201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16427" eaLnBrk="0" hangingPunct="0">
                  <a:spcBef>
                    <a:spcPct val="50000"/>
                  </a:spcBef>
                </a:pPr>
                <a:r>
                  <a:rPr lang="en-US" sz="4716" b="1" cap="all" dirty="0">
                    <a:solidFill>
                      <a:srgbClr val="009B9B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Conclusions</a:t>
                </a:r>
              </a:p>
              <a:p>
                <a:pPr marL="742950" indent="-742950" defTabSz="816427">
                  <a:buAutoNum type="arabicPeriod"/>
                </a:pPr>
                <a:r>
                  <a:rPr lang="en-AU" sz="3200" b="1" dirty="0"/>
                  <a:t>Detect</a:t>
                </a:r>
                <a:r>
                  <a:rPr lang="en-AU" sz="3200" dirty="0"/>
                  <a:t> a mass-dependent inversion in residual </a:t>
                </a:r>
                <a14:m>
                  <m:oMath xmlns:m="http://schemas.openxmlformats.org/officeDocument/2006/math">
                    <m:r>
                      <a:rPr lang="en-AU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𝑔𝑎</m:t>
                        </m:r>
                        <m:r>
                          <a:rPr lang="en-AU" sz="32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32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-</a:t>
                </a:r>
                <a:r>
                  <a:rPr lang="en-AU" sz="32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3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el-GR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AU" sz="3200" dirty="0"/>
                  <a:t> coupling</a:t>
                </a:r>
                <a:endParaRPr lang="en-US" sz="3200" b="1" dirty="0">
                  <a:solidFill>
                    <a:srgbClr val="002269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742950" indent="-742950" defTabSz="816427">
                  <a:buAutoNum type="arabicPeriod"/>
                </a:pPr>
                <a:r>
                  <a:rPr lang="en-AU" sz="3200" b="1" dirty="0"/>
                  <a:t>Show</a:t>
                </a:r>
                <a:r>
                  <a:rPr lang="en-AU" sz="3200" dirty="0"/>
                  <a:t> that this flip-sign is spatially varying in the local Moran-like map </a:t>
                </a:r>
              </a:p>
              <a:p>
                <a:pPr marL="742950" indent="-742950" defTabSz="816427">
                  <a:buAutoNum type="arabicPeriod"/>
                </a:pPr>
                <a:r>
                  <a:rPr lang="en-AU" sz="3200" b="1" dirty="0"/>
                  <a:t>Interpret</a:t>
                </a:r>
                <a:r>
                  <a:rPr lang="en-AU" sz="3200" dirty="0"/>
                  <a:t> as a transition from </a:t>
                </a:r>
                <a:r>
                  <a:rPr lang="en-AU" sz="3200" b="1" dirty="0"/>
                  <a:t>gas supply/dilution-dominated</a:t>
                </a:r>
                <a:r>
                  <a:rPr lang="en-AU" sz="3200" dirty="0"/>
                  <a:t> to </a:t>
                </a:r>
                <a:r>
                  <a:rPr lang="en-AU" sz="3200" b="1" dirty="0"/>
                  <a:t>star formation/enrichment-dominated</a:t>
                </a:r>
                <a:r>
                  <a:rPr lang="en-AU" sz="3200" dirty="0"/>
                  <a:t> regulation</a:t>
                </a:r>
              </a:p>
              <a:p>
                <a:pPr marL="742950" indent="-742950" defTabSz="816427">
                  <a:buAutoNum type="arabicPeriod"/>
                </a:pPr>
                <a:r>
                  <a:rPr lang="en-AU" sz="3200" b="1" dirty="0"/>
                  <a:t>Implication</a:t>
                </a:r>
                <a:r>
                  <a:rPr lang="en-AU" sz="3200" dirty="0"/>
                  <a:t>: this resolved trends unify with integrated metallicity–SFR behaviour.</a:t>
                </a:r>
                <a:endParaRPr lang="en-US" sz="3200" b="1" dirty="0">
                  <a:solidFill>
                    <a:srgbClr val="002269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482884" y="16557821"/>
                <a:ext cx="7305690" cy="7177964"/>
              </a:xfrm>
              <a:prstGeom prst="rect">
                <a:avLst/>
              </a:prstGeom>
              <a:blipFill>
                <a:blip r:embed="rId3"/>
                <a:stretch>
                  <a:fillRect l="-346"/>
                </a:stretch>
              </a:blip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ectangle 25"/>
          <p:cNvSpPr>
            <a:spLocks noChangeArrowheads="1"/>
          </p:cNvSpPr>
          <p:nvPr/>
        </p:nvSpPr>
        <p:spPr bwMode="auto">
          <a:xfrm>
            <a:off x="10781042" y="4879488"/>
            <a:ext cx="32031555" cy="11318639"/>
          </a:xfrm>
          <a:prstGeom prst="rect">
            <a:avLst/>
          </a:prstGeom>
          <a:gradFill>
            <a:gsLst>
              <a:gs pos="0">
                <a:srgbClr val="9161A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25400">
            <a:solidFill>
              <a:srgbClr val="FBC64F"/>
            </a:solidFill>
            <a:miter lim="800000"/>
            <a:headEnd/>
            <a:tailEnd/>
          </a:ln>
          <a:effectLst/>
        </p:spPr>
        <p:txBody>
          <a:bodyPr lIns="322011" tIns="322011" rIns="322011" bIns="322011" numCol="1" spcCol="720685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6427" eaLnBrk="0" hangingPunct="0">
              <a:spcBef>
                <a:spcPct val="50000"/>
              </a:spcBef>
            </a:pPr>
            <a:r>
              <a:rPr lang="en-US" sz="4716" b="1" cap="all" dirty="0">
                <a:solidFill>
                  <a:srgbClr val="009B9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Results</a:t>
            </a:r>
            <a:endParaRPr lang="en-AU" sz="1372" dirty="0">
              <a:solidFill>
                <a:srgbClr val="009B9B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>
                <a:spLocks noChangeArrowheads="1"/>
              </p:cNvSpPr>
              <p:nvPr/>
            </p:nvSpPr>
            <p:spPr bwMode="auto">
              <a:xfrm>
                <a:off x="401171" y="9526246"/>
                <a:ext cx="10113766" cy="14209542"/>
              </a:xfrm>
              <a:prstGeom prst="rect">
                <a:avLst/>
              </a:prstGeom>
              <a:gradFill>
                <a:gsLst>
                  <a:gs pos="0">
                    <a:srgbClr val="9161A5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BC64F"/>
                </a:solidFill>
              </a:ln>
              <a:effectLst/>
            </p:spPr>
            <p:txBody>
              <a:bodyPr lIns="322011" tIns="322011" rIns="322011" bIns="32201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342120" indent="-342120" defTabSz="816427" eaLnBrk="0" hangingPunct="0">
                  <a:spcBef>
                    <a:spcPct val="50000"/>
                  </a:spcBef>
                </a:pPr>
                <a:r>
                  <a:rPr lang="en-US" sz="4716" b="1" cap="all" dirty="0">
                    <a:solidFill>
                      <a:srgbClr val="009B9B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Data &amp; Methods</a:t>
                </a:r>
              </a:p>
              <a:p>
                <a:pPr marL="342120" indent="-342120" defTabSz="816427" eaLnBrk="0" hangingPunct="0">
                  <a:buSzPct val="60000"/>
                </a:pPr>
                <a:r>
                  <a:rPr lang="en-AU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Data</a:t>
                </a:r>
                <a:r>
                  <a:rPr lang="en-AU" sz="2800" dirty="0"/>
                  <a:t>: MAUVE–MUSE (Virgo, 100 pc)</a:t>
                </a:r>
                <a:endParaRPr lang="en-AU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Instrument:</a:t>
                </a:r>
                <a:r>
                  <a:rPr lang="en-AU" sz="2800" dirty="0"/>
                  <a:t> VLT/MUSE wide-field IFU (optical IFS), delivering stellar mass and emission-line maps on </a:t>
                </a:r>
                <a14:m>
                  <m:oMath xmlns:m="http://schemas.openxmlformats.org/officeDocument/2006/math">
                    <m:r>
                      <a:rPr lang="en-AU" sz="2800" b="0" i="1" smtClean="0">
                        <a:latin typeface="Cambria Math" panose="02040503050406030204" pitchFamily="18" charset="0"/>
                      </a:rPr>
                      <m:t>∼</m:t>
                    </m:r>
                  </m:oMath>
                </a14:m>
                <a:r>
                  <a:rPr lang="en-AU" sz="2800" dirty="0"/>
                  <a:t>100 pc scales in Virgo spirals.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Sample:</a:t>
                </a:r>
                <a:r>
                  <a:rPr lang="en-AU" sz="2800" dirty="0"/>
                  <a:t> </a:t>
                </a:r>
                <a:r>
                  <a:rPr lang="en-AU" sz="2800" b="1" dirty="0"/>
                  <a:t>14 Virgo spirals</a:t>
                </a:r>
                <a:r>
                  <a:rPr lang="en-AU" sz="2800" dirty="0"/>
                  <a:t> (MAUVE–MUSE </a:t>
                </a:r>
                <a:r>
                  <a:rPr lang="en-AU" sz="2800" b="1" dirty="0"/>
                  <a:t>v2 internal release</a:t>
                </a:r>
                <a:r>
                  <a:rPr lang="en-AU" sz="2800" dirty="0"/>
                  <a:t>); survey observations are </a:t>
                </a:r>
                <a:r>
                  <a:rPr lang="en-AU" sz="2800" b="1" dirty="0"/>
                  <a:t>ongoing</a:t>
                </a:r>
                <a:r>
                  <a:rPr lang="en-AU" sz="2800" dirty="0"/>
                  <a:t>.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Working set:</a:t>
                </a:r>
                <a:r>
                  <a:rPr lang="en-AU" sz="2800" dirty="0"/>
                  <a:t> fiducial ensemble uses </a:t>
                </a:r>
                <a:r>
                  <a:rPr lang="en-AU" sz="2800" b="1" dirty="0"/>
                  <a:t>13 galaxies</a:t>
                </a:r>
                <a:r>
                  <a:rPr lang="en-AU" sz="2800" dirty="0"/>
                  <a:t> (excluding the strong outlier </a:t>
                </a:r>
                <a:r>
                  <a:rPr lang="en-AU" sz="2800" b="1" dirty="0"/>
                  <a:t>NGC 4383</a:t>
                </a:r>
                <a:r>
                  <a:rPr lang="en-AU" sz="2800" dirty="0"/>
                  <a:t>).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Resolved Maps used (co-spatial </a:t>
                </a:r>
                <a:r>
                  <a:rPr lang="en-AU" sz="2800" b="1" dirty="0" err="1"/>
                  <a:t>spaxels</a:t>
                </a:r>
                <a:r>
                  <a:rPr lang="en-AU" sz="2800" b="1" dirty="0"/>
                  <a:t>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AU" sz="2800" b="1" dirty="0"/>
                  <a:t> </a:t>
                </a:r>
                <a:r>
                  <a:rPr lang="en-AU" sz="2800" dirty="0"/>
                  <a:t>and</a:t>
                </a:r>
                <a:r>
                  <a:rPr lang="en-AU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</m:oMath>
                </a14:m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endParaRPr lang="en-US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defTabSz="816427" eaLnBrk="0" hangingPunct="0">
                  <a:buSzPct val="60000"/>
                </a:pPr>
                <a:r>
                  <a:rPr lang="en-AU" sz="2800" dirty="0"/>
                  <a:t>Method: isolate star-forming </a:t>
                </a:r>
                <a:r>
                  <a:rPr lang="en-AU" sz="2800" dirty="0" err="1"/>
                  <a:t>spaxel</a:t>
                </a:r>
                <a:r>
                  <a:rPr lang="en-AU" sz="2800" dirty="0"/>
                  <a:t> and measure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</m:oMath>
                </a14:m>
                <a:endParaRPr lang="en-US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Star-Forming selection:</a:t>
                </a:r>
                <a:r>
                  <a:rPr lang="en-AU" sz="2800" dirty="0"/>
                  <a:t> keep </a:t>
                </a:r>
                <a:r>
                  <a:rPr lang="en-AU" sz="2800" b="1" dirty="0"/>
                  <a:t>H II </a:t>
                </a:r>
                <a:r>
                  <a:rPr lang="en-AU" sz="2800" dirty="0" err="1"/>
                  <a:t>spaxels</a:t>
                </a:r>
                <a:r>
                  <a:rPr lang="en-AU" sz="2800" dirty="0"/>
                  <a:t> using [N II] and [S II] </a:t>
                </a:r>
                <a:r>
                  <a:rPr lang="en-AU" sz="2800" b="1" dirty="0"/>
                  <a:t>BPT selection </a:t>
                </a:r>
                <a:r>
                  <a:rPr lang="en-AU" sz="2800" dirty="0"/>
                  <a:t>diagnostic cuts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:r>
                  <a:rPr lang="en-AU" sz="2800" b="1" dirty="0"/>
                  <a:t>Calibration:</a:t>
                </a:r>
                <a:r>
                  <a:rPr lang="en-AU" sz="2800" dirty="0"/>
                  <a:t> fiducial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  <m:r>
                      <a:rPr lang="en-AU" sz="2800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from </a:t>
                </a:r>
                <a:r>
                  <a:rPr lang="en-AU" sz="2800" b="1" dirty="0"/>
                  <a:t>O3N2–M13</a:t>
                </a:r>
                <a:r>
                  <a:rPr lang="en-AU" sz="2800" dirty="0"/>
                  <a:t> (Marino+2013) using strong lines (dust-corrected H</a:t>
                </a:r>
                <a14:m>
                  <m:oMath xmlns:m="http://schemas.openxmlformats.org/officeDocument/2006/math">
                    <m:r>
                      <a:rPr lang="en-AU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AU" sz="2800" dirty="0"/>
                  <a:t> H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AU" sz="2800" dirty="0"/>
                  <a:t>, [O III], [N II])</a:t>
                </a:r>
              </a:p>
              <a:p>
                <a:pPr marL="514350" indent="-514350" defTabSz="816427" eaLnBrk="0" hangingPunct="0">
                  <a:buSzPct val="60000"/>
                  <a:buAutoNum type="arabicPeriod"/>
                </a:pPr>
                <a14:m>
                  <m:oMath xmlns:m="http://schemas.openxmlformats.org/officeDocument/2006/math">
                    <m:r>
                      <a:rPr lang="en-AU" sz="24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400" b="0" i="1">
                            <a:latin typeface="Cambria Math" panose="02040503050406030204" pitchFamily="18" charset="0"/>
                          </a:rPr>
                          <m:t>𝑔𝑎</m:t>
                        </m:r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-</a:t>
                </a:r>
                <a:r>
                  <a:rPr lang="en-AU" sz="24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coupling measurement: </a:t>
                </a:r>
                <a:r>
                  <a:rPr lang="en-AU" sz="2800" dirty="0"/>
                  <a:t>remove primary mass-dependent trends, then measure residual coupling </a:t>
                </a: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</a:p>
              <a:p>
                <a:pPr defTabSz="816427" eaLnBrk="0" hangingPunct="0">
                  <a:buSzPct val="60000"/>
                </a:pP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𝜌</m:t>
                    </m:r>
                    <m:r>
                      <a:rPr lang="en-AU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(</m:t>
                    </m:r>
                    <m:sSub>
                      <m:sSubPr>
                        <m:ctrlPr>
                          <a:rPr lang="en-AU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AU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b>
                    </m:sSub>
                    <m:r>
                      <a:rPr lang="en-AU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 = </m:t>
                    </m:r>
                    <m:sSub>
                      <m:sSubPr>
                        <m:ctrlPr>
                          <a:rPr lang="en-AU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corr</m:t>
                        </m:r>
                        <m: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Δ</m:t>
                        </m:r>
                        <m:sSub>
                          <m:sSubPr>
                            <m:ctrlPr>
                              <a:rPr lang="el-G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AU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Z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gas</m:t>
                            </m:r>
                          </m:sub>
                        </m:sSub>
                        <m: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,  </m:t>
                        </m:r>
                        <m:r>
                          <m:rPr>
                            <m:sty m:val="p"/>
                          </m:rPr>
                          <a:rPr lang="el-GR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Δ</m:t>
                        </m:r>
                        <m:r>
                          <m:rPr>
                            <m:sty m:val="p"/>
                          </m:rP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log</m:t>
                        </m:r>
                        <m: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 </m:t>
                        </m:r>
                        <m:sSub>
                          <m:sSubPr>
                            <m:ctrlPr>
                              <a:rPr lang="en-AU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AU" sz="2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SFR</m:t>
                            </m:r>
                          </m:sub>
                        </m:sSub>
                        <m:r>
                          <a:rPr lang="en-AU" sz="2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)|</m:t>
                        </m:r>
                      </m:e>
                      <m:sub>
                        <m:sSub>
                          <m:sSubPr>
                            <m:ctrlPr>
                              <a:rPr lang="en-AU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l-GR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AU" sz="2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∗</m:t>
                            </m:r>
                          </m:sub>
                        </m:sSub>
                      </m:sub>
                    </m:sSub>
                  </m:oMath>
                </a14:m>
                <a:endParaRPr lang="en-US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defTabSz="816427" eaLnBrk="0" hangingPunct="0">
                  <a:buSzPct val="60000"/>
                </a:pPr>
                <a:endParaRPr lang="en-US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1171" y="9526246"/>
                <a:ext cx="10113766" cy="14209542"/>
              </a:xfrm>
              <a:prstGeom prst="rect">
                <a:avLst/>
              </a:prstGeom>
              <a:blipFill>
                <a:blip r:embed="rId4"/>
                <a:stretch>
                  <a:fillRect l="-250"/>
                </a:stretch>
              </a:blipFill>
              <a:ln w="25400">
                <a:solidFill>
                  <a:srgbClr val="FBC64F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>
                <a:spLocks noChangeArrowheads="1"/>
              </p:cNvSpPr>
              <p:nvPr/>
            </p:nvSpPr>
            <p:spPr bwMode="auto">
              <a:xfrm>
                <a:off x="33078483" y="16557821"/>
                <a:ext cx="9734114" cy="3744293"/>
              </a:xfrm>
              <a:prstGeom prst="rect">
                <a:avLst/>
              </a:prstGeom>
              <a:gradFill>
                <a:gsLst>
                  <a:gs pos="0">
                    <a:srgbClr val="9161A5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 lIns="322011" tIns="322011" rIns="322011" bIns="32201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16427" eaLnBrk="0" hangingPunct="0">
                  <a:spcBef>
                    <a:spcPct val="50000"/>
                  </a:spcBef>
                </a:pPr>
                <a:r>
                  <a:rPr lang="en-GB" sz="4716" b="1" cap="all" dirty="0">
                    <a:solidFill>
                      <a:srgbClr val="009B9B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ROBUSTNESS</a:t>
                </a:r>
              </a:p>
              <a:p>
                <a:pPr marL="514350" indent="-514350" defTabSz="816427" eaLnBrk="0" hangingPunct="0">
                  <a:spcBef>
                    <a:spcPct val="50000"/>
                  </a:spcBef>
                  <a:buAutoNum type="arabicPeriod"/>
                </a:pPr>
                <a:r>
                  <a:rPr lang="en-AU" sz="2800" dirty="0"/>
                  <a:t>The </a:t>
                </a:r>
                <a:r>
                  <a:rPr lang="en-AU" sz="2800" b="1" dirty="0"/>
                  <a:t>sign flip persists</a:t>
                </a:r>
                <a:r>
                  <a:rPr lang="en-AU" sz="2800" dirty="0"/>
                  <a:t> across O3N2-based calibrations;</a:t>
                </a:r>
              </a:p>
              <a:p>
                <a:pPr marL="514350" indent="-514350" defTabSz="816427" eaLnBrk="0" hangingPunct="0">
                  <a:spcBef>
                    <a:spcPct val="50000"/>
                  </a:spcBef>
                  <a:buAutoNum type="arabicPeriod"/>
                </a:pPr>
                <a:r>
                  <a:rPr lang="en-US" sz="2600" dirty="0" err="1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HII+Comp</a:t>
                </a: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BPT selection </a:t>
                </a:r>
                <a:r>
                  <a:rPr lang="en-US" sz="2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keeps the same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US" sz="2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transition</a:t>
                </a: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514350" indent="-514350" defTabSz="816427" eaLnBrk="0" hangingPunct="0">
                  <a:spcBef>
                    <a:spcPct val="50000"/>
                  </a:spcBef>
                  <a:buAutoNum type="arabicPeriod"/>
                </a:pP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Metallicity outlier, NGC4383, points out a </a:t>
                </a:r>
                <a:r>
                  <a:rPr lang="en-US" sz="2600" b="1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potential breakdown</a:t>
                </a:r>
                <a:r>
                  <a:rPr lang="en-US" sz="26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in outflows/extraplanar components and/or strong, recent gas-supply perturbations.   </a:t>
                </a:r>
              </a:p>
              <a:p>
                <a:pPr marL="514350" indent="-514350" defTabSz="816427" eaLnBrk="0" hangingPunct="0">
                  <a:spcBef>
                    <a:spcPct val="50000"/>
                  </a:spcBef>
                  <a:buAutoNum type="arabicPeriod"/>
                </a:pPr>
                <a:endParaRPr lang="en-US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078483" y="16557821"/>
                <a:ext cx="9734114" cy="3744293"/>
              </a:xfrm>
              <a:prstGeom prst="rect">
                <a:avLst/>
              </a:prstGeom>
              <a:blipFill>
                <a:blip r:embed="rId5"/>
                <a:stretch>
                  <a:fillRect l="-260" b="-3020"/>
                </a:stretch>
              </a:blip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>
                <a:spLocks noChangeArrowheads="1"/>
              </p:cNvSpPr>
              <p:nvPr/>
            </p:nvSpPr>
            <p:spPr bwMode="auto">
              <a:xfrm>
                <a:off x="10781041" y="16557822"/>
                <a:ext cx="14411933" cy="7177963"/>
              </a:xfrm>
              <a:prstGeom prst="rect">
                <a:avLst/>
              </a:prstGeom>
              <a:gradFill>
                <a:gsLst>
                  <a:gs pos="0">
                    <a:srgbClr val="9161A5"/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 lIns="322011" tIns="322011" rIns="322011" bIns="322011"/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816427" eaLnBrk="0" hangingPunct="0">
                  <a:spcBef>
                    <a:spcPct val="50000"/>
                  </a:spcBef>
                </a:pPr>
                <a:r>
                  <a:rPr lang="en-US" sz="4716" b="1" cap="all" dirty="0">
                    <a:solidFill>
                      <a:srgbClr val="009B9B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Interpretation: local gas-regulator </a:t>
                </a:r>
              </a:p>
              <a:p>
                <a:pPr algn="ctr" defTabSz="816427" eaLnBrk="0" hangingPunct="0">
                  <a:spcBef>
                    <a:spcPct val="50000"/>
                  </a:spcBef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𝒅</m:t>
                        </m:r>
                      </m:num>
                      <m:den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𝒅𝒕</m:t>
                        </m:r>
                      </m:den>
                    </m:f>
                    <m:sSub>
                      <m:sSubPr>
                        <m:ctrlP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𝒈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=</m:t>
                    </m:r>
                    <m:sSub>
                      <m:sSub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𝝓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−</m:t>
                    </m:r>
                    <m:d>
                      <m:d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𝑹</m:t>
                        </m:r>
                      </m:e>
                    </m:d>
                    <m:sSub>
                      <m:sSub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𝑺𝑭𝑹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𝒐𝒖𝒕</m:t>
                        </m:r>
                      </m:sub>
                    </m:sSub>
                    <m:r>
                      <a:rPr lang="en-AU" sz="2800" b="1" i="0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;</m:t>
                    </m:r>
                  </m:oMath>
                </a14:m>
                <a:r>
                  <a:rPr lang="en-AU" sz="2800" b="1" dirty="0">
                    <a:solidFill>
                      <a:srgbClr val="3C4B46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𝒅</m:t>
                        </m:r>
                      </m:num>
                      <m:den>
                        <m: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𝒅𝒕</m:t>
                        </m:r>
                      </m:den>
                    </m:f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𝒈𝒂𝒔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=</m:t>
                    </m:r>
                    <m:f>
                      <m:f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AU" sz="2800" b="1" i="1" smtClean="0">
                                <a:solidFill>
                                  <a:srgbClr val="3C4B46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l-GR" sz="2800" b="1" i="1" smtClean="0">
                                <a:solidFill>
                                  <a:srgbClr val="3C4B46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Arial" panose="020B0604020202020204" pitchFamily="34" charset="0"/>
                              </a:rPr>
                              <m:t>𝜮</m:t>
                            </m:r>
                          </m:e>
                          <m:sub>
                            <m:r>
                              <a:rPr lang="en-AU" sz="2800" b="1" i="1" smtClean="0">
                                <a:solidFill>
                                  <a:srgbClr val="3C4B46"/>
                                </a:solidFill>
                                <a:latin typeface="Cambria Math" panose="02040503050406030204" pitchFamily="18" charset="0"/>
                                <a:ea typeface="Tahoma" panose="020B0604030504040204" pitchFamily="34" charset="0"/>
                                <a:cs typeface="Arial" panose="020B0604020202020204" pitchFamily="34" charset="0"/>
                              </a:rPr>
                              <m:t>𝒈</m:t>
                            </m:r>
                          </m:sub>
                        </m:sSub>
                      </m:den>
                    </m:f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[</m:t>
                    </m:r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𝒚</m:t>
                    </m:r>
                    <m:d>
                      <m:dPr>
                        <m:ctrlP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𝟏</m:t>
                        </m:r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−</m:t>
                        </m:r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𝑹</m:t>
                        </m:r>
                      </m:e>
                    </m:d>
                    <m:sSub>
                      <m:sSubPr>
                        <m:ctrlP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𝑺𝑭𝑹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+(</m:t>
                    </m:r>
                    <m:sSub>
                      <m:sSubPr>
                        <m:ctrlP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AU" sz="2800" b="1" i="1" smtClean="0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𝝓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−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𝒈𝒂𝒔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)</m:t>
                    </m:r>
                    <m:sSub>
                      <m:sSubPr>
                        <m:ctrlP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solidFill>
                              <a:srgbClr val="3C4B46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𝝓</m:t>
                        </m:r>
                      </m:sub>
                    </m:sSub>
                    <m:r>
                      <a:rPr lang="en-AU" sz="2800" b="1" i="1" smtClean="0">
                        <a:solidFill>
                          <a:srgbClr val="3C4B46"/>
                        </a:solidFill>
                        <a:latin typeface="Cambria Math" panose="02040503050406030204" pitchFamily="18" charset="0"/>
                        <a:ea typeface="Tahoma" panose="020B0604030504040204" pitchFamily="34" charset="0"/>
                        <a:cs typeface="Arial" panose="020B0604020202020204" pitchFamily="34" charset="0"/>
                      </a:rPr>
                      <m:t>]</m:t>
                    </m:r>
                  </m:oMath>
                </a14:m>
                <a:endParaRPr lang="en-AU" sz="2800" b="1" dirty="0">
                  <a:solidFill>
                    <a:srgbClr val="3C4B46"/>
                  </a:solidFill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81041" y="16557822"/>
                <a:ext cx="14411933" cy="7177963"/>
              </a:xfrm>
              <a:prstGeom prst="rect">
                <a:avLst/>
              </a:prstGeom>
              <a:blipFill>
                <a:blip r:embed="rId6"/>
                <a:stretch>
                  <a:fillRect l="-264"/>
                </a:stretch>
              </a:blipFill>
              <a:ln w="25400">
                <a:solidFill>
                  <a:srgbClr val="FBC64F"/>
                </a:solidFill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Rectangle 37"/>
          <p:cNvSpPr>
            <a:spLocks noChangeArrowheads="1"/>
          </p:cNvSpPr>
          <p:nvPr/>
        </p:nvSpPr>
        <p:spPr bwMode="auto">
          <a:xfrm>
            <a:off x="33073448" y="20661808"/>
            <a:ext cx="9739149" cy="3073977"/>
          </a:xfrm>
          <a:prstGeom prst="rect">
            <a:avLst/>
          </a:prstGeom>
          <a:gradFill flip="none" rotWithShape="1">
            <a:gsLst>
              <a:gs pos="0">
                <a:srgbClr val="9161A5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25400">
            <a:solidFill>
              <a:srgbClr val="FBC64F"/>
            </a:solidFill>
            <a:miter lim="800000"/>
            <a:headEnd/>
            <a:tailEnd/>
          </a:ln>
          <a:effectLst/>
        </p:spPr>
        <p:txBody>
          <a:bodyPr lIns="322011" tIns="322011" rIns="322011" bIns="322011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6427" eaLnBrk="0" hangingPunct="0">
              <a:spcBef>
                <a:spcPct val="50000"/>
              </a:spcBef>
            </a:pPr>
            <a:r>
              <a:rPr lang="en-GB" sz="4716" b="1" cap="all" dirty="0">
                <a:solidFill>
                  <a:srgbClr val="009B9B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CONTACT INFORMATION</a:t>
            </a:r>
          </a:p>
          <a:p>
            <a:pPr defTabSz="816427" eaLnBrk="0" hangingPunct="0">
              <a:spcBef>
                <a:spcPct val="50000"/>
              </a:spcBef>
            </a:pP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Email: </a:t>
            </a: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hlinkClick r:id="rId7"/>
              </a:rPr>
              <a:t>Rongjun.Huang@icrar.org</a:t>
            </a: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defTabSz="816427" eaLnBrk="0" hangingPunct="0">
              <a:spcBef>
                <a:spcPct val="50000"/>
              </a:spcBef>
            </a:pP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Personal Website: </a:t>
            </a:r>
            <a:r>
              <a:rPr lang="en-AU" sz="2800" dirty="0" err="1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hlinkClick r:id="rId8"/>
              </a:rPr>
              <a:t>www.rongjun-huang.com</a:t>
            </a: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  <a:p>
            <a:pPr defTabSz="816427" eaLnBrk="0" hangingPunct="0">
              <a:spcBef>
                <a:spcPct val="50000"/>
              </a:spcBef>
            </a:pPr>
            <a:r>
              <a:rPr lang="en-AU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MAUVE Website: </a:t>
            </a:r>
            <a:r>
              <a:rPr lang="en-AU" sz="2800" dirty="0">
                <a:solidFill>
                  <a:srgbClr val="0070C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mauve.icrar.org</a:t>
            </a:r>
            <a:endParaRPr lang="en-AU" sz="2800" dirty="0">
              <a:solidFill>
                <a:srgbClr val="0070C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Box 40"/>
          <p:cNvSpPr txBox="1">
            <a:spLocks noChangeArrowheads="1"/>
          </p:cNvSpPr>
          <p:nvPr/>
        </p:nvSpPr>
        <p:spPr bwMode="auto">
          <a:xfrm>
            <a:off x="6512210" y="1864145"/>
            <a:ext cx="32031555" cy="2593461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0" rIns="0" bIns="0"/>
          <a:lstStyle>
            <a:lvl1pPr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 defTabSz="192088" eaLnBrk="0" hangingPunct="0"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defTabSz="192088" eaLnBrk="0" fontAlgn="base" hangingPunct="0">
              <a:spcBef>
                <a:spcPct val="0"/>
              </a:spcBef>
              <a:spcAft>
                <a:spcPct val="0"/>
              </a:spcAft>
              <a:defRPr sz="5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AU" sz="7200" dirty="0">
                <a:solidFill>
                  <a:srgbClr val="CB91BE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 Mass Dependent Inversion in Virgo Spirals</a:t>
            </a:r>
          </a:p>
          <a:p>
            <a:pPr algn="ctr">
              <a:spcBef>
                <a:spcPct val="20000"/>
              </a:spcBef>
            </a:pPr>
            <a:r>
              <a:rPr lang="en-AU" sz="7200" dirty="0">
                <a:solidFill>
                  <a:schemeClr val="accent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Rongjun Huang (	</a:t>
            </a:r>
            <a:r>
              <a:rPr lang="en-AU" sz="7200" dirty="0" err="1">
                <a:solidFill>
                  <a:schemeClr val="accent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黄镕钧</a:t>
            </a:r>
            <a:r>
              <a:rPr lang="en-AU" sz="7200" dirty="0">
                <a:solidFill>
                  <a:schemeClr val="accent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) et al. </a:t>
            </a:r>
            <a:r>
              <a:rPr lang="en-US" altLang="zh-CN" sz="7200" dirty="0">
                <a:solidFill>
                  <a:schemeClr val="accent2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· MAUVE Collaboration · ICRAR / UWA</a:t>
            </a:r>
            <a:endParaRPr lang="en-AU" sz="7200" dirty="0">
              <a:solidFill>
                <a:schemeClr val="accent2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 descr="A person in a blue shirt&#10;&#10;AI-generated content may be incorrect.">
            <a:extLst>
              <a:ext uri="{FF2B5EF4-FFF2-40B4-BE49-F238E27FC236}">
                <a16:creationId xmlns:a16="http://schemas.microsoft.com/office/drawing/2014/main" id="{EA11A13C-67B4-8178-CEE6-67E8DD1FF31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62082" y="407090"/>
            <a:ext cx="4050515" cy="40505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9A97A3-D595-7C0C-C3FB-20A1DEC819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746" y="2396774"/>
            <a:ext cx="4003093" cy="20608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58BB45-D31D-13D5-418F-269D4EBDA9C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40976" y="2056809"/>
            <a:ext cx="3614129" cy="2608875"/>
          </a:xfrm>
          <a:prstGeom prst="rect">
            <a:avLst/>
          </a:prstGeom>
        </p:spPr>
      </p:pic>
      <p:pic>
        <p:nvPicPr>
          <p:cNvPr id="9" name="Picture 8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FE665787-1DF9-9CD9-52AE-E3FEEEDDEC6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887" y="575187"/>
            <a:ext cx="5698359" cy="13997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B71F75A-1B8D-232B-E11C-0F956085125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/>
        </p:blipFill>
        <p:spPr>
          <a:xfrm>
            <a:off x="760098" y="18397720"/>
            <a:ext cx="9450813" cy="504043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C9E9CA8-7F64-6FF7-B302-78822CF0561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1219983" y="7653179"/>
            <a:ext cx="7764209" cy="58968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0BF4F05-DF39-6026-6CE0-86395893F73D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/>
        </p:blipFill>
        <p:spPr>
          <a:xfrm>
            <a:off x="19734764" y="5710377"/>
            <a:ext cx="12892611" cy="857545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4A7314C5-4817-44A6-E842-6736757F2279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33373848" y="5363185"/>
            <a:ext cx="8692274" cy="926983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 Box 16">
                <a:extLst>
                  <a:ext uri="{FF2B5EF4-FFF2-40B4-BE49-F238E27FC236}">
                    <a16:creationId xmlns:a16="http://schemas.microsoft.com/office/drawing/2014/main" id="{704BA345-2F00-672E-041F-AE165B271B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93127" y="6082231"/>
                <a:ext cx="7772400" cy="1300317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dirty="0"/>
                  <a:t>rMZR is well-defined: the </a:t>
                </a:r>
                <a:r>
                  <a:rPr lang="en-AU" sz="2800" i="1" dirty="0"/>
                  <a:t>secondary</a:t>
                </a:r>
                <a:r>
                  <a:rPr lang="en-AU" sz="2800" dirty="0"/>
                  <a:t> </a:t>
                </a:r>
                <a14:m>
                  <m:oMath xmlns:m="http://schemas.openxmlformats.org/officeDocument/2006/math">
                    <m:r>
                      <a:rPr lang="en-AU" sz="28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𝑔𝑎</m:t>
                        </m:r>
                        <m: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-</a:t>
                </a:r>
                <a:r>
                  <a:rPr lang="en-AU" sz="280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el-GR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prstClr val="black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/>
                  <a:t>relation 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endParaRPr lang="en-CA" sz="28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4" name="Text Box 16">
                <a:extLst>
                  <a:ext uri="{FF2B5EF4-FFF2-40B4-BE49-F238E27FC236}">
                    <a16:creationId xmlns:a16="http://schemas.microsoft.com/office/drawing/2014/main" id="{704BA345-2F00-672E-041F-AE165B271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93127" y="6082231"/>
                <a:ext cx="7772400" cy="1300317"/>
              </a:xfrm>
              <a:prstGeom prst="rect">
                <a:avLst/>
              </a:prstGeom>
              <a:blipFill>
                <a:blip r:embed="rId21"/>
                <a:stretch>
                  <a:fillRect l="-816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16">
                <a:extLst>
                  <a:ext uri="{FF2B5EF4-FFF2-40B4-BE49-F238E27FC236}">
                    <a16:creationId xmlns:a16="http://schemas.microsoft.com/office/drawing/2014/main" id="{1491148C-0F07-BC6C-CDC1-AC0B13731A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193127" y="13639111"/>
                <a:ext cx="7772400" cy="2575570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b="1" dirty="0"/>
                  <a:t>Left:</a:t>
                </a:r>
                <a:r>
                  <a:rPr lang="en-AU" sz="2800" dirty="0"/>
                  <a:t> rMZR: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</m:oMath>
                </a14:m>
                <a:r>
                  <a:rPr lang="en-AU" sz="2800" dirty="0"/>
                  <a:t> rises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dirty="0"/>
                  <a:t>; colour shows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br>
                  <a:rPr lang="en-AU" sz="2800" dirty="0"/>
                </a:br>
                <a:r>
                  <a:rPr lang="en-AU" sz="2800" b="1" dirty="0"/>
                  <a:t>Right:</a:t>
                </a:r>
                <a:r>
                  <a:rPr lang="en-AU" sz="2800" dirty="0"/>
                  <a:t> within narrow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dirty="0"/>
                  <a:t> bins,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  <m:r>
                      <a:rPr lang="en-AU" sz="28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800" b="1" i="1" smtClean="0">
                        <a:latin typeface="Cambria Math" panose="02040503050406030204" pitchFamily="18" charset="0"/>
                      </a:rPr>
                      <m:t>− 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  <m:r>
                      <a:rPr lang="en-A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2800" dirty="0"/>
                  <a:t>trend changes sign: </a:t>
                </a:r>
                <a:r>
                  <a:rPr lang="en-AU" sz="2800" b="1" dirty="0"/>
                  <a:t>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b="1" dirty="0"/>
                  <a:t> anti-correlation</a:t>
                </a:r>
                <a:r>
                  <a:rPr lang="en-AU" sz="2800" dirty="0"/>
                  <a:t> → </a:t>
                </a:r>
                <a:r>
                  <a:rPr lang="en-AU" sz="2800" b="1" dirty="0"/>
                  <a:t>high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b="1" dirty="0"/>
                  <a:t> positive correlation</a:t>
                </a:r>
                <a:r>
                  <a:rPr lang="en-AU" sz="2800" dirty="0"/>
                  <a:t>.</a:t>
                </a:r>
                <a:endParaRPr lang="en-CA" sz="26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5" name="Text Box 16">
                <a:extLst>
                  <a:ext uri="{FF2B5EF4-FFF2-40B4-BE49-F238E27FC236}">
                    <a16:creationId xmlns:a16="http://schemas.microsoft.com/office/drawing/2014/main" id="{1491148C-0F07-BC6C-CDC1-AC0B13731A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93127" y="13639111"/>
                <a:ext cx="7772400" cy="2575570"/>
              </a:xfrm>
              <a:prstGeom prst="rect">
                <a:avLst/>
              </a:prstGeom>
              <a:blipFill>
                <a:blip r:embed="rId22"/>
                <a:stretch>
                  <a:fillRect l="-816" r="-1142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16">
                <a:extLst>
                  <a:ext uri="{FF2B5EF4-FFF2-40B4-BE49-F238E27FC236}">
                    <a16:creationId xmlns:a16="http://schemas.microsoft.com/office/drawing/2014/main" id="{4BCF9C1F-9F86-3A26-88D0-691C05B71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31633" y="14295639"/>
                <a:ext cx="13395742" cy="1902488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We compute a Spearman rank correlation between residual </a:t>
                </a: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𝑔𝑎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US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-</a:t>
                </a:r>
                <a:r>
                  <a:rPr lang="en-AU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.</a:t>
                </a:r>
              </a:p>
              <a:p>
                <a:r>
                  <a:rPr lang="en-AU" sz="2800" dirty="0"/>
                  <a:t>Across galaxies,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dirty="0"/>
                  <a:t> transitions smoothly from </a:t>
                </a:r>
                <a:r>
                  <a:rPr lang="en-AU" sz="2800" b="1" dirty="0">
                    <a:solidFill>
                      <a:srgbClr val="0070C0"/>
                    </a:solidFill>
                  </a:rPr>
                  <a:t>negative</a:t>
                </a:r>
                <a:r>
                  <a:rPr lang="en-AU" sz="2800" dirty="0"/>
                  <a:t> (</a:t>
                </a:r>
                <a:r>
                  <a:rPr lang="en-AU" sz="2800" i="1" dirty="0"/>
                  <a:t>gas-supply-dominated</a:t>
                </a:r>
                <a:r>
                  <a:rPr lang="en-AU" sz="2800" dirty="0"/>
                  <a:t>) to </a:t>
                </a:r>
                <a:r>
                  <a:rPr lang="en-AU" sz="2800" b="1" dirty="0">
                    <a:solidFill>
                      <a:srgbClr val="FF0000"/>
                    </a:solidFill>
                  </a:rPr>
                  <a:t>positive</a:t>
                </a:r>
                <a:r>
                  <a:rPr lang="en-AU" sz="2800" dirty="0"/>
                  <a:t> (</a:t>
                </a:r>
                <a:r>
                  <a:rPr lang="en-AU" sz="2800" i="1" dirty="0"/>
                  <a:t>star-formation-dominated</a:t>
                </a:r>
                <a:r>
                  <a:rPr lang="en-AU" sz="2800" dirty="0"/>
                  <a:t>), with an inversion point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AU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log</m:t>
                    </m:r>
                    <m:sSub>
                      <m:sSubPr>
                        <m:ctrlPr>
                          <a:rPr lang="en-AU" sz="2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AU" sz="2800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l-GR" sz="280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∗</m:t>
                        </m:r>
                      </m:sub>
                    </m:sSub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/</m:t>
                    </m:r>
                    <m:sSub>
                      <m:sSub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𝑀</m:t>
                        </m:r>
                      </m:e>
                      <m:sub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⊙</m:t>
                        </m:r>
                      </m:sub>
                    </m:sSub>
                    <m:sSup>
                      <m:sSupPr>
                        <m:ctrlP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AU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kpc</m:t>
                        </m:r>
                      </m:e>
                      <m:sup>
                        <m:r>
                          <a:rPr lang="en-AU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−2</m:t>
                        </m:r>
                      </m:sup>
                    </m:sSup>
                    <m:r>
                      <a:rPr lang="en-AU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)≈7.5−8.0</m:t>
                    </m:r>
                  </m:oMath>
                </a14:m>
                <a:endParaRPr lang="en-CA" sz="28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46" name="Text Box 16">
                <a:extLst>
                  <a:ext uri="{FF2B5EF4-FFF2-40B4-BE49-F238E27FC236}">
                    <a16:creationId xmlns:a16="http://schemas.microsoft.com/office/drawing/2014/main" id="{4BCF9C1F-9F86-3A26-88D0-691C05B71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231633" y="14295639"/>
                <a:ext cx="13395742" cy="1902488"/>
              </a:xfrm>
              <a:prstGeom prst="rect">
                <a:avLst/>
              </a:prstGeom>
              <a:blipFill>
                <a:blip r:embed="rId23"/>
                <a:stretch>
                  <a:fillRect l="-474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16">
            <a:extLst>
              <a:ext uri="{FF2B5EF4-FFF2-40B4-BE49-F238E27FC236}">
                <a16:creationId xmlns:a16="http://schemas.microsoft.com/office/drawing/2014/main" id="{8B30F723-AC1A-4214-BC13-38E7B10477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107284" y="12155486"/>
            <a:ext cx="4923437" cy="1601281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Coloured tracks: individual galaxies; black: ensemble trend.</a:t>
            </a:r>
            <a:endParaRPr lang="en-CA" sz="2800" dirty="0"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16">
                <a:extLst>
                  <a:ext uri="{FF2B5EF4-FFF2-40B4-BE49-F238E27FC236}">
                    <a16:creationId xmlns:a16="http://schemas.microsoft.com/office/drawing/2014/main" id="{34D52166-A42E-613D-09C3-8C9981B81F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88574" y="14464329"/>
                <a:ext cx="9960638" cy="1565108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Panels </a:t>
                </a:r>
                <a:r>
                  <a:rPr lang="en-CA" sz="2800" dirty="0" err="1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a,b,d</a:t>
                </a:r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AU" sz="2800" b="1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400" b="1" i="1">
                            <a:latin typeface="Cambria Math" panose="02040503050406030204" pitchFamily="18" charset="0"/>
                          </a:rPr>
                          <m:t>𝒈𝒂𝒔</m:t>
                        </m:r>
                      </m:sub>
                    </m:sSub>
                  </m:oMath>
                </a14:m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maps. Panel c: </a:t>
                </a:r>
                <a:r>
                  <a:rPr lang="en-AU" sz="2800" dirty="0"/>
                  <a:t>A local Moran-like index quantifies neighbourhood co-variation between </a:t>
                </a:r>
                <a14:m>
                  <m:oMath xmlns:m="http://schemas.openxmlformats.org/officeDocument/2006/math">
                    <m:r>
                      <a:rPr lang="en-AU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b>
                        <m:r>
                          <a:rPr lang="en-AU" sz="2800" i="1">
                            <a:latin typeface="Cambria Math" panose="02040503050406030204" pitchFamily="18" charset="0"/>
                          </a:rPr>
                          <m:t>𝑔𝑎</m:t>
                        </m:r>
                        <m:r>
                          <a:rPr lang="en-AU" sz="2800" b="1" i="1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r>
                  <a:rPr lang="en-AU" sz="2800" b="1" dirty="0"/>
                  <a:t> </a:t>
                </a:r>
                <a:r>
                  <a:rPr lang="en-AU" sz="2800" dirty="0"/>
                  <a:t>and</a:t>
                </a:r>
                <a:r>
                  <a:rPr lang="en-AU" sz="2800" b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𝚫</m:t>
                        </m:r>
                        <m:r>
                          <a:rPr lang="el-GR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𝜮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AU" sz="2800" dirty="0"/>
                  <a:t>. </a:t>
                </a:r>
                <a:r>
                  <a:rPr lang="en-AU" sz="2800" b="1" dirty="0">
                    <a:solidFill>
                      <a:srgbClr val="FF0000"/>
                    </a:solidFill>
                  </a:rPr>
                  <a:t>red</a:t>
                </a:r>
                <a:r>
                  <a:rPr lang="en-AU" sz="2800" b="1" dirty="0"/>
                  <a:t> = concordant patches</a:t>
                </a:r>
                <a:r>
                  <a:rPr lang="en-AU" sz="2800" dirty="0"/>
                  <a:t>, </a:t>
                </a:r>
                <a:r>
                  <a:rPr lang="en-AU" sz="2800" b="1" dirty="0">
                    <a:solidFill>
                      <a:srgbClr val="0070C0"/>
                    </a:solidFill>
                  </a:rPr>
                  <a:t>blue</a:t>
                </a:r>
                <a:r>
                  <a:rPr lang="en-AU" sz="2800" b="1" dirty="0"/>
                  <a:t> = discordant patches</a:t>
                </a:r>
                <a:r>
                  <a:rPr lang="en-AU" sz="2800" dirty="0"/>
                  <a:t>.</a:t>
                </a:r>
                <a:r>
                  <a:rPr lang="en-CA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48" name="Text Box 16">
                <a:extLst>
                  <a:ext uri="{FF2B5EF4-FFF2-40B4-BE49-F238E27FC236}">
                    <a16:creationId xmlns:a16="http://schemas.microsoft.com/office/drawing/2014/main" id="{34D52166-A42E-613D-09C3-8C9981B81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2788574" y="14464329"/>
                <a:ext cx="9960638" cy="1565108"/>
              </a:xfrm>
              <a:prstGeom prst="rect">
                <a:avLst/>
              </a:prstGeom>
              <a:blipFill>
                <a:blip r:embed="rId24"/>
                <a:stretch>
                  <a:fillRect l="-509" b="-7258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ectangle 48">
            <a:extLst>
              <a:ext uri="{FF2B5EF4-FFF2-40B4-BE49-F238E27FC236}">
                <a16:creationId xmlns:a16="http://schemas.microsoft.com/office/drawing/2014/main" id="{35373E52-0910-7E86-3114-AF028368AD08}"/>
              </a:ext>
            </a:extLst>
          </p:cNvPr>
          <p:cNvSpPr/>
          <p:nvPr/>
        </p:nvSpPr>
        <p:spPr>
          <a:xfrm>
            <a:off x="35572926" y="5158901"/>
            <a:ext cx="51648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B417B7C7-7E62-B706-36DA-DFED94E47165}"/>
              </a:ext>
            </a:extLst>
          </p:cNvPr>
          <p:cNvSpPr/>
          <p:nvPr/>
        </p:nvSpPr>
        <p:spPr>
          <a:xfrm>
            <a:off x="39599494" y="5158901"/>
            <a:ext cx="51648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3516C3F-FB78-8E2B-26B9-3ECE042D36B1}"/>
              </a:ext>
            </a:extLst>
          </p:cNvPr>
          <p:cNvSpPr/>
          <p:nvPr/>
        </p:nvSpPr>
        <p:spPr>
          <a:xfrm>
            <a:off x="35572926" y="9615477"/>
            <a:ext cx="51648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CE0B47C-C582-077B-7CC6-08FCCA5F7BA3}"/>
              </a:ext>
            </a:extLst>
          </p:cNvPr>
          <p:cNvSpPr/>
          <p:nvPr/>
        </p:nvSpPr>
        <p:spPr>
          <a:xfrm>
            <a:off x="39599493" y="9612578"/>
            <a:ext cx="516487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ACB0075-1408-C0A5-9635-94EC5CC20CFA}"/>
              </a:ext>
            </a:extLst>
          </p:cNvPr>
          <p:cNvSpPr/>
          <p:nvPr/>
        </p:nvSpPr>
        <p:spPr>
          <a:xfrm>
            <a:off x="22330611" y="6256421"/>
            <a:ext cx="1923552" cy="3128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364B5E91-48C3-0EE3-47DF-347EABE9059E}"/>
              </a:ext>
            </a:extLst>
          </p:cNvPr>
          <p:cNvCxnSpPr>
            <a:cxnSpLocks/>
          </p:cNvCxnSpPr>
          <p:nvPr/>
        </p:nvCxnSpPr>
        <p:spPr>
          <a:xfrm flipV="1">
            <a:off x="23314884" y="5942926"/>
            <a:ext cx="0" cy="313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98CF2DFD-1353-40C6-60B5-AC23EB2FB253}"/>
              </a:ext>
            </a:extLst>
          </p:cNvPr>
          <p:cNvCxnSpPr>
            <a:cxnSpLocks/>
          </p:cNvCxnSpPr>
          <p:nvPr/>
        </p:nvCxnSpPr>
        <p:spPr>
          <a:xfrm>
            <a:off x="23314884" y="5955626"/>
            <a:ext cx="11884806" cy="12700"/>
          </a:xfrm>
          <a:prstGeom prst="bentConnector3">
            <a:avLst>
              <a:gd name="adj1" fmla="val 9981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 Box 16">
            <a:extLst>
              <a:ext uri="{FF2B5EF4-FFF2-40B4-BE49-F238E27FC236}">
                <a16:creationId xmlns:a16="http://schemas.microsoft.com/office/drawing/2014/main" id="{9297ED4E-9A47-95F8-DB80-494D81DC1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6220" y="5101381"/>
            <a:ext cx="11094798" cy="739403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/>
              <a:t>Example (NGC 4192): correlated and anti-correlated regions coexist locally</a:t>
            </a:r>
            <a:r>
              <a:rPr lang="en-CA" sz="2800" dirty="0"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ED0B29C1-51E9-513D-1800-16215F773BDE}"/>
                  </a:ext>
                </a:extLst>
              </p:cNvPr>
              <p:cNvSpPr/>
              <p:nvPr/>
            </p:nvSpPr>
            <p:spPr>
              <a:xfrm>
                <a:off x="13379116" y="18962619"/>
                <a:ext cx="2069431" cy="843991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Σ</m:t>
                          </m:r>
                        </m:e>
                        <m:sub>
                          <m:r>
                            <a:rPr lang="en-AU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(gas supply)</a:t>
                </a:r>
              </a:p>
            </p:txBody>
          </p:sp>
        </mc:Choice>
        <mc:Fallback xmlns="">
          <p:sp>
            <p:nvSpPr>
              <p:cNvPr id="74" name="Rounded Rectangle 73">
                <a:extLst>
                  <a:ext uri="{FF2B5EF4-FFF2-40B4-BE49-F238E27FC236}">
                    <a16:creationId xmlns:a16="http://schemas.microsoft.com/office/drawing/2014/main" id="{ED0B29C1-51E9-513D-1800-16215F773B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9116" y="18962619"/>
                <a:ext cx="2069431" cy="843991"/>
              </a:xfrm>
              <a:prstGeom prst="roundRect">
                <a:avLst/>
              </a:prstGeom>
              <a:blipFill>
                <a:blip r:embed="rId25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FA5B973-B10C-CEF8-F882-5BED40A998A3}"/>
                  </a:ext>
                </a:extLst>
              </p:cNvPr>
              <p:cNvSpPr/>
              <p:nvPr/>
            </p:nvSpPr>
            <p:spPr>
              <a:xfrm>
                <a:off x="13379116" y="20868392"/>
                <a:ext cx="2069431" cy="843991"/>
              </a:xfrm>
              <a:prstGeom prst="round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Σ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2400" dirty="0">
                    <a:solidFill>
                      <a:schemeClr val="tx1"/>
                    </a:solidFill>
                  </a:rPr>
                  <a:t>(gas reservoir)</a:t>
                </a:r>
              </a:p>
            </p:txBody>
          </p:sp>
        </mc:Choice>
        <mc:Fallback xmlns="">
          <p:sp>
            <p:nvSpPr>
              <p:cNvPr id="75" name="Rounded Rectangle 74">
                <a:extLst>
                  <a:ext uri="{FF2B5EF4-FFF2-40B4-BE49-F238E27FC236}">
                    <a16:creationId xmlns:a16="http://schemas.microsoft.com/office/drawing/2014/main" id="{AFA5B973-B10C-CEF8-F882-5BED40A998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79116" y="20868392"/>
                <a:ext cx="2069431" cy="843991"/>
              </a:xfrm>
              <a:prstGeom prst="roundRect">
                <a:avLst/>
              </a:prstGeom>
              <a:blipFill>
                <a:blip r:embed="rId26"/>
                <a:stretch>
                  <a:fillRect l="-1829" r="-1829" b="-15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6C6F38A5-AD86-D8AC-D806-76F02B510529}"/>
                  </a:ext>
                </a:extLst>
              </p:cNvPr>
              <p:cNvSpPr/>
              <p:nvPr/>
            </p:nvSpPr>
            <p:spPr>
              <a:xfrm>
                <a:off x="11405272" y="22684813"/>
                <a:ext cx="962526" cy="665534"/>
              </a:xfrm>
              <a:prstGeom prst="roundRect">
                <a:avLst/>
              </a:prstGeom>
            </p:spPr>
            <p:style>
              <a:lnRef idx="3">
                <a:schemeClr val="lt1"/>
              </a:lnRef>
              <a:fillRef idx="1">
                <a:schemeClr val="accent2"/>
              </a:fillRef>
              <a:effectRef idx="1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Σ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𝑆𝐹𝑅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Rounded Rectangle 76">
                <a:extLst>
                  <a:ext uri="{FF2B5EF4-FFF2-40B4-BE49-F238E27FC236}">
                    <a16:creationId xmlns:a16="http://schemas.microsoft.com/office/drawing/2014/main" id="{6C6F38A5-AD86-D8AC-D806-76F02B5105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5272" y="22684813"/>
                <a:ext cx="962526" cy="665534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EE2E0139-5ABB-6DF3-DB1A-2F1D2FD34A5C}"/>
                  </a:ext>
                </a:extLst>
              </p:cNvPr>
              <p:cNvSpPr/>
              <p:nvPr/>
            </p:nvSpPr>
            <p:spPr>
              <a:xfrm>
                <a:off x="15751794" y="22684812"/>
                <a:ext cx="962526" cy="665534"/>
              </a:xfrm>
              <a:prstGeom prst="roundRect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</m:e>
                        <m:sub>
                          <m:r>
                            <a:rPr lang="en-AU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𝑔𝑎𝑠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Rounded Rectangle 77">
                <a:extLst>
                  <a:ext uri="{FF2B5EF4-FFF2-40B4-BE49-F238E27FC236}">
                    <a16:creationId xmlns:a16="http://schemas.microsoft.com/office/drawing/2014/main" id="{EE2E0139-5ABB-6DF3-DB1A-2F1D2FD34A5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51794" y="22684812"/>
                <a:ext cx="962526" cy="665534"/>
              </a:xfrm>
              <a:prstGeom prst="round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0" name="Elbow Connector 79">
            <a:extLst>
              <a:ext uri="{FF2B5EF4-FFF2-40B4-BE49-F238E27FC236}">
                <a16:creationId xmlns:a16="http://schemas.microsoft.com/office/drawing/2014/main" id="{ABF1F4E0-88C5-57D3-3937-132DC2E0BCF9}"/>
              </a:ext>
            </a:extLst>
          </p:cNvPr>
          <p:cNvCxnSpPr>
            <a:cxnSpLocks/>
            <a:stCxn id="74" idx="3"/>
            <a:endCxn id="78" idx="0"/>
          </p:cNvCxnSpPr>
          <p:nvPr/>
        </p:nvCxnSpPr>
        <p:spPr>
          <a:xfrm>
            <a:off x="15448547" y="19384615"/>
            <a:ext cx="784510" cy="33001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Elbow Connector 86">
            <a:extLst>
              <a:ext uri="{FF2B5EF4-FFF2-40B4-BE49-F238E27FC236}">
                <a16:creationId xmlns:a16="http://schemas.microsoft.com/office/drawing/2014/main" id="{1E2403D2-C554-D5E3-BF1B-20F3364835F5}"/>
              </a:ext>
            </a:extLst>
          </p:cNvPr>
          <p:cNvCxnSpPr>
            <a:cxnSpLocks/>
            <a:stCxn id="74" idx="2"/>
            <a:endCxn id="75" idx="0"/>
          </p:cNvCxnSpPr>
          <p:nvPr/>
        </p:nvCxnSpPr>
        <p:spPr>
          <a:xfrm rot="5400000">
            <a:off x="13882941" y="20337501"/>
            <a:ext cx="1061782" cy="12700"/>
          </a:xfrm>
          <a:prstGeom prst="bentConnector3">
            <a:avLst>
              <a:gd name="adj1" fmla="val -21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Elbow Connector 89">
            <a:extLst>
              <a:ext uri="{FF2B5EF4-FFF2-40B4-BE49-F238E27FC236}">
                <a16:creationId xmlns:a16="http://schemas.microsoft.com/office/drawing/2014/main" id="{3AA009F5-3220-C5FF-4972-523EB85909EA}"/>
              </a:ext>
            </a:extLst>
          </p:cNvPr>
          <p:cNvCxnSpPr>
            <a:cxnSpLocks/>
            <a:stCxn id="75" idx="1"/>
            <a:endCxn id="77" idx="0"/>
          </p:cNvCxnSpPr>
          <p:nvPr/>
        </p:nvCxnSpPr>
        <p:spPr>
          <a:xfrm rot="10800000" flipV="1">
            <a:off x="11886536" y="21290387"/>
            <a:ext cx="1492581" cy="139442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Elbow Connector 92">
            <a:extLst>
              <a:ext uri="{FF2B5EF4-FFF2-40B4-BE49-F238E27FC236}">
                <a16:creationId xmlns:a16="http://schemas.microsoft.com/office/drawing/2014/main" id="{EE114E53-E1F7-E467-85DF-7668D41D441F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 flipV="1">
            <a:off x="12367798" y="23017579"/>
            <a:ext cx="3383996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Text Box 16">
            <a:extLst>
              <a:ext uri="{FF2B5EF4-FFF2-40B4-BE49-F238E27FC236}">
                <a16:creationId xmlns:a16="http://schemas.microsoft.com/office/drawing/2014/main" id="{80C4AF54-BEDE-146B-9A60-141C12DB2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3069" y="19866443"/>
            <a:ext cx="3230956" cy="616510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0070C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accretion, dilution</a:t>
            </a:r>
            <a:endParaRPr lang="en-CA" sz="2800" dirty="0">
              <a:solidFill>
                <a:srgbClr val="0070C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 Box 16">
                <a:extLst>
                  <a:ext uri="{FF2B5EF4-FFF2-40B4-BE49-F238E27FC236}">
                    <a16:creationId xmlns:a16="http://schemas.microsoft.com/office/drawing/2014/main" id="{AC8CE8F8-3E8D-530F-A1BF-000F054C85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11449" y="20843499"/>
                <a:ext cx="760447" cy="616510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AU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AU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Tahoma" panose="020B0604030504040204" pitchFamily="34" charset="0"/>
                              <a:cs typeface="Arial" panose="020B0604020202020204" pitchFamily="34" charset="0"/>
                            </a:rPr>
                            <m:t>𝑍</m:t>
                          </m:r>
                        </m:e>
                        <m:sub>
                          <m:r>
                            <a:rPr lang="en-AU" sz="28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Arial" panose="020B0604020202020204" pitchFamily="34" charset="0"/>
                            </a:rPr>
                            <m:t>𝜙</m:t>
                          </m:r>
                        </m:sub>
                      </m:sSub>
                    </m:oMath>
                  </m:oMathPara>
                </a14:m>
                <a:endParaRPr lang="en-CA" sz="28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27" name="Text Box 16">
                <a:extLst>
                  <a:ext uri="{FF2B5EF4-FFF2-40B4-BE49-F238E27FC236}">
                    <a16:creationId xmlns:a16="http://schemas.microsoft.com/office/drawing/2014/main" id="{AC8CE8F8-3E8D-530F-A1BF-000F054C85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811449" y="20843499"/>
                <a:ext cx="760447" cy="616510"/>
              </a:xfrm>
              <a:prstGeom prst="rect">
                <a:avLst/>
              </a:prstGeom>
              <a:blipFill>
                <a:blip r:embed="rId29"/>
                <a:stretch>
                  <a:fillRect b="-24490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 Box 16">
            <a:extLst>
              <a:ext uri="{FF2B5EF4-FFF2-40B4-BE49-F238E27FC236}">
                <a16:creationId xmlns:a16="http://schemas.microsoft.com/office/drawing/2014/main" id="{F0382F33-3180-3D4F-9361-5756F739D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2660" y="21723960"/>
            <a:ext cx="2550276" cy="616510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star formation</a:t>
            </a:r>
            <a:endParaRPr lang="en-CA" sz="2800" dirty="0">
              <a:solidFill>
                <a:srgbClr val="FF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Text Box 16">
            <a:extLst>
              <a:ext uri="{FF2B5EF4-FFF2-40B4-BE49-F238E27FC236}">
                <a16:creationId xmlns:a16="http://schemas.microsoft.com/office/drawing/2014/main" id="{B3CF61B2-B64C-B512-B2F9-96549E45C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1640" y="22406856"/>
            <a:ext cx="2436907" cy="616510"/>
          </a:xfrm>
          <a:prstGeom prst="rect">
            <a:avLst/>
          </a:prstGeom>
          <a:noFill/>
          <a:ln w="25400">
            <a:noFill/>
          </a:ln>
          <a:effectLst/>
        </p:spPr>
        <p:txBody>
          <a:bodyPr wrap="square" lIns="161009" tIns="161009" rIns="161009" bIns="161009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800" dirty="0">
                <a:solidFill>
                  <a:srgbClr val="FF0000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metal yields</a:t>
            </a:r>
            <a:endParaRPr lang="en-CA" sz="2800" dirty="0">
              <a:solidFill>
                <a:srgbClr val="FF0000"/>
              </a:solidFill>
              <a:latin typeface="Arial" panose="020B0604020202020204" pitchFamily="34" charset="0"/>
              <a:ea typeface="Tahoma" panose="020B060403050404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 Box 16">
                <a:extLst>
                  <a:ext uri="{FF2B5EF4-FFF2-40B4-BE49-F238E27FC236}">
                    <a16:creationId xmlns:a16="http://schemas.microsoft.com/office/drawing/2014/main" id="{8AAA8560-A0AA-5604-BFE9-454468BE24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840990" y="19384614"/>
                <a:ext cx="8483894" cy="4003579"/>
              </a:xfrm>
              <a:prstGeom prst="rect">
                <a:avLst/>
              </a:prstGeom>
              <a:noFill/>
              <a:ln w="25400">
                <a:noFill/>
              </a:ln>
              <a:effectLst/>
            </p:spPr>
            <p:txBody>
              <a:bodyPr wrap="square" lIns="161009" tIns="161009" rIns="161009" bIns="161009">
                <a:no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AU" sz="2800" b="1" dirty="0"/>
                  <a:t>A spatially resolved </a:t>
                </a:r>
                <a:r>
                  <a:rPr lang="en-AU" sz="2800" b="1" i="1" dirty="0"/>
                  <a:t>bathtub</a:t>
                </a:r>
                <a:r>
                  <a:rPr lang="en-AU" sz="2800" b="1" dirty="0"/>
                  <a:t> model to describe the local gas regulation. </a:t>
                </a:r>
              </a:p>
              <a:p>
                <a:r>
                  <a:rPr lang="en-AU" sz="2800" dirty="0"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At fixed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2800" b="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𝛴</m:t>
                        </m:r>
                      </m:e>
                      <m:sub>
                        <m:r>
                          <a:rPr lang="en-AU" sz="2800" b="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</m:oMath>
                </a14:m>
                <a:r>
                  <a:rPr lang="en-AU" sz="2800" dirty="0"/>
                  <a:t>: </a:t>
                </a:r>
                <a:endParaRPr lang="en-AU" sz="28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pPr algn="ctr"/>
                <a14:m>
                  <m:oMath xmlns:m="http://schemas.openxmlformats.org/officeDocument/2006/math">
                    <m:r>
                      <a:rPr lang="en-AU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𝚫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AU" sz="2800" b="1" i="0">
                            <a:latin typeface="Cambria Math" panose="02040503050406030204" pitchFamily="18" charset="0"/>
                          </a:rPr>
                          <m:t>𝐙</m:t>
                        </m:r>
                      </m:e>
                      <m:sub>
                        <m:r>
                          <a:rPr lang="en-AU" sz="2800" b="1" i="0">
                            <a:latin typeface="Cambria Math" panose="02040503050406030204" pitchFamily="18" charset="0"/>
                          </a:rPr>
                          <m:t>𝐠𝐚𝐬</m:t>
                        </m:r>
                      </m:sub>
                    </m:sSub>
                    <m:r>
                      <a:rPr lang="en-AU" sz="2800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∝∆</m:t>
                    </m:r>
                    <m:r>
                      <a:rPr lang="en-AU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𝐥𝐨𝐠</m:t>
                    </m:r>
                    <m:r>
                      <a:rPr lang="en-AU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𝚺</m:t>
                        </m:r>
                      </m:e>
                      <m:sub>
                        <m:r>
                          <a:rPr lang="en-AU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𝐒𝐅𝐑</m:t>
                        </m:r>
                      </m:sub>
                    </m:sSub>
                  </m:oMath>
                </a14:m>
                <a:r>
                  <a:rPr lang="el-GR" sz="2800" b="1" dirty="0">
                    <a:ea typeface="Cambria Math" panose="02040503050406030204" pitchFamily="18" charset="0"/>
                    <a:cs typeface="Arial" panose="020B0604020202020204" pitchFamily="34" charset="0"/>
                  </a:rPr>
                  <a:t> </a:t>
                </a:r>
                <a:r>
                  <a:rPr lang="en-AU" sz="2800" b="1" dirty="0">
                    <a:ea typeface="Cambria Math" panose="02040503050406030204" pitchFamily="18" charset="0"/>
                    <a:cs typeface="Arial" panose="020B0604020202020204" pitchFamily="34" charset="0"/>
                  </a:rPr>
                  <a:t>- </a:t>
                </a:r>
                <a14:m>
                  <m:oMath xmlns:m="http://schemas.openxmlformats.org/officeDocument/2006/math">
                    <m:r>
                      <a:rPr lang="el-GR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𝚫</m:t>
                    </m:r>
                    <m:r>
                      <a:rPr lang="en-AU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𝐥𝐨𝐠</m:t>
                    </m:r>
                    <m:r>
                      <a:rPr lang="en-AU" sz="2800" b="1" i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sSub>
                      <m:sSubPr>
                        <m:ctrlPr>
                          <a:rPr lang="en-AU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l-GR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𝚺</m:t>
                        </m:r>
                      </m:e>
                      <m:sub>
                        <m:r>
                          <a:rPr lang="en-AU" sz="2800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𝛟</m:t>
                        </m:r>
                      </m:sub>
                    </m:sSub>
                  </m:oMath>
                </a14:m>
                <a:endParaRPr lang="en-AU" sz="2800" b="1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n-AU" sz="2800" dirty="0">
                    <a:solidFill>
                      <a:srgbClr val="FF0000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Star-formation-driven variability </a:t>
                </a:r>
                <a:r>
                  <a:rPr lang="en-AU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dominates </a:t>
                </a:r>
                <a14:m>
                  <m:oMath xmlns:m="http://schemas.openxmlformats.org/officeDocument/2006/math">
                    <m:r>
                      <a:rPr lang="en-AU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 ↑</m:t>
                    </m:r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(metal yields) with smaller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ϕ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CA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  <m:r>
                      <a:rPr lang="en-AU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↑</m:t>
                    </m:r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gas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. </a:t>
                </a:r>
                <a:endParaRPr lang="en-CA" sz="28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  <a:p>
                <a:r>
                  <a:rPr lang="en-AU" sz="2800" dirty="0">
                    <a:solidFill>
                      <a:srgbClr val="0070C0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Gas-supply-driven variability</a:t>
                </a:r>
                <a:r>
                  <a:rPr lang="en-AU" sz="2800" dirty="0">
                    <a:solidFill>
                      <a:schemeClr val="bg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</a:t>
                </a:r>
                <a:r>
                  <a:rPr lang="en-AU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dominates </a:t>
                </a:r>
                <a14:m>
                  <m:oMath xmlns:m="http://schemas.openxmlformats.org/officeDocument/2006/math">
                    <m:r>
                      <a:rPr lang="en-AU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 ↑</m:t>
                    </m:r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SFR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with with larger changes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Σ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ϕ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ϕ</m:t>
                        </m:r>
                      </m:sub>
                    </m:sSub>
                    <m:r>
                      <a:rPr lang="en-AU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dilution) </a:t>
                </a:r>
                <a14:m>
                  <m:oMath xmlns:m="http://schemas.openxmlformats.org/officeDocument/2006/math">
                    <m:r>
                      <a:rPr lang="en-CA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  <m:r>
                      <a:rPr lang="en-AU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anose="020B0604020202020204" pitchFamily="34" charset="0"/>
                      </a:rPr>
                      <m:t> ↓</m:t>
                    </m:r>
                    <m:sSub>
                      <m:sSubPr>
                        <m:ctrlPr>
                          <a:rPr lang="en-A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Tahoma" panose="020B0604030504040204" pitchFamily="34" charset="0"/>
                            <a:cs typeface="Arial" panose="020B0604020202020204" pitchFamily="34" charset="0"/>
                          </a:rPr>
                          <m:t>Z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AU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anose="020B0604020202020204" pitchFamily="34" charset="0"/>
                          </a:rPr>
                          <m:t>gas</m:t>
                        </m:r>
                      </m:sub>
                    </m:sSub>
                  </m:oMath>
                </a14:m>
                <a:r>
                  <a:rPr lang="en-CA" sz="2800" dirty="0">
                    <a:solidFill>
                      <a:schemeClr val="tx1"/>
                    </a:solidFill>
                    <a:latin typeface="Arial" panose="020B0604020202020204" pitchFamily="34" charset="0"/>
                    <a:ea typeface="Tahoma" panose="020B0604030504040204" pitchFamily="34" charset="0"/>
                    <a:cs typeface="Arial" panose="020B0604020202020204" pitchFamily="34" charset="0"/>
                  </a:rPr>
                  <a:t>.</a:t>
                </a:r>
                <a:endParaRPr lang="en-CA" sz="2800" dirty="0">
                  <a:latin typeface="Arial" panose="020B0604020202020204" pitchFamily="34" charset="0"/>
                  <a:ea typeface="Tahoma" panose="020B060403050404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30" name="Text Box 16">
                <a:extLst>
                  <a:ext uri="{FF2B5EF4-FFF2-40B4-BE49-F238E27FC236}">
                    <a16:creationId xmlns:a16="http://schemas.microsoft.com/office/drawing/2014/main" id="{8AAA8560-A0AA-5604-BFE9-454468BE2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840990" y="19384614"/>
                <a:ext cx="8483894" cy="4003579"/>
              </a:xfrm>
              <a:prstGeom prst="rect">
                <a:avLst/>
              </a:prstGeom>
              <a:blipFill>
                <a:blip r:embed="rId30"/>
                <a:stretch>
                  <a:fillRect l="-749" r="-150"/>
                </a:stretch>
              </a:blipFill>
              <a:ln w="25400"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638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FCBBCE91B2F746A60A637FC75E60D4" ma:contentTypeVersion="19" ma:contentTypeDescription="Create a new document." ma:contentTypeScope="" ma:versionID="b891411c94cace4e7b7fa22aea2bb513">
  <xsd:schema xmlns:xsd="http://www.w3.org/2001/XMLSchema" xmlns:xs="http://www.w3.org/2001/XMLSchema" xmlns:p="http://schemas.microsoft.com/office/2006/metadata/properties" xmlns:ns2="c9226f5d-1c72-4bc5-a8fe-71717eca57f2" xmlns:ns3="579f5eea-5841-42bc-b2cf-22e16a85a1d4" targetNamespace="http://schemas.microsoft.com/office/2006/metadata/properties" ma:root="true" ma:fieldsID="4c398cb149f6ac42daaeb62efb9f019a" ns2:_="" ns3:_="">
    <xsd:import namespace="c9226f5d-1c72-4bc5-a8fe-71717eca57f2"/>
    <xsd:import namespace="579f5eea-5841-42bc-b2cf-22e16a85a1d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Locatio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226f5d-1c72-4bc5-a8fe-71717eca57f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0d61e26d-7d18-4a9e-9f9c-afcdcfd5d8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9f5eea-5841-42bc-b2cf-22e16a85a1d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6d82c876-850a-430c-9d0a-07a5e9031f26}" ma:internalName="TaxCatchAll" ma:showField="CatchAllData" ma:web="579f5eea-5841-42bc-b2cf-22e16a85a1d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79f5eea-5841-42bc-b2cf-22e16a85a1d4" xsi:nil="true"/>
    <lcf76f155ced4ddcb4097134ff3c332f xmlns="c9226f5d-1c72-4bc5-a8fe-71717eca57f2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BD8093C8-37C0-4D2A-81A4-FD2A11B783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226f5d-1c72-4bc5-a8fe-71717eca57f2"/>
    <ds:schemaRef ds:uri="579f5eea-5841-42bc-b2cf-22e16a85a1d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4EB84D3-2978-47A5-B0D9-95A605EA6E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7716D8-6FE8-4373-AE6E-904865FEC6D2}">
  <ds:schemaRefs>
    <ds:schemaRef ds:uri="http://schemas.microsoft.com/office/2006/metadata/properties"/>
    <ds:schemaRef ds:uri="http://schemas.microsoft.com/office/infopath/2007/PartnerControls"/>
    <ds:schemaRef ds:uri="579f5eea-5841-42bc-b2cf-22e16a85a1d4"/>
    <ds:schemaRef ds:uri="c9226f5d-1c72-4bc5-a8fe-71717eca57f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1976</TotalTime>
  <Words>659</Words>
  <Application>Microsoft Macintosh PowerPoint</Application>
  <PresentationFormat>Custom</PresentationFormat>
  <Paragraphs>60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2013 - 2022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Pamela Ortiz</dc:creator>
  <cp:lastModifiedBy>Rongjun Huang</cp:lastModifiedBy>
  <cp:revision>52</cp:revision>
  <dcterms:created xsi:type="dcterms:W3CDTF">2016-12-01T17:42:49Z</dcterms:created>
  <dcterms:modified xsi:type="dcterms:W3CDTF">2026-02-23T08:43:07Z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0x01010058FCBBCE91B2F746A60A637FC75E60D4</vt:lpwstr>
  </property>
</Properties>
</file>