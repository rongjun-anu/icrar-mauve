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5"/>
  </p:notesMasterIdLst>
  <p:sldIdLst>
    <p:sldId id="289" r:id="rId2"/>
    <p:sldId id="288"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9144000" cy="5143500" type="screen16x9"/>
  <p:notesSz cx="6858000" cy="9144000"/>
  <p:embeddedFontLst>
    <p:embeddedFont>
      <p:font typeface="Lato" panose="020F0502020204030203" pitchFamily="34" charset="0"/>
      <p:regular r:id="rId36"/>
      <p:bold r:id="rId37"/>
      <p:italic r:id="rId38"/>
      <p:boldItalic r:id="rId39"/>
    </p:embeddedFont>
    <p:embeddedFont>
      <p:font typeface="Montserrat" pitchFamily="2" charset="77"/>
      <p:regular r:id="rId40"/>
      <p:bold r:id="rId41"/>
      <p:italic r:id="rId42"/>
      <p:boldItalic r:id="rId43"/>
    </p:embeddedFont>
    <p:embeddedFont>
      <p:font typeface="Proxima Nova" panose="02000506030000020004"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5VU7XiFKQp9kKh9nzEc7sdx1iu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604016A-8ED0-4BCF-9218-027BD19F7E42}">
  <a:tblStyle styleId="{8604016A-8ED0-4BCF-9218-027BD19F7E42}"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7E7"/>
          </a:solidFill>
        </a:fill>
      </a:tcStyle>
    </a:wholeTbl>
    <a:band1H>
      <a:tcTxStyle/>
      <a:tcStyle>
        <a:tcBdr/>
        <a:fill>
          <a:solidFill>
            <a:srgbClr val="CBCBCB"/>
          </a:solidFill>
        </a:fill>
      </a:tcStyle>
    </a:band1H>
    <a:band2H>
      <a:tcTxStyle/>
      <a:tcStyle>
        <a:tcBdr/>
      </a:tcStyle>
    </a:band2H>
    <a:band1V>
      <a:tcTxStyle/>
      <a:tcStyle>
        <a:tcBdr/>
        <a:fill>
          <a:solidFill>
            <a:srgbClr val="CBCBCB"/>
          </a:solidFill>
        </a:fill>
      </a:tcStyle>
    </a:band1V>
    <a:band2V>
      <a:tcTxStyle/>
      <a:tcStyle>
        <a:tcBdr/>
      </a:tcStyle>
    </a:band2V>
    <a:lastCol>
      <a:tcTxStyle b="on" i="off">
        <a:font>
          <a:latin typeface="Arial"/>
          <a:ea typeface="Arial"/>
          <a:cs typeface="Arial"/>
        </a:font>
        <a:schemeClr val="lt1"/>
      </a:tcTxStyle>
      <a:tcStyle>
        <a:tcBdr/>
        <a:fill>
          <a:solidFill>
            <a:schemeClr val="dk1"/>
          </a:solidFill>
        </a:fill>
      </a:tcStyle>
    </a:lastCol>
    <a:firstCol>
      <a:tcTxStyle b="on" i="off">
        <a:font>
          <a:latin typeface="Arial"/>
          <a:ea typeface="Arial"/>
          <a:cs typeface="Arial"/>
        </a:font>
        <a:schemeClr val="lt1"/>
      </a:tcTxStyle>
      <a:tcStyle>
        <a:tcBdr/>
        <a:fill>
          <a:solidFill>
            <a:schemeClr val="dk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81"/>
    <p:restoredTop sz="83864"/>
  </p:normalViewPr>
  <p:slideViewPr>
    <p:cSldViewPr snapToGrid="0">
      <p:cViewPr varScale="1">
        <p:scale>
          <a:sx n="172" d="100"/>
          <a:sy n="172" d="100"/>
        </p:scale>
        <p:origin x="240"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0498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6" name="Google Shape;2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 name="Google Shape;33;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The background starts with an observational phenomenon: Even though all </a:t>
            </a:r>
            <a:r>
              <a:rPr lang="en-AU" sz="1800" dirty="0"/>
              <a:t>of the metals are created in the disc, </a:t>
            </a:r>
            <a:r>
              <a:rPr lang="en-AU" sz="1800" b="0" i="0" u="none" strike="noStrike" dirty="0">
                <a:solidFill>
                  <a:srgbClr val="000000"/>
                </a:solidFill>
                <a:latin typeface="Arial"/>
                <a:ea typeface="Arial"/>
                <a:cs typeface="Arial"/>
                <a:sym typeface="Arial"/>
              </a:rPr>
              <a:t>~50% of the mass of metals like oxygen is found in galactic halos and this raise an interesting question: How are these metals transported from the central disk to the halo? One plausible explanation is that</a:t>
            </a:r>
            <a:r>
              <a:rPr lang="en-AU" sz="1100" b="0" i="0" u="none" strike="noStrike" dirty="0">
                <a:solidFill>
                  <a:srgbClr val="000000"/>
                </a:solidFill>
                <a:latin typeface="Arial"/>
                <a:ea typeface="Arial"/>
                <a:cs typeface="Arial"/>
                <a:sym typeface="Arial"/>
              </a:rPr>
              <a:t> </a:t>
            </a:r>
            <a:r>
              <a:rPr lang="en-AU" sz="1800" b="0" i="0" u="none" strike="noStrike" dirty="0">
                <a:solidFill>
                  <a:srgbClr val="000000"/>
                </a:solidFill>
                <a:latin typeface="Arial"/>
                <a:ea typeface="Arial"/>
                <a:cs typeface="Arial"/>
                <a:sym typeface="Arial"/>
              </a:rPr>
              <a:t>metals are carried by supernova (SN)-driven galactic outflows, which can transport material, momentum, and energy from the disk to the halo. Observational studies have shown that galactic outflows tend to be metal-rich, with metallicities higher than the interstellar medium (ISM). However, the physical processes driving metal transport in these outflows are still not well understood. On the other hand, numerous simulations have investigated the metal loading of galactic outflows, but they face significant uncertainties due to the complex interplay between the limited resolution of the simulations and different gas phases, e.g., a wide range of temperatures and densities. That means we need a high-resolution simulation that can resolve the interactions involving mass, momentum, and energy exchange among multi-phase gases.</a:t>
            </a:r>
            <a:endParaRPr b="0" dirty="0"/>
          </a:p>
          <a:p>
            <a:pPr marL="139700" lvl="0" indent="0" algn="l" rtl="0">
              <a:lnSpc>
                <a:spcPct val="100000"/>
              </a:lnSpc>
              <a:spcBef>
                <a:spcPts val="0"/>
              </a:spcBef>
              <a:spcAft>
                <a:spcPts val="0"/>
              </a:spcAft>
              <a:buSzPts val="1400"/>
              <a:buNone/>
            </a:pPr>
            <a:br>
              <a:rPr lang="en-AU" dirty="0"/>
            </a:b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 name="Google Shape;48;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a:solidFill>
                  <a:srgbClr val="000000"/>
                </a:solidFill>
                <a:latin typeface="Arial"/>
                <a:ea typeface="Arial"/>
                <a:cs typeface="Arial"/>
                <a:sym typeface="Arial"/>
              </a:rPr>
              <a:t>And what is the “Negative Metallicity Gradient in Galactic Outflows”? Here is a recent study of Lopez 2020. They use the Chandra X-ray Observatory imaging and spectra to look at the hot gas outflows of the M82. As you can see on the RHS, it is a typical edge-on starburst galaxy and on the LHS are their main results. They found that temperatures and metallicities of the hot plasma peak at the starbursting mid-plane and decrease along the outflowing regions, which is the so-called negative gradient in galactic outflows. Our hypothesis is that such a negative gradient</a:t>
            </a:r>
            <a:r>
              <a:rPr lang="en-AU" sz="1800"/>
              <a:t> is created due to incomplete mixing of metals.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So this observation of M82 motivates our study. To better understand this negative metallicity gradient we use high-resolution three-dimensional hydrodynamic simulations of galactic outflows to generate synthetic X-ray spectra and identify observational signatures of the physical processes found in the simulations. The primary focus of our work is to bridge the gap between complex numerical simulations of SN-driven galactic outflows and their observational signatures. We aim to validate that the simulations yield observationally plausible results and use the simulations to provide predictive insights for actual astronomical observations. So the first step in our study is to use the simulation to recreate the negative metallicity gradient in galactic outflows. </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7" name="Google Shape;77;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But before we start, I need to introduce our simulation data. We use the simulation data, also known as QED data, generated by a new radiative hydrodynamic code called QUOKKA. So here are some key properties of the QED data. It is the fixed-grid simulation of a ∼ 1 × 1 × 8 kpc patch of a galactic disc, centred on the x-y plane, and using a uniformly high resolution of 2 pc. All the parameters are chosen to be similar to the Solar Neighbourhood. Gas is confined by potential gravity from the stellar disc and the dark matter halo. </a:t>
            </a:r>
            <a:r>
              <a:rPr lang="en-AU" sz="1800" b="0" i="0" u="none" strike="noStrike" dirty="0" err="1">
                <a:solidFill>
                  <a:srgbClr val="000000"/>
                </a:solidFill>
                <a:latin typeface="Arial"/>
                <a:ea typeface="Arial"/>
                <a:cs typeface="Arial"/>
                <a:sym typeface="Arial"/>
              </a:rPr>
              <a:t>SNe</a:t>
            </a:r>
            <a:r>
              <a:rPr lang="en-AU" sz="1800" b="0" i="0" u="none" strike="noStrike" dirty="0">
                <a:solidFill>
                  <a:srgbClr val="000000"/>
                </a:solidFill>
                <a:latin typeface="Arial"/>
                <a:ea typeface="Arial"/>
                <a:cs typeface="Arial"/>
                <a:sym typeface="Arial"/>
              </a:rPr>
              <a:t> occurs at a rate set using the </a:t>
            </a:r>
            <a:r>
              <a:rPr lang="en-AU" sz="1800" b="0" i="0" u="none" strike="noStrike" dirty="0" err="1">
                <a:solidFill>
                  <a:srgbClr val="000000"/>
                </a:solidFill>
                <a:latin typeface="Arial"/>
                <a:ea typeface="Arial"/>
                <a:cs typeface="Arial"/>
                <a:sym typeface="Arial"/>
              </a:rPr>
              <a:t>Kennicutt</a:t>
            </a:r>
            <a:r>
              <a:rPr lang="en-AU" sz="1800" b="0" i="0" u="none" strike="noStrike" dirty="0">
                <a:solidFill>
                  <a:srgbClr val="000000"/>
                </a:solidFill>
                <a:latin typeface="Arial"/>
                <a:ea typeface="Arial"/>
                <a:cs typeface="Arial"/>
                <a:sym typeface="Arial"/>
              </a:rPr>
              <a:t> (1998) relation. Gas cooling is implemented through the Grackle cooling model (Smith et al. 2017). </a:t>
            </a:r>
            <a:endParaRPr b="0" dirty="0"/>
          </a:p>
          <a:p>
            <a:pPr marL="457200" marR="0" lvl="0" indent="-228600" algn="l" rtl="0">
              <a:lnSpc>
                <a:spcPct val="100000"/>
              </a:lnSpc>
              <a:spcBef>
                <a:spcPts val="0"/>
              </a:spcBef>
              <a:spcAft>
                <a:spcPts val="0"/>
              </a:spcAft>
              <a:buClr>
                <a:srgbClr val="000000"/>
              </a:buClr>
              <a:buSzPts val="1400"/>
              <a:buFont typeface="Arial"/>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And you may be curious about why we call it QED data. So it is actually …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For full details of the simulation setup, please look at Aditi’s paper in 2024.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After nearly 100 Myr, the simulation produces a quasi-steady-state outflow. Here we show the visualization of our simulation data. These are slice plots in the 𝑥-𝑧 plane from a snapshot of the QED data at 110 Myr of evolution. From the top to bottom we show gas density, temperature and metallicity per unit volume in the 0.3 − 2 keV band. The outflows clearly possess a multiphase structure characterized by a broad range of temperatures from &lt; 10 K to &gt; 10^7 K, with higher temperature gas being associated with lower densities. And the X-ray emitting gas is the hot gas with temperature hi</a:t>
            </a:r>
            <a:r>
              <a:rPr lang="en-AU" sz="1800" dirty="0"/>
              <a:t>gher than 10^7 K. </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17500" algn="l" rtl="0">
              <a:lnSpc>
                <a:spcPct val="100000"/>
              </a:lnSpc>
              <a:spcBef>
                <a:spcPts val="0"/>
              </a:spcBef>
              <a:spcAft>
                <a:spcPts val="0"/>
              </a:spcAft>
              <a:buSzPts val="1400"/>
              <a:buChar char="●"/>
            </a:pPr>
            <a:r>
              <a:rPr lang="en-AU" sz="1800" b="0" i="0" u="none" strike="noStrike" dirty="0">
                <a:solidFill>
                  <a:srgbClr val="000000"/>
                </a:solidFill>
                <a:latin typeface="Arial"/>
                <a:ea typeface="Arial"/>
                <a:cs typeface="Arial"/>
                <a:sym typeface="Arial"/>
              </a:rPr>
              <a:t>Now, we need to look at the metallicity. </a:t>
            </a:r>
          </a:p>
          <a:p>
            <a:pPr marL="457200" lvl="0" indent="-317500" algn="l" rtl="0">
              <a:lnSpc>
                <a:spcPct val="100000"/>
              </a:lnSpc>
              <a:spcBef>
                <a:spcPts val="0"/>
              </a:spcBef>
              <a:spcAft>
                <a:spcPts val="0"/>
              </a:spcAft>
              <a:buSzPts val="1400"/>
              <a:buChar char="●"/>
            </a:pPr>
            <a:endParaRPr lang="en-AU" sz="1800" b="0" i="0" u="none" strike="noStrike" dirty="0">
              <a:solidFill>
                <a:srgbClr val="000000"/>
              </a:solidFill>
              <a:latin typeface="Arial"/>
              <a:ea typeface="Arial"/>
              <a:cs typeface="Arial"/>
              <a:sym typeface="Arial"/>
            </a:endParaRPr>
          </a:p>
          <a:p>
            <a:pPr marL="457200" lvl="0" indent="-317500" algn="l" rtl="0">
              <a:lnSpc>
                <a:spcPct val="100000"/>
              </a:lnSpc>
              <a:spcBef>
                <a:spcPts val="0"/>
              </a:spcBef>
              <a:spcAft>
                <a:spcPts val="0"/>
              </a:spcAft>
              <a:buSzPts val="1400"/>
              <a:buChar char="●"/>
            </a:pPr>
            <a:r>
              <a:rPr lang="en-AU" sz="1800" b="0" i="0" u="none" strike="noStrike" dirty="0">
                <a:solidFill>
                  <a:srgbClr val="000000"/>
                </a:solidFill>
                <a:latin typeface="Arial"/>
                <a:ea typeface="Arial"/>
                <a:cs typeface="Arial"/>
                <a:sym typeface="Arial"/>
              </a:rPr>
              <a:t>The simulations treat metals as a passive scalar, so when an SN explodes, it adds the passive scalar to its host cell along with purely thermal energy. The initial metal density within the simulation is set to a background level specified by the parameter </a:t>
            </a:r>
            <a:r>
              <a:rPr lang="en-AU" sz="1800" b="0" i="0" u="none" strike="noStrike" dirty="0" err="1">
                <a:solidFill>
                  <a:srgbClr val="000000"/>
                </a:solidFill>
                <a:latin typeface="Arial"/>
                <a:ea typeface="Arial"/>
                <a:cs typeface="Arial"/>
                <a:sym typeface="Arial"/>
              </a:rPr>
              <a:t>Z_bg</a:t>
            </a:r>
            <a:r>
              <a:rPr lang="en-AU" sz="1800" b="0" i="0" u="none" strike="noStrike" dirty="0">
                <a:solidFill>
                  <a:srgbClr val="000000"/>
                </a:solidFill>
                <a:latin typeface="Arial"/>
                <a:ea typeface="Arial"/>
                <a:cs typeface="Arial"/>
                <a:sym typeface="Arial"/>
              </a:rPr>
              <a:t>, so we have the background metal density in each cell:</a:t>
            </a:r>
            <a:endParaRPr b="0" dirty="0"/>
          </a:p>
          <a:p>
            <a:pPr marL="457200" lvl="0" indent="-317500" algn="l" rtl="0">
              <a:lnSpc>
                <a:spcPct val="100000"/>
              </a:lnSpc>
              <a:spcBef>
                <a:spcPts val="0"/>
              </a:spcBef>
              <a:spcAft>
                <a:spcPts val="0"/>
              </a:spcAft>
              <a:buSzPts val="1400"/>
              <a:buChar char="●"/>
            </a:pPr>
            <a:br>
              <a:rPr lang="en-AU" b="0" dirty="0"/>
            </a:br>
            <a:r>
              <a:rPr lang="en-AU" sz="1800" b="0" i="0" u="none" strike="noStrike" dirty="0">
                <a:solidFill>
                  <a:srgbClr val="000000"/>
                </a:solidFill>
                <a:latin typeface="Arial"/>
                <a:ea typeface="Arial"/>
                <a:cs typeface="Arial"/>
                <a:sym typeface="Arial"/>
              </a:rPr>
              <a:t>When an SN occurs in the domain, the metal density contributed to each cell by the passive scalar is the following \rho_{Z, add}: </a:t>
            </a:r>
            <a:br>
              <a:rPr lang="en-AU" sz="1800" b="0" i="0" u="none" strike="noStrike" dirty="0">
                <a:solidFill>
                  <a:srgbClr val="000000"/>
                </a:solidFill>
                <a:latin typeface="Arial"/>
                <a:ea typeface="Arial"/>
                <a:cs typeface="Arial"/>
                <a:sym typeface="Arial"/>
              </a:rPr>
            </a:br>
            <a:endParaRPr b="0" dirty="0"/>
          </a:p>
          <a:p>
            <a:pPr marL="457200" lvl="0" indent="-317500" algn="l" rtl="0">
              <a:lnSpc>
                <a:spcPct val="100000"/>
              </a:lnSpc>
              <a:spcBef>
                <a:spcPts val="0"/>
              </a:spcBef>
              <a:spcAft>
                <a:spcPts val="0"/>
              </a:spcAft>
              <a:buSzPts val="1400"/>
              <a:buChar char="●"/>
            </a:pPr>
            <a:r>
              <a:rPr lang="en-AU" sz="1800" b="0" i="0" u="none" strike="noStrike" dirty="0">
                <a:solidFill>
                  <a:srgbClr val="000000"/>
                </a:solidFill>
                <a:latin typeface="Arial"/>
                <a:ea typeface="Arial"/>
                <a:cs typeface="Arial"/>
                <a:sym typeface="Arial"/>
              </a:rPr>
              <a:t>Finally, the total metal density of a cell is the sum of the background and SN-added contributions, and so the </a:t>
            </a:r>
            <a:r>
              <a:rPr lang="en-AU" sz="1800" b="0" i="0" u="none" strike="noStrike" dirty="0" err="1">
                <a:solidFill>
                  <a:srgbClr val="000000"/>
                </a:solidFill>
                <a:latin typeface="Arial"/>
                <a:ea typeface="Arial"/>
                <a:cs typeface="Arial"/>
                <a:sym typeface="Arial"/>
              </a:rPr>
              <a:t>Z_tot</a:t>
            </a:r>
            <a:r>
              <a:rPr lang="en-AU" sz="1800" b="0" i="0" u="none" strike="noStrike" dirty="0">
                <a:solidFill>
                  <a:srgbClr val="000000"/>
                </a:solidFill>
                <a:latin typeface="Arial"/>
                <a:ea typeface="Arial"/>
                <a:cs typeface="Arial"/>
                <a:sym typeface="Arial"/>
              </a:rPr>
              <a:t> is given by the equation</a:t>
            </a:r>
            <a:endParaRPr b="0" dirty="0"/>
          </a:p>
          <a:p>
            <a:pPr marL="457200" lvl="0" indent="-228600" algn="l" rtl="0">
              <a:lnSpc>
                <a:spcPct val="100000"/>
              </a:lnSpc>
              <a:spcBef>
                <a:spcPts val="0"/>
              </a:spcBef>
              <a:spcAft>
                <a:spcPts val="0"/>
              </a:spcAft>
              <a:buSzPts val="1400"/>
              <a:buNone/>
            </a:pPr>
            <a:endParaRPr sz="1800" b="0" i="0" u="none" strike="noStrike" dirty="0">
              <a:solidFill>
                <a:srgbClr val="000000"/>
              </a:solidFill>
              <a:latin typeface="Arial"/>
              <a:ea typeface="Arial"/>
              <a:cs typeface="Arial"/>
              <a:sym typeface="Arial"/>
            </a:endParaRPr>
          </a:p>
          <a:p>
            <a:pPr marL="457200" lvl="0" indent="-317500" algn="l" rtl="0">
              <a:lnSpc>
                <a:spcPct val="100000"/>
              </a:lnSpc>
              <a:spcBef>
                <a:spcPts val="0"/>
              </a:spcBef>
              <a:spcAft>
                <a:spcPts val="0"/>
              </a:spcAft>
              <a:buSzPts val="1400"/>
              <a:buChar char="●"/>
            </a:pPr>
            <a:r>
              <a:rPr lang="en-AU" sz="1800" b="0" i="0" u="none" strike="noStrike" dirty="0">
                <a:solidFill>
                  <a:srgbClr val="000000"/>
                </a:solidFill>
                <a:latin typeface="Arial"/>
                <a:ea typeface="Arial"/>
                <a:cs typeface="Arial"/>
                <a:sym typeface="Arial"/>
              </a:rPr>
              <a:t>And we make an assumption here. Once the oxygen metallicity is computed in each cell, we assume solar-scaled abundances for all other elements. This is not entirely realistic, as the simulation models only type II supernovae, which produce predominantly alpha elements, rather than type </a:t>
            </a:r>
            <a:r>
              <a:rPr lang="en-AU" sz="1800" b="0" i="0" u="none" strike="noStrike" dirty="0" err="1">
                <a:solidFill>
                  <a:srgbClr val="000000"/>
                </a:solidFill>
                <a:latin typeface="Arial"/>
                <a:ea typeface="Arial"/>
                <a:cs typeface="Arial"/>
                <a:sym typeface="Arial"/>
              </a:rPr>
              <a:t>Ia</a:t>
            </a:r>
            <a:r>
              <a:rPr lang="en-AU" sz="1800" b="0" i="0" u="none" strike="noStrike" dirty="0">
                <a:solidFill>
                  <a:srgbClr val="000000"/>
                </a:solidFill>
                <a:latin typeface="Arial"/>
                <a:ea typeface="Arial"/>
                <a:cs typeface="Arial"/>
                <a:sym typeface="Arial"/>
              </a:rPr>
              <a:t> supernovae, which produce iron-peak elements. However, we will limit our analysis to alpha elements, so the effects of this simplification will be minimal. </a:t>
            </a:r>
            <a:endParaRPr b="0" dirty="0"/>
          </a:p>
          <a:p>
            <a:pPr marL="457200" marR="0" lvl="0" indent="-317500" algn="l" rtl="0">
              <a:lnSpc>
                <a:spcPct val="100000"/>
              </a:lnSpc>
              <a:spcBef>
                <a:spcPts val="0"/>
              </a:spcBef>
              <a:spcAft>
                <a:spcPts val="0"/>
              </a:spcAft>
              <a:buClr>
                <a:srgbClr val="000000"/>
              </a:buClr>
              <a:buSzPts val="1400"/>
              <a:buFont typeface="Arial"/>
              <a:buChar char="●"/>
            </a:pPr>
            <a:br>
              <a:rPr lang="en-AU" dirty="0"/>
            </a:b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Ok now with the simulation data in hand, we can start to generate the X-ray field. Here we use the X-ray post-processing packages </a:t>
            </a:r>
            <a:r>
              <a:rPr lang="en-AU" sz="1800" b="0" i="0" u="none" strike="noStrike" dirty="0" err="1">
                <a:solidFill>
                  <a:srgbClr val="000000"/>
                </a:solidFill>
                <a:latin typeface="Arial"/>
                <a:ea typeface="Arial"/>
                <a:cs typeface="Arial"/>
                <a:sym typeface="Arial"/>
              </a:rPr>
              <a:t>pyXSIM</a:t>
            </a:r>
            <a:r>
              <a:rPr lang="en-AU" sz="1800" b="0" i="0" u="none" strike="noStrike" dirty="0">
                <a:solidFill>
                  <a:srgbClr val="000000"/>
                </a:solidFill>
                <a:latin typeface="Arial"/>
                <a:ea typeface="Arial"/>
                <a:cs typeface="Arial"/>
                <a:sym typeface="Arial"/>
              </a:rPr>
              <a:t> and SOXS to generate the synthetic observations. The first step is to load a QED simulation snapshot into the </a:t>
            </a:r>
            <a:r>
              <a:rPr lang="en-AU" sz="1800" b="0" i="0" u="none" strike="noStrike" dirty="0" err="1">
                <a:solidFill>
                  <a:srgbClr val="000000"/>
                </a:solidFill>
                <a:latin typeface="Arial"/>
                <a:ea typeface="Arial"/>
                <a:cs typeface="Arial"/>
                <a:sym typeface="Arial"/>
              </a:rPr>
              <a:t>yt</a:t>
            </a:r>
            <a:r>
              <a:rPr lang="en-AU" sz="1800" b="0" i="0" u="none" strike="noStrike" dirty="0">
                <a:solidFill>
                  <a:srgbClr val="000000"/>
                </a:solidFill>
                <a:latin typeface="Arial"/>
                <a:ea typeface="Arial"/>
                <a:cs typeface="Arial"/>
                <a:sym typeface="Arial"/>
              </a:rPr>
              <a:t>. So </a:t>
            </a:r>
            <a:r>
              <a:rPr lang="en-AU" sz="1800" b="0" i="0" u="none" strike="noStrike" dirty="0" err="1">
                <a:solidFill>
                  <a:srgbClr val="000000"/>
                </a:solidFill>
                <a:latin typeface="Arial"/>
                <a:ea typeface="Arial"/>
                <a:cs typeface="Arial"/>
                <a:sym typeface="Arial"/>
              </a:rPr>
              <a:t>yt</a:t>
            </a:r>
            <a:r>
              <a:rPr lang="en-AU" sz="1800" b="0" i="0" u="none" strike="noStrike" dirty="0">
                <a:solidFill>
                  <a:srgbClr val="000000"/>
                </a:solidFill>
                <a:latin typeface="Arial"/>
                <a:ea typeface="Arial"/>
                <a:cs typeface="Arial"/>
                <a:sym typeface="Arial"/>
              </a:rPr>
              <a:t> is a package for </a:t>
            </a:r>
            <a:r>
              <a:rPr lang="en-AU" sz="1800" b="0" i="0" u="none" strike="noStrike" dirty="0" err="1">
                <a:solidFill>
                  <a:srgbClr val="000000"/>
                </a:solidFill>
                <a:latin typeface="Arial"/>
                <a:ea typeface="Arial"/>
                <a:cs typeface="Arial"/>
                <a:sym typeface="Arial"/>
              </a:rPr>
              <a:t>analyzing</a:t>
            </a:r>
            <a:r>
              <a:rPr lang="en-AU" sz="1800" b="0" i="0" u="none" strike="noStrike" dirty="0">
                <a:solidFill>
                  <a:srgbClr val="000000"/>
                </a:solidFill>
                <a:latin typeface="Arial"/>
                <a:ea typeface="Arial"/>
                <a:cs typeface="Arial"/>
                <a:sym typeface="Arial"/>
              </a:rPr>
              <a:t> the simulation data. So now the snapshot will be a data cube with the simulation volume and properties like density, temperature and everything. Next, we apply the equation we mentioned before to calculate the metallicity, with different choice of </a:t>
            </a:r>
            <a:r>
              <a:rPr lang="en-AU" sz="1800" b="0" i="0" u="none" strike="noStrike" dirty="0" err="1">
                <a:solidFill>
                  <a:srgbClr val="000000"/>
                </a:solidFill>
                <a:latin typeface="Arial"/>
                <a:ea typeface="Arial"/>
                <a:cs typeface="Arial"/>
                <a:sym typeface="Arial"/>
              </a:rPr>
              <a:t>Z_bg</a:t>
            </a:r>
            <a:r>
              <a:rPr lang="en-AU" sz="1800" b="0" i="0" u="none" strike="noStrike" dirty="0">
                <a:solidFill>
                  <a:srgbClr val="000000"/>
                </a:solidFill>
                <a:latin typeface="Arial"/>
                <a:ea typeface="Arial"/>
                <a:cs typeface="Arial"/>
                <a:sym typeface="Arial"/>
              </a:rPr>
              <a:t> in 0.2, 0.5, 1 and 2 solar.  We then pass this </a:t>
            </a:r>
            <a:r>
              <a:rPr lang="en-AU" sz="1800" b="0" i="0" u="none" strike="noStrike" dirty="0" err="1">
                <a:solidFill>
                  <a:srgbClr val="000000"/>
                </a:solidFill>
                <a:latin typeface="Arial"/>
                <a:ea typeface="Arial"/>
                <a:cs typeface="Arial"/>
                <a:sym typeface="Arial"/>
              </a:rPr>
              <a:t>yt</a:t>
            </a:r>
            <a:r>
              <a:rPr lang="en-AU" sz="1800" b="0" i="0" u="none" strike="noStrike" dirty="0">
                <a:solidFill>
                  <a:srgbClr val="000000"/>
                </a:solidFill>
                <a:latin typeface="Arial"/>
                <a:ea typeface="Arial"/>
                <a:cs typeface="Arial"/>
                <a:sym typeface="Arial"/>
              </a:rPr>
              <a:t> object to </a:t>
            </a:r>
            <a:r>
              <a:rPr lang="en-AU" sz="1800" b="0" i="0" u="none" strike="noStrike" dirty="0" err="1">
                <a:solidFill>
                  <a:srgbClr val="000000"/>
                </a:solidFill>
                <a:latin typeface="Arial"/>
                <a:ea typeface="Arial"/>
                <a:cs typeface="Arial"/>
                <a:sym typeface="Arial"/>
              </a:rPr>
              <a:t>pyXSIM</a:t>
            </a:r>
            <a:r>
              <a:rPr lang="en-AU" sz="1800" b="0" i="0" u="none" strike="noStrike" dirty="0">
                <a:solidFill>
                  <a:srgbClr val="000000"/>
                </a:solidFill>
                <a:latin typeface="Arial"/>
                <a:ea typeface="Arial"/>
                <a:cs typeface="Arial"/>
                <a:sym typeface="Arial"/>
              </a:rPr>
              <a:t> and use </a:t>
            </a:r>
            <a:r>
              <a:rPr lang="en-AU" sz="1800" b="0" i="0" u="none" strike="noStrike" dirty="0" err="1">
                <a:solidFill>
                  <a:srgbClr val="000000"/>
                </a:solidFill>
                <a:latin typeface="Arial"/>
                <a:ea typeface="Arial"/>
                <a:cs typeface="Arial"/>
                <a:sym typeface="Arial"/>
              </a:rPr>
              <a:t>pyXSIM</a:t>
            </a:r>
            <a:r>
              <a:rPr lang="en-AU" sz="1800" b="0" i="0" u="none" strike="noStrike" dirty="0">
                <a:solidFill>
                  <a:srgbClr val="000000"/>
                </a:solidFill>
                <a:latin typeface="Arial"/>
                <a:ea typeface="Arial"/>
                <a:cs typeface="Arial"/>
                <a:sym typeface="Arial"/>
              </a:rPr>
              <a:t> to generate a sample of photons emitted by each cell of the simulation domain, under the assumption of  CIE and optically thin condition. And </a:t>
            </a:r>
            <a:r>
              <a:rPr lang="en-AU" sz="1800" b="0" i="0" u="none" strike="noStrike" dirty="0" err="1">
                <a:solidFill>
                  <a:srgbClr val="000000"/>
                </a:solidFill>
                <a:latin typeface="Arial"/>
                <a:ea typeface="Arial"/>
                <a:cs typeface="Arial"/>
                <a:sym typeface="Arial"/>
              </a:rPr>
              <a:t>pyXSIM</a:t>
            </a:r>
            <a:r>
              <a:rPr lang="en-AU" sz="1800" b="0" i="0" u="none" strike="noStrike" dirty="0">
                <a:solidFill>
                  <a:srgbClr val="000000"/>
                </a:solidFill>
                <a:latin typeface="Arial"/>
                <a:ea typeface="Arial"/>
                <a:cs typeface="Arial"/>
                <a:sym typeface="Arial"/>
              </a:rPr>
              <a:t> computes X-ray </a:t>
            </a:r>
            <a:r>
              <a:rPr lang="en-AU" sz="1800" b="0" i="0" u="none" strike="noStrike" dirty="0" err="1">
                <a:solidFill>
                  <a:srgbClr val="000000"/>
                </a:solidFill>
                <a:latin typeface="Arial"/>
                <a:ea typeface="Arial"/>
                <a:cs typeface="Arial"/>
                <a:sym typeface="Arial"/>
              </a:rPr>
              <a:t>emissivities</a:t>
            </a:r>
            <a:r>
              <a:rPr lang="en-AU" sz="1800" b="0" i="0" u="none" strike="noStrike" dirty="0">
                <a:solidFill>
                  <a:srgbClr val="000000"/>
                </a:solidFill>
                <a:latin typeface="Arial"/>
                <a:ea typeface="Arial"/>
                <a:cs typeface="Arial"/>
                <a:sym typeface="Arial"/>
              </a:rPr>
              <a:t> derived from APEC, which is the Astrophysical Plasma Emission Code. Because we are interested in the soft X-ray band, which is generally used for observations of metals in galactic winds, we limit the photon energies to the range 0.3−2.0 keV. In order to ensure that we generate enough photons to produce high signal-to-noise spectra, we set up a large enough collecting area, the distance of the source to be 500 kpc, and the exposure time to 1 Ms. We also disable absorption, backgrounds, and foregrounds, so that we can have </a:t>
            </a:r>
            <a:r>
              <a:rPr lang="en-AU" sz="1800" dirty="0"/>
              <a:t>a </a:t>
            </a:r>
            <a:r>
              <a:rPr lang="en-AU" sz="1800" dirty="0" err="1"/>
              <a:t>prue</a:t>
            </a:r>
            <a:r>
              <a:rPr lang="en-AU" sz="1800" dirty="0"/>
              <a:t> unattenuated spectrum from the source</a:t>
            </a:r>
            <a:r>
              <a:rPr lang="en-AU" sz="1800" b="0" i="0" u="none" strike="noStrike" dirty="0">
                <a:solidFill>
                  <a:srgbClr val="000000"/>
                </a:solidFill>
                <a:latin typeface="Arial"/>
                <a:ea typeface="Arial"/>
                <a:cs typeface="Arial"/>
                <a:sym typeface="Arial"/>
              </a:rPr>
              <a:t>.</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a:solidFill>
                  <a:srgbClr val="000000"/>
                </a:solidFill>
                <a:latin typeface="Arial"/>
                <a:ea typeface="Arial"/>
                <a:cs typeface="Arial"/>
                <a:sym typeface="Arial"/>
              </a:rPr>
              <a:t>Before we use the SOXS to generate the synthetic images and spectra, one thing we need to do is snapshot stacking. Recall that our simulation covers only a 1 kpc×1 kpc patch of a galactic disc, which is much smaller than a real spiral galaxy. To compensate for this, we can imagine that different time snapshots represent different random realisations of patches of the disc. We therefore stack emission from five snapshots uniformly distributed in time from 100 to 120 Myr. We use a 5 Myr interval to make sure that each snapshot is not linked to each other, because 5 Myr is long enough that any hot gas can travel from the mid-plane to the top or bottom edge of the simulation domain.  And now we can use the SOXS to do the mock observation. First, we make sure the galaxy is edge-on. Then we use the response function for the ACIS-Image on board the Chandra. We follow the approach of Lopez et al. (2020) for M82 and slice our galaxy into 11 regions that are analysed separately. The central region of the galaxy, denoted as ‘D’, and it is the place where SNe are injected. The remaining 10 regions will cover the outflow regions. So the figure here shows X-ray fields for our simulated galaxy. The upper panel shows a slice plot of the X-ray emissivity field in the x-z plane from a single snapshot at 110 Myr. The lower panel displays X-ray surface brightness after stacking the X-ray emissivities from five different snapshots. And the rectangles in different colors highlight the 11 regions used for spectral analysis.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For the spectrum generation, we also need to set up additional parameters for SOXS. The exposure time is still set to 1 Ms and Distance to the observed object will still be 0.5 </a:t>
            </a:r>
            <a:r>
              <a:rPr lang="en-AU" sz="1800" b="0" i="0" u="none" strike="noStrike" dirty="0" err="1">
                <a:solidFill>
                  <a:srgbClr val="000000"/>
                </a:solidFill>
                <a:latin typeface="Arial"/>
                <a:ea typeface="Arial"/>
                <a:cs typeface="Arial"/>
                <a:sym typeface="Arial"/>
              </a:rPr>
              <a:t>Mpc</a:t>
            </a:r>
            <a:r>
              <a:rPr lang="en-AU" sz="1800" b="0" i="0" u="none" strike="noStrike" dirty="0">
                <a:solidFill>
                  <a:srgbClr val="000000"/>
                </a:solidFill>
                <a:latin typeface="Arial"/>
                <a:ea typeface="Arial"/>
                <a:cs typeface="Arial"/>
                <a:sym typeface="Arial"/>
              </a:rPr>
              <a:t>. The effective area is set to 0.04 square meter, which is exactly the same as the effective area of Chandra.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The figure here shows what the galaxy looks like in Chandra's observation in the 0.3 - 2 keV band with the </a:t>
            </a:r>
            <a:r>
              <a:rPr lang="en-AU" sz="1800" b="0" i="0" u="none" strike="noStrike" dirty="0" err="1">
                <a:solidFill>
                  <a:srgbClr val="000000"/>
                </a:solidFill>
                <a:latin typeface="Arial"/>
                <a:ea typeface="Arial"/>
                <a:cs typeface="Arial"/>
                <a:sym typeface="Arial"/>
              </a:rPr>
              <a:t>colorbar</a:t>
            </a:r>
            <a:r>
              <a:rPr lang="en-AU" sz="1800" b="0" i="0" u="none" strike="noStrike" dirty="0">
                <a:solidFill>
                  <a:srgbClr val="000000"/>
                </a:solidFill>
                <a:latin typeface="Arial"/>
                <a:ea typeface="Arial"/>
                <a:cs typeface="Arial"/>
                <a:sym typeface="Arial"/>
              </a:rPr>
              <a:t> representing photon counts per pixel.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And remember that we have sliced the simulation volume into 11 regions, we integrate the photon counts over the spatial extent of each region and generate the spectrum in the standard PHA format. That is the common format used for X-ray spectral analysis. So the figure on the RHS shows the spectra for the central disc and the A1-A5 regions above the mid-plane. </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So, the next step is fitting the spectra. Here we use Sherpa, which is a fitting tool of CIAO. So by our assumption, we can fit the spectra with a single, optically thin thermal plasma component in CIE with variable abundances. However, we found that within the inner regions</a:t>
            </a:r>
            <a:r>
              <a:rPr lang="en-AU" sz="1100" b="0" i="0" u="none" strike="noStrike" dirty="0">
                <a:solidFill>
                  <a:srgbClr val="000000"/>
                </a:solidFill>
                <a:latin typeface="Arial"/>
                <a:ea typeface="Arial"/>
                <a:cs typeface="Arial"/>
                <a:sym typeface="Arial"/>
              </a:rPr>
              <a:t> </a:t>
            </a:r>
            <a:r>
              <a:rPr lang="en-AU" sz="1800" b="0" i="0" u="none" strike="noStrike" dirty="0">
                <a:solidFill>
                  <a:srgbClr val="000000"/>
                </a:solidFill>
                <a:latin typeface="Arial"/>
                <a:ea typeface="Arial"/>
                <a:cs typeface="Arial"/>
                <a:sym typeface="Arial"/>
              </a:rPr>
              <a:t>(approximately ±2 kpc from the galactic mid-plane, that is the regions B2-A2), introducing a second plasma component significantly improves the fitting results based on the reduced chi-square statistics. Metal abundances, which are Oxygen (O), and Neon (Ne), are considered variable parameters within the spectral models, with their initial guesses starting at solar values. So on the RHS, the data points are the synthetic spectra and dashed curves are the fitting models for different regions. </a:t>
            </a:r>
            <a:endParaRPr b="0" dirty="0"/>
          </a:p>
          <a:p>
            <a:pPr marL="139700" lvl="0" indent="0" algn="l" rtl="0">
              <a:lnSpc>
                <a:spcPct val="100000"/>
              </a:lnSpc>
              <a:spcBef>
                <a:spcPts val="0"/>
              </a:spcBef>
              <a:spcAft>
                <a:spcPts val="0"/>
              </a:spcAft>
              <a:buSzPts val="1400"/>
              <a:buNone/>
            </a:pPr>
            <a:br>
              <a:rPr lang="en-AU" dirty="0"/>
            </a:b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a:solidFill>
                  <a:srgbClr val="000000"/>
                </a:solidFill>
                <a:latin typeface="Arial"/>
                <a:ea typeface="Arial"/>
                <a:cs typeface="Arial"/>
                <a:sym typeface="Arial"/>
              </a:rPr>
              <a:t>Finally, we present the main result here. We first focus on the case 𝑍_bg = half solar as a baseline for the following discussion and comparisons. Obviously, the metallicity gradients are recreated. The metallicity is </a:t>
            </a:r>
            <a:r>
              <a:rPr lang="en-AU" sz="1800"/>
              <a:t>higher</a:t>
            </a:r>
            <a:r>
              <a:rPr lang="en-AU" sz="1800" b="0" i="0" u="none" strike="noStrike">
                <a:solidFill>
                  <a:srgbClr val="000000"/>
                </a:solidFill>
                <a:latin typeface="Arial"/>
                <a:ea typeface="Arial"/>
                <a:cs typeface="Arial"/>
                <a:sym typeface="Arial"/>
              </a:rPr>
              <a:t> in the central disc and falls off at higher altitudes.  We can see pronounced metallicity gradients for oxygen and neon abundances with the peak in the central disc region. For other elements, the peaks are shifted slightly. It is not a systematic trend. This effect may be due to the stochastic nature of the simulations, e.g., the result of some SN events. And you may also notice that we do not include Sulfer in the Figure and its fitting results in the Table on the RHS are Zero everywhere. This is because Sulfer emission lines are predominantly outside the 0.3-2.0 keV range.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a:solidFill>
                  <a:srgbClr val="000000"/>
                </a:solidFill>
                <a:latin typeface="Arial"/>
                <a:ea typeface="Arial"/>
                <a:cs typeface="Arial"/>
                <a:sym typeface="Arial"/>
              </a:rPr>
              <a:t>As I mentioned before, we will look at the other cases with different background metallicities. So we repeat the procedures for different Z_bg (that is 0.2, 1.0, 2.0 solar) and here we show the variation in Oxygen abundance across different background metallicities. The peak of the metallicity still lies in the central disk region where fresh SNe are going off. Beyond the disk, all gradients decline. Normally, we are supposed to see the gradient should be flattened in high-background metallicity cases because higher Z_bg can reduce the effects from SNe. However, in our study, the gradients appear to be independent of 𝑍_bg. And so we will discuss this phenomenon later.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Now let’s look at the origin of metallicity gradients in galactic outflows. Our interpretation is that it is primarily due to the imperfect mixing between the metal-rich hot gas from supernova (SN) events and the surrounding interstellar medium (ISM). When a supernova explodes, it releases a significant amount of metals into the surrounding area, resulting in extremely high metallicity near the galactic disc. However, the metal-rich hot gas does not immediately mix with the colder, metal-poor ambient gas. The mixing efficiency and the time scale are influenced by several factors, such as gas density, turbulence, and magnetic fields. This gradual mixing process dilutes the metal-rich gas, leading to a decrease in metallicity as the outflows move far away from the galactic plane. Consequently, this is the observed metallicity gradients, with higher metallicities near the mid-plane and lower metallicities along the galactic </a:t>
            </a:r>
            <a:r>
              <a:rPr lang="en-AU" sz="1800" b="0" i="0" u="none" strike="noStrike" dirty="0" err="1">
                <a:solidFill>
                  <a:srgbClr val="000000"/>
                </a:solidFill>
                <a:latin typeface="Arial"/>
                <a:ea typeface="Arial"/>
                <a:cs typeface="Arial"/>
                <a:sym typeface="Arial"/>
              </a:rPr>
              <a:t>outflows.s</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To test the reliability of the metallicity gradients observed in the synthetic X-ray data, we performed a sanity check by setting the metallicity of the gas as a uniform metallicity of 1 solar everywhere throughout the simulation.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That is the black line in this figure. So as you can see, there is nearly no gradient in this uniform metallicity case. That means the observed gradients are in fact a result of the metal loading in different </a:t>
            </a:r>
            <a:r>
              <a:rPr lang="en-AU" sz="1800" b="0" i="0" u="none" strike="noStrike" dirty="0" err="1">
                <a:solidFill>
                  <a:srgbClr val="000000"/>
                </a:solidFill>
                <a:latin typeface="Arial"/>
                <a:ea typeface="Arial"/>
                <a:cs typeface="Arial"/>
                <a:sym typeface="Arial"/>
              </a:rPr>
              <a:t>Z_bg</a:t>
            </a:r>
            <a:r>
              <a:rPr lang="en-AU" sz="1800" b="0" i="0" u="none" strike="noStrike" dirty="0">
                <a:solidFill>
                  <a:srgbClr val="000000"/>
                </a:solidFill>
                <a:latin typeface="Arial"/>
                <a:ea typeface="Arial"/>
                <a:cs typeface="Arial"/>
                <a:sym typeface="Arial"/>
              </a:rPr>
              <a:t>. But, we also notice that even in this uniform-metallicity case, the derived metallicity is not exactly solar, suggesting that statistical variation may enhance gradients in actual observations.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However, we still don't know why we see a gradient here in the high background metallicity case. So the next step will be to figure out the reason here, especially for the </a:t>
            </a:r>
            <a:r>
              <a:rPr lang="en-AU" sz="1800" b="0" i="0" u="none" strike="noStrike" dirty="0" err="1">
                <a:solidFill>
                  <a:srgbClr val="000000"/>
                </a:solidFill>
                <a:latin typeface="Arial"/>
                <a:ea typeface="Arial"/>
                <a:cs typeface="Arial"/>
                <a:sym typeface="Arial"/>
              </a:rPr>
              <a:t>Z_bg</a:t>
            </a:r>
            <a:r>
              <a:rPr lang="en-AU" sz="1800" b="0" i="0" u="none" strike="noStrike" dirty="0">
                <a:solidFill>
                  <a:srgbClr val="000000"/>
                </a:solidFill>
                <a:latin typeface="Arial"/>
                <a:ea typeface="Arial"/>
                <a:cs typeface="Arial"/>
                <a:sym typeface="Arial"/>
              </a:rPr>
              <a:t> = 2 solar. </a:t>
            </a: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So in Aditi’s paper, they show a nearly flat profile of the mass-weighted mean metallicity. So our idea is to test if our metallicity estimate was biased by weighting the X-ray luminosity.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And so we calculate the X-ray luminosity-weighted metallicities of those 11 regions, and the data indicates an overall very flattened line in the X-ray luminosity-weighted metallicity, which is the bottom blue line on the RHS. So the high-metallicity hot gas does not dominate the X-ray emission, and that means the metallicity estimate was not biased by weighting with the X-ray luminosity. And the red line here is the so-called true value of volume-weighted mean metallicity directly calculated by the simulation. As you can see, in the inner region, the strong emission lines from high-metallicity gas can lead to high metallicity measurements in the fitting results. So the question now is to understand the origin of these strong emission lines. </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Now we go back to this figure. When we visually inspect the observed gradient for </a:t>
            </a:r>
            <a:r>
              <a:rPr lang="en-AU" sz="1800" b="0" i="0" u="none" strike="noStrike" dirty="0" err="1">
                <a:solidFill>
                  <a:srgbClr val="000000"/>
                </a:solidFill>
                <a:latin typeface="Arial"/>
                <a:ea typeface="Arial"/>
                <a:cs typeface="Arial"/>
                <a:sym typeface="Arial"/>
              </a:rPr>
              <a:t>Z_bg</a:t>
            </a:r>
            <a:r>
              <a:rPr lang="en-AU" sz="1800" b="0" i="0" u="none" strike="noStrike" dirty="0">
                <a:solidFill>
                  <a:srgbClr val="000000"/>
                </a:solidFill>
                <a:latin typeface="Arial"/>
                <a:ea typeface="Arial"/>
                <a:cs typeface="Arial"/>
                <a:sym typeface="Arial"/>
              </a:rPr>
              <a:t> = 2 solar, there are actually two contributing factors: underestimated values in the outer regions and the peak in the inner region.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t>
            </a: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So let’s look at the outer regions first. Clearly, the underestimation can be due to the noisy spectra at the edges of the outflows compared to the mid-plane. And a very straightforward method to address this issue is just simply increasing the </a:t>
            </a:r>
            <a:r>
              <a:rPr lang="en-AU" sz="1800" b="0" i="0" u="none" strike="noStrike" dirty="0" err="1">
                <a:solidFill>
                  <a:srgbClr val="000000"/>
                </a:solidFill>
                <a:latin typeface="Arial"/>
                <a:ea typeface="Arial"/>
                <a:cs typeface="Arial"/>
                <a:sym typeface="Arial"/>
              </a:rPr>
              <a:t>exp_time</a:t>
            </a:r>
            <a:r>
              <a:rPr lang="en-AU" sz="1800" b="0" i="0" u="none" strike="noStrike" dirty="0">
                <a:solidFill>
                  <a:srgbClr val="000000"/>
                </a:solidFill>
                <a:latin typeface="Arial"/>
                <a:ea typeface="Arial"/>
                <a:cs typeface="Arial"/>
                <a:sym typeface="Arial"/>
              </a:rPr>
              <a:t>.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t>
            </a: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Previously we used 1 Ms, and now we use 10 Ms. In the figure, compared to the original purple line, the magenta line has higher metallicity values in the outer regions. It is still only 1.5 rather than 2 solar, but we consider it may be due to some systematic underestimation. And then for the inner region, we think the peak can be due to the some Extreme Metallicity Cells. And so we further turn off the X-ray emission for any cell with metallicity higher than 10 solar. So you can see that the pink line in the figure has nearly no gradient now.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Therefore, we know that poor SNR leads to underestimation of metallicity values and ultra-high metallicity cells </a:t>
            </a:r>
            <a:r>
              <a:rPr lang="en-AU" sz="1800" b="0" i="0" u="none" strike="noStrike" dirty="0" err="1">
                <a:solidFill>
                  <a:srgbClr val="000000"/>
                </a:solidFill>
                <a:latin typeface="Arial"/>
                <a:ea typeface="Arial"/>
                <a:cs typeface="Arial"/>
                <a:sym typeface="Arial"/>
              </a:rPr>
              <a:t>biase</a:t>
            </a:r>
            <a:r>
              <a:rPr lang="en-AU" sz="1800" b="0" i="0" u="none" strike="noStrike" dirty="0">
                <a:solidFill>
                  <a:srgbClr val="000000"/>
                </a:solidFill>
                <a:latin typeface="Arial"/>
                <a:ea typeface="Arial"/>
                <a:cs typeface="Arial"/>
                <a:sym typeface="Arial"/>
              </a:rPr>
              <a:t> the results. Of course, in reality, we can increase the </a:t>
            </a:r>
            <a:r>
              <a:rPr lang="en-AU" sz="1800" b="0" i="0" u="none" strike="noStrike" dirty="0" err="1">
                <a:solidFill>
                  <a:srgbClr val="000000"/>
                </a:solidFill>
                <a:latin typeface="Arial"/>
                <a:ea typeface="Arial"/>
                <a:cs typeface="Arial"/>
                <a:sym typeface="Arial"/>
              </a:rPr>
              <a:t>exp_time</a:t>
            </a:r>
            <a:r>
              <a:rPr lang="en-AU" sz="1800" b="0" i="0" u="none" strike="noStrike" dirty="0">
                <a:solidFill>
                  <a:srgbClr val="000000"/>
                </a:solidFill>
                <a:latin typeface="Arial"/>
                <a:ea typeface="Arial"/>
                <a:cs typeface="Arial"/>
                <a:sym typeface="Arial"/>
              </a:rPr>
              <a:t> to improve the SNR of the spectra, but there is no way to ask the galaxy to turn off the emission from the ultra-high metallicity hot gas. </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In this section, we want to link the simulations and observational data. Here, we develop a simple 4-grid model. We just simply assume that there 4 components, cold gas and hot gas in the Galactic wind and the midplane. So the hot gas is loaded with metals and the dilution from the cool gas brings down the metallicity. But we need to highlight that this is a cartoon model and the actual temperature distribution is much more complex. We just simplify the process here.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And I just skip the set up here.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t>
            </a: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t>
            </a: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t>
            </a: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t>
            </a: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And now </a:t>
            </a:r>
            <a:r>
              <a:rPr lang="en-AU" sz="1800" b="0" i="0" u="none" strike="noStrike" dirty="0" err="1">
                <a:solidFill>
                  <a:srgbClr val="000000"/>
                </a:solidFill>
                <a:latin typeface="Arial"/>
                <a:ea typeface="Arial"/>
                <a:cs typeface="Arial"/>
                <a:sym typeface="Arial"/>
              </a:rPr>
              <a:t>i</a:t>
            </a:r>
            <a:r>
              <a:rPr lang="en-AU" sz="1800" b="0" i="0" u="none" strike="noStrike" dirty="0">
                <a:solidFill>
                  <a:srgbClr val="000000"/>
                </a:solidFill>
                <a:latin typeface="Arial"/>
                <a:ea typeface="Arial"/>
                <a:cs typeface="Arial"/>
                <a:sym typeface="Arial"/>
              </a:rPr>
              <a:t> put these 4 expressions into our 4-grid model. And then we need to define a parameter called Delta f.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The Delta f here represent the fraction of cold gas in the mid-plane evaporated to be the hot wind component.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And so with the Delta f, we can rewrite the metal mass in hot wind in this expression.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Notice that these two parts are equivalent, so we have the following equation. </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With these two equations, now it is purely algebra.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t>
            </a: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We can now the final expression of Delta f. As you can see, now the RHS are all the metallicity ratios, which can be easily measured from observations.</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 name="Google Shape;236;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But we can still take one step forward.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In the scenario of a low background metallicity, it</a:t>
            </a:r>
            <a:r>
              <a:rPr lang="en-AU" sz="1100" b="0" i="0" u="none" strike="noStrike" dirty="0">
                <a:solidFill>
                  <a:srgbClr val="000000"/>
                </a:solidFill>
                <a:latin typeface="Arial"/>
                <a:ea typeface="Arial"/>
                <a:cs typeface="Arial"/>
                <a:sym typeface="Arial"/>
              </a:rPr>
              <a:t> </a:t>
            </a:r>
            <a:r>
              <a:rPr lang="en-AU" sz="1800" b="0" i="0" u="none" strike="noStrike" dirty="0">
                <a:solidFill>
                  <a:srgbClr val="000000"/>
                </a:solidFill>
                <a:latin typeface="Arial"/>
                <a:ea typeface="Arial"/>
                <a:cs typeface="Arial"/>
                <a:sym typeface="Arial"/>
              </a:rPr>
              <a:t>is reasonable to assume 𝑍_</a:t>
            </a:r>
            <a:r>
              <a:rPr lang="en-AU" sz="1800" b="0" i="0" u="none" strike="noStrike" dirty="0" err="1">
                <a:solidFill>
                  <a:srgbClr val="000000"/>
                </a:solidFill>
                <a:latin typeface="Arial"/>
                <a:ea typeface="Arial"/>
                <a:cs typeface="Arial"/>
                <a:sym typeface="Arial"/>
              </a:rPr>
              <a:t>c,p</a:t>
            </a:r>
            <a:r>
              <a:rPr lang="en-AU" sz="1800" b="0" i="0" u="none" strike="noStrike" dirty="0">
                <a:solidFill>
                  <a:srgbClr val="000000"/>
                </a:solidFill>
                <a:latin typeface="Arial"/>
                <a:ea typeface="Arial"/>
                <a:cs typeface="Arial"/>
                <a:sym typeface="Arial"/>
              </a:rPr>
              <a:t> ≪ 𝑍_</a:t>
            </a:r>
            <a:r>
              <a:rPr lang="en-AU" sz="1800" b="0" i="0" u="none" strike="noStrike" dirty="0" err="1">
                <a:solidFill>
                  <a:srgbClr val="000000"/>
                </a:solidFill>
                <a:latin typeface="Arial"/>
                <a:ea typeface="Arial"/>
                <a:cs typeface="Arial"/>
                <a:sym typeface="Arial"/>
              </a:rPr>
              <a:t>h,w</a:t>
            </a:r>
            <a:r>
              <a:rPr lang="en-AU" sz="1800" b="0" i="0" u="none" strike="noStrike" dirty="0">
                <a:solidFill>
                  <a:srgbClr val="000000"/>
                </a:solidFill>
                <a:latin typeface="Arial"/>
                <a:ea typeface="Arial"/>
                <a:cs typeface="Arial"/>
                <a:sym typeface="Arial"/>
              </a:rPr>
              <a:t> or 𝑍_</a:t>
            </a:r>
            <a:r>
              <a:rPr lang="en-AU" sz="1800" b="0" i="0" u="none" strike="noStrike" dirty="0" err="1">
                <a:solidFill>
                  <a:srgbClr val="000000"/>
                </a:solidFill>
                <a:latin typeface="Arial"/>
                <a:ea typeface="Arial"/>
                <a:cs typeface="Arial"/>
                <a:sym typeface="Arial"/>
              </a:rPr>
              <a:t>h,p</a:t>
            </a:r>
            <a:r>
              <a:rPr lang="en-AU" sz="1800" b="0" i="0" u="none" strike="noStrike" dirty="0">
                <a:solidFill>
                  <a:srgbClr val="000000"/>
                </a:solidFill>
                <a:latin typeface="Arial"/>
                <a:ea typeface="Arial"/>
                <a:cs typeface="Arial"/>
                <a:sym typeface="Arial"/>
              </a:rPr>
              <a:t>.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And so we have these two approximations.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Finally, by the definition of Delta f, </a:t>
            </a:r>
          </a:p>
          <a:p>
            <a:pPr marL="139700" lvl="0" indent="0" algn="l" rtl="0">
              <a:lnSpc>
                <a:spcPct val="100000"/>
              </a:lnSpc>
              <a:spcBef>
                <a:spcPts val="0"/>
              </a:spcBef>
              <a:spcAft>
                <a:spcPts val="0"/>
              </a:spcAft>
              <a:buSzPts val="1400"/>
              <a:buNone/>
            </a:pPr>
            <a:endParaRPr lang="en-AU" sz="1800" b="0" i="0" u="none" strike="noStrike" dirty="0">
              <a:solidFill>
                <a:srgbClr val="000000"/>
              </a:solidFill>
              <a:latin typeface="Arial"/>
              <a:ea typeface="Arial"/>
              <a:cs typeface="Arial"/>
              <a:sym typeface="Arial"/>
            </a:endParaRPr>
          </a:p>
          <a:p>
            <a:pPr marL="139700" lvl="0" indent="0" algn="l" rtl="0">
              <a:lnSpc>
                <a:spcPct val="100000"/>
              </a:lnSpc>
              <a:spcBef>
                <a:spcPts val="0"/>
              </a:spcBef>
              <a:spcAft>
                <a:spcPts val="0"/>
              </a:spcAft>
              <a:buSzPts val="1400"/>
              <a:buNone/>
            </a:pPr>
            <a:r>
              <a:rPr lang="en-AU" sz="1800" b="0" i="0" u="none" strike="noStrike" dirty="0">
                <a:solidFill>
                  <a:srgbClr val="000000"/>
                </a:solidFill>
                <a:latin typeface="Arial"/>
                <a:ea typeface="Arial"/>
                <a:cs typeface="Arial"/>
                <a:sym typeface="Arial"/>
              </a:rPr>
              <a:t>we have the simplified expression in the case of low background metallicity. So the relation here clearly demonstrates that for any metallicity ratio measure at any given area of galactic outflows, we can immediately estimate the amount of cold gas required to mix with the hot gas from mid-plane to observe the such metallicity ratio. For example, if observations of a galaxy show that the metallicity of the hot wind is half that of the hot mid-plane gas, the simplified relation implies that there are roughly 2 times the mass amount of cold gas in the galactic outflows is consumed to dilute the hot gas from the mid-plane. </a:t>
            </a:r>
            <a:endParaRPr b="0" dirty="0"/>
          </a:p>
          <a:p>
            <a:pPr marL="139700" lvl="0" indent="0" algn="l" rtl="0">
              <a:lnSpc>
                <a:spcPct val="100000"/>
              </a:lnSpc>
              <a:spcBef>
                <a:spcPts val="0"/>
              </a:spcBef>
              <a:spcAft>
                <a:spcPts val="0"/>
              </a:spcAft>
              <a:buSzPts val="1400"/>
              <a:buNone/>
            </a:pPr>
            <a:br>
              <a:rPr lang="en-AU" dirty="0"/>
            </a:b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AU" dirty="0"/>
              <a:t>Skip limitation</a:t>
            </a: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9" name="Google Shape;289;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5" name="Google Shape;295;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11"/>
        <p:cNvGrpSpPr/>
        <p:nvPr/>
      </p:nvGrpSpPr>
      <p:grpSpPr>
        <a:xfrm>
          <a:off x="0" y="0"/>
          <a:ext cx="0" cy="0"/>
          <a:chOff x="0" y="0"/>
          <a:chExt cx="0" cy="0"/>
        </a:xfrm>
      </p:grpSpPr>
      <p:sp>
        <p:nvSpPr>
          <p:cNvPr id="12" name="Google Shape;12;p5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54"/>
          <p:cNvSpPr txBox="1">
            <a:spLocks noGrp="1"/>
          </p:cNvSpPr>
          <p:nvPr>
            <p:ph type="title"/>
          </p:nvPr>
        </p:nvSpPr>
        <p:spPr>
          <a:xfrm>
            <a:off x="311700" y="1402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4" name="Google Shape;14;p54"/>
          <p:cNvSpPr txBox="1">
            <a:spLocks noGrp="1"/>
          </p:cNvSpPr>
          <p:nvPr>
            <p:ph type="body" idx="1"/>
          </p:nvPr>
        </p:nvSpPr>
        <p:spPr>
          <a:xfrm>
            <a:off x="311700" y="695275"/>
            <a:ext cx="8520600" cy="3416400"/>
          </a:xfrm>
          <a:prstGeom prst="rect">
            <a:avLst/>
          </a:prstGeom>
          <a:noFill/>
          <a:ln>
            <a:noFill/>
          </a:ln>
        </p:spPr>
        <p:txBody>
          <a:bodyPr spcFirstLastPara="1" wrap="square" lIns="91425" tIns="91425" rIns="91425" bIns="91425" anchor="t" anchorCtr="0">
            <a:normAutofit/>
          </a:bodyPr>
          <a:lstStyle>
            <a:lvl1pPr marL="457200" lvl="0" indent="-330200" algn="l">
              <a:lnSpc>
                <a:spcPct val="115000"/>
              </a:lnSpc>
              <a:spcBef>
                <a:spcPts val="0"/>
              </a:spcBef>
              <a:spcAft>
                <a:spcPts val="0"/>
              </a:spcAft>
              <a:buSzPts val="1600"/>
              <a:buChar char="●"/>
              <a:defRPr sz="1600"/>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5" name="Google Shape;15;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4"/>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A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blipFill>
          <a:blip r:embed="rId3">
            <a:alphaModFix/>
          </a:blip>
          <a:stretch>
            <a:fillRect/>
          </a:stretch>
        </a:blip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endParaRPr/>
          </a:p>
        </p:txBody>
      </p:sp>
      <p:sp>
        <p:nvSpPr>
          <p:cNvPr id="7" name="Google Shape;7;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11150" algn="l" rtl="0">
              <a:lnSpc>
                <a:spcPct val="115000"/>
              </a:lnSpc>
              <a:spcBef>
                <a:spcPts val="0"/>
              </a:spcBef>
              <a:spcAft>
                <a:spcPts val="0"/>
              </a:spcAft>
              <a:buClr>
                <a:schemeClr val="lt1"/>
              </a:buClr>
              <a:buSzPts val="1300"/>
              <a:buFont typeface="Lato"/>
              <a:buChar char="●"/>
              <a:defRPr sz="1300" b="0" i="0" u="none" strike="noStrike" cap="none">
                <a:solidFill>
                  <a:schemeClr val="lt1"/>
                </a:solidFill>
                <a:latin typeface="Lato"/>
                <a:ea typeface="Lato"/>
                <a:cs typeface="Lato"/>
                <a:sym typeface="Lato"/>
              </a:defRPr>
            </a:lvl1pPr>
            <a:lvl2pPr marL="914400" marR="0" lvl="1" indent="-298450" algn="l" rtl="0">
              <a:lnSpc>
                <a:spcPct val="115000"/>
              </a:lnSpc>
              <a:spcBef>
                <a:spcPts val="160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2pPr>
            <a:lvl3pPr marL="1371600" marR="0" lvl="2" indent="-298450" algn="l" rtl="0">
              <a:lnSpc>
                <a:spcPct val="115000"/>
              </a:lnSpc>
              <a:spcBef>
                <a:spcPts val="160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3pPr>
            <a:lvl4pPr marL="1828800" marR="0" lvl="3" indent="-298450" algn="l" rtl="0">
              <a:lnSpc>
                <a:spcPct val="115000"/>
              </a:lnSpc>
              <a:spcBef>
                <a:spcPts val="160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4pPr>
            <a:lvl5pPr marL="2286000" marR="0" lvl="4" indent="-298450" algn="l" rtl="0">
              <a:lnSpc>
                <a:spcPct val="115000"/>
              </a:lnSpc>
              <a:spcBef>
                <a:spcPts val="160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5pPr>
            <a:lvl6pPr marL="2743200" marR="0" lvl="5" indent="-298450" algn="l" rtl="0">
              <a:lnSpc>
                <a:spcPct val="115000"/>
              </a:lnSpc>
              <a:spcBef>
                <a:spcPts val="160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6pPr>
            <a:lvl7pPr marL="3200400" marR="0" lvl="6" indent="-298450" algn="l" rtl="0">
              <a:lnSpc>
                <a:spcPct val="115000"/>
              </a:lnSpc>
              <a:spcBef>
                <a:spcPts val="160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7pPr>
            <a:lvl8pPr marL="3657600" marR="0" lvl="7" indent="-298450" algn="l" rtl="0">
              <a:lnSpc>
                <a:spcPct val="115000"/>
              </a:lnSpc>
              <a:spcBef>
                <a:spcPts val="160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8pPr>
            <a:lvl9pPr marL="4114800" marR="0" lvl="8" indent="-298450" algn="l" rtl="0">
              <a:lnSpc>
                <a:spcPct val="115000"/>
              </a:lnSpc>
              <a:spcBef>
                <a:spcPts val="1600"/>
              </a:spcBef>
              <a:spcAft>
                <a:spcPts val="1600"/>
              </a:spcAft>
              <a:buClr>
                <a:schemeClr val="lt1"/>
              </a:buClr>
              <a:buSzPts val="1100"/>
              <a:buFont typeface="Lato"/>
              <a:buChar char="■"/>
              <a:defRPr sz="1100" b="0" i="0" u="none" strike="noStrike" cap="none">
                <a:solidFill>
                  <a:schemeClr val="lt1"/>
                </a:solidFill>
                <a:latin typeface="Lato"/>
                <a:ea typeface="Lato"/>
                <a:cs typeface="Lato"/>
                <a:sym typeface="Lato"/>
              </a:defRPr>
            </a:lvl9pPr>
          </a:lstStyle>
          <a:p>
            <a:endParaRPr/>
          </a:p>
        </p:txBody>
      </p:sp>
      <p:sp>
        <p:nvSpPr>
          <p:cNvPr id="8" name="Google Shape;8;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AU"/>
              <a:t>‹#›</a:t>
            </a:fld>
            <a:endParaRPr/>
          </a:p>
        </p:txBody>
      </p:sp>
    </p:spTree>
  </p:cSld>
  <p:clrMap bg1="lt1" tx1="dk1" bg2="dk2" tx2="lt2" accent1="accent1" accent2="accent2" accent3="accent3" accent4="accent4" accent5="accent5" accent6="accent6" hlink="hlink" folHlink="folHlink"/>
  <p:sldLayoutIdLst>
    <p:sldLayoutId id="214748365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Rongjun.Huang@anu.edu.au"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jpg"/><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5.jpg"/></Relationships>
</file>

<file path=ppt/slides/_rels/slide1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52"/>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222210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53"/>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 name="Google Shape;20;p1">
            <a:extLst>
              <a:ext uri="{FF2B5EF4-FFF2-40B4-BE49-F238E27FC236}">
                <a16:creationId xmlns:a16="http://schemas.microsoft.com/office/drawing/2014/main" id="{152BE6AD-BF25-6FA1-3BED-069FEFEBA09F}"/>
              </a:ext>
            </a:extLst>
          </p:cNvPr>
          <p:cNvSpPr txBox="1">
            <a:spLocks/>
          </p:cNvSpPr>
          <p:nvPr/>
        </p:nvSpPr>
        <p:spPr>
          <a:xfrm>
            <a:off x="982650" y="1492800"/>
            <a:ext cx="7178700" cy="2579137"/>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800"/>
              <a:buFont typeface="Montserrat"/>
              <a:buNone/>
              <a:defRPr sz="2800" b="0" i="0" u="none" strike="noStrike" cap="none">
                <a:solidFill>
                  <a:schemeClr val="lt1"/>
                </a:solidFill>
                <a:latin typeface="Montserrat"/>
                <a:ea typeface="Montserrat"/>
                <a:cs typeface="Montserrat"/>
                <a:sym typeface="Montserrat"/>
              </a:defRPr>
            </a:lvl9pPr>
          </a:lstStyle>
          <a:p>
            <a:pPr>
              <a:lnSpc>
                <a:spcPct val="110000"/>
              </a:lnSpc>
              <a:spcBef>
                <a:spcPts val="1500"/>
              </a:spcBef>
            </a:pPr>
            <a:r>
              <a:rPr lang="en-AU" sz="2400" i="1" dirty="0">
                <a:solidFill>
                  <a:srgbClr val="FFFF00"/>
                </a:solidFill>
                <a:latin typeface="Arial"/>
                <a:ea typeface="Arial"/>
                <a:cs typeface="Arial"/>
                <a:sym typeface="Arial"/>
              </a:rPr>
              <a:t>ASTR8010 Keynote: </a:t>
            </a:r>
          </a:p>
          <a:p>
            <a:pPr>
              <a:lnSpc>
                <a:spcPct val="110000"/>
              </a:lnSpc>
              <a:spcBef>
                <a:spcPts val="1500"/>
              </a:spcBef>
            </a:pPr>
            <a:r>
              <a:rPr lang="en-AU" sz="2400" dirty="0">
                <a:solidFill>
                  <a:srgbClr val="FFFF00"/>
                </a:solidFill>
                <a:latin typeface="Arial"/>
                <a:ea typeface="Arial"/>
                <a:cs typeface="Arial"/>
                <a:sym typeface="Arial"/>
              </a:rPr>
              <a:t>Negative Metallicity Gradients in Galactic Outflows Based on QED Simulations</a:t>
            </a:r>
          </a:p>
          <a:p>
            <a:pPr>
              <a:lnSpc>
                <a:spcPct val="110000"/>
              </a:lnSpc>
              <a:spcBef>
                <a:spcPts val="1500"/>
              </a:spcBef>
              <a:spcAft>
                <a:spcPts val="1500"/>
              </a:spcAft>
            </a:pPr>
            <a:r>
              <a:rPr lang="en-AU" sz="2400" dirty="0">
                <a:solidFill>
                  <a:srgbClr val="FFFF00"/>
                </a:solidFill>
                <a:latin typeface="Arial"/>
                <a:ea typeface="Arial"/>
                <a:cs typeface="Arial"/>
                <a:sym typeface="Arial"/>
              </a:rPr>
              <a:t> </a:t>
            </a:r>
          </a:p>
        </p:txBody>
      </p:sp>
      <p:sp>
        <p:nvSpPr>
          <p:cNvPr id="3" name="Google Shape;21;p1">
            <a:extLst>
              <a:ext uri="{FF2B5EF4-FFF2-40B4-BE49-F238E27FC236}">
                <a16:creationId xmlns:a16="http://schemas.microsoft.com/office/drawing/2014/main" id="{7167F314-9F9E-2521-E564-BBF2D6B55870}"/>
              </a:ext>
            </a:extLst>
          </p:cNvPr>
          <p:cNvSpPr txBox="1">
            <a:spLocks/>
          </p:cNvSpPr>
          <p:nvPr/>
        </p:nvSpPr>
        <p:spPr>
          <a:xfrm>
            <a:off x="4500282" y="3699032"/>
            <a:ext cx="4643718" cy="144446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lt1"/>
              </a:buClr>
              <a:buSzPts val="1300"/>
              <a:buFont typeface="Lato"/>
              <a:buChar char="●"/>
              <a:defRPr sz="1300" b="0" i="0" u="none" strike="noStrike" cap="none">
                <a:solidFill>
                  <a:schemeClr val="lt1"/>
                </a:solidFill>
                <a:latin typeface="Lato"/>
                <a:ea typeface="Lato"/>
                <a:cs typeface="Lato"/>
                <a:sym typeface="Lato"/>
              </a:defRPr>
            </a:lvl1pPr>
            <a:lvl2pPr marL="914400" marR="0" lvl="1" indent="-298450" algn="l" rtl="0">
              <a:lnSpc>
                <a:spcPct val="115000"/>
              </a:lnSpc>
              <a:spcBef>
                <a:spcPts val="160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2pPr>
            <a:lvl3pPr marL="1371600" marR="0" lvl="2" indent="-298450" algn="l" rtl="0">
              <a:lnSpc>
                <a:spcPct val="115000"/>
              </a:lnSpc>
              <a:spcBef>
                <a:spcPts val="160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3pPr>
            <a:lvl4pPr marL="1828800" marR="0" lvl="3" indent="-298450" algn="l" rtl="0">
              <a:lnSpc>
                <a:spcPct val="115000"/>
              </a:lnSpc>
              <a:spcBef>
                <a:spcPts val="160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4pPr>
            <a:lvl5pPr marL="2286000" marR="0" lvl="4" indent="-298450" algn="l" rtl="0">
              <a:lnSpc>
                <a:spcPct val="115000"/>
              </a:lnSpc>
              <a:spcBef>
                <a:spcPts val="160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5pPr>
            <a:lvl6pPr marL="2743200" marR="0" lvl="5" indent="-298450" algn="l" rtl="0">
              <a:lnSpc>
                <a:spcPct val="115000"/>
              </a:lnSpc>
              <a:spcBef>
                <a:spcPts val="160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6pPr>
            <a:lvl7pPr marL="3200400" marR="0" lvl="6" indent="-298450" algn="l" rtl="0">
              <a:lnSpc>
                <a:spcPct val="115000"/>
              </a:lnSpc>
              <a:spcBef>
                <a:spcPts val="160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7pPr>
            <a:lvl8pPr marL="3657600" marR="0" lvl="7" indent="-298450" algn="l" rtl="0">
              <a:lnSpc>
                <a:spcPct val="115000"/>
              </a:lnSpc>
              <a:spcBef>
                <a:spcPts val="160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8pPr>
            <a:lvl9pPr marL="4114800" marR="0" lvl="8" indent="-298450" algn="l" rtl="0">
              <a:lnSpc>
                <a:spcPct val="115000"/>
              </a:lnSpc>
              <a:spcBef>
                <a:spcPts val="1600"/>
              </a:spcBef>
              <a:spcAft>
                <a:spcPts val="1600"/>
              </a:spcAft>
              <a:buClr>
                <a:schemeClr val="lt1"/>
              </a:buClr>
              <a:buSzPts val="1100"/>
              <a:buFont typeface="Lato"/>
              <a:buChar char="■"/>
              <a:defRPr sz="1100" b="0" i="0" u="none" strike="noStrike" cap="none">
                <a:solidFill>
                  <a:schemeClr val="lt1"/>
                </a:solidFill>
                <a:latin typeface="Lato"/>
                <a:ea typeface="Lato"/>
                <a:cs typeface="Lato"/>
                <a:sym typeface="Lato"/>
              </a:defRPr>
            </a:lvl9pPr>
          </a:lstStyle>
          <a:p>
            <a:pPr marL="0" indent="0">
              <a:buFont typeface="Lato"/>
              <a:buNone/>
            </a:pPr>
            <a:r>
              <a:rPr lang="en-AU" sz="1600" dirty="0">
                <a:solidFill>
                  <a:srgbClr val="C850C8"/>
                </a:solidFill>
              </a:rPr>
              <a:t>Rongjun Huang   (</a:t>
            </a:r>
            <a:r>
              <a:rPr lang="en-AU" sz="1600" u="sng" dirty="0">
                <a:solidFill>
                  <a:schemeClr val="hlink"/>
                </a:solidFill>
                <a:hlinkClick r:id="rId3"/>
              </a:rPr>
              <a:t>Rongjun.Huang@anu.edu.au</a:t>
            </a:r>
            <a:r>
              <a:rPr lang="en-AU" sz="1600" dirty="0">
                <a:solidFill>
                  <a:srgbClr val="C850C8"/>
                </a:solidFill>
              </a:rPr>
              <a:t>)</a:t>
            </a:r>
          </a:p>
          <a:p>
            <a:pPr marL="0" indent="0">
              <a:spcBef>
                <a:spcPts val="1600"/>
              </a:spcBef>
              <a:buFont typeface="Lato"/>
              <a:buNone/>
            </a:pPr>
            <a:r>
              <a:rPr lang="en-AU" sz="1600" dirty="0">
                <a:solidFill>
                  <a:srgbClr val="00B0F0"/>
                </a:solidFill>
              </a:rPr>
              <a:t>Supervisors: Aditi Vijayan &amp; Mark Krumholz </a:t>
            </a:r>
          </a:p>
          <a:p>
            <a:pPr marL="0" indent="0" algn="ctr">
              <a:spcBef>
                <a:spcPts val="1600"/>
              </a:spcBef>
              <a:buFont typeface="Lato"/>
              <a:buNone/>
            </a:pPr>
            <a:r>
              <a:rPr lang="en-AU" sz="1600" dirty="0">
                <a:solidFill>
                  <a:srgbClr val="898989"/>
                </a:solidFill>
              </a:rPr>
              <a:t>Date: [12/06/2024]</a:t>
            </a:r>
            <a:endParaRPr lang="en-AU" sz="1600" dirty="0">
              <a:solidFill>
                <a:srgbClr val="00B0F0"/>
              </a:solidFill>
            </a:endParaRPr>
          </a:p>
        </p:txBody>
      </p:sp>
      <p:pic>
        <p:nvPicPr>
          <p:cNvPr id="4" name="Google Shape;22;p1">
            <a:extLst>
              <a:ext uri="{FF2B5EF4-FFF2-40B4-BE49-F238E27FC236}">
                <a16:creationId xmlns:a16="http://schemas.microsoft.com/office/drawing/2014/main" id="{C7EDB695-4ABE-7657-48B4-0B62D5AAA26E}"/>
              </a:ext>
            </a:extLst>
          </p:cNvPr>
          <p:cNvPicPr preferRelativeResize="0"/>
          <p:nvPr/>
        </p:nvPicPr>
        <p:blipFill rotWithShape="1">
          <a:blip r:embed="rId4">
            <a:alphaModFix/>
          </a:blip>
          <a:srcRect/>
          <a:stretch/>
        </p:blipFill>
        <p:spPr>
          <a:xfrm>
            <a:off x="7309274" y="0"/>
            <a:ext cx="1834875" cy="625950"/>
          </a:xfrm>
          <a:prstGeom prst="rect">
            <a:avLst/>
          </a:prstGeom>
          <a:noFill/>
          <a:ln>
            <a:noFill/>
          </a:ln>
        </p:spPr>
      </p:pic>
      <p:sp>
        <p:nvSpPr>
          <p:cNvPr id="5" name="Google Shape;23;p1">
            <a:extLst>
              <a:ext uri="{FF2B5EF4-FFF2-40B4-BE49-F238E27FC236}">
                <a16:creationId xmlns:a16="http://schemas.microsoft.com/office/drawing/2014/main" id="{9F16AB71-C810-B16A-AFBF-6D378FC2C19F}"/>
              </a:ext>
            </a:extLst>
          </p:cNvPr>
          <p:cNvSpPr txBox="1"/>
          <p:nvPr/>
        </p:nvSpPr>
        <p:spPr>
          <a:xfrm>
            <a:off x="0" y="0"/>
            <a:ext cx="2163900" cy="615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1200"/>
              </a:spcAft>
              <a:buClr>
                <a:srgbClr val="000000"/>
              </a:buClr>
              <a:buSzPts val="1300"/>
              <a:buFont typeface="Arial"/>
              <a:buNone/>
            </a:pPr>
            <a:r>
              <a:rPr lang="en-AU" sz="1300" b="0" i="0" u="none" strike="noStrike" cap="none" dirty="0">
                <a:solidFill>
                  <a:srgbClr val="FFFFFF"/>
                </a:solidFill>
                <a:latin typeface="Lato"/>
                <a:ea typeface="Lato"/>
                <a:cs typeface="Lato"/>
                <a:sym typeface="Lato"/>
              </a:rPr>
              <a:t>Research School of Astronomy &amp; Astrophysics</a:t>
            </a:r>
            <a:endParaRPr sz="1400" b="0" i="0" u="none" strike="noStrike" cap="none" dirty="0">
              <a:solidFill>
                <a:srgbClr val="00000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20"/>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 name="Google Shape;29;p20"/>
          <p:cNvSpPr txBox="1"/>
          <p:nvPr/>
        </p:nvSpPr>
        <p:spPr>
          <a:xfrm>
            <a:off x="811950" y="1031125"/>
            <a:ext cx="7520100" cy="36195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800"/>
              </a:spcBef>
              <a:spcAft>
                <a:spcPts val="0"/>
              </a:spcAft>
              <a:buClr>
                <a:srgbClr val="000000"/>
              </a:buClr>
              <a:buSzPts val="2400"/>
              <a:buFont typeface="Arial"/>
              <a:buNone/>
            </a:pPr>
            <a:r>
              <a:rPr lang="en-AU" sz="2400" b="0" i="0" u="none" strike="noStrike" cap="none">
                <a:solidFill>
                  <a:schemeClr val="lt1"/>
                </a:solidFill>
                <a:latin typeface="Arial"/>
                <a:ea typeface="Arial"/>
                <a:cs typeface="Arial"/>
                <a:sym typeface="Arial"/>
              </a:rPr>
              <a:t>• Introduction</a:t>
            </a:r>
            <a:endParaRPr sz="2400" b="0" i="0" u="none" strike="noStrike" cap="none">
              <a:solidFill>
                <a:schemeClr val="lt1"/>
              </a:solidFill>
              <a:latin typeface="Arial"/>
              <a:ea typeface="Arial"/>
              <a:cs typeface="Arial"/>
              <a:sym typeface="Arial"/>
            </a:endParaRPr>
          </a:p>
          <a:p>
            <a:pPr marL="0" marR="0" lvl="0" indent="0" algn="l" rtl="0">
              <a:lnSpc>
                <a:spcPct val="115000"/>
              </a:lnSpc>
              <a:spcBef>
                <a:spcPts val="800"/>
              </a:spcBef>
              <a:spcAft>
                <a:spcPts val="0"/>
              </a:spcAft>
              <a:buClr>
                <a:srgbClr val="000000"/>
              </a:buClr>
              <a:buSzPts val="2400"/>
              <a:buFont typeface="Arial"/>
              <a:buNone/>
            </a:pPr>
            <a:r>
              <a:rPr lang="en-AU" sz="2400" b="0" i="0" u="none" strike="noStrike" cap="none">
                <a:solidFill>
                  <a:schemeClr val="lt1"/>
                </a:solidFill>
                <a:latin typeface="Arial"/>
                <a:ea typeface="Arial"/>
                <a:cs typeface="Arial"/>
                <a:sym typeface="Arial"/>
              </a:rPr>
              <a:t>• Data &amp; Methods</a:t>
            </a:r>
            <a:endParaRPr sz="2400" b="0" i="0" u="none" strike="noStrike" cap="none">
              <a:solidFill>
                <a:schemeClr val="lt1"/>
              </a:solidFill>
              <a:latin typeface="Arial"/>
              <a:ea typeface="Arial"/>
              <a:cs typeface="Arial"/>
              <a:sym typeface="Arial"/>
            </a:endParaRPr>
          </a:p>
          <a:p>
            <a:pPr marL="0" marR="0" lvl="0" indent="0" algn="l" rtl="0">
              <a:lnSpc>
                <a:spcPct val="115000"/>
              </a:lnSpc>
              <a:spcBef>
                <a:spcPts val="800"/>
              </a:spcBef>
              <a:spcAft>
                <a:spcPts val="0"/>
              </a:spcAft>
              <a:buClr>
                <a:srgbClr val="000000"/>
              </a:buClr>
              <a:buSzPts val="2400"/>
              <a:buFont typeface="Arial"/>
              <a:buNone/>
            </a:pPr>
            <a:r>
              <a:rPr lang="en-AU" sz="2400" b="0" i="0" u="none" strike="noStrike" cap="none">
                <a:solidFill>
                  <a:schemeClr val="lt1"/>
                </a:solidFill>
                <a:latin typeface="Arial"/>
                <a:ea typeface="Arial"/>
                <a:cs typeface="Arial"/>
                <a:sym typeface="Arial"/>
              </a:rPr>
              <a:t>• Results</a:t>
            </a:r>
            <a:endParaRPr sz="2400" b="0" i="0" u="none" strike="noStrike" cap="none">
              <a:solidFill>
                <a:schemeClr val="lt1"/>
              </a:solidFill>
              <a:latin typeface="Arial"/>
              <a:ea typeface="Arial"/>
              <a:cs typeface="Arial"/>
              <a:sym typeface="Arial"/>
            </a:endParaRPr>
          </a:p>
          <a:p>
            <a:pPr marL="0" marR="0" lvl="0" indent="0" algn="l" rtl="0">
              <a:lnSpc>
                <a:spcPct val="115000"/>
              </a:lnSpc>
              <a:spcBef>
                <a:spcPts val="800"/>
              </a:spcBef>
              <a:spcAft>
                <a:spcPts val="0"/>
              </a:spcAft>
              <a:buClr>
                <a:srgbClr val="000000"/>
              </a:buClr>
              <a:buSzPts val="2400"/>
              <a:buFont typeface="Arial"/>
              <a:buNone/>
            </a:pPr>
            <a:r>
              <a:rPr lang="en-AU" sz="2400" b="0" i="0" u="none" strike="noStrike" cap="none">
                <a:solidFill>
                  <a:schemeClr val="lt1"/>
                </a:solidFill>
                <a:latin typeface="Arial"/>
                <a:ea typeface="Arial"/>
                <a:cs typeface="Arial"/>
                <a:sym typeface="Arial"/>
              </a:rPr>
              <a:t>• Discussion</a:t>
            </a:r>
            <a:endParaRPr sz="2400" b="0" i="0" u="none" strike="noStrike" cap="none">
              <a:solidFill>
                <a:schemeClr val="lt1"/>
              </a:solidFill>
              <a:latin typeface="Arial"/>
              <a:ea typeface="Arial"/>
              <a:cs typeface="Arial"/>
              <a:sym typeface="Arial"/>
            </a:endParaRPr>
          </a:p>
          <a:p>
            <a:pPr marL="0" marR="0" lvl="0" indent="0" algn="l" rtl="0">
              <a:lnSpc>
                <a:spcPct val="115000"/>
              </a:lnSpc>
              <a:spcBef>
                <a:spcPts val="800"/>
              </a:spcBef>
              <a:spcAft>
                <a:spcPts val="0"/>
              </a:spcAft>
              <a:buClr>
                <a:srgbClr val="000000"/>
              </a:buClr>
              <a:buSzPts val="2400"/>
              <a:buFont typeface="Arial"/>
              <a:buNone/>
            </a:pPr>
            <a:r>
              <a:rPr lang="en-AU" sz="2400" b="0" i="0" u="none" strike="noStrike" cap="none">
                <a:solidFill>
                  <a:schemeClr val="lt1"/>
                </a:solidFill>
                <a:latin typeface="Arial"/>
                <a:ea typeface="Arial"/>
                <a:cs typeface="Arial"/>
                <a:sym typeface="Arial"/>
              </a:rPr>
              <a:t>• Conclusions</a:t>
            </a:r>
            <a:endParaRPr/>
          </a:p>
          <a:p>
            <a:pPr marL="0" marR="0" lvl="0" indent="0" algn="l" rtl="0">
              <a:lnSpc>
                <a:spcPct val="115000"/>
              </a:lnSpc>
              <a:spcBef>
                <a:spcPts val="800"/>
              </a:spcBef>
              <a:spcAft>
                <a:spcPts val="0"/>
              </a:spcAft>
              <a:buClr>
                <a:srgbClr val="000000"/>
              </a:buClr>
              <a:buSzPts val="2400"/>
              <a:buFont typeface="Arial"/>
              <a:buNone/>
            </a:pP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Lato"/>
              <a:ea typeface="Lato"/>
              <a:cs typeface="Lato"/>
              <a:sym typeface="Lato"/>
            </a:endParaRPr>
          </a:p>
        </p:txBody>
      </p:sp>
      <p:sp>
        <p:nvSpPr>
          <p:cNvPr id="30" name="Google Shape;30;p20"/>
          <p:cNvSpPr txBox="1"/>
          <p:nvPr/>
        </p:nvSpPr>
        <p:spPr>
          <a:xfrm>
            <a:off x="0" y="0"/>
            <a:ext cx="9144000" cy="8619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AU" sz="4400" b="0" i="0" u="none" strike="noStrike" cap="none">
                <a:solidFill>
                  <a:schemeClr val="lt1"/>
                </a:solidFill>
                <a:latin typeface="Arial"/>
                <a:ea typeface="Arial"/>
                <a:cs typeface="Arial"/>
                <a:sym typeface="Arial"/>
              </a:rPr>
              <a:t>Table of Contents</a:t>
            </a:r>
            <a:endParaRPr sz="1400" b="0" i="0" u="none" strike="noStrike" cap="none">
              <a:solidFill>
                <a:schemeClr val="lt1"/>
              </a:solidFill>
              <a:latin typeface="Arial"/>
              <a:ea typeface="Arial"/>
              <a:cs typeface="Arial"/>
              <a:sym typeface="Arial"/>
            </a:endParaRPr>
          </a:p>
        </p:txBody>
      </p:sp>
      <p:pic>
        <p:nvPicPr>
          <p:cNvPr id="2" name="Picture 1" descr="A starry night sky with a tree&#10;&#10;Description automatically generated">
            <a:extLst>
              <a:ext uri="{FF2B5EF4-FFF2-40B4-BE49-F238E27FC236}">
                <a16:creationId xmlns:a16="http://schemas.microsoft.com/office/drawing/2014/main" id="{3C724968-9A37-E9EB-1595-9634C03B337F}"/>
              </a:ext>
            </a:extLst>
          </p:cNvPr>
          <p:cNvPicPr>
            <a:picLocks noChangeAspect="1"/>
          </p:cNvPicPr>
          <p:nvPr/>
        </p:nvPicPr>
        <p:blipFill>
          <a:blip r:embed="rId3"/>
          <a:stretch>
            <a:fillRect/>
          </a:stretch>
        </p:blipFill>
        <p:spPr>
          <a:xfrm rot="5400000">
            <a:off x="3656105" y="1314416"/>
            <a:ext cx="3616310" cy="271127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sp>
        <p:nvSpPr>
          <p:cNvPr id="35" name="Google Shape;35;p22"/>
          <p:cNvSpPr txBox="1">
            <a:spLocks noGrp="1"/>
          </p:cNvSpPr>
          <p:nvPr>
            <p:ph type="title"/>
          </p:nvPr>
        </p:nvSpPr>
        <p:spPr>
          <a:xfrm>
            <a:off x="311700" y="140225"/>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a:t>Introduction</a:t>
            </a:r>
            <a:endParaRPr/>
          </a:p>
        </p:txBody>
      </p:sp>
      <p:sp>
        <p:nvSpPr>
          <p:cNvPr id="36" name="Google Shape;36;p22"/>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 name="Google Shape;37;p22"/>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9" name="Google Shape;39;p22"/>
          <p:cNvSpPr/>
          <p:nvPr/>
        </p:nvSpPr>
        <p:spPr>
          <a:xfrm>
            <a:off x="228600" y="1508670"/>
            <a:ext cx="4190999" cy="27577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0" name="Google Shape;40;p22"/>
          <p:cNvSpPr txBox="1"/>
          <p:nvPr/>
        </p:nvSpPr>
        <p:spPr>
          <a:xfrm>
            <a:off x="228599" y="877045"/>
            <a:ext cx="4190999" cy="4106252"/>
          </a:xfrm>
          <a:prstGeom prst="rect">
            <a:avLst/>
          </a:prstGeom>
          <a:noFill/>
          <a:ln>
            <a:noFill/>
          </a:ln>
        </p:spPr>
        <p:txBody>
          <a:bodyPr spcFirstLastPara="1" wrap="square" lIns="190500" tIns="0" rIns="0" bIns="190500" anchor="t" anchorCtr="0">
            <a:spAutoFit/>
          </a:bodyPr>
          <a:lstStyle/>
          <a:p>
            <a:pPr marL="228600" marR="0" lvl="0" indent="-91440" algn="l" rtl="0">
              <a:lnSpc>
                <a:spcPct val="100000"/>
              </a:lnSpc>
              <a:spcBef>
                <a:spcPts val="0"/>
              </a:spcBef>
              <a:spcAft>
                <a:spcPts val="0"/>
              </a:spcAft>
              <a:buClr>
                <a:srgbClr val="000000"/>
              </a:buClr>
              <a:buSzPts val="1300"/>
              <a:buFont typeface="Arial"/>
              <a:buChar char="•"/>
            </a:pPr>
            <a:r>
              <a:rPr lang="en-AU" sz="1600" b="1" i="0" u="none" strike="noStrike" cap="none" dirty="0">
                <a:solidFill>
                  <a:schemeClr val="lt1"/>
                </a:solidFill>
                <a:latin typeface="Proxima Nova"/>
                <a:ea typeface="Proxima Nova"/>
                <a:cs typeface="Proxima Nova"/>
                <a:sym typeface="Proxima Nova"/>
              </a:rPr>
              <a:t> Background and Motivation</a:t>
            </a:r>
            <a:endParaRPr sz="1600" dirty="0"/>
          </a:p>
          <a:p>
            <a:pPr marL="228600" marR="0" lvl="0" indent="-8890" algn="l" rtl="0">
              <a:lnSpc>
                <a:spcPct val="100000"/>
              </a:lnSpc>
              <a:spcBef>
                <a:spcPts val="800"/>
              </a:spcBef>
              <a:spcAft>
                <a:spcPts val="0"/>
              </a:spcAft>
              <a:buClr>
                <a:srgbClr val="000000"/>
              </a:buClr>
              <a:buSzPts val="1300"/>
              <a:buFont typeface="Arial"/>
              <a:buNone/>
            </a:pPr>
            <a:endParaRPr sz="1600" b="1" i="0" u="none" strike="noStrike" cap="none" dirty="0">
              <a:solidFill>
                <a:schemeClr val="lt1"/>
              </a:solidFill>
              <a:latin typeface="Proxima Nova"/>
              <a:ea typeface="Proxima Nova"/>
              <a:cs typeface="Proxima Nova"/>
              <a:sym typeface="Proxima Nova"/>
            </a:endParaRPr>
          </a:p>
          <a:p>
            <a:pPr marL="228600" marR="0" lvl="0" indent="-91440" algn="l" rtl="0">
              <a:lnSpc>
                <a:spcPct val="100000"/>
              </a:lnSpc>
              <a:spcBef>
                <a:spcPts val="800"/>
              </a:spcBef>
              <a:spcAft>
                <a:spcPts val="0"/>
              </a:spcAft>
              <a:buClr>
                <a:srgbClr val="000000"/>
              </a:buClr>
              <a:buSzPts val="1300"/>
              <a:buFont typeface="Arial"/>
              <a:buChar char="•"/>
            </a:pPr>
            <a:r>
              <a:rPr lang="en-AU" sz="1600" b="1" i="0" u="none" strike="noStrike" cap="none" dirty="0">
                <a:solidFill>
                  <a:schemeClr val="lt1"/>
                </a:solidFill>
                <a:latin typeface="Proxima Nova"/>
                <a:ea typeface="Proxima Nova"/>
                <a:cs typeface="Proxima Nova"/>
                <a:sym typeface="Proxima Nova"/>
              </a:rPr>
              <a:t>- </a:t>
            </a:r>
            <a:r>
              <a:rPr lang="en-AU" sz="1600" b="1" i="1" u="none" strike="noStrike" cap="none" dirty="0">
                <a:solidFill>
                  <a:schemeClr val="accent2"/>
                </a:solidFill>
                <a:latin typeface="Proxima Nova"/>
                <a:ea typeface="Proxima Nova"/>
                <a:cs typeface="Proxima Nova"/>
                <a:sym typeface="Proxima Nova"/>
              </a:rPr>
              <a:t>Metals</a:t>
            </a:r>
            <a:r>
              <a:rPr lang="en-AU" sz="1600" b="1" i="1" u="none" strike="noStrike" cap="none" dirty="0">
                <a:solidFill>
                  <a:schemeClr val="lt1"/>
                </a:solidFill>
                <a:latin typeface="Proxima Nova"/>
                <a:ea typeface="Proxima Nova"/>
                <a:cs typeface="Proxima Nova"/>
                <a:sym typeface="Proxima Nova"/>
              </a:rPr>
              <a:t> are found far from the galactic disk, suggesting </a:t>
            </a:r>
            <a:r>
              <a:rPr lang="en-AU" sz="1600" b="1" i="1" u="none" strike="noStrike" cap="none" dirty="0">
                <a:solidFill>
                  <a:schemeClr val="accent2"/>
                </a:solidFill>
                <a:latin typeface="Proxima Nova"/>
                <a:ea typeface="Proxima Nova"/>
                <a:cs typeface="Proxima Nova"/>
                <a:sym typeface="Proxima Nova"/>
              </a:rPr>
              <a:t>transportation mechanisms </a:t>
            </a:r>
            <a:r>
              <a:rPr lang="en-AU" sz="1600" b="1" i="1" u="none" strike="noStrike" cap="none" dirty="0">
                <a:solidFill>
                  <a:schemeClr val="lt1"/>
                </a:solidFill>
                <a:latin typeface="Proxima Nova"/>
                <a:ea typeface="Proxima Nova"/>
                <a:cs typeface="Proxima Nova"/>
                <a:sym typeface="Proxima Nova"/>
              </a:rPr>
              <a:t>like outflows</a:t>
            </a:r>
            <a:r>
              <a:rPr lang="en-AU" sz="1600" b="1" i="0" u="none" strike="noStrike" cap="none" dirty="0">
                <a:solidFill>
                  <a:schemeClr val="lt1"/>
                </a:solidFill>
                <a:latin typeface="Proxima Nova"/>
                <a:ea typeface="Proxima Nova"/>
                <a:cs typeface="Proxima Nova"/>
                <a:sym typeface="Proxima Nova"/>
              </a:rPr>
              <a:t>.</a:t>
            </a:r>
            <a:endParaRPr sz="1600" dirty="0"/>
          </a:p>
          <a:p>
            <a:pPr marL="228600" marR="0" lvl="0" indent="-91440" algn="l" rtl="0">
              <a:lnSpc>
                <a:spcPct val="100000"/>
              </a:lnSpc>
              <a:spcBef>
                <a:spcPts val="800"/>
              </a:spcBef>
              <a:spcAft>
                <a:spcPts val="0"/>
              </a:spcAft>
              <a:buClr>
                <a:srgbClr val="000000"/>
              </a:buClr>
              <a:buSzPts val="1300"/>
              <a:buFont typeface="Arial"/>
              <a:buChar char="•"/>
            </a:pPr>
            <a:r>
              <a:rPr lang="en-AU" sz="1600" b="1" i="0" u="none" strike="noStrike" cap="none" dirty="0">
                <a:solidFill>
                  <a:schemeClr val="lt1"/>
                </a:solidFill>
                <a:latin typeface="Proxima Nova"/>
                <a:ea typeface="Proxima Nova"/>
                <a:cs typeface="Proxima Nova"/>
                <a:sym typeface="Proxima Nova"/>
              </a:rPr>
              <a:t>- </a:t>
            </a:r>
            <a:r>
              <a:rPr lang="en-AU" sz="1600" b="1" i="1" u="none" strike="noStrike" cap="none" dirty="0">
                <a:solidFill>
                  <a:schemeClr val="accent2"/>
                </a:solidFill>
                <a:latin typeface="Proxima Nova"/>
                <a:ea typeface="Proxima Nova"/>
                <a:cs typeface="Proxima Nova"/>
                <a:sym typeface="Proxima Nova"/>
              </a:rPr>
              <a:t>Galactic outflows </a:t>
            </a:r>
            <a:r>
              <a:rPr lang="en-AU" sz="1600" b="1" i="1" u="none" strike="noStrike" cap="none" dirty="0">
                <a:solidFill>
                  <a:schemeClr val="lt1"/>
                </a:solidFill>
                <a:latin typeface="Proxima Nova"/>
                <a:ea typeface="Proxima Nova"/>
                <a:cs typeface="Proxima Nova"/>
                <a:sym typeface="Proxima Nova"/>
              </a:rPr>
              <a:t>play a critical role in metal transport in galaxies</a:t>
            </a:r>
            <a:endParaRPr sz="1600" dirty="0"/>
          </a:p>
          <a:p>
            <a:pPr marL="228600" marR="0" lvl="0" indent="-91440" algn="l" rtl="0">
              <a:lnSpc>
                <a:spcPct val="100000"/>
              </a:lnSpc>
              <a:spcBef>
                <a:spcPts val="800"/>
              </a:spcBef>
              <a:spcAft>
                <a:spcPts val="0"/>
              </a:spcAft>
              <a:buClr>
                <a:srgbClr val="000000"/>
              </a:buClr>
              <a:buSzPts val="1300"/>
              <a:buFont typeface="Arial"/>
              <a:buChar char="•"/>
            </a:pPr>
            <a:r>
              <a:rPr lang="en-AU" sz="1600" b="1" i="0" u="none" strike="noStrike" cap="none" dirty="0">
                <a:solidFill>
                  <a:schemeClr val="lt1"/>
                </a:solidFill>
                <a:latin typeface="Proxima Nova"/>
                <a:ea typeface="Proxima Nova"/>
                <a:cs typeface="Proxima Nova"/>
                <a:sym typeface="Proxima Nova"/>
              </a:rPr>
              <a:t>- </a:t>
            </a:r>
            <a:r>
              <a:rPr lang="en-AU" sz="1600" b="1" i="1" u="none" strike="noStrike" cap="none" dirty="0">
                <a:solidFill>
                  <a:schemeClr val="lt1"/>
                </a:solidFill>
                <a:latin typeface="Proxima Nova"/>
                <a:ea typeface="Proxima Nova"/>
                <a:cs typeface="Proxima Nova"/>
                <a:sym typeface="Proxima Nova"/>
              </a:rPr>
              <a:t>Numerous </a:t>
            </a:r>
            <a:r>
              <a:rPr lang="en-AU" sz="1600" b="1" i="1" u="none" strike="noStrike" cap="none" dirty="0">
                <a:solidFill>
                  <a:schemeClr val="accent2"/>
                </a:solidFill>
                <a:latin typeface="Proxima Nova"/>
                <a:ea typeface="Proxima Nova"/>
                <a:cs typeface="Proxima Nova"/>
                <a:sym typeface="Proxima Nova"/>
              </a:rPr>
              <a:t>simulations </a:t>
            </a:r>
            <a:r>
              <a:rPr lang="en-AU" sz="1600" b="1" i="1" u="none" strike="noStrike" cap="none" dirty="0">
                <a:solidFill>
                  <a:schemeClr val="lt1"/>
                </a:solidFill>
                <a:latin typeface="Proxima Nova"/>
                <a:ea typeface="Proxima Nova"/>
                <a:cs typeface="Proxima Nova"/>
                <a:sym typeface="Proxima Nova"/>
              </a:rPr>
              <a:t>have investigated the metal loading of galactic outflows, </a:t>
            </a:r>
            <a:r>
              <a:rPr lang="en-AU" sz="1600" b="1" i="0" u="none" strike="noStrike" cap="none" dirty="0">
                <a:solidFill>
                  <a:schemeClr val="accent2"/>
                </a:solidFill>
                <a:latin typeface="Proxima Nova"/>
                <a:ea typeface="Proxima Nova"/>
                <a:cs typeface="Proxima Nova"/>
                <a:sym typeface="Proxima Nova"/>
              </a:rPr>
              <a:t>but</a:t>
            </a:r>
            <a:r>
              <a:rPr lang="en-AU" sz="1600" b="1" i="0" u="none" strike="noStrike" cap="none" dirty="0">
                <a:solidFill>
                  <a:schemeClr val="lt1"/>
                </a:solidFill>
                <a:latin typeface="Proxima Nova"/>
                <a:ea typeface="Proxima Nova"/>
                <a:cs typeface="Proxima Nova"/>
                <a:sym typeface="Proxima Nova"/>
              </a:rPr>
              <a:t> </a:t>
            </a:r>
            <a:r>
              <a:rPr lang="en-AU" sz="1600" b="1" i="1" u="none" strike="noStrike" cap="none" dirty="0">
                <a:solidFill>
                  <a:schemeClr val="lt1"/>
                </a:solidFill>
                <a:latin typeface="Proxima Nova"/>
                <a:ea typeface="Proxima Nova"/>
                <a:cs typeface="Proxima Nova"/>
                <a:sym typeface="Proxima Nova"/>
              </a:rPr>
              <a:t>require the use of high-resolution simulations to study the complex multi-phase nature of these outflows</a:t>
            </a:r>
            <a:r>
              <a:rPr lang="en-AU" sz="1600" b="1" i="0" u="none" strike="noStrike" cap="none" dirty="0">
                <a:solidFill>
                  <a:schemeClr val="lt1"/>
                </a:solidFill>
                <a:latin typeface="Proxima Nova"/>
                <a:ea typeface="Proxima Nova"/>
                <a:cs typeface="Proxima Nova"/>
                <a:sym typeface="Proxima Nova"/>
              </a:rPr>
              <a:t>. </a:t>
            </a:r>
            <a:endParaRPr sz="1600" b="1" i="0" u="none" strike="noStrike" cap="none" dirty="0">
              <a:solidFill>
                <a:schemeClr val="lt1"/>
              </a:solidFill>
              <a:latin typeface="Proxima Nova"/>
              <a:ea typeface="Proxima Nova"/>
              <a:cs typeface="Proxima Nova"/>
              <a:sym typeface="Proxima Nova"/>
            </a:endParaRPr>
          </a:p>
          <a:p>
            <a:pPr marL="228600" marR="0" lvl="0" indent="-8890" algn="l" rtl="0">
              <a:lnSpc>
                <a:spcPct val="100000"/>
              </a:lnSpc>
              <a:spcBef>
                <a:spcPts val="800"/>
              </a:spcBef>
              <a:spcAft>
                <a:spcPts val="0"/>
              </a:spcAft>
              <a:buClr>
                <a:srgbClr val="000000"/>
              </a:buClr>
              <a:buSzPts val="1300"/>
              <a:buFont typeface="Arial"/>
              <a:buNone/>
            </a:pPr>
            <a:endParaRPr sz="1300" b="1" i="0" u="none" strike="noStrike" cap="none" dirty="0">
              <a:solidFill>
                <a:schemeClr val="lt1"/>
              </a:solidFill>
              <a:latin typeface="Proxima Nova"/>
              <a:ea typeface="Proxima Nova"/>
              <a:cs typeface="Proxima Nova"/>
              <a:sym typeface="Proxima Nova"/>
            </a:endParaRPr>
          </a:p>
        </p:txBody>
      </p:sp>
      <p:sp>
        <p:nvSpPr>
          <p:cNvPr id="42" name="Google Shape;42;p22"/>
          <p:cNvSpPr txBox="1"/>
          <p:nvPr/>
        </p:nvSpPr>
        <p:spPr>
          <a:xfrm>
            <a:off x="4724400" y="1508670"/>
            <a:ext cx="4190999" cy="235937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 name="Google Shape;43;p22"/>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4" name="Google Shape;44;p22"/>
          <p:cNvSpPr txBox="1"/>
          <p:nvPr/>
        </p:nvSpPr>
        <p:spPr>
          <a:xfrm>
            <a:off x="4641301" y="4264356"/>
            <a:ext cx="4190999" cy="138499"/>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AU" sz="900" dirty="0">
                <a:solidFill>
                  <a:srgbClr val="616161"/>
                </a:solidFill>
                <a:latin typeface="Proxima Nova"/>
                <a:ea typeface="Proxima Nova"/>
                <a:cs typeface="Proxima Nova"/>
                <a:sym typeface="Proxima Nova"/>
              </a:rPr>
              <a:t>M82  Credit:</a:t>
            </a:r>
            <a:r>
              <a:rPr lang="en-AU" sz="900" b="0" i="0" u="none" strike="noStrike" cap="none" dirty="0">
                <a:solidFill>
                  <a:srgbClr val="616161"/>
                </a:solidFill>
                <a:latin typeface="Proxima Nova"/>
                <a:ea typeface="Proxima Nova"/>
                <a:cs typeface="Proxima Nova"/>
                <a:sym typeface="Proxima Nova"/>
              </a:rPr>
              <a:t> ESA</a:t>
            </a:r>
            <a:endParaRPr dirty="0"/>
          </a:p>
        </p:txBody>
      </p:sp>
      <p:pic>
        <p:nvPicPr>
          <p:cNvPr id="1026" name="Picture 2" descr="Messier 82 - Wikipedia">
            <a:extLst>
              <a:ext uri="{FF2B5EF4-FFF2-40B4-BE49-F238E27FC236}">
                <a16:creationId xmlns:a16="http://schemas.microsoft.com/office/drawing/2014/main" id="{AA45B30A-182A-857F-1EE1-252FF43150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6324" y="963594"/>
            <a:ext cx="4125976" cy="32163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24"/>
          <p:cNvSpPr/>
          <p:nvPr/>
        </p:nvSpPr>
        <p:spPr>
          <a:xfrm>
            <a:off x="4724400" y="1508670"/>
            <a:ext cx="4190999" cy="27577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51" name="Google Shape;51;p24"/>
          <p:cNvSpPr txBox="1"/>
          <p:nvPr/>
        </p:nvSpPr>
        <p:spPr>
          <a:xfrm>
            <a:off x="4724400" y="1508670"/>
            <a:ext cx="4190999" cy="235937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 name="Google Shape;52;p24"/>
          <p:cNvSpPr/>
          <p:nvPr/>
        </p:nvSpPr>
        <p:spPr>
          <a:xfrm>
            <a:off x="4724400" y="3991048"/>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53" name="Google Shape;53;p24" descr="Figure 2."/>
          <p:cNvPicPr preferRelativeResize="0"/>
          <p:nvPr/>
        </p:nvPicPr>
        <p:blipFill rotWithShape="1">
          <a:blip r:embed="rId3">
            <a:alphaModFix/>
          </a:blip>
          <a:srcRect/>
          <a:stretch/>
        </p:blipFill>
        <p:spPr>
          <a:xfrm>
            <a:off x="5946559" y="140225"/>
            <a:ext cx="2141772" cy="2359372"/>
          </a:xfrm>
          <a:prstGeom prst="rect">
            <a:avLst/>
          </a:prstGeom>
          <a:noFill/>
          <a:ln>
            <a:noFill/>
          </a:ln>
        </p:spPr>
      </p:pic>
      <p:pic>
        <p:nvPicPr>
          <p:cNvPr id="54" name="Google Shape;54;p24" descr="Figure 4."/>
          <p:cNvPicPr preferRelativeResize="0"/>
          <p:nvPr/>
        </p:nvPicPr>
        <p:blipFill rotWithShape="1">
          <a:blip r:embed="rId4">
            <a:alphaModFix/>
          </a:blip>
          <a:srcRect/>
          <a:stretch/>
        </p:blipFill>
        <p:spPr>
          <a:xfrm>
            <a:off x="3173689" y="2489483"/>
            <a:ext cx="4914642" cy="2430827"/>
          </a:xfrm>
          <a:prstGeom prst="rect">
            <a:avLst/>
          </a:prstGeom>
          <a:noFill/>
          <a:ln>
            <a:noFill/>
          </a:ln>
        </p:spPr>
      </p:pic>
      <p:pic>
        <p:nvPicPr>
          <p:cNvPr id="55" name="Google Shape;55;p24" descr="Figure 5."/>
          <p:cNvPicPr preferRelativeResize="0"/>
          <p:nvPr/>
        </p:nvPicPr>
        <p:blipFill rotWithShape="1">
          <a:blip r:embed="rId5">
            <a:alphaModFix/>
          </a:blip>
          <a:srcRect/>
          <a:stretch/>
        </p:blipFill>
        <p:spPr>
          <a:xfrm>
            <a:off x="1767468" y="2489483"/>
            <a:ext cx="3012676" cy="2420900"/>
          </a:xfrm>
          <a:prstGeom prst="rect">
            <a:avLst/>
          </a:prstGeom>
          <a:noFill/>
          <a:ln>
            <a:noFill/>
          </a:ln>
        </p:spPr>
      </p:pic>
      <p:pic>
        <p:nvPicPr>
          <p:cNvPr id="56" name="Google Shape;56;p24"/>
          <p:cNvPicPr preferRelativeResize="0"/>
          <p:nvPr/>
        </p:nvPicPr>
        <p:blipFill rotWithShape="1">
          <a:blip r:embed="rId6">
            <a:alphaModFix/>
          </a:blip>
          <a:srcRect/>
          <a:stretch/>
        </p:blipFill>
        <p:spPr>
          <a:xfrm>
            <a:off x="1767468" y="1037245"/>
            <a:ext cx="4179090" cy="1452237"/>
          </a:xfrm>
          <a:prstGeom prst="rect">
            <a:avLst/>
          </a:prstGeom>
          <a:noFill/>
          <a:ln>
            <a:noFill/>
          </a:ln>
        </p:spPr>
      </p:pic>
      <p:sp>
        <p:nvSpPr>
          <p:cNvPr id="57" name="Google Shape;57;p24"/>
          <p:cNvSpPr txBox="1"/>
          <p:nvPr/>
        </p:nvSpPr>
        <p:spPr>
          <a:xfrm>
            <a:off x="311700" y="140225"/>
            <a:ext cx="8520600" cy="572700"/>
          </a:xfrm>
          <a:prstGeom prst="rect">
            <a:avLst/>
          </a:prstGeom>
          <a:noFill/>
          <a:ln>
            <a:noFill/>
          </a:ln>
        </p:spPr>
        <p:txBody>
          <a:bodyPr spcFirstLastPara="1" wrap="square" lIns="91425" tIns="91425" rIns="91425" bIns="91425" anchor="t" anchorCtr="0">
            <a:normAutofit/>
          </a:bodyPr>
          <a:lstStyle/>
          <a:p>
            <a:pPr marL="0" marR="0" lvl="0" indent="0" algn="l" rtl="0">
              <a:lnSpc>
                <a:spcPct val="100000"/>
              </a:lnSpc>
              <a:spcBef>
                <a:spcPts val="0"/>
              </a:spcBef>
              <a:spcAft>
                <a:spcPts val="0"/>
              </a:spcAft>
              <a:buClr>
                <a:schemeClr val="lt1"/>
              </a:buClr>
              <a:buSzPts val="2200"/>
              <a:buFont typeface="Montserrat"/>
              <a:buNone/>
            </a:pPr>
            <a:r>
              <a:rPr lang="en-AU" sz="2200" b="0" i="0" u="none" strike="noStrike" cap="none">
                <a:solidFill>
                  <a:schemeClr val="lt1"/>
                </a:solidFill>
                <a:latin typeface="Montserrat"/>
                <a:ea typeface="Montserrat"/>
                <a:cs typeface="Montserrat"/>
                <a:sym typeface="Montserrat"/>
              </a:rPr>
              <a:t>Introduction</a:t>
            </a:r>
            <a:endParaRPr/>
          </a:p>
        </p:txBody>
      </p:sp>
      <p:sp>
        <p:nvSpPr>
          <p:cNvPr id="58" name="Google Shape;58;p24"/>
          <p:cNvSpPr txBox="1"/>
          <p:nvPr/>
        </p:nvSpPr>
        <p:spPr>
          <a:xfrm>
            <a:off x="0" y="712925"/>
            <a:ext cx="5552964" cy="392415"/>
          </a:xfrm>
          <a:prstGeom prst="rect">
            <a:avLst/>
          </a:prstGeom>
          <a:noFill/>
          <a:ln>
            <a:noFill/>
          </a:ln>
        </p:spPr>
        <p:txBody>
          <a:bodyPr spcFirstLastPara="1" wrap="square" lIns="190500" tIns="0" rIns="0" bIns="190500" anchor="t" anchorCtr="0">
            <a:spAutoFit/>
          </a:bodyPr>
          <a:lstStyle/>
          <a:p>
            <a:pPr marL="228600" marR="0" lvl="0" indent="-91440" algn="l" rtl="0">
              <a:lnSpc>
                <a:spcPct val="100000"/>
              </a:lnSpc>
              <a:spcBef>
                <a:spcPts val="0"/>
              </a:spcBef>
              <a:spcAft>
                <a:spcPts val="0"/>
              </a:spcAft>
              <a:buClr>
                <a:srgbClr val="000000"/>
              </a:buClr>
              <a:buSzPts val="1300"/>
              <a:buFont typeface="Arial"/>
              <a:buChar char="•"/>
            </a:pPr>
            <a:r>
              <a:rPr lang="en-AU" sz="1300" b="1" i="0" u="none" strike="noStrike" cap="none">
                <a:solidFill>
                  <a:schemeClr val="lt1"/>
                </a:solidFill>
                <a:latin typeface="Proxima Nova"/>
                <a:ea typeface="Proxima Nova"/>
                <a:cs typeface="Proxima Nova"/>
                <a:sym typeface="Proxima Nova"/>
              </a:rPr>
              <a:t>What is the “Negative Metallicity Gradient in Galactic Outflows”?</a:t>
            </a:r>
            <a:endParaRPr/>
          </a:p>
        </p:txBody>
      </p:sp>
      <p:sp>
        <p:nvSpPr>
          <p:cNvPr id="59" name="Google Shape;59;p24"/>
          <p:cNvSpPr txBox="1"/>
          <p:nvPr/>
        </p:nvSpPr>
        <p:spPr>
          <a:xfrm>
            <a:off x="311699" y="1663650"/>
            <a:ext cx="1455900" cy="1816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dirty="0">
                <a:solidFill>
                  <a:schemeClr val="accent2"/>
                </a:solidFill>
              </a:rPr>
              <a:t>Hypothesis</a:t>
            </a:r>
            <a:r>
              <a:rPr lang="en-AU" dirty="0">
                <a:solidFill>
                  <a:schemeClr val="lt1"/>
                </a:solidFill>
              </a:rPr>
              <a:t>:</a:t>
            </a:r>
            <a:endParaRPr dirty="0">
              <a:solidFill>
                <a:schemeClr val="lt1"/>
              </a:solidFill>
            </a:endParaRPr>
          </a:p>
          <a:p>
            <a:pPr marL="0" marR="0" lvl="0" indent="0" algn="l" rtl="0">
              <a:lnSpc>
                <a:spcPct val="100000"/>
              </a:lnSpc>
              <a:spcBef>
                <a:spcPts val="0"/>
              </a:spcBef>
              <a:spcAft>
                <a:spcPts val="0"/>
              </a:spcAft>
              <a:buNone/>
            </a:pPr>
            <a:r>
              <a:rPr lang="en-AU" dirty="0">
                <a:solidFill>
                  <a:schemeClr val="lt1"/>
                </a:solidFill>
              </a:rPr>
              <a:t> </a:t>
            </a:r>
            <a:endParaRPr dirty="0">
              <a:solidFill>
                <a:schemeClr val="lt1"/>
              </a:solidFill>
            </a:endParaRPr>
          </a:p>
          <a:p>
            <a:pPr marL="0" marR="0" lvl="0" indent="0" algn="l" rtl="0">
              <a:lnSpc>
                <a:spcPct val="100000"/>
              </a:lnSpc>
              <a:spcBef>
                <a:spcPts val="0"/>
              </a:spcBef>
              <a:spcAft>
                <a:spcPts val="0"/>
              </a:spcAft>
              <a:buNone/>
            </a:pPr>
            <a:r>
              <a:rPr lang="en-AU" dirty="0">
                <a:solidFill>
                  <a:schemeClr val="lt1"/>
                </a:solidFill>
              </a:rPr>
              <a:t>negative gradient is created due to incomplete mixing of metals</a:t>
            </a:r>
            <a:r>
              <a:rPr lang="en-AU" sz="1400" b="0" i="0" u="none" strike="noStrike" cap="none" dirty="0">
                <a:solidFill>
                  <a:schemeClr val="lt1"/>
                </a:solidFill>
                <a:latin typeface="Arial"/>
                <a:ea typeface="Arial"/>
                <a:cs typeface="Arial"/>
                <a:sym typeface="Arial"/>
              </a:rPr>
              <a:t>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25"/>
          <p:cNvSpPr txBox="1">
            <a:spLocks noGrp="1"/>
          </p:cNvSpPr>
          <p:nvPr>
            <p:ph type="title"/>
          </p:nvPr>
        </p:nvSpPr>
        <p:spPr>
          <a:xfrm>
            <a:off x="311700" y="140225"/>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a:t>Introduction</a:t>
            </a:r>
            <a:endParaRPr/>
          </a:p>
        </p:txBody>
      </p:sp>
      <p:sp>
        <p:nvSpPr>
          <p:cNvPr id="68" name="Google Shape;68;p25"/>
          <p:cNvSpPr/>
          <p:nvPr/>
        </p:nvSpPr>
        <p:spPr>
          <a:xfrm>
            <a:off x="228600" y="1508670"/>
            <a:ext cx="4190999" cy="27577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69" name="Google Shape;69;p25"/>
          <p:cNvSpPr txBox="1"/>
          <p:nvPr/>
        </p:nvSpPr>
        <p:spPr>
          <a:xfrm>
            <a:off x="228600" y="932747"/>
            <a:ext cx="4190999" cy="4347344"/>
          </a:xfrm>
          <a:prstGeom prst="rect">
            <a:avLst/>
          </a:prstGeom>
          <a:noFill/>
          <a:ln>
            <a:noFill/>
          </a:ln>
        </p:spPr>
        <p:txBody>
          <a:bodyPr spcFirstLastPara="1" wrap="square" lIns="190500" tIns="0" rIns="0" bIns="190500" anchor="t" anchorCtr="0">
            <a:spAutoFit/>
          </a:bodyPr>
          <a:lstStyle/>
          <a:p>
            <a:pPr marL="228600" marR="0" lvl="0" indent="-91440" algn="l" rtl="0">
              <a:lnSpc>
                <a:spcPct val="100000"/>
              </a:lnSpc>
              <a:spcBef>
                <a:spcPts val="0"/>
              </a:spcBef>
              <a:spcAft>
                <a:spcPts val="0"/>
              </a:spcAft>
              <a:buClr>
                <a:srgbClr val="000000"/>
              </a:buClr>
              <a:buSzPts val="1300"/>
              <a:buFont typeface="Arial"/>
              <a:buChar char="•"/>
            </a:pPr>
            <a:r>
              <a:rPr lang="en-AU" b="1" i="0" u="none" strike="noStrike" cap="none" dirty="0">
                <a:solidFill>
                  <a:schemeClr val="lt1"/>
                </a:solidFill>
                <a:latin typeface="Proxima Nova"/>
                <a:ea typeface="Proxima Nova"/>
                <a:cs typeface="Proxima Nova"/>
                <a:sym typeface="Proxima Nova"/>
              </a:rPr>
              <a:t>  This Study</a:t>
            </a:r>
            <a:endParaRPr dirty="0"/>
          </a:p>
          <a:p>
            <a:pPr marL="228600" marR="0" lvl="0" indent="-8890" algn="l" rtl="0">
              <a:lnSpc>
                <a:spcPct val="100000"/>
              </a:lnSpc>
              <a:spcBef>
                <a:spcPts val="800"/>
              </a:spcBef>
              <a:spcAft>
                <a:spcPts val="0"/>
              </a:spcAft>
              <a:buClr>
                <a:srgbClr val="000000"/>
              </a:buClr>
              <a:buSzPts val="1300"/>
              <a:buFont typeface="Arial"/>
              <a:buNone/>
            </a:pPr>
            <a:endParaRPr b="1" i="0" u="none" strike="noStrike" cap="none" dirty="0">
              <a:solidFill>
                <a:schemeClr val="lt1"/>
              </a:solidFill>
              <a:latin typeface="Proxima Nova"/>
              <a:ea typeface="Proxima Nova"/>
              <a:cs typeface="Proxima Nova"/>
              <a:sym typeface="Proxima Nova"/>
            </a:endParaRPr>
          </a:p>
          <a:p>
            <a:pPr marL="228600" marR="0" lvl="0" indent="-91440" algn="l" rtl="0">
              <a:lnSpc>
                <a:spcPct val="100000"/>
              </a:lnSpc>
              <a:spcBef>
                <a:spcPts val="800"/>
              </a:spcBef>
              <a:spcAft>
                <a:spcPts val="0"/>
              </a:spcAft>
              <a:buClr>
                <a:srgbClr val="000000"/>
              </a:buClr>
              <a:buSzPts val="1300"/>
              <a:buFont typeface="Arial"/>
              <a:buChar char="•"/>
            </a:pPr>
            <a:r>
              <a:rPr lang="en-AU" b="1" i="0" u="none" strike="noStrike" cap="none" dirty="0">
                <a:solidFill>
                  <a:schemeClr val="lt1"/>
                </a:solidFill>
                <a:latin typeface="Proxima Nova"/>
                <a:ea typeface="Proxima Nova"/>
                <a:cs typeface="Proxima Nova"/>
                <a:sym typeface="Proxima Nova"/>
              </a:rPr>
              <a:t>- Use </a:t>
            </a:r>
            <a:r>
              <a:rPr lang="en-AU" b="1" i="0" u="none" strike="noStrike" cap="none" dirty="0">
                <a:solidFill>
                  <a:schemeClr val="accent2"/>
                </a:solidFill>
                <a:latin typeface="Proxima Nova"/>
                <a:ea typeface="Proxima Nova"/>
                <a:cs typeface="Proxima Nova"/>
                <a:sym typeface="Proxima Nova"/>
              </a:rPr>
              <a:t>high-resolution </a:t>
            </a:r>
            <a:r>
              <a:rPr lang="en-AU" b="1" i="0" u="none" strike="noStrike" cap="none" dirty="0">
                <a:solidFill>
                  <a:schemeClr val="lt1"/>
                </a:solidFill>
                <a:latin typeface="Proxima Nova"/>
                <a:ea typeface="Proxima Nova"/>
                <a:cs typeface="Proxima Nova"/>
                <a:sym typeface="Proxima Nova"/>
              </a:rPr>
              <a:t>three-dimensional hydrodynamic simulations of outflows to generate </a:t>
            </a:r>
            <a:r>
              <a:rPr lang="en-AU" b="1" i="0" u="none" strike="noStrike" cap="none" dirty="0">
                <a:solidFill>
                  <a:schemeClr val="accent2"/>
                </a:solidFill>
                <a:latin typeface="Proxima Nova"/>
                <a:ea typeface="Proxima Nova"/>
                <a:cs typeface="Proxima Nova"/>
                <a:sym typeface="Proxima Nova"/>
              </a:rPr>
              <a:t>synthetic X-ray spectra</a:t>
            </a:r>
            <a:endParaRPr dirty="0">
              <a:solidFill>
                <a:schemeClr val="accent2"/>
              </a:solidFill>
            </a:endParaRPr>
          </a:p>
          <a:p>
            <a:pPr marL="228600" marR="0" lvl="0" indent="-91440" algn="l" rtl="0">
              <a:lnSpc>
                <a:spcPct val="100000"/>
              </a:lnSpc>
              <a:spcBef>
                <a:spcPts val="800"/>
              </a:spcBef>
              <a:spcAft>
                <a:spcPts val="0"/>
              </a:spcAft>
              <a:buClr>
                <a:srgbClr val="000000"/>
              </a:buClr>
              <a:buSzPts val="1300"/>
              <a:buFont typeface="Arial"/>
              <a:buChar char="•"/>
            </a:pPr>
            <a:r>
              <a:rPr lang="en-AU" b="1" i="0" u="none" strike="noStrike" cap="none" dirty="0">
                <a:solidFill>
                  <a:schemeClr val="lt1"/>
                </a:solidFill>
                <a:latin typeface="Proxima Nova"/>
                <a:ea typeface="Proxima Nova"/>
                <a:cs typeface="Proxima Nova"/>
                <a:sym typeface="Proxima Nova"/>
              </a:rPr>
              <a:t>- identify </a:t>
            </a:r>
            <a:r>
              <a:rPr lang="en-AU" b="1" i="0" u="none" strike="noStrike" cap="none" dirty="0">
                <a:solidFill>
                  <a:schemeClr val="accent2"/>
                </a:solidFill>
                <a:latin typeface="Proxima Nova"/>
                <a:ea typeface="Proxima Nova"/>
                <a:cs typeface="Proxima Nova"/>
                <a:sym typeface="Proxima Nova"/>
              </a:rPr>
              <a:t>observational signatures </a:t>
            </a:r>
            <a:r>
              <a:rPr lang="en-AU" b="1" i="0" u="none" strike="noStrike" cap="none" dirty="0">
                <a:solidFill>
                  <a:schemeClr val="lt1"/>
                </a:solidFill>
                <a:latin typeface="Proxima Nova"/>
                <a:ea typeface="Proxima Nova"/>
                <a:cs typeface="Proxima Nova"/>
                <a:sym typeface="Proxima Nova"/>
              </a:rPr>
              <a:t>of the physical processes found in the simulations</a:t>
            </a:r>
            <a:endParaRPr b="1" i="0" u="none" strike="noStrike" cap="none" dirty="0">
              <a:solidFill>
                <a:schemeClr val="lt1"/>
              </a:solidFill>
              <a:latin typeface="Proxima Nova"/>
              <a:ea typeface="Proxima Nova"/>
              <a:cs typeface="Proxima Nova"/>
              <a:sym typeface="Proxima Nova"/>
            </a:endParaRPr>
          </a:p>
          <a:p>
            <a:pPr marL="228600" marR="0" lvl="0" indent="-8890" algn="l" rtl="0">
              <a:lnSpc>
                <a:spcPct val="100000"/>
              </a:lnSpc>
              <a:spcBef>
                <a:spcPts val="800"/>
              </a:spcBef>
              <a:spcAft>
                <a:spcPts val="0"/>
              </a:spcAft>
              <a:buClr>
                <a:srgbClr val="000000"/>
              </a:buClr>
              <a:buSzPts val="1300"/>
              <a:buFont typeface="Arial"/>
              <a:buNone/>
            </a:pPr>
            <a:endParaRPr b="1" i="0" u="none" strike="noStrike" cap="none" dirty="0">
              <a:solidFill>
                <a:schemeClr val="lt1"/>
              </a:solidFill>
              <a:latin typeface="Proxima Nova"/>
              <a:ea typeface="Proxima Nova"/>
              <a:cs typeface="Proxima Nova"/>
              <a:sym typeface="Proxima Nova"/>
            </a:endParaRPr>
          </a:p>
          <a:p>
            <a:pPr marL="228600" marR="0" lvl="0" indent="-91440" algn="l" rtl="0">
              <a:lnSpc>
                <a:spcPct val="100000"/>
              </a:lnSpc>
              <a:spcBef>
                <a:spcPts val="800"/>
              </a:spcBef>
              <a:spcAft>
                <a:spcPts val="0"/>
              </a:spcAft>
              <a:buClr>
                <a:srgbClr val="000000"/>
              </a:buClr>
              <a:buSzPts val="1300"/>
              <a:buFont typeface="Arial"/>
              <a:buChar char="•"/>
            </a:pPr>
            <a:r>
              <a:rPr lang="en-AU" b="1" i="0" u="none" strike="noStrike" cap="none" dirty="0">
                <a:solidFill>
                  <a:schemeClr val="lt1"/>
                </a:solidFill>
                <a:latin typeface="Proxima Nova"/>
                <a:ea typeface="Proxima Nova"/>
                <a:cs typeface="Proxima Nova"/>
                <a:sym typeface="Proxima Nova"/>
              </a:rPr>
              <a:t> Research Objectives</a:t>
            </a:r>
            <a:endParaRPr dirty="0"/>
          </a:p>
          <a:p>
            <a:pPr marL="228600" marR="0" lvl="0" indent="-8890" algn="l" rtl="0">
              <a:lnSpc>
                <a:spcPct val="100000"/>
              </a:lnSpc>
              <a:spcBef>
                <a:spcPts val="800"/>
              </a:spcBef>
              <a:spcAft>
                <a:spcPts val="0"/>
              </a:spcAft>
              <a:buClr>
                <a:srgbClr val="000000"/>
              </a:buClr>
              <a:buSzPts val="1300"/>
              <a:buFont typeface="Arial"/>
              <a:buNone/>
            </a:pPr>
            <a:endParaRPr b="1" i="0" u="none" strike="noStrike" cap="none" dirty="0">
              <a:solidFill>
                <a:schemeClr val="lt1"/>
              </a:solidFill>
              <a:latin typeface="Proxima Nova"/>
              <a:ea typeface="Proxima Nova"/>
              <a:cs typeface="Proxima Nova"/>
              <a:sym typeface="Proxima Nova"/>
            </a:endParaRPr>
          </a:p>
          <a:p>
            <a:pPr marL="228600" marR="0" lvl="0" indent="-91440" algn="l" rtl="0">
              <a:lnSpc>
                <a:spcPct val="100000"/>
              </a:lnSpc>
              <a:spcBef>
                <a:spcPts val="800"/>
              </a:spcBef>
              <a:spcAft>
                <a:spcPts val="0"/>
              </a:spcAft>
              <a:buClr>
                <a:srgbClr val="000000"/>
              </a:buClr>
              <a:buSzPts val="1300"/>
              <a:buFont typeface="Arial"/>
              <a:buChar char="•"/>
            </a:pPr>
            <a:r>
              <a:rPr lang="en-AU" b="1" i="0" u="none" strike="noStrike" cap="none" dirty="0">
                <a:solidFill>
                  <a:schemeClr val="lt1"/>
                </a:solidFill>
                <a:latin typeface="Proxima Nova"/>
                <a:ea typeface="Proxima Nova"/>
                <a:cs typeface="Proxima Nova"/>
                <a:sym typeface="Proxima Nova"/>
              </a:rPr>
              <a:t>- To validate that the simulations yield observationally plausible results.</a:t>
            </a:r>
            <a:endParaRPr dirty="0"/>
          </a:p>
          <a:p>
            <a:pPr marL="228600" marR="0" lvl="0" indent="-91440" algn="l" rtl="0">
              <a:lnSpc>
                <a:spcPct val="100000"/>
              </a:lnSpc>
              <a:spcBef>
                <a:spcPts val="800"/>
              </a:spcBef>
              <a:spcAft>
                <a:spcPts val="0"/>
              </a:spcAft>
              <a:buClr>
                <a:srgbClr val="000000"/>
              </a:buClr>
              <a:buSzPts val="1300"/>
              <a:buFont typeface="Arial"/>
              <a:buChar char="•"/>
            </a:pPr>
            <a:r>
              <a:rPr lang="en-AU" b="1" i="0" u="none" strike="noStrike" cap="none" dirty="0">
                <a:solidFill>
                  <a:schemeClr val="lt1"/>
                </a:solidFill>
                <a:latin typeface="Proxima Nova"/>
                <a:ea typeface="Proxima Nova"/>
                <a:cs typeface="Proxima Nova"/>
                <a:sym typeface="Proxima Nova"/>
              </a:rPr>
              <a:t>- Use the simulations to provide predictive insights for actual astronomical observations.</a:t>
            </a:r>
            <a:endParaRPr dirty="0"/>
          </a:p>
          <a:p>
            <a:pPr marL="228600" marR="0" lvl="0" indent="-8890" algn="l" rtl="0">
              <a:lnSpc>
                <a:spcPct val="100000"/>
              </a:lnSpc>
              <a:spcBef>
                <a:spcPts val="800"/>
              </a:spcBef>
              <a:spcAft>
                <a:spcPts val="0"/>
              </a:spcAft>
              <a:buClr>
                <a:srgbClr val="000000"/>
              </a:buClr>
              <a:buSzPts val="1300"/>
              <a:buFont typeface="Arial"/>
              <a:buNone/>
            </a:pPr>
            <a:endParaRPr b="1" i="0" u="none" strike="noStrike" cap="none" dirty="0">
              <a:solidFill>
                <a:schemeClr val="lt1"/>
              </a:solidFill>
              <a:latin typeface="Proxima Nova"/>
              <a:ea typeface="Proxima Nova"/>
              <a:cs typeface="Proxima Nova"/>
              <a:sym typeface="Proxima Nova"/>
            </a:endParaRPr>
          </a:p>
        </p:txBody>
      </p:sp>
      <p:sp>
        <p:nvSpPr>
          <p:cNvPr id="70" name="Google Shape;70;p25"/>
          <p:cNvSpPr/>
          <p:nvPr/>
        </p:nvSpPr>
        <p:spPr>
          <a:xfrm>
            <a:off x="4724400" y="1508670"/>
            <a:ext cx="4190999" cy="27577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1" name="Google Shape;71;p25"/>
          <p:cNvSpPr txBox="1"/>
          <p:nvPr/>
        </p:nvSpPr>
        <p:spPr>
          <a:xfrm>
            <a:off x="4724400" y="1508670"/>
            <a:ext cx="4190999" cy="235937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72" name="Google Shape;72;p25"/>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 name="Google Shape;44;p22">
            <a:extLst>
              <a:ext uri="{FF2B5EF4-FFF2-40B4-BE49-F238E27FC236}">
                <a16:creationId xmlns:a16="http://schemas.microsoft.com/office/drawing/2014/main" id="{04291CC0-40FB-8D61-59D9-10FD9D5962F4}"/>
              </a:ext>
            </a:extLst>
          </p:cNvPr>
          <p:cNvSpPr txBox="1"/>
          <p:nvPr/>
        </p:nvSpPr>
        <p:spPr>
          <a:xfrm>
            <a:off x="4641301" y="4264356"/>
            <a:ext cx="4190999" cy="138499"/>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None/>
            </a:pPr>
            <a:r>
              <a:rPr lang="en-AU" sz="900" dirty="0">
                <a:solidFill>
                  <a:srgbClr val="616161"/>
                </a:solidFill>
                <a:latin typeface="Proxima Nova"/>
                <a:ea typeface="Proxima Nova"/>
                <a:cs typeface="Proxima Nova"/>
                <a:sym typeface="Proxima Nova"/>
              </a:rPr>
              <a:t>M82  Credit:</a:t>
            </a:r>
            <a:r>
              <a:rPr lang="en-AU" sz="900" b="0" i="0" u="none" strike="noStrike" cap="none" dirty="0">
                <a:solidFill>
                  <a:srgbClr val="616161"/>
                </a:solidFill>
                <a:latin typeface="Proxima Nova"/>
                <a:ea typeface="Proxima Nova"/>
                <a:cs typeface="Proxima Nova"/>
                <a:sym typeface="Proxima Nova"/>
              </a:rPr>
              <a:t> ESA</a:t>
            </a:r>
            <a:endParaRPr dirty="0"/>
          </a:p>
        </p:txBody>
      </p:sp>
      <p:pic>
        <p:nvPicPr>
          <p:cNvPr id="3" name="Picture 2" descr="Messier 82 - Wikipedia">
            <a:extLst>
              <a:ext uri="{FF2B5EF4-FFF2-40B4-BE49-F238E27FC236}">
                <a16:creationId xmlns:a16="http://schemas.microsoft.com/office/drawing/2014/main" id="{0E3A29F1-FFC5-9DDC-C2A1-A8A527140D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6324" y="963594"/>
            <a:ext cx="4125976" cy="32163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26"/>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a:t>Data &amp; Methods - The QED simulations</a:t>
            </a:r>
            <a:endParaRPr/>
          </a:p>
        </p:txBody>
      </p:sp>
      <p:sp>
        <p:nvSpPr>
          <p:cNvPr id="80" name="Google Shape;80;p26"/>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1" name="Google Shape;81;p26"/>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2" name="Google Shape;82;p26"/>
          <p:cNvSpPr/>
          <p:nvPr/>
        </p:nvSpPr>
        <p:spPr>
          <a:xfrm>
            <a:off x="228600" y="1508670"/>
            <a:ext cx="8686800" cy="27577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3" name="Google Shape;83;p26"/>
          <p:cNvSpPr txBox="1"/>
          <p:nvPr/>
        </p:nvSpPr>
        <p:spPr>
          <a:xfrm>
            <a:off x="228599" y="932747"/>
            <a:ext cx="8686799" cy="3921586"/>
          </a:xfrm>
          <a:prstGeom prst="rect">
            <a:avLst/>
          </a:prstGeom>
          <a:noFill/>
          <a:ln>
            <a:noFill/>
          </a:ln>
        </p:spPr>
        <p:txBody>
          <a:bodyPr spcFirstLastPara="1" wrap="square" lIns="190500" tIns="0" rIns="0" bIns="190500" anchor="t" anchorCtr="0">
            <a:spAutoFit/>
          </a:bodyPr>
          <a:lstStyle/>
          <a:p>
            <a:pPr marL="228600" marR="0" lvl="0" indent="-91440" algn="l" rtl="0">
              <a:lnSpc>
                <a:spcPct val="100000"/>
              </a:lnSpc>
              <a:spcBef>
                <a:spcPts val="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Simulation data (QED data) | For more details -&gt; (Vijayan et al, 2024)</a:t>
            </a:r>
            <a:endParaRPr sz="1300" b="1" i="0" u="none" strike="noStrike" cap="none" dirty="0">
              <a:solidFill>
                <a:schemeClr val="lt1"/>
              </a:solidFill>
              <a:latin typeface="Proxima Nova"/>
              <a:ea typeface="Proxima Nova"/>
              <a:cs typeface="Proxima Nova"/>
              <a:sym typeface="Proxima Nova"/>
            </a:endParaRPr>
          </a:p>
          <a:p>
            <a:pPr marL="228600" marR="0" lvl="0" indent="-8890" algn="l" rtl="0">
              <a:lnSpc>
                <a:spcPct val="100000"/>
              </a:lnSpc>
              <a:spcBef>
                <a:spcPts val="800"/>
              </a:spcBef>
              <a:spcAft>
                <a:spcPts val="0"/>
              </a:spcAft>
              <a:buClr>
                <a:srgbClr val="000000"/>
              </a:buClr>
              <a:buSzPts val="1300"/>
              <a:buFont typeface="Arial"/>
              <a:buNone/>
            </a:pPr>
            <a:endParaRPr sz="1300" b="1" i="0" u="none" strike="noStrike" cap="none" dirty="0">
              <a:solidFill>
                <a:schemeClr val="lt1"/>
              </a:solidFill>
              <a:latin typeface="Proxima Nova"/>
              <a:ea typeface="Proxima Nova"/>
              <a:cs typeface="Proxima Nova"/>
              <a:sym typeface="Proxima Nova"/>
            </a:endParaRPr>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generated by a new radiative hydrodynamic code called </a:t>
            </a:r>
            <a:r>
              <a:rPr lang="en-AU" sz="1300" b="1" i="0" u="none" strike="noStrike" cap="none" dirty="0">
                <a:solidFill>
                  <a:schemeClr val="accent2"/>
                </a:solidFill>
                <a:latin typeface="Proxima Nova"/>
                <a:ea typeface="Proxima Nova"/>
                <a:cs typeface="Proxima Nova"/>
                <a:sym typeface="Proxima Nova"/>
              </a:rPr>
              <a:t>QUOKKA</a:t>
            </a:r>
            <a:r>
              <a:rPr lang="en-AU" sz="1300" b="1" i="0" u="none" strike="noStrike" cap="none" dirty="0">
                <a:solidFill>
                  <a:schemeClr val="lt1"/>
                </a:solidFill>
                <a:latin typeface="Proxima Nova"/>
                <a:ea typeface="Proxima Nova"/>
                <a:cs typeface="Proxima Nova"/>
                <a:sym typeface="Proxima Nova"/>
              </a:rPr>
              <a:t> (</a:t>
            </a:r>
            <a:r>
              <a:rPr lang="en-AU" sz="1300" b="1" i="0" u="none" strike="noStrike" cap="none" dirty="0" err="1">
                <a:solidFill>
                  <a:schemeClr val="lt1"/>
                </a:solidFill>
                <a:latin typeface="Proxima Nova"/>
                <a:ea typeface="Proxima Nova"/>
                <a:cs typeface="Proxima Nova"/>
                <a:sym typeface="Proxima Nova"/>
              </a:rPr>
              <a:t>Wibking</a:t>
            </a:r>
            <a:r>
              <a:rPr lang="en-AU" sz="1300" b="1" i="0" u="none" strike="noStrike" cap="none" dirty="0">
                <a:solidFill>
                  <a:schemeClr val="lt1"/>
                </a:solidFill>
                <a:latin typeface="Proxima Nova"/>
                <a:ea typeface="Proxima Nova"/>
                <a:cs typeface="Proxima Nova"/>
                <a:sym typeface="Proxima Nova"/>
              </a:rPr>
              <a:t> &amp; Krumholz 2022), a state-of-the-art GPU-based adaptive mesh refinement (AMR) radiation-hydrodynamics (RHD) tool</a:t>
            </a:r>
            <a:endParaRPr dirty="0"/>
          </a:p>
          <a:p>
            <a:pPr marL="228600" marR="0" lvl="0" indent="-8890" algn="l" rtl="0">
              <a:lnSpc>
                <a:spcPct val="100000"/>
              </a:lnSpc>
              <a:spcBef>
                <a:spcPts val="800"/>
              </a:spcBef>
              <a:spcAft>
                <a:spcPts val="0"/>
              </a:spcAft>
              <a:buClr>
                <a:srgbClr val="000000"/>
              </a:buClr>
              <a:buSzPts val="1300"/>
              <a:buFont typeface="Arial"/>
              <a:buNone/>
            </a:pPr>
            <a:endParaRPr sz="1300" b="1" i="0" u="none" strike="noStrike" cap="none" dirty="0">
              <a:solidFill>
                <a:schemeClr val="lt1"/>
              </a:solidFill>
              <a:latin typeface="Proxima Nova"/>
              <a:ea typeface="Proxima Nova"/>
              <a:cs typeface="Proxima Nova"/>
              <a:sym typeface="Proxima Nova"/>
            </a:endParaRPr>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Data properties:</a:t>
            </a:r>
            <a:endParaRPr dirty="0"/>
          </a:p>
          <a:p>
            <a:pPr marL="228600" marR="0" lvl="0" indent="-8890" algn="l" rtl="0">
              <a:lnSpc>
                <a:spcPct val="100000"/>
              </a:lnSpc>
              <a:spcBef>
                <a:spcPts val="800"/>
              </a:spcBef>
              <a:spcAft>
                <a:spcPts val="0"/>
              </a:spcAft>
              <a:buClr>
                <a:srgbClr val="000000"/>
              </a:buClr>
              <a:buSzPts val="1300"/>
              <a:buFont typeface="Arial"/>
              <a:buNone/>
            </a:pPr>
            <a:endParaRPr sz="1300" b="1" i="0" u="none" strike="noStrike" cap="none" dirty="0">
              <a:solidFill>
                <a:schemeClr val="lt1"/>
              </a:solidFill>
              <a:latin typeface="Proxima Nova"/>
              <a:ea typeface="Proxima Nova"/>
              <a:cs typeface="Proxima Nova"/>
              <a:sym typeface="Proxima Nova"/>
            </a:endParaRPr>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fixed-grid simulations: ∼ </a:t>
            </a:r>
            <a:r>
              <a:rPr lang="en-AU" sz="1300" b="1" i="0" u="none" strike="noStrike" cap="none" dirty="0">
                <a:solidFill>
                  <a:schemeClr val="accent2"/>
                </a:solidFill>
                <a:latin typeface="Proxima Nova"/>
                <a:ea typeface="Proxima Nova"/>
                <a:cs typeface="Proxima Nova"/>
                <a:sym typeface="Proxima Nova"/>
              </a:rPr>
              <a:t>1 × 1 × 8 kpc3</a:t>
            </a:r>
            <a:endParaRPr dirty="0">
              <a:solidFill>
                <a:schemeClr val="accent2"/>
              </a:solidFill>
            </a:endParaRPr>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a uniformly </a:t>
            </a:r>
            <a:r>
              <a:rPr lang="en-AU" sz="1300" b="1" i="0" u="none" strike="noStrike" cap="none" dirty="0">
                <a:solidFill>
                  <a:schemeClr val="accent2"/>
                </a:solidFill>
                <a:latin typeface="Proxima Nova"/>
                <a:ea typeface="Proxima Nova"/>
                <a:cs typeface="Proxima Nova"/>
                <a:sym typeface="Proxima Nova"/>
              </a:rPr>
              <a:t>high resolution of 2 pc</a:t>
            </a:r>
            <a:endParaRPr dirty="0">
              <a:solidFill>
                <a:schemeClr val="accent2"/>
              </a:solidFill>
            </a:endParaRPr>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parameters chosen to be similar to the Solar Neighbourhood </a:t>
            </a:r>
            <a:endParaRPr dirty="0"/>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gas is confined by a potential representing gravity from the stellar disc and the dark matter halo</a:t>
            </a:r>
            <a:endParaRPr dirty="0"/>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a:t>
            </a:r>
            <a:r>
              <a:rPr lang="en-AU" sz="1300" b="1" i="0" u="none" strike="noStrike" cap="none" dirty="0" err="1">
                <a:solidFill>
                  <a:schemeClr val="lt1"/>
                </a:solidFill>
                <a:latin typeface="Proxima Nova"/>
                <a:ea typeface="Proxima Nova"/>
                <a:cs typeface="Proxima Nova"/>
                <a:sym typeface="Proxima Nova"/>
              </a:rPr>
              <a:t>SNe</a:t>
            </a:r>
            <a:r>
              <a:rPr lang="en-AU" sz="1300" b="1" i="0" u="none" strike="noStrike" cap="none" dirty="0">
                <a:solidFill>
                  <a:schemeClr val="lt1"/>
                </a:solidFill>
                <a:latin typeface="Proxima Nova"/>
                <a:ea typeface="Proxima Nova"/>
                <a:cs typeface="Proxima Nova"/>
                <a:sym typeface="Proxima Nova"/>
              </a:rPr>
              <a:t> occurs at a rate set using the </a:t>
            </a:r>
            <a:r>
              <a:rPr lang="en-AU" sz="1300" b="1" i="0" u="none" strike="noStrike" cap="none" dirty="0" err="1">
                <a:solidFill>
                  <a:schemeClr val="lt1"/>
                </a:solidFill>
                <a:latin typeface="Proxima Nova"/>
                <a:ea typeface="Proxima Nova"/>
                <a:cs typeface="Proxima Nova"/>
                <a:sym typeface="Proxima Nova"/>
              </a:rPr>
              <a:t>Kennicutt</a:t>
            </a:r>
            <a:r>
              <a:rPr lang="en-AU" sz="1300" b="1" i="0" u="none" strike="noStrike" cap="none" dirty="0">
                <a:solidFill>
                  <a:schemeClr val="lt1"/>
                </a:solidFill>
                <a:latin typeface="Proxima Nova"/>
                <a:ea typeface="Proxima Nova"/>
                <a:cs typeface="Proxima Nova"/>
                <a:sym typeface="Proxima Nova"/>
              </a:rPr>
              <a:t> (1998) relation </a:t>
            </a:r>
            <a:endParaRPr dirty="0"/>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gas cooling is implemented through the Grackle cooling model (Smith et al. 2017)</a:t>
            </a:r>
            <a:endParaRPr sz="1300" b="1" i="0" u="none" strike="noStrike" cap="none" dirty="0">
              <a:solidFill>
                <a:schemeClr val="lt1"/>
              </a:solidFill>
              <a:latin typeface="Proxima Nova"/>
              <a:ea typeface="Proxima Nova"/>
              <a:cs typeface="Proxima Nova"/>
              <a:sym typeface="Proxima Nova"/>
            </a:endParaRPr>
          </a:p>
        </p:txBody>
      </p:sp>
      <p:sp>
        <p:nvSpPr>
          <p:cNvPr id="84" name="Google Shape;84;p26"/>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7"/>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a:t>Data &amp; Methods - The QED simulations</a:t>
            </a:r>
            <a:endParaRPr/>
          </a:p>
        </p:txBody>
      </p:sp>
      <p:sp>
        <p:nvSpPr>
          <p:cNvPr id="90" name="Google Shape;90;p27"/>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1" name="Google Shape;91;p27"/>
          <p:cNvSpPr/>
          <p:nvPr/>
        </p:nvSpPr>
        <p:spPr>
          <a:xfrm>
            <a:off x="228600" y="1508670"/>
            <a:ext cx="8686800" cy="3200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2" name="Google Shape;92;p27"/>
          <p:cNvSpPr/>
          <p:nvPr/>
        </p:nvSpPr>
        <p:spPr>
          <a:xfrm>
            <a:off x="228600" y="1508670"/>
            <a:ext cx="8686800" cy="2757785"/>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3" name="Google Shape;93;p27"/>
          <p:cNvSpPr/>
          <p:nvPr/>
        </p:nvSpPr>
        <p:spPr>
          <a:xfrm>
            <a:off x="228598" y="1596572"/>
            <a:ext cx="8686800" cy="1051384"/>
          </a:xfrm>
          <a:prstGeom prst="rect">
            <a:avLst/>
          </a:prstGeom>
          <a:solidFill>
            <a:srgbClr val="000000">
              <a:alpha val="0"/>
            </a:srgbClr>
          </a:solidFill>
          <a:ln>
            <a:noFill/>
          </a:ln>
        </p:spPr>
        <p:txBody>
          <a:bodyPr spcFirstLastPara="1" wrap="square" lIns="91425" tIns="45700" rIns="91425" bIns="45700" anchor="ctr" anchorCtr="0">
            <a:noAutofit/>
          </a:bodyPr>
          <a:lstStyle/>
          <a:p>
            <a:pPr marL="228600" marR="0" lvl="0" indent="-91440" algn="l" rtl="0">
              <a:lnSpc>
                <a:spcPct val="100000"/>
              </a:lnSpc>
              <a:spcBef>
                <a:spcPts val="0"/>
              </a:spcBef>
              <a:spcAft>
                <a:spcPts val="0"/>
              </a:spcAft>
              <a:buClr>
                <a:srgbClr val="000000"/>
              </a:buClr>
              <a:buSzPts val="1400"/>
              <a:buFont typeface="Arial"/>
              <a:buChar char="•"/>
            </a:pPr>
            <a:r>
              <a:rPr lang="en-AU" sz="1400" b="1" i="0" u="none" strike="noStrike" cap="none">
                <a:solidFill>
                  <a:schemeClr val="lt1"/>
                </a:solidFill>
                <a:latin typeface="Proxima Nova"/>
                <a:ea typeface="Proxima Nova"/>
                <a:cs typeface="Proxima Nova"/>
                <a:sym typeface="Proxima Nova"/>
              </a:rPr>
              <a:t>- part of a series utilizing the </a:t>
            </a:r>
            <a:r>
              <a:rPr lang="en-AU" sz="1400" b="1" i="0" u="none" strike="noStrike" cap="none">
                <a:solidFill>
                  <a:schemeClr val="accent2"/>
                </a:solidFill>
                <a:latin typeface="Proxima Nova"/>
                <a:ea typeface="Proxima Nova"/>
                <a:cs typeface="Proxima Nova"/>
                <a:sym typeface="Proxima Nova"/>
              </a:rPr>
              <a:t>Q</a:t>
            </a:r>
            <a:r>
              <a:rPr lang="en-AU" sz="1400" b="1" i="0" u="none" strike="noStrike" cap="none">
                <a:solidFill>
                  <a:schemeClr val="lt1"/>
                </a:solidFill>
                <a:latin typeface="Proxima Nova"/>
                <a:ea typeface="Proxima Nova"/>
                <a:cs typeface="Proxima Nova"/>
                <a:sym typeface="Proxima Nova"/>
              </a:rPr>
              <a:t>UOKKA-based Understanding of Outflows Derived from </a:t>
            </a:r>
            <a:r>
              <a:rPr lang="en-AU" sz="1400" b="1" i="0" u="none" strike="noStrike" cap="none">
                <a:solidFill>
                  <a:schemeClr val="accent2"/>
                </a:solidFill>
                <a:latin typeface="Proxima Nova"/>
                <a:ea typeface="Proxima Nova"/>
                <a:cs typeface="Proxima Nova"/>
                <a:sym typeface="Proxima Nova"/>
              </a:rPr>
              <a:t>E</a:t>
            </a:r>
            <a:r>
              <a:rPr lang="en-AU" sz="1400" b="1" i="0" u="none" strike="noStrike" cap="none">
                <a:solidFill>
                  <a:schemeClr val="lt1"/>
                </a:solidFill>
                <a:latin typeface="Proxima Nova"/>
                <a:ea typeface="Proxima Nova"/>
                <a:cs typeface="Proxima Nova"/>
                <a:sym typeface="Proxima Nova"/>
              </a:rPr>
              <a:t>xtensive, Repeated, Accurate, Thorough, </a:t>
            </a:r>
            <a:r>
              <a:rPr lang="en-AU" sz="1400" b="1" i="0" u="none" strike="noStrike" cap="none">
                <a:solidFill>
                  <a:schemeClr val="accent2"/>
                </a:solidFill>
                <a:latin typeface="Proxima Nova"/>
                <a:ea typeface="Proxima Nova"/>
                <a:cs typeface="Proxima Nova"/>
                <a:sym typeface="Proxima Nova"/>
              </a:rPr>
              <a:t>D</a:t>
            </a:r>
            <a:r>
              <a:rPr lang="en-AU" sz="1400" b="1" i="0" u="none" strike="noStrike" cap="none">
                <a:solidFill>
                  <a:schemeClr val="lt1"/>
                </a:solidFill>
                <a:latin typeface="Proxima Nova"/>
                <a:ea typeface="Proxima Nova"/>
                <a:cs typeface="Proxima Nova"/>
                <a:sym typeface="Proxima Nova"/>
              </a:rPr>
              <a:t>emanding, Expensive, Memory-consuming, Ongoing Numerical Simulations of Transport, Removal, Accretion, Nucleosynthesis, Deposition, and Uplifting of Metals suite, also known as </a:t>
            </a:r>
            <a:r>
              <a:rPr lang="en-AU" sz="1400" b="1" i="0" u="none" strike="noStrike" cap="none">
                <a:solidFill>
                  <a:schemeClr val="accent2"/>
                </a:solidFill>
                <a:latin typeface="Proxima Nova"/>
                <a:ea typeface="Proxima Nova"/>
                <a:cs typeface="Proxima Nova"/>
                <a:sym typeface="Proxima Nova"/>
              </a:rPr>
              <a:t>QED</a:t>
            </a:r>
            <a:r>
              <a:rPr lang="en-AU" sz="1400" b="1" i="0" u="none" strike="noStrike" cap="none">
                <a:solidFill>
                  <a:schemeClr val="lt1"/>
                </a:solidFill>
                <a:latin typeface="Proxima Nova"/>
                <a:ea typeface="Proxima Nova"/>
                <a:cs typeface="Proxima Nova"/>
                <a:sym typeface="Proxima Nova"/>
              </a:rPr>
              <a:t> (Vijayan et al. 2024).</a:t>
            </a:r>
            <a:endParaRPr/>
          </a:p>
        </p:txBody>
      </p:sp>
      <p:sp>
        <p:nvSpPr>
          <p:cNvPr id="94" name="Google Shape;94;p27"/>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95" name="Google Shape;95;p27" descr="A collage of purple and orange colors&#10;&#10;Description automatically generated"/>
          <p:cNvPicPr preferRelativeResize="0"/>
          <p:nvPr/>
        </p:nvPicPr>
        <p:blipFill rotWithShape="1">
          <a:blip r:embed="rId3">
            <a:alphaModFix/>
          </a:blip>
          <a:srcRect/>
          <a:stretch/>
        </p:blipFill>
        <p:spPr>
          <a:xfrm>
            <a:off x="-2" y="644786"/>
            <a:ext cx="9144000" cy="381099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fade">
                                      <p:cBhvr>
                                        <p:cTn id="7" dur="1000"/>
                                        <p:tgtEl>
                                          <p:spTgt spid="9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nodeType="clickEffect">
                                  <p:stCondLst>
                                    <p:cond delay="0"/>
                                  </p:stCondLst>
                                  <p:childTnLst>
                                    <p:anim calcmode="lin" valueType="num">
                                      <p:cBhvr additive="base">
                                        <p:cTn id="11" dur="500"/>
                                        <p:tgtEl>
                                          <p:spTgt spid="93"/>
                                        </p:tgtEl>
                                        <p:attrNameLst>
                                          <p:attrName>ppt_y</p:attrName>
                                        </p:attrNameLst>
                                      </p:cBhvr>
                                      <p:tavLst>
                                        <p:tav tm="0">
                                          <p:val>
                                            <p:strVal val="#ppt_y"/>
                                          </p:val>
                                        </p:tav>
                                        <p:tav tm="100000">
                                          <p:val>
                                            <p:strVal val="#ppt_y+1"/>
                                          </p:val>
                                        </p:tav>
                                      </p:tavLst>
                                    </p:anim>
                                    <p:set>
                                      <p:cBhvr>
                                        <p:cTn id="12" dur="1" fill="hold">
                                          <p:stCondLst>
                                            <p:cond delay="500"/>
                                          </p:stCondLst>
                                        </p:cTn>
                                        <p:tgtEl>
                                          <p:spTgt spid="9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5"/>
                                        </p:tgtEl>
                                        <p:attrNameLst>
                                          <p:attrName>style.visibility</p:attrName>
                                        </p:attrNameLst>
                                      </p:cBhvr>
                                      <p:to>
                                        <p:strVal val="visible"/>
                                      </p:to>
                                    </p:set>
                                    <p:animEffect transition="in" filter="fade">
                                      <p:cBhvr>
                                        <p:cTn id="17"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8"/>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a:t>Data &amp; Methods - Metallicity</a:t>
            </a:r>
            <a:endParaRPr/>
          </a:p>
        </p:txBody>
      </p:sp>
      <p:sp>
        <p:nvSpPr>
          <p:cNvPr id="101" name="Google Shape;101;p28"/>
          <p:cNvSpPr txBox="1"/>
          <p:nvPr/>
        </p:nvSpPr>
        <p:spPr>
          <a:xfrm>
            <a:off x="311697" y="931985"/>
            <a:ext cx="8520599"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a:solidFill>
                  <a:schemeClr val="lt1"/>
                </a:solidFill>
                <a:latin typeface="Arial"/>
                <a:ea typeface="Arial"/>
                <a:cs typeface="Arial"/>
                <a:sym typeface="Arial"/>
              </a:rPr>
              <a:t>The simulations treat metals as a passive scalar</a:t>
            </a:r>
            <a:endParaRPr/>
          </a:p>
          <a:p>
            <a:pPr marL="0" marR="0" lvl="0" indent="0" algn="l" rtl="0">
              <a:lnSpc>
                <a:spcPct val="100000"/>
              </a:lnSpc>
              <a:spcBef>
                <a:spcPts val="0"/>
              </a:spcBef>
              <a:spcAft>
                <a:spcPts val="0"/>
              </a:spcAft>
              <a:buNone/>
            </a:pPr>
            <a:r>
              <a:rPr lang="en-AU" sz="1400" b="0" i="0" u="none" strike="noStrike" cap="none">
                <a:solidFill>
                  <a:schemeClr val="lt1"/>
                </a:solidFill>
                <a:latin typeface="Arial"/>
                <a:ea typeface="Arial"/>
                <a:cs typeface="Arial"/>
                <a:sym typeface="Arial"/>
              </a:rPr>
              <a:t>SN adds the passive scalar to its host cell along with purely thermal energy</a:t>
            </a:r>
            <a:endParaRPr/>
          </a:p>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AU" sz="1400" b="0" i="0" u="none" strike="noStrike" cap="none">
                <a:solidFill>
                  <a:schemeClr val="lt1"/>
                </a:solidFill>
                <a:latin typeface="Arial"/>
                <a:ea typeface="Arial"/>
                <a:cs typeface="Arial"/>
                <a:sym typeface="Arial"/>
              </a:rPr>
              <a:t>Background metallicity        , varies from 0.2 to 2.0 solar in our analysis </a:t>
            </a:r>
            <a:endParaRPr/>
          </a:p>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AU" sz="1400" b="0" i="0" u="none" strike="noStrike" cap="none">
                <a:solidFill>
                  <a:schemeClr val="lt1"/>
                </a:solidFill>
                <a:latin typeface="Arial"/>
                <a:ea typeface="Arial"/>
                <a:cs typeface="Arial"/>
                <a:sym typeface="Arial"/>
              </a:rPr>
              <a:t>Background metal density in each cell</a:t>
            </a:r>
            <a:endParaRPr/>
          </a:p>
        </p:txBody>
      </p:sp>
      <p:pic>
        <p:nvPicPr>
          <p:cNvPr id="102" name="Google Shape;102;p28"/>
          <p:cNvPicPr preferRelativeResize="0"/>
          <p:nvPr/>
        </p:nvPicPr>
        <p:blipFill rotWithShape="1">
          <a:blip r:embed="rId3">
            <a:alphaModFix/>
          </a:blip>
          <a:srcRect/>
          <a:stretch/>
        </p:blipFill>
        <p:spPr>
          <a:xfrm>
            <a:off x="2287726" y="1533978"/>
            <a:ext cx="328244" cy="382952"/>
          </a:xfrm>
          <a:prstGeom prst="rect">
            <a:avLst/>
          </a:prstGeom>
          <a:noFill/>
          <a:ln>
            <a:noFill/>
          </a:ln>
        </p:spPr>
      </p:pic>
      <p:pic>
        <p:nvPicPr>
          <p:cNvPr id="103" name="Google Shape;103;p28"/>
          <p:cNvPicPr preferRelativeResize="0"/>
          <p:nvPr/>
        </p:nvPicPr>
        <p:blipFill rotWithShape="1">
          <a:blip r:embed="rId4">
            <a:alphaModFix/>
          </a:blip>
          <a:srcRect/>
          <a:stretch/>
        </p:blipFill>
        <p:spPr>
          <a:xfrm>
            <a:off x="3596419" y="1916930"/>
            <a:ext cx="1400175" cy="400050"/>
          </a:xfrm>
          <a:prstGeom prst="rect">
            <a:avLst/>
          </a:prstGeom>
          <a:noFill/>
          <a:ln>
            <a:noFill/>
          </a:ln>
        </p:spPr>
      </p:pic>
      <p:sp>
        <p:nvSpPr>
          <p:cNvPr id="104" name="Google Shape;104;p28"/>
          <p:cNvSpPr txBox="1"/>
          <p:nvPr/>
        </p:nvSpPr>
        <p:spPr>
          <a:xfrm>
            <a:off x="311697" y="2473944"/>
            <a:ext cx="8520599" cy="11695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When an SN occurs in the domain, the passive scalar density in the host cell is increased by</a:t>
            </a:r>
            <a:endParaRPr dirty="0"/>
          </a:p>
          <a:p>
            <a:pPr marL="0" marR="0" lvl="0" indent="0" algn="l" rtl="0">
              <a:lnSpc>
                <a:spcPct val="100000"/>
              </a:lnSpc>
              <a:spcBef>
                <a:spcPts val="0"/>
              </a:spcBef>
              <a:spcAft>
                <a:spcPts val="0"/>
              </a:spcAft>
              <a:buNone/>
            </a:pPr>
            <a:endParaRPr sz="1400" b="0"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Metal density contributed to each cell by the passive scalar  </a:t>
            </a:r>
            <a:endParaRPr dirty="0"/>
          </a:p>
          <a:p>
            <a:pPr marL="0" marR="0" lvl="0" indent="0" algn="l" rtl="0">
              <a:lnSpc>
                <a:spcPct val="100000"/>
              </a:lnSpc>
              <a:spcBef>
                <a:spcPts val="0"/>
              </a:spcBef>
              <a:spcAft>
                <a:spcPts val="0"/>
              </a:spcAft>
              <a:buNone/>
            </a:pPr>
            <a:endParaRPr sz="1400" b="0"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chemeClr val="lt1"/>
              </a:solidFill>
              <a:latin typeface="Arial"/>
              <a:ea typeface="Arial"/>
              <a:cs typeface="Arial"/>
              <a:sym typeface="Arial"/>
            </a:endParaRPr>
          </a:p>
        </p:txBody>
      </p:sp>
      <p:pic>
        <p:nvPicPr>
          <p:cNvPr id="105" name="Google Shape;105;p28"/>
          <p:cNvPicPr preferRelativeResize="0"/>
          <p:nvPr/>
        </p:nvPicPr>
        <p:blipFill rotWithShape="1">
          <a:blip r:embed="rId5">
            <a:alphaModFix/>
          </a:blip>
          <a:srcRect/>
          <a:stretch/>
        </p:blipFill>
        <p:spPr>
          <a:xfrm>
            <a:off x="7701328" y="2466671"/>
            <a:ext cx="352425" cy="314325"/>
          </a:xfrm>
          <a:prstGeom prst="rect">
            <a:avLst/>
          </a:prstGeom>
          <a:noFill/>
          <a:ln>
            <a:noFill/>
          </a:ln>
        </p:spPr>
      </p:pic>
      <p:pic>
        <p:nvPicPr>
          <p:cNvPr id="106" name="Google Shape;106;p28"/>
          <p:cNvPicPr preferRelativeResize="0"/>
          <p:nvPr/>
        </p:nvPicPr>
        <p:blipFill rotWithShape="1">
          <a:blip r:embed="rId6">
            <a:alphaModFix/>
          </a:blip>
          <a:srcRect/>
          <a:stretch/>
        </p:blipFill>
        <p:spPr>
          <a:xfrm>
            <a:off x="5135073" y="2780996"/>
            <a:ext cx="1628775" cy="638175"/>
          </a:xfrm>
          <a:prstGeom prst="rect">
            <a:avLst/>
          </a:prstGeom>
          <a:noFill/>
          <a:ln>
            <a:noFill/>
          </a:ln>
        </p:spPr>
      </p:pic>
      <p:sp>
        <p:nvSpPr>
          <p:cNvPr id="107" name="Google Shape;107;p28"/>
          <p:cNvSpPr txBox="1"/>
          <p:nvPr/>
        </p:nvSpPr>
        <p:spPr>
          <a:xfrm>
            <a:off x="311697" y="3650768"/>
            <a:ext cx="8520599"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a:solidFill>
                  <a:schemeClr val="lt1"/>
                </a:solidFill>
                <a:latin typeface="Arial"/>
                <a:ea typeface="Arial"/>
                <a:cs typeface="Arial"/>
                <a:sym typeface="Arial"/>
              </a:rPr>
              <a:t>The total metal density of a cell is the sum of the background and SN-added contributions: </a:t>
            </a:r>
            <a:endParaRPr/>
          </a:p>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108" name="Google Shape;108;p28"/>
          <p:cNvPicPr preferRelativeResize="0"/>
          <p:nvPr/>
        </p:nvPicPr>
        <p:blipFill rotWithShape="1">
          <a:blip r:embed="rId7">
            <a:alphaModFix/>
          </a:blip>
          <a:srcRect/>
          <a:stretch/>
        </p:blipFill>
        <p:spPr>
          <a:xfrm>
            <a:off x="2362931" y="3997439"/>
            <a:ext cx="3867150" cy="638175"/>
          </a:xfrm>
          <a:prstGeom prst="rect">
            <a:avLst/>
          </a:prstGeom>
          <a:noFill/>
          <a:ln>
            <a:noFill/>
          </a:ln>
        </p:spPr>
      </p:pic>
      <p:sp>
        <p:nvSpPr>
          <p:cNvPr id="109" name="Google Shape;109;p28"/>
          <p:cNvSpPr txBox="1"/>
          <p:nvPr/>
        </p:nvSpPr>
        <p:spPr>
          <a:xfrm>
            <a:off x="6763848" y="874825"/>
            <a:ext cx="2068448" cy="11695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a:solidFill>
                  <a:schemeClr val="accent2"/>
                </a:solidFill>
                <a:latin typeface="Arial"/>
                <a:ea typeface="Arial"/>
                <a:cs typeface="Arial"/>
                <a:sym typeface="Arial"/>
              </a:rPr>
              <a:t>Assumption</a:t>
            </a:r>
            <a:r>
              <a:rPr lang="en-AU" sz="1400" b="0" i="0" u="none" strike="noStrike" cap="none">
                <a:solidFill>
                  <a:schemeClr val="lt1"/>
                </a:solidFill>
                <a:latin typeface="Arial"/>
                <a:ea typeface="Arial"/>
                <a:cs typeface="Arial"/>
                <a:sym typeface="Arial"/>
              </a:rPr>
              <a:t>: solar-scaled abundances for elements other than oxygen</a:t>
            </a:r>
            <a:endParaRPr/>
          </a:p>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500"/>
                                        <p:tgtEl>
                                          <p:spTgt spid="101"/>
                                        </p:tgtEl>
                                      </p:cBhvr>
                                    </p:animEffect>
                                  </p:childTnLst>
                                </p:cTn>
                              </p:par>
                              <p:par>
                                <p:cTn id="8" presetID="10" presetClass="entr" presetSubtype="0" fill="hold" nodeType="withEffect">
                                  <p:stCondLst>
                                    <p:cond delay="0"/>
                                  </p:stCondLst>
                                  <p:childTnLst>
                                    <p:set>
                                      <p:cBhvr>
                                        <p:cTn id="9" dur="1" fill="hold">
                                          <p:stCondLst>
                                            <p:cond delay="0"/>
                                          </p:stCondLst>
                                        </p:cTn>
                                        <p:tgtEl>
                                          <p:spTgt spid="102"/>
                                        </p:tgtEl>
                                        <p:attrNameLst>
                                          <p:attrName>style.visibility</p:attrName>
                                        </p:attrNameLst>
                                      </p:cBhvr>
                                      <p:to>
                                        <p:strVal val="visible"/>
                                      </p:to>
                                    </p:set>
                                    <p:animEffect transition="in" filter="fade">
                                      <p:cBhvr>
                                        <p:cTn id="10" dur="500"/>
                                        <p:tgtEl>
                                          <p:spTgt spid="102"/>
                                        </p:tgtEl>
                                      </p:cBhvr>
                                    </p:animEffect>
                                  </p:childTnLst>
                                </p:cTn>
                              </p:par>
                              <p:par>
                                <p:cTn id="11" presetID="10" presetClass="entr" presetSubtype="0" fill="hold"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fade">
                                      <p:cBhvr>
                                        <p:cTn id="13" dur="500"/>
                                        <p:tgtEl>
                                          <p:spTgt spid="10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4"/>
                                        </p:tgtEl>
                                        <p:attrNameLst>
                                          <p:attrName>style.visibility</p:attrName>
                                        </p:attrNameLst>
                                      </p:cBhvr>
                                      <p:to>
                                        <p:strVal val="visible"/>
                                      </p:to>
                                    </p:set>
                                    <p:animEffect transition="in" filter="fade">
                                      <p:cBhvr>
                                        <p:cTn id="18" dur="500"/>
                                        <p:tgtEl>
                                          <p:spTgt spid="104"/>
                                        </p:tgtEl>
                                      </p:cBhvr>
                                    </p:animEffect>
                                  </p:childTnLst>
                                </p:cTn>
                              </p:par>
                              <p:par>
                                <p:cTn id="19" presetID="10" presetClass="entr" presetSubtype="0" fill="hold" nodeType="withEffect">
                                  <p:stCondLst>
                                    <p:cond delay="0"/>
                                  </p:stCondLst>
                                  <p:childTnLst>
                                    <p:set>
                                      <p:cBhvr>
                                        <p:cTn id="20" dur="1" fill="hold">
                                          <p:stCondLst>
                                            <p:cond delay="0"/>
                                          </p:stCondLst>
                                        </p:cTn>
                                        <p:tgtEl>
                                          <p:spTgt spid="105"/>
                                        </p:tgtEl>
                                        <p:attrNameLst>
                                          <p:attrName>style.visibility</p:attrName>
                                        </p:attrNameLst>
                                      </p:cBhvr>
                                      <p:to>
                                        <p:strVal val="visible"/>
                                      </p:to>
                                    </p:set>
                                    <p:animEffect transition="in" filter="fade">
                                      <p:cBhvr>
                                        <p:cTn id="21" dur="500"/>
                                        <p:tgtEl>
                                          <p:spTgt spid="105"/>
                                        </p:tgtEl>
                                      </p:cBhvr>
                                    </p:animEffect>
                                  </p:childTnLst>
                                </p:cTn>
                              </p:par>
                              <p:par>
                                <p:cTn id="22" presetID="10" presetClass="entr" presetSubtype="0" fill="hold" nodeType="withEffect">
                                  <p:stCondLst>
                                    <p:cond delay="0"/>
                                  </p:stCondLst>
                                  <p:childTnLst>
                                    <p:set>
                                      <p:cBhvr>
                                        <p:cTn id="23" dur="1" fill="hold">
                                          <p:stCondLst>
                                            <p:cond delay="0"/>
                                          </p:stCondLst>
                                        </p:cTn>
                                        <p:tgtEl>
                                          <p:spTgt spid="106"/>
                                        </p:tgtEl>
                                        <p:attrNameLst>
                                          <p:attrName>style.visibility</p:attrName>
                                        </p:attrNameLst>
                                      </p:cBhvr>
                                      <p:to>
                                        <p:strVal val="visible"/>
                                      </p:to>
                                    </p:set>
                                    <p:animEffect transition="in" filter="fade">
                                      <p:cBhvr>
                                        <p:cTn id="24" dur="500"/>
                                        <p:tgtEl>
                                          <p:spTgt spid="10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7"/>
                                        </p:tgtEl>
                                        <p:attrNameLst>
                                          <p:attrName>style.visibility</p:attrName>
                                        </p:attrNameLst>
                                      </p:cBhvr>
                                      <p:to>
                                        <p:strVal val="visible"/>
                                      </p:to>
                                    </p:set>
                                    <p:animEffect transition="in" filter="fade">
                                      <p:cBhvr>
                                        <p:cTn id="29" dur="500"/>
                                        <p:tgtEl>
                                          <p:spTgt spid="107"/>
                                        </p:tgtEl>
                                      </p:cBhvr>
                                    </p:animEffect>
                                  </p:childTnLst>
                                </p:cTn>
                              </p:par>
                              <p:par>
                                <p:cTn id="30" presetID="10" presetClass="entr" presetSubtype="0" fill="hold" nodeType="withEffect">
                                  <p:stCondLst>
                                    <p:cond delay="0"/>
                                  </p:stCondLst>
                                  <p:childTnLst>
                                    <p:set>
                                      <p:cBhvr>
                                        <p:cTn id="31" dur="1" fill="hold">
                                          <p:stCondLst>
                                            <p:cond delay="0"/>
                                          </p:stCondLst>
                                        </p:cTn>
                                        <p:tgtEl>
                                          <p:spTgt spid="108"/>
                                        </p:tgtEl>
                                        <p:attrNameLst>
                                          <p:attrName>style.visibility</p:attrName>
                                        </p:attrNameLst>
                                      </p:cBhvr>
                                      <p:to>
                                        <p:strVal val="visible"/>
                                      </p:to>
                                    </p:set>
                                    <p:animEffect transition="in" filter="fade">
                                      <p:cBhvr>
                                        <p:cTn id="32" dur="500"/>
                                        <p:tgtEl>
                                          <p:spTgt spid="10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9"/>
                                        </p:tgtEl>
                                        <p:attrNameLst>
                                          <p:attrName>style.visibility</p:attrName>
                                        </p:attrNameLst>
                                      </p:cBhvr>
                                      <p:to>
                                        <p:strVal val="visible"/>
                                      </p:to>
                                    </p:set>
                                    <p:animEffect transition="in" filter="fade">
                                      <p:cBhvr>
                                        <p:cTn id="37"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9"/>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a:t>Data &amp; Methods - Generation of synthetic X-ray data</a:t>
            </a:r>
            <a:endParaRPr/>
          </a:p>
        </p:txBody>
      </p:sp>
      <p:sp>
        <p:nvSpPr>
          <p:cNvPr id="115" name="Google Shape;115;p29"/>
          <p:cNvSpPr txBox="1"/>
          <p:nvPr/>
        </p:nvSpPr>
        <p:spPr>
          <a:xfrm>
            <a:off x="311698" y="644786"/>
            <a:ext cx="2971800" cy="11695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a:solidFill>
                  <a:schemeClr val="lt1"/>
                </a:solidFill>
                <a:latin typeface="Arial"/>
                <a:ea typeface="Arial"/>
                <a:cs typeface="Arial"/>
                <a:sym typeface="Arial"/>
              </a:rPr>
              <a:t>Tools: yt (Turk et al. 2011), </a:t>
            </a:r>
            <a:r>
              <a:rPr lang="en-AU" sz="1400" b="0" i="0" u="none" strike="noStrike" cap="none">
                <a:solidFill>
                  <a:schemeClr val="accent2"/>
                </a:solidFill>
                <a:latin typeface="Arial"/>
                <a:ea typeface="Arial"/>
                <a:cs typeface="Arial"/>
                <a:sym typeface="Arial"/>
              </a:rPr>
              <a:t>pyXSIM</a:t>
            </a:r>
            <a:r>
              <a:rPr lang="en-AU" sz="1400" b="0" i="0" u="none" strike="noStrike" cap="none">
                <a:solidFill>
                  <a:schemeClr val="lt1"/>
                </a:solidFill>
                <a:latin typeface="Arial"/>
                <a:ea typeface="Arial"/>
                <a:cs typeface="Arial"/>
                <a:sym typeface="Arial"/>
              </a:rPr>
              <a:t> &amp; </a:t>
            </a:r>
            <a:r>
              <a:rPr lang="en-AU" sz="1400" b="0" i="0" u="none" strike="noStrike" cap="none">
                <a:solidFill>
                  <a:schemeClr val="accent2"/>
                </a:solidFill>
                <a:latin typeface="Arial"/>
                <a:ea typeface="Arial"/>
                <a:cs typeface="Arial"/>
                <a:sym typeface="Arial"/>
              </a:rPr>
              <a:t>SOXS</a:t>
            </a:r>
            <a:r>
              <a:rPr lang="en-AU" sz="1400" b="0" i="0" u="none" strike="noStrike" cap="none">
                <a:solidFill>
                  <a:schemeClr val="lt1"/>
                </a:solidFill>
                <a:latin typeface="Arial"/>
                <a:ea typeface="Arial"/>
                <a:cs typeface="Arial"/>
                <a:sym typeface="Arial"/>
              </a:rPr>
              <a:t> (ZuHone &amp; Hallman 2016; ZuHone et al. 2023) </a:t>
            </a:r>
            <a:endParaRPr/>
          </a:p>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AU" sz="1400" b="0" i="0" u="none" strike="noStrike" cap="none">
                <a:solidFill>
                  <a:schemeClr val="lt1"/>
                </a:solidFill>
                <a:latin typeface="Arial"/>
                <a:ea typeface="Arial"/>
                <a:cs typeface="Arial"/>
                <a:sym typeface="Arial"/>
              </a:rPr>
              <a:t>Initial setup parameters in pyXSIM:   </a:t>
            </a:r>
            <a:endParaRPr/>
          </a:p>
        </p:txBody>
      </p:sp>
      <p:pic>
        <p:nvPicPr>
          <p:cNvPr id="116" name="Google Shape;116;p29"/>
          <p:cNvPicPr preferRelativeResize="0"/>
          <p:nvPr/>
        </p:nvPicPr>
        <p:blipFill rotWithShape="1">
          <a:blip r:embed="rId3">
            <a:alphaModFix/>
          </a:blip>
          <a:srcRect/>
          <a:stretch/>
        </p:blipFill>
        <p:spPr>
          <a:xfrm>
            <a:off x="311698" y="1815728"/>
            <a:ext cx="2971800" cy="2571750"/>
          </a:xfrm>
          <a:prstGeom prst="rect">
            <a:avLst/>
          </a:prstGeom>
          <a:noFill/>
          <a:ln>
            <a:noFill/>
          </a:ln>
        </p:spPr>
      </p:pic>
      <p:sp>
        <p:nvSpPr>
          <p:cNvPr id="117" name="Google Shape;117;p29"/>
          <p:cNvSpPr txBox="1"/>
          <p:nvPr/>
        </p:nvSpPr>
        <p:spPr>
          <a:xfrm>
            <a:off x="3488847" y="644786"/>
            <a:ext cx="2978701" cy="44012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Load Snapshot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a:t>
            </a:r>
            <a:r>
              <a:rPr lang="en-AU" sz="1400" b="0" i="0" u="none" strike="noStrike" cap="none" dirty="0" err="1">
                <a:solidFill>
                  <a:schemeClr val="lt1"/>
                </a:solidFill>
                <a:latin typeface="Arial"/>
                <a:ea typeface="Arial"/>
                <a:cs typeface="Arial"/>
                <a:sym typeface="Arial"/>
              </a:rPr>
              <a:t>yt</a:t>
            </a:r>
            <a:r>
              <a:rPr lang="en-AU" sz="1400" b="0" i="0" u="none" strike="noStrike" cap="none" dirty="0">
                <a:solidFill>
                  <a:schemeClr val="lt1"/>
                </a:solidFill>
                <a:latin typeface="Arial"/>
                <a:ea typeface="Arial"/>
                <a:cs typeface="Arial"/>
                <a:sym typeface="Arial"/>
              </a:rPr>
              <a:t> analysis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Cube of data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v</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Choose Background Metallicity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a:t>
            </a:r>
            <a:r>
              <a:rPr lang="en-AU" sz="1400" b="0" i="0" u="none" strike="noStrike" cap="none" dirty="0" err="1">
                <a:solidFill>
                  <a:schemeClr val="lt1"/>
                </a:solidFill>
                <a:latin typeface="Arial"/>
                <a:ea typeface="Arial"/>
                <a:cs typeface="Arial"/>
                <a:sym typeface="Arial"/>
              </a:rPr>
              <a:t>Z_bg</a:t>
            </a:r>
            <a:r>
              <a:rPr lang="en-AU" sz="1400" b="0" i="0" u="none" strike="noStrike" cap="none" dirty="0">
                <a:solidFill>
                  <a:schemeClr val="lt1"/>
                </a:solidFill>
                <a:latin typeface="Arial"/>
                <a:ea typeface="Arial"/>
                <a:cs typeface="Arial"/>
                <a:sym typeface="Arial"/>
              </a:rPr>
              <a:t> variations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v</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Generate Photon Samples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a:t>
            </a:r>
            <a:r>
              <a:rPr lang="en-AU" sz="1400" b="0" i="0" u="none" strike="noStrike" cap="none" dirty="0" err="1">
                <a:solidFill>
                  <a:schemeClr val="lt1"/>
                </a:solidFill>
                <a:latin typeface="Arial"/>
                <a:ea typeface="Arial"/>
                <a:cs typeface="Arial"/>
                <a:sym typeface="Arial"/>
              </a:rPr>
              <a:t>pyXSIM</a:t>
            </a:r>
            <a:r>
              <a:rPr lang="en-AU" sz="1400" b="0" i="0" u="none" strike="noStrike" cap="none" dirty="0">
                <a:solidFill>
                  <a:schemeClr val="lt1"/>
                </a:solidFill>
                <a:latin typeface="Arial"/>
                <a:ea typeface="Arial"/>
                <a:cs typeface="Arial"/>
                <a:sym typeface="Arial"/>
              </a:rPr>
              <a:t>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a:t>
            </a:r>
            <a:r>
              <a:rPr lang="en-AU" sz="1400" b="0" i="0" u="none" strike="noStrike" cap="none" dirty="0" err="1">
                <a:solidFill>
                  <a:schemeClr val="lt1"/>
                </a:solidFill>
                <a:latin typeface="Arial"/>
                <a:ea typeface="Arial"/>
                <a:cs typeface="Arial"/>
                <a:sym typeface="Arial"/>
              </a:rPr>
              <a:t>collisionally</a:t>
            </a:r>
            <a:r>
              <a:rPr lang="en-AU" sz="1400" b="0" i="0" u="none" strike="noStrike" cap="none" dirty="0">
                <a:solidFill>
                  <a:schemeClr val="lt1"/>
                </a:solidFill>
                <a:latin typeface="Arial"/>
                <a:ea typeface="Arial"/>
                <a:cs typeface="Arial"/>
                <a:sym typeface="Arial"/>
              </a:rPr>
              <a:t> ionized equilibrium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(CIE) &amp; optically thin                |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APEC (Smith et al. 2001)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p:txBody>
      </p:sp>
      <p:sp>
        <p:nvSpPr>
          <p:cNvPr id="118" name="Google Shape;118;p29"/>
          <p:cNvSpPr txBox="1"/>
          <p:nvPr/>
        </p:nvSpPr>
        <p:spPr>
          <a:xfrm>
            <a:off x="6324880" y="644786"/>
            <a:ext cx="2507418" cy="35393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v</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Set Photon Energy Range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- 0.3-2.0 keV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Set Simulation Parameters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Collecting area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Distance, Exposure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Disable absorptions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(see the table in the LHS)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v</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endParaRPr sz="1400" b="0"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30"/>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a:t>Data &amp; Methods - Generation of synthetic X-ray data</a:t>
            </a:r>
            <a:endParaRPr/>
          </a:p>
        </p:txBody>
      </p:sp>
      <p:sp>
        <p:nvSpPr>
          <p:cNvPr id="124" name="Google Shape;124;p30"/>
          <p:cNvSpPr txBox="1"/>
          <p:nvPr/>
        </p:nvSpPr>
        <p:spPr>
          <a:xfrm>
            <a:off x="311699" y="644786"/>
            <a:ext cx="3478298" cy="11695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Stack Emissions from Snapshots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- 5 snapshots (100-120 Myr)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|____________________&gt;</a:t>
            </a:r>
            <a:endParaRPr sz="1400" b="0" i="0" u="none" strike="noStrike" cap="none" dirty="0">
              <a:solidFill>
                <a:schemeClr val="lt1"/>
              </a:solidFill>
              <a:latin typeface="Arial"/>
              <a:ea typeface="Arial"/>
              <a:cs typeface="Arial"/>
              <a:sym typeface="Arial"/>
            </a:endParaRPr>
          </a:p>
        </p:txBody>
      </p:sp>
      <p:pic>
        <p:nvPicPr>
          <p:cNvPr id="125" name="Google Shape;125;p30" descr="A red and black image&#10;&#10;Description automatically generated with medium confidence"/>
          <p:cNvPicPr preferRelativeResize="0"/>
          <p:nvPr/>
        </p:nvPicPr>
        <p:blipFill rotWithShape="1">
          <a:blip r:embed="rId3">
            <a:alphaModFix/>
          </a:blip>
          <a:srcRect/>
          <a:stretch/>
        </p:blipFill>
        <p:spPr>
          <a:xfrm>
            <a:off x="0" y="2023414"/>
            <a:ext cx="9143998" cy="3048000"/>
          </a:xfrm>
          <a:prstGeom prst="rect">
            <a:avLst/>
          </a:prstGeom>
          <a:noFill/>
          <a:ln>
            <a:noFill/>
          </a:ln>
        </p:spPr>
      </p:pic>
      <p:sp>
        <p:nvSpPr>
          <p:cNvPr id="126" name="Google Shape;126;p30"/>
          <p:cNvSpPr txBox="1"/>
          <p:nvPr/>
        </p:nvSpPr>
        <p:spPr>
          <a:xfrm>
            <a:off x="3789997" y="641603"/>
            <a:ext cx="3630711"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Generate Mock Observations with SOXS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Edge-on view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ACIS-I response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Partition galaxy  (11 regions)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p:txBody>
      </p:sp>
      <p:pic>
        <p:nvPicPr>
          <p:cNvPr id="127" name="Google Shape;127;p30"/>
          <p:cNvPicPr preferRelativeResize="0"/>
          <p:nvPr/>
        </p:nvPicPr>
        <p:blipFill rotWithShape="1">
          <a:blip r:embed="rId4">
            <a:alphaModFix/>
          </a:blip>
          <a:srcRect/>
          <a:stretch/>
        </p:blipFill>
        <p:spPr>
          <a:xfrm>
            <a:off x="7827352" y="641603"/>
            <a:ext cx="910002" cy="1134316"/>
          </a:xfrm>
          <a:prstGeom prst="rect">
            <a:avLst/>
          </a:prstGeom>
          <a:noFill/>
          <a:ln>
            <a:noFill/>
          </a:ln>
        </p:spPr>
      </p:pic>
      <p:sp>
        <p:nvSpPr>
          <p:cNvPr id="128" name="Google Shape;128;p30"/>
          <p:cNvSpPr txBox="1"/>
          <p:nvPr/>
        </p:nvSpPr>
        <p:spPr>
          <a:xfrm>
            <a:off x="7638587" y="1764987"/>
            <a:ext cx="128753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(Lopez, 2020)</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31"/>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a:t>Data &amp; Methods - Generation of synthetic X-ray data</a:t>
            </a:r>
            <a:endParaRPr/>
          </a:p>
        </p:txBody>
      </p:sp>
      <p:pic>
        <p:nvPicPr>
          <p:cNvPr id="134" name="Google Shape;134;p31" descr="A purple rectangular object with white text&#10;&#10;Description automatically generated with medium confidence"/>
          <p:cNvPicPr preferRelativeResize="0"/>
          <p:nvPr/>
        </p:nvPicPr>
        <p:blipFill rotWithShape="1">
          <a:blip r:embed="rId3">
            <a:alphaModFix/>
          </a:blip>
          <a:srcRect/>
          <a:stretch/>
        </p:blipFill>
        <p:spPr>
          <a:xfrm>
            <a:off x="2977661" y="1453916"/>
            <a:ext cx="2365190" cy="2235668"/>
          </a:xfrm>
          <a:prstGeom prst="rect">
            <a:avLst/>
          </a:prstGeom>
          <a:noFill/>
          <a:ln>
            <a:noFill/>
          </a:ln>
        </p:spPr>
      </p:pic>
      <p:pic>
        <p:nvPicPr>
          <p:cNvPr id="135" name="Google Shape;135;p31" descr="A graph of different colored lines&#10;&#10;Description automatically generated"/>
          <p:cNvPicPr preferRelativeResize="0"/>
          <p:nvPr/>
        </p:nvPicPr>
        <p:blipFill rotWithShape="1">
          <a:blip r:embed="rId4">
            <a:alphaModFix/>
          </a:blip>
          <a:srcRect/>
          <a:stretch/>
        </p:blipFill>
        <p:spPr>
          <a:xfrm>
            <a:off x="5334415" y="1453916"/>
            <a:ext cx="3277434" cy="2235668"/>
          </a:xfrm>
          <a:prstGeom prst="rect">
            <a:avLst/>
          </a:prstGeom>
          <a:noFill/>
          <a:ln>
            <a:noFill/>
          </a:ln>
        </p:spPr>
      </p:pic>
      <p:sp>
        <p:nvSpPr>
          <p:cNvPr id="136" name="Google Shape;136;p31"/>
          <p:cNvSpPr txBox="1"/>
          <p:nvPr/>
        </p:nvSpPr>
        <p:spPr>
          <a:xfrm>
            <a:off x="311698" y="644786"/>
            <a:ext cx="2665963" cy="35393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Set SOXS Parameters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Exposure time=1Ms    |</a:t>
            </a:r>
          </a:p>
          <a:p>
            <a:r>
              <a:rPr lang="en-AU" sz="1400" b="0" i="0" u="none" strike="noStrike" cap="none" dirty="0">
                <a:solidFill>
                  <a:schemeClr val="lt1"/>
                </a:solidFill>
                <a:latin typeface="Arial"/>
                <a:ea typeface="Arial"/>
                <a:cs typeface="Arial"/>
                <a:sym typeface="Arial"/>
              </a:rPr>
              <a:t>|   - Distance=0.5 </a:t>
            </a:r>
            <a:r>
              <a:rPr lang="en-AU" sz="1400" b="0" i="0" u="none" strike="noStrike" cap="none" dirty="0" err="1">
                <a:solidFill>
                  <a:schemeClr val="lt1"/>
                </a:solidFill>
                <a:latin typeface="Arial"/>
                <a:ea typeface="Arial"/>
                <a:cs typeface="Arial"/>
                <a:sym typeface="Arial"/>
              </a:rPr>
              <a:t>Mpc</a:t>
            </a:r>
            <a:r>
              <a:rPr lang="en-AU" sz="1400" b="0" i="0" u="none" strike="noStrike" cap="none" dirty="0">
                <a:solidFill>
                  <a:schemeClr val="lt1"/>
                </a:solidFill>
                <a:latin typeface="Arial"/>
                <a:ea typeface="Arial"/>
                <a:cs typeface="Arial"/>
                <a:sym typeface="Arial"/>
              </a:rPr>
              <a:t>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Effective area</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=0.04 m^2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v</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Integrate Photon Counts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and Extract Spectrum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Over spatial extent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Generate PHA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format spectrum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animEffect transition="in" filter="fade">
                                      <p:cBhvr>
                                        <p:cTn id="7" dur="500"/>
                                        <p:tgtEl>
                                          <p:spTgt spid="1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5"/>
                                        </p:tgtEl>
                                        <p:attrNameLst>
                                          <p:attrName>style.visibility</p:attrName>
                                        </p:attrNameLst>
                                      </p:cBhvr>
                                      <p:to>
                                        <p:strVal val="visible"/>
                                      </p:to>
                                    </p:set>
                                    <p:animEffect transition="in" filter="fade">
                                      <p:cBhvr>
                                        <p:cTn id="12" dur="10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2"/>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a:t>Data &amp; Methods - Fitting the X-ray Spectrum</a:t>
            </a:r>
            <a:endParaRPr/>
          </a:p>
        </p:txBody>
      </p:sp>
      <p:sp>
        <p:nvSpPr>
          <p:cNvPr id="142" name="Google Shape;142;p32"/>
          <p:cNvSpPr txBox="1"/>
          <p:nvPr/>
        </p:nvSpPr>
        <p:spPr>
          <a:xfrm>
            <a:off x="311697" y="1383450"/>
            <a:ext cx="3275563" cy="35394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Setup Fitting Tool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optically thin thermal plasma    component in collisional ionization equilibrium (CIE)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One/two temperature based on reduced χ²: 2 plasma components for regions near the disc (A/B1,2, and D)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v</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Elemental Abundances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Variable parameters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 - Initial guesses: solar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a:t>
            </a:r>
            <a:endParaRPr dirty="0"/>
          </a:p>
        </p:txBody>
      </p:sp>
      <p:pic>
        <p:nvPicPr>
          <p:cNvPr id="143" name="Google Shape;143;p32" descr="A graph of different colored lines&#10;&#10;Description automatically generated"/>
          <p:cNvPicPr preferRelativeResize="0"/>
          <p:nvPr/>
        </p:nvPicPr>
        <p:blipFill rotWithShape="1">
          <a:blip r:embed="rId3">
            <a:alphaModFix/>
          </a:blip>
          <a:srcRect/>
          <a:stretch/>
        </p:blipFill>
        <p:spPr>
          <a:xfrm>
            <a:off x="3996382" y="641364"/>
            <a:ext cx="4835916" cy="3860772"/>
          </a:xfrm>
          <a:prstGeom prst="rect">
            <a:avLst/>
          </a:prstGeom>
          <a:noFill/>
          <a:ln>
            <a:noFill/>
          </a:ln>
        </p:spPr>
      </p:pic>
      <p:sp>
        <p:nvSpPr>
          <p:cNvPr id="144" name="Google Shape;144;p32"/>
          <p:cNvSpPr txBox="1"/>
          <p:nvPr/>
        </p:nvSpPr>
        <p:spPr>
          <a:xfrm>
            <a:off x="311697" y="644786"/>
            <a:ext cx="3275563"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a:solidFill>
                  <a:schemeClr val="lt1"/>
                </a:solidFill>
                <a:latin typeface="Arial"/>
                <a:ea typeface="Arial"/>
                <a:cs typeface="Arial"/>
                <a:sym typeface="Arial"/>
              </a:rPr>
              <a:t>Tools: </a:t>
            </a:r>
            <a:r>
              <a:rPr lang="en-AU" sz="1400" b="0" i="0" u="none" strike="noStrike" cap="none">
                <a:solidFill>
                  <a:schemeClr val="accent2"/>
                </a:solidFill>
                <a:latin typeface="Arial"/>
                <a:ea typeface="Arial"/>
                <a:cs typeface="Arial"/>
                <a:sym typeface="Arial"/>
              </a:rPr>
              <a:t>SHERPA</a:t>
            </a:r>
            <a:r>
              <a:rPr lang="en-AU" sz="1400" b="0" i="0" u="none" strike="noStrike" cap="none">
                <a:solidFill>
                  <a:schemeClr val="lt1"/>
                </a:solidFill>
                <a:latin typeface="Arial"/>
                <a:ea typeface="Arial"/>
                <a:cs typeface="Arial"/>
                <a:sym typeface="Arial"/>
              </a:rPr>
              <a:t>, a fitting tool of CIAO (Chandra Interactive Analysis of Observations)  </a:t>
            </a:r>
            <a:endParaRPr/>
          </a:p>
        </p:txBody>
      </p:sp>
      <p:sp>
        <p:nvSpPr>
          <p:cNvPr id="145" name="Google Shape;145;p32"/>
          <p:cNvSpPr txBox="1"/>
          <p:nvPr/>
        </p:nvSpPr>
        <p:spPr>
          <a:xfrm>
            <a:off x="4571998" y="844732"/>
            <a:ext cx="2057401" cy="16004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a:solidFill>
                  <a:schemeClr val="dk1"/>
                </a:solidFill>
                <a:latin typeface="Arial"/>
                <a:ea typeface="Arial"/>
                <a:cs typeface="Arial"/>
                <a:sym typeface="Arial"/>
              </a:rPr>
              <a:t>Fitting model: </a:t>
            </a:r>
            <a:br>
              <a:rPr lang="en-AU" sz="1400" b="0" i="0" u="none" strike="noStrike" cap="none">
                <a:solidFill>
                  <a:schemeClr val="dk1"/>
                </a:solidFill>
                <a:latin typeface="Arial"/>
                <a:ea typeface="Arial"/>
                <a:cs typeface="Arial"/>
                <a:sym typeface="Arial"/>
              </a:rPr>
            </a:br>
            <a:r>
              <a:rPr lang="en-AU" sz="1400" b="0" i="0" u="none" strike="noStrike" cap="none">
                <a:solidFill>
                  <a:schemeClr val="dk1"/>
                </a:solidFill>
                <a:latin typeface="Arial"/>
                <a:ea typeface="Arial"/>
                <a:cs typeface="Arial"/>
                <a:sym typeface="Arial"/>
              </a:rPr>
              <a:t>xsvapec.plasma1 + xsvapec.plasma2</a:t>
            </a:r>
            <a:endParaRPr/>
          </a:p>
          <a:p>
            <a:pPr marL="0" marR="0" lvl="0" indent="0" algn="l"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AU" sz="1400" b="0" i="0" u="none" strike="noStrike" cap="none">
                <a:solidFill>
                  <a:schemeClr val="dk1"/>
                </a:solidFill>
                <a:latin typeface="Arial"/>
                <a:ea typeface="Arial"/>
                <a:cs typeface="Arial"/>
                <a:sym typeface="Arial"/>
              </a:rPr>
              <a:t>Abundances: </a:t>
            </a:r>
            <a:endParaRPr/>
          </a:p>
          <a:p>
            <a:pPr marL="0" marR="0" lvl="0" indent="0" algn="l" rtl="0">
              <a:lnSpc>
                <a:spcPct val="100000"/>
              </a:lnSpc>
              <a:spcBef>
                <a:spcPts val="0"/>
              </a:spcBef>
              <a:spcAft>
                <a:spcPts val="0"/>
              </a:spcAft>
              <a:buNone/>
            </a:pPr>
            <a:r>
              <a:rPr lang="en-AU" sz="1400" b="0" i="0" u="none" strike="noStrike" cap="none">
                <a:solidFill>
                  <a:srgbClr val="000000"/>
                </a:solidFill>
                <a:latin typeface="Arial"/>
                <a:ea typeface="Arial"/>
                <a:cs typeface="Arial"/>
                <a:sym typeface="Arial"/>
              </a:rPr>
              <a:t>O, Ne, Mg, Si, </a:t>
            </a:r>
            <a:endParaRPr/>
          </a:p>
          <a:p>
            <a:pPr marL="0" marR="0" lvl="0" indent="0" algn="l" rtl="0">
              <a:lnSpc>
                <a:spcPct val="100000"/>
              </a:lnSpc>
              <a:spcBef>
                <a:spcPts val="0"/>
              </a:spcBef>
              <a:spcAft>
                <a:spcPts val="0"/>
              </a:spcAft>
              <a:buNone/>
            </a:pPr>
            <a:r>
              <a:rPr lang="en-AU" sz="1400" b="0" i="0" u="none" strike="noStrike" cap="none">
                <a:solidFill>
                  <a:srgbClr val="000000"/>
                </a:solidFill>
                <a:latin typeface="Arial"/>
                <a:ea typeface="Arial"/>
                <a:cs typeface="Arial"/>
                <a:sym typeface="Arial"/>
              </a:rPr>
              <a:t>S, and Fe</a:t>
            </a:r>
            <a:endParaRPr sz="1400" b="0" i="0" u="none" strike="noStrike" cap="non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3"/>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sz="2000">
                <a:solidFill>
                  <a:schemeClr val="lt1"/>
                </a:solidFill>
              </a:rPr>
              <a:t>Results - Metallicity Gradients in Galactic Outflows</a:t>
            </a:r>
            <a:endParaRPr/>
          </a:p>
        </p:txBody>
      </p:sp>
      <p:pic>
        <p:nvPicPr>
          <p:cNvPr id="151" name="Google Shape;151;p33"/>
          <p:cNvPicPr preferRelativeResize="0"/>
          <p:nvPr/>
        </p:nvPicPr>
        <p:blipFill rotWithShape="1">
          <a:blip r:embed="rId3">
            <a:alphaModFix/>
          </a:blip>
          <a:srcRect/>
          <a:stretch/>
        </p:blipFill>
        <p:spPr>
          <a:xfrm>
            <a:off x="616498" y="644786"/>
            <a:ext cx="3478102" cy="4375672"/>
          </a:xfrm>
          <a:prstGeom prst="rect">
            <a:avLst/>
          </a:prstGeom>
          <a:noFill/>
          <a:ln>
            <a:noFill/>
          </a:ln>
        </p:spPr>
      </p:pic>
      <p:pic>
        <p:nvPicPr>
          <p:cNvPr id="152" name="Google Shape;152;p33"/>
          <p:cNvPicPr preferRelativeResize="0"/>
          <p:nvPr/>
        </p:nvPicPr>
        <p:blipFill rotWithShape="1">
          <a:blip r:embed="rId4">
            <a:alphaModFix/>
          </a:blip>
          <a:srcRect/>
          <a:stretch/>
        </p:blipFill>
        <p:spPr>
          <a:xfrm>
            <a:off x="4399400" y="2171733"/>
            <a:ext cx="4260296" cy="1321778"/>
          </a:xfrm>
          <a:prstGeom prst="rect">
            <a:avLst/>
          </a:prstGeom>
          <a:noFill/>
          <a:ln>
            <a:noFill/>
          </a:ln>
        </p:spPr>
      </p:pic>
      <p:pic>
        <p:nvPicPr>
          <p:cNvPr id="153" name="Google Shape;153;p33"/>
          <p:cNvPicPr preferRelativeResize="0"/>
          <p:nvPr/>
        </p:nvPicPr>
        <p:blipFill rotWithShape="1">
          <a:blip r:embed="rId5">
            <a:alphaModFix/>
          </a:blip>
          <a:srcRect/>
          <a:stretch/>
        </p:blipFill>
        <p:spPr>
          <a:xfrm>
            <a:off x="6875583" y="181944"/>
            <a:ext cx="785448" cy="25919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4"/>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sz="2000">
                <a:solidFill>
                  <a:schemeClr val="lt1"/>
                </a:solidFill>
              </a:rPr>
              <a:t>Results - Impact of the Background Metallicity</a:t>
            </a:r>
            <a:endParaRPr/>
          </a:p>
        </p:txBody>
      </p:sp>
      <p:pic>
        <p:nvPicPr>
          <p:cNvPr id="159" name="Google Shape;159;p34" descr="A graph of different colored lines&#10;&#10;Description automatically generated"/>
          <p:cNvPicPr preferRelativeResize="0"/>
          <p:nvPr/>
        </p:nvPicPr>
        <p:blipFill rotWithShape="1">
          <a:blip r:embed="rId3">
            <a:alphaModFix/>
          </a:blip>
          <a:srcRect/>
          <a:stretch/>
        </p:blipFill>
        <p:spPr>
          <a:xfrm>
            <a:off x="1428748" y="644786"/>
            <a:ext cx="6286500" cy="4238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5"/>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sz="2000">
                <a:solidFill>
                  <a:schemeClr val="lt1"/>
                </a:solidFill>
              </a:rPr>
              <a:t>Discussion - Origin of Metallicity Gradients</a:t>
            </a:r>
            <a:endParaRPr/>
          </a:p>
        </p:txBody>
      </p:sp>
      <p:pic>
        <p:nvPicPr>
          <p:cNvPr id="165" name="Google Shape;165;p35" descr="A graph of different colored lines&#10;&#10;Description automatically generated"/>
          <p:cNvPicPr preferRelativeResize="0"/>
          <p:nvPr/>
        </p:nvPicPr>
        <p:blipFill rotWithShape="1">
          <a:blip r:embed="rId3">
            <a:alphaModFix/>
          </a:blip>
          <a:srcRect/>
          <a:stretch/>
        </p:blipFill>
        <p:spPr>
          <a:xfrm>
            <a:off x="4023646" y="1778262"/>
            <a:ext cx="4808652" cy="3242196"/>
          </a:xfrm>
          <a:prstGeom prst="rect">
            <a:avLst/>
          </a:prstGeom>
          <a:noFill/>
          <a:ln>
            <a:noFill/>
          </a:ln>
        </p:spPr>
      </p:pic>
      <p:pic>
        <p:nvPicPr>
          <p:cNvPr id="166" name="Google Shape;166;p35"/>
          <p:cNvPicPr preferRelativeResize="0"/>
          <p:nvPr/>
        </p:nvPicPr>
        <p:blipFill rotWithShape="1">
          <a:blip r:embed="rId4">
            <a:alphaModFix/>
          </a:blip>
          <a:srcRect/>
          <a:stretch/>
        </p:blipFill>
        <p:spPr>
          <a:xfrm>
            <a:off x="311698" y="644786"/>
            <a:ext cx="3478102" cy="4375672"/>
          </a:xfrm>
          <a:prstGeom prst="rect">
            <a:avLst/>
          </a:prstGeom>
          <a:noFill/>
          <a:ln>
            <a:noFill/>
          </a:ln>
        </p:spPr>
      </p:pic>
      <p:sp>
        <p:nvSpPr>
          <p:cNvPr id="2" name="Google Shape;144;p32">
            <a:extLst>
              <a:ext uri="{FF2B5EF4-FFF2-40B4-BE49-F238E27FC236}">
                <a16:creationId xmlns:a16="http://schemas.microsoft.com/office/drawing/2014/main" id="{89902080-5F7F-56F3-430F-1FC68710BA19}"/>
              </a:ext>
            </a:extLst>
          </p:cNvPr>
          <p:cNvSpPr txBox="1"/>
          <p:nvPr/>
        </p:nvSpPr>
        <p:spPr>
          <a:xfrm>
            <a:off x="4023646" y="644786"/>
            <a:ext cx="4808652"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dirty="0">
                <a:solidFill>
                  <a:schemeClr val="accent2"/>
                </a:solidFill>
                <a:latin typeface="Arial"/>
                <a:ea typeface="Arial"/>
                <a:cs typeface="Arial"/>
                <a:sym typeface="Arial"/>
              </a:rPr>
              <a:t>Imperfect mixing </a:t>
            </a:r>
            <a:r>
              <a:rPr lang="en-AU" sz="1400" b="0" i="0" u="none" strike="noStrike" dirty="0">
                <a:solidFill>
                  <a:schemeClr val="bg1"/>
                </a:solidFill>
                <a:latin typeface="Arial"/>
                <a:ea typeface="Arial"/>
                <a:cs typeface="Arial"/>
                <a:sym typeface="Arial"/>
              </a:rPr>
              <a:t>between the metal-rich hot gas from supernova (SN) events and the surrounding interstellar medium (ISM). </a:t>
            </a:r>
            <a:endParaRPr lang="en-AU"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6"/>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sz="2000">
                <a:solidFill>
                  <a:schemeClr val="lt1"/>
                </a:solidFill>
              </a:rPr>
              <a:t>Discussion - Reliability of Metallicity Gradients</a:t>
            </a:r>
            <a:endParaRPr/>
          </a:p>
        </p:txBody>
      </p:sp>
      <p:pic>
        <p:nvPicPr>
          <p:cNvPr id="172" name="Google Shape;172;p36" descr="A graph of different colored lines&#10;&#10;Description automatically generated"/>
          <p:cNvPicPr preferRelativeResize="0"/>
          <p:nvPr/>
        </p:nvPicPr>
        <p:blipFill rotWithShape="1">
          <a:blip r:embed="rId3">
            <a:alphaModFix/>
          </a:blip>
          <a:srcRect/>
          <a:stretch/>
        </p:blipFill>
        <p:spPr>
          <a:xfrm>
            <a:off x="1428748" y="644786"/>
            <a:ext cx="6286500" cy="4238625"/>
          </a:xfrm>
          <a:prstGeom prst="rect">
            <a:avLst/>
          </a:prstGeom>
          <a:noFill/>
          <a:ln>
            <a:noFill/>
          </a:ln>
        </p:spPr>
      </p:pic>
      <p:sp>
        <p:nvSpPr>
          <p:cNvPr id="173" name="Google Shape;173;p36"/>
          <p:cNvSpPr/>
          <p:nvPr/>
        </p:nvSpPr>
        <p:spPr>
          <a:xfrm>
            <a:off x="1905000" y="2936631"/>
            <a:ext cx="5697415" cy="1400907"/>
          </a:xfrm>
          <a:prstGeom prst="ellipse">
            <a:avLst/>
          </a:prstGeom>
          <a:no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4" name="Google Shape;174;p36"/>
          <p:cNvSpPr/>
          <p:nvPr/>
        </p:nvSpPr>
        <p:spPr>
          <a:xfrm>
            <a:off x="5627077" y="1822938"/>
            <a:ext cx="1699846" cy="310662"/>
          </a:xfrm>
          <a:prstGeom prst="rect">
            <a:avLst/>
          </a:prstGeom>
          <a:no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5" name="Google Shape;175;p36"/>
          <p:cNvSpPr/>
          <p:nvPr/>
        </p:nvSpPr>
        <p:spPr>
          <a:xfrm>
            <a:off x="5568462" y="1582615"/>
            <a:ext cx="1811215" cy="216877"/>
          </a:xfrm>
          <a:prstGeom prst="rect">
            <a:avLst/>
          </a:prstGeom>
          <a:noFill/>
          <a:ln w="25400" cap="flat" cmpd="sng">
            <a:solidFill>
              <a:srgbClr val="7030A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176" name="Google Shape;176;p36"/>
          <p:cNvCxnSpPr>
            <a:stCxn id="175" idx="1"/>
            <a:endCxn id="177" idx="3"/>
          </p:cNvCxnSpPr>
          <p:nvPr/>
        </p:nvCxnSpPr>
        <p:spPr>
          <a:xfrm flipH="1">
            <a:off x="3291762" y="1691054"/>
            <a:ext cx="2276700" cy="132000"/>
          </a:xfrm>
          <a:prstGeom prst="straightConnector1">
            <a:avLst/>
          </a:prstGeom>
          <a:noFill/>
          <a:ln w="9525" cap="flat" cmpd="sng">
            <a:solidFill>
              <a:srgbClr val="7030A0"/>
            </a:solidFill>
            <a:prstDash val="solid"/>
            <a:round/>
            <a:headEnd type="none" w="sm" len="sm"/>
            <a:tailEnd type="triangle" w="med" len="med"/>
          </a:ln>
        </p:spPr>
      </p:cxnSp>
      <p:pic>
        <p:nvPicPr>
          <p:cNvPr id="177" name="Google Shape;177;p36" descr="Question Mark PNG Images &amp; PSDs for Download | PixelSquid - S116244908"/>
          <p:cNvPicPr preferRelativeResize="0"/>
          <p:nvPr/>
        </p:nvPicPr>
        <p:blipFill rotWithShape="1">
          <a:blip r:embed="rId4">
            <a:alphaModFix/>
          </a:blip>
          <a:srcRect/>
          <a:stretch/>
        </p:blipFill>
        <p:spPr>
          <a:xfrm>
            <a:off x="2698593" y="1526284"/>
            <a:ext cx="593308" cy="59330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
                                        </p:tgtEl>
                                        <p:attrNameLst>
                                          <p:attrName>style.visibility</p:attrName>
                                        </p:attrNameLst>
                                      </p:cBhvr>
                                      <p:to>
                                        <p:strVal val="visible"/>
                                      </p:to>
                                    </p:set>
                                    <p:animEffect transition="in" filter="fade">
                                      <p:cBhvr>
                                        <p:cTn id="7" dur="500"/>
                                        <p:tgtEl>
                                          <p:spTgt spid="174"/>
                                        </p:tgtEl>
                                      </p:cBhvr>
                                    </p:animEffect>
                                  </p:childTnLst>
                                </p:cTn>
                              </p:par>
                              <p:par>
                                <p:cTn id="8" presetID="10" presetClass="entr" presetSubtype="0" fill="hold" nodeType="with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fade">
                                      <p:cBhvr>
                                        <p:cTn id="10" dur="5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5"/>
                                        </p:tgtEl>
                                        <p:attrNameLst>
                                          <p:attrName>style.visibility</p:attrName>
                                        </p:attrNameLst>
                                      </p:cBhvr>
                                      <p:to>
                                        <p:strVal val="visible"/>
                                      </p:to>
                                    </p:set>
                                    <p:animEffect transition="in" filter="fade">
                                      <p:cBhvr>
                                        <p:cTn id="15" dur="500"/>
                                        <p:tgtEl>
                                          <p:spTgt spid="175"/>
                                        </p:tgtEl>
                                      </p:cBhvr>
                                    </p:animEffect>
                                  </p:childTnLst>
                                </p:cTn>
                              </p:par>
                              <p:par>
                                <p:cTn id="16" presetID="10" presetClass="entr" presetSubtype="0" fill="hold" nodeType="withEffect">
                                  <p:stCondLst>
                                    <p:cond delay="0"/>
                                  </p:stCondLst>
                                  <p:childTnLst>
                                    <p:set>
                                      <p:cBhvr>
                                        <p:cTn id="17" dur="1" fill="hold">
                                          <p:stCondLst>
                                            <p:cond delay="0"/>
                                          </p:stCondLst>
                                        </p:cTn>
                                        <p:tgtEl>
                                          <p:spTgt spid="176"/>
                                        </p:tgtEl>
                                        <p:attrNameLst>
                                          <p:attrName>style.visibility</p:attrName>
                                        </p:attrNameLst>
                                      </p:cBhvr>
                                      <p:to>
                                        <p:strVal val="visible"/>
                                      </p:to>
                                    </p:set>
                                    <p:animEffect transition="in" filter="fade">
                                      <p:cBhvr>
                                        <p:cTn id="18" dur="500"/>
                                        <p:tgtEl>
                                          <p:spTgt spid="176"/>
                                        </p:tgtEl>
                                      </p:cBhvr>
                                    </p:animEffect>
                                  </p:childTnLst>
                                </p:cTn>
                              </p:par>
                              <p:par>
                                <p:cTn id="19" presetID="10" presetClass="entr" presetSubtype="0" fill="hold" nodeType="withEffect">
                                  <p:stCondLst>
                                    <p:cond delay="0"/>
                                  </p:stCondLst>
                                  <p:childTnLst>
                                    <p:set>
                                      <p:cBhvr>
                                        <p:cTn id="20" dur="1" fill="hold">
                                          <p:stCondLst>
                                            <p:cond delay="0"/>
                                          </p:stCondLst>
                                        </p:cTn>
                                        <p:tgtEl>
                                          <p:spTgt spid="177"/>
                                        </p:tgtEl>
                                        <p:attrNameLst>
                                          <p:attrName>style.visibility</p:attrName>
                                        </p:attrNameLst>
                                      </p:cBhvr>
                                      <p:to>
                                        <p:strVal val="visible"/>
                                      </p:to>
                                    </p:set>
                                    <p:animEffect transition="in" filter="fade">
                                      <p:cBhvr>
                                        <p:cTn id="21" dur="50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7"/>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sz="2000">
                <a:solidFill>
                  <a:schemeClr val="lt1"/>
                </a:solidFill>
              </a:rPr>
              <a:t>Discussion - Reliability of Metallicity Gradients</a:t>
            </a:r>
            <a:endParaRPr/>
          </a:p>
        </p:txBody>
      </p:sp>
      <p:pic>
        <p:nvPicPr>
          <p:cNvPr id="183" name="Google Shape;183;p37" descr="Mass-weighted metallicities (equation 8) in 1 kpc-wide sections of the simulation domain, separated by temperature phases. The top row shows metallicity on an absolute scale, while the bottom shows metallicity normalized to the mean metallicity of each phase at z = 0."/>
          <p:cNvPicPr preferRelativeResize="0"/>
          <p:nvPr/>
        </p:nvPicPr>
        <p:blipFill rotWithShape="1">
          <a:blip r:embed="rId3">
            <a:alphaModFix/>
          </a:blip>
          <a:srcRect/>
          <a:stretch/>
        </p:blipFill>
        <p:spPr>
          <a:xfrm>
            <a:off x="322689" y="1558070"/>
            <a:ext cx="3745626" cy="2521094"/>
          </a:xfrm>
          <a:prstGeom prst="rect">
            <a:avLst/>
          </a:prstGeom>
          <a:noFill/>
          <a:ln>
            <a:noFill/>
          </a:ln>
        </p:spPr>
      </p:pic>
      <p:sp>
        <p:nvSpPr>
          <p:cNvPr id="184" name="Google Shape;184;p37"/>
          <p:cNvSpPr txBox="1"/>
          <p:nvPr/>
        </p:nvSpPr>
        <p:spPr>
          <a:xfrm>
            <a:off x="2126601" y="4079164"/>
            <a:ext cx="194171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a:solidFill>
                  <a:schemeClr val="lt1"/>
                </a:solidFill>
                <a:latin typeface="Arial"/>
                <a:ea typeface="Arial"/>
                <a:cs typeface="Arial"/>
                <a:sym typeface="Arial"/>
              </a:rPr>
              <a:t>(Vijayan et al, 2024)</a:t>
            </a:r>
            <a:endParaRPr/>
          </a:p>
        </p:txBody>
      </p:sp>
      <p:pic>
        <p:nvPicPr>
          <p:cNvPr id="185" name="Google Shape;185;p37"/>
          <p:cNvPicPr preferRelativeResize="0"/>
          <p:nvPr/>
        </p:nvPicPr>
        <p:blipFill rotWithShape="1">
          <a:blip r:embed="rId4">
            <a:alphaModFix/>
          </a:blip>
          <a:srcRect/>
          <a:stretch/>
        </p:blipFill>
        <p:spPr>
          <a:xfrm>
            <a:off x="6816969" y="358436"/>
            <a:ext cx="1581150" cy="809625"/>
          </a:xfrm>
          <a:prstGeom prst="rect">
            <a:avLst/>
          </a:prstGeom>
          <a:noFill/>
          <a:ln>
            <a:noFill/>
          </a:ln>
        </p:spPr>
      </p:pic>
      <p:pic>
        <p:nvPicPr>
          <p:cNvPr id="186" name="Google Shape;186;p37" descr="A graph of a graph with red and blue lines&#10;&#10;Description automatically generated"/>
          <p:cNvPicPr preferRelativeResize="0"/>
          <p:nvPr/>
        </p:nvPicPr>
        <p:blipFill rotWithShape="1">
          <a:blip r:embed="rId5">
            <a:alphaModFix/>
          </a:blip>
          <a:srcRect/>
          <a:stretch/>
        </p:blipFill>
        <p:spPr>
          <a:xfrm>
            <a:off x="4812627" y="1558070"/>
            <a:ext cx="4008684" cy="3130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6"/>
                                        </p:tgtEl>
                                        <p:attrNameLst>
                                          <p:attrName>style.visibility</p:attrName>
                                        </p:attrNameLst>
                                      </p:cBhvr>
                                      <p:to>
                                        <p:strVal val="visible"/>
                                      </p:to>
                                    </p:set>
                                    <p:animEffect transition="in" filter="fade">
                                      <p:cBhvr>
                                        <p:cTn id="7" dur="500"/>
                                        <p:tgtEl>
                                          <p:spTgt spid="186"/>
                                        </p:tgtEl>
                                      </p:cBhvr>
                                    </p:animEffect>
                                  </p:childTnLst>
                                </p:cTn>
                              </p:par>
                              <p:par>
                                <p:cTn id="8" presetID="10" presetClass="entr" presetSubtype="0" fill="hold" nodeType="withEffect">
                                  <p:stCondLst>
                                    <p:cond delay="0"/>
                                  </p:stCondLst>
                                  <p:childTnLst>
                                    <p:set>
                                      <p:cBhvr>
                                        <p:cTn id="9" dur="1" fill="hold">
                                          <p:stCondLst>
                                            <p:cond delay="0"/>
                                          </p:stCondLst>
                                        </p:cTn>
                                        <p:tgtEl>
                                          <p:spTgt spid="185"/>
                                        </p:tgtEl>
                                        <p:attrNameLst>
                                          <p:attrName>style.visibility</p:attrName>
                                        </p:attrNameLst>
                                      </p:cBhvr>
                                      <p:to>
                                        <p:strVal val="visible"/>
                                      </p:to>
                                    </p:set>
                                    <p:animEffect transition="in" filter="fade">
                                      <p:cBhvr>
                                        <p:cTn id="10" dur="5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8"/>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sz="2000">
                <a:solidFill>
                  <a:schemeClr val="lt1"/>
                </a:solidFill>
              </a:rPr>
              <a:t>Discussion - Reliability of Metallicity Gradients</a:t>
            </a:r>
            <a:endParaRPr/>
          </a:p>
        </p:txBody>
      </p:sp>
      <p:pic>
        <p:nvPicPr>
          <p:cNvPr id="192" name="Google Shape;192;p38" descr="A graph of different colored lines&#10;&#10;Description automatically generated"/>
          <p:cNvPicPr preferRelativeResize="0"/>
          <p:nvPr/>
        </p:nvPicPr>
        <p:blipFill rotWithShape="1">
          <a:blip r:embed="rId3">
            <a:alphaModFix/>
          </a:blip>
          <a:srcRect/>
          <a:stretch/>
        </p:blipFill>
        <p:spPr>
          <a:xfrm>
            <a:off x="3728241" y="1598891"/>
            <a:ext cx="5104057" cy="3441372"/>
          </a:xfrm>
          <a:prstGeom prst="rect">
            <a:avLst/>
          </a:prstGeom>
          <a:noFill/>
          <a:ln>
            <a:noFill/>
          </a:ln>
        </p:spPr>
      </p:pic>
      <p:pic>
        <p:nvPicPr>
          <p:cNvPr id="193" name="Google Shape;193;p38" descr="A graph of different colored lines&#10;&#10;Description automatically generated"/>
          <p:cNvPicPr preferRelativeResize="0"/>
          <p:nvPr/>
        </p:nvPicPr>
        <p:blipFill rotWithShape="1">
          <a:blip r:embed="rId4">
            <a:alphaModFix/>
          </a:blip>
          <a:srcRect/>
          <a:stretch/>
        </p:blipFill>
        <p:spPr>
          <a:xfrm>
            <a:off x="3757785" y="1598891"/>
            <a:ext cx="5044967" cy="3441372"/>
          </a:xfrm>
          <a:prstGeom prst="rect">
            <a:avLst/>
          </a:prstGeom>
          <a:noFill/>
          <a:ln>
            <a:noFill/>
          </a:ln>
        </p:spPr>
      </p:pic>
      <p:sp>
        <p:nvSpPr>
          <p:cNvPr id="194" name="Google Shape;194;p38"/>
          <p:cNvSpPr txBox="1"/>
          <p:nvPr/>
        </p:nvSpPr>
        <p:spPr>
          <a:xfrm>
            <a:off x="311698" y="644784"/>
            <a:ext cx="4260302"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a:solidFill>
                  <a:schemeClr val="lt1"/>
                </a:solidFill>
                <a:latin typeface="Arial"/>
                <a:ea typeface="Arial"/>
                <a:cs typeface="Arial"/>
                <a:sym typeface="Arial"/>
              </a:rPr>
              <a:t>Two contributing factors: </a:t>
            </a:r>
            <a:endParaRPr/>
          </a:p>
          <a:p>
            <a:pPr marL="0" marR="0" lvl="0" indent="0" algn="l" rtl="0">
              <a:lnSpc>
                <a:spcPct val="100000"/>
              </a:lnSpc>
              <a:spcBef>
                <a:spcPts val="0"/>
              </a:spcBef>
              <a:spcAft>
                <a:spcPts val="0"/>
              </a:spcAft>
              <a:buNone/>
            </a:pPr>
            <a:r>
              <a:rPr lang="en-AU" sz="1400" b="0" i="0" u="none" strike="noStrike" cap="none">
                <a:solidFill>
                  <a:schemeClr val="lt1"/>
                </a:solidFill>
                <a:latin typeface="Arial"/>
                <a:ea typeface="Arial"/>
                <a:cs typeface="Arial"/>
                <a:sym typeface="Arial"/>
              </a:rPr>
              <a:t>1. underestimated values in the outer regions</a:t>
            </a:r>
            <a:endParaRPr/>
          </a:p>
          <a:p>
            <a:pPr marL="0" marR="0" lvl="0" indent="0" algn="l" rtl="0">
              <a:lnSpc>
                <a:spcPct val="100000"/>
              </a:lnSpc>
              <a:spcBef>
                <a:spcPts val="0"/>
              </a:spcBef>
              <a:spcAft>
                <a:spcPts val="0"/>
              </a:spcAft>
              <a:buNone/>
            </a:pPr>
            <a:r>
              <a:rPr lang="en-AU" sz="1400" b="0" i="0" u="none" strike="noStrike" cap="none">
                <a:solidFill>
                  <a:schemeClr val="lt1"/>
                </a:solidFill>
                <a:latin typeface="Arial"/>
                <a:ea typeface="Arial"/>
                <a:cs typeface="Arial"/>
                <a:sym typeface="Arial"/>
              </a:rPr>
              <a:t>2. the peak in the inner region </a:t>
            </a:r>
            <a:endParaRPr/>
          </a:p>
        </p:txBody>
      </p:sp>
      <p:sp>
        <p:nvSpPr>
          <p:cNvPr id="195" name="Google Shape;195;p38"/>
          <p:cNvSpPr txBox="1"/>
          <p:nvPr/>
        </p:nvSpPr>
        <p:spPr>
          <a:xfrm>
            <a:off x="4571996" y="644784"/>
            <a:ext cx="4260302"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Two </a:t>
            </a:r>
            <a:r>
              <a:rPr lang="en-AU" sz="1400" b="0" i="0" u="none" strike="noStrike" cap="none" dirty="0" err="1">
                <a:solidFill>
                  <a:schemeClr val="lt1"/>
                </a:solidFill>
                <a:latin typeface="Arial"/>
                <a:ea typeface="Arial"/>
                <a:cs typeface="Arial"/>
                <a:sym typeface="Arial"/>
              </a:rPr>
              <a:t>hypotheies</a:t>
            </a:r>
            <a:r>
              <a:rPr lang="en-AU" sz="1400" b="0" i="0" u="none" strike="noStrike" cap="none" dirty="0">
                <a:solidFill>
                  <a:schemeClr val="lt1"/>
                </a:solidFill>
                <a:latin typeface="Arial"/>
                <a:ea typeface="Arial"/>
                <a:cs typeface="Arial"/>
                <a:sym typeface="Arial"/>
              </a:rPr>
              <a:t> tests: </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1. ‘Long’ treatment: </a:t>
            </a:r>
            <a:r>
              <a:rPr lang="en-AU" sz="1400" b="0" i="0" u="none" strike="noStrike" cap="none" dirty="0" err="1">
                <a:solidFill>
                  <a:schemeClr val="lt1"/>
                </a:solidFill>
                <a:latin typeface="Arial"/>
                <a:ea typeface="Arial"/>
                <a:cs typeface="Arial"/>
                <a:sym typeface="Arial"/>
              </a:rPr>
              <a:t>exp_time</a:t>
            </a:r>
            <a:r>
              <a:rPr lang="en-AU" sz="1400" b="0" i="0" u="none" strike="noStrike" cap="none" dirty="0">
                <a:solidFill>
                  <a:schemeClr val="lt1"/>
                </a:solidFill>
                <a:latin typeface="Arial"/>
                <a:ea typeface="Arial"/>
                <a:cs typeface="Arial"/>
                <a:sym typeface="Arial"/>
              </a:rPr>
              <a:t> -&gt; 10Ms</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2. ‘Special’ treatment: ‘Long’ + Zero emission from    Extreme Metallicity Cells</a:t>
            </a:r>
            <a:endParaRPr dirty="0"/>
          </a:p>
        </p:txBody>
      </p:sp>
      <p:pic>
        <p:nvPicPr>
          <p:cNvPr id="196" name="Google Shape;196;p38" descr="A graph of a number of objects&#10;&#10;Description automatically generated with medium confidence"/>
          <p:cNvPicPr preferRelativeResize="0"/>
          <p:nvPr/>
        </p:nvPicPr>
        <p:blipFill rotWithShape="1">
          <a:blip r:embed="rId5">
            <a:alphaModFix/>
          </a:blip>
          <a:srcRect/>
          <a:stretch/>
        </p:blipFill>
        <p:spPr>
          <a:xfrm>
            <a:off x="4092906" y="1598891"/>
            <a:ext cx="4374724" cy="3440122"/>
          </a:xfrm>
          <a:prstGeom prst="rect">
            <a:avLst/>
          </a:prstGeom>
          <a:noFill/>
          <a:ln>
            <a:noFill/>
          </a:ln>
        </p:spPr>
      </p:pic>
      <p:sp>
        <p:nvSpPr>
          <p:cNvPr id="197" name="Google Shape;197;p38"/>
          <p:cNvSpPr txBox="1"/>
          <p:nvPr/>
        </p:nvSpPr>
        <p:spPr>
          <a:xfrm>
            <a:off x="311698" y="1598891"/>
            <a:ext cx="3081421" cy="13849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Therefore, </a:t>
            </a:r>
            <a:endParaRPr dirty="0"/>
          </a:p>
          <a:p>
            <a:pPr marL="0" marR="0" lvl="0" indent="0" algn="l" rtl="0">
              <a:lnSpc>
                <a:spcPct val="100000"/>
              </a:lnSpc>
              <a:spcBef>
                <a:spcPts val="0"/>
              </a:spcBef>
              <a:spcAft>
                <a:spcPts val="0"/>
              </a:spcAft>
              <a:buNone/>
            </a:pPr>
            <a:endParaRPr sz="1400" b="0" i="0" u="none" strike="noStrike" cap="none" dirty="0">
              <a:solidFill>
                <a:schemeClr val="lt1"/>
              </a:solidFill>
              <a:latin typeface="Arial"/>
              <a:ea typeface="Arial"/>
              <a:cs typeface="Arial"/>
              <a:sym typeface="Arial"/>
            </a:endParaRPr>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1. poor SNR leads to underestimation of metallicity values</a:t>
            </a:r>
            <a:endParaRPr dirty="0"/>
          </a:p>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2. ultra-high metallicity cells bias the results</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92"/>
                                        </p:tgtEl>
                                      </p:cBhvr>
                                    </p:animEffect>
                                    <p:set>
                                      <p:cBhvr>
                                        <p:cTn id="7" dur="1" fill="hold">
                                          <p:stCondLst>
                                            <p:cond delay="500"/>
                                          </p:stCondLst>
                                        </p:cTn>
                                        <p:tgtEl>
                                          <p:spTgt spid="19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3"/>
                                        </p:tgtEl>
                                        <p:attrNameLst>
                                          <p:attrName>style.visibility</p:attrName>
                                        </p:attrNameLst>
                                      </p:cBhvr>
                                      <p:to>
                                        <p:strVal val="visible"/>
                                      </p:to>
                                    </p:set>
                                    <p:animEffect transition="in" filter="fade">
                                      <p:cBhvr>
                                        <p:cTn id="12" dur="1000"/>
                                        <p:tgtEl>
                                          <p:spTgt spid="19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1000"/>
                                        <p:tgtEl>
                                          <p:spTgt spid="193"/>
                                        </p:tgtEl>
                                      </p:cBhvr>
                                    </p:animEffect>
                                    <p:set>
                                      <p:cBhvr>
                                        <p:cTn id="17" dur="1" fill="hold">
                                          <p:stCondLst>
                                            <p:cond delay="1000"/>
                                          </p:stCondLst>
                                        </p:cTn>
                                        <p:tgtEl>
                                          <p:spTgt spid="19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6"/>
                                        </p:tgtEl>
                                        <p:attrNameLst>
                                          <p:attrName>style.visibility</p:attrName>
                                        </p:attrNameLst>
                                      </p:cBhvr>
                                      <p:to>
                                        <p:strVal val="visible"/>
                                      </p:to>
                                    </p:set>
                                    <p:animEffect transition="in" filter="fade">
                                      <p:cBhvr>
                                        <p:cTn id="22" dur="500"/>
                                        <p:tgtEl>
                                          <p:spTgt spid="196"/>
                                        </p:tgtEl>
                                      </p:cBhvr>
                                    </p:animEffect>
                                  </p:childTnLst>
                                </p:cTn>
                              </p:par>
                              <p:par>
                                <p:cTn id="23" presetID="10" presetClass="entr" presetSubtype="0" fill="hold" nodeType="withEffect">
                                  <p:stCondLst>
                                    <p:cond delay="0"/>
                                  </p:stCondLst>
                                  <p:childTnLst>
                                    <p:set>
                                      <p:cBhvr>
                                        <p:cTn id="24" dur="1" fill="hold">
                                          <p:stCondLst>
                                            <p:cond delay="0"/>
                                          </p:stCondLst>
                                        </p:cTn>
                                        <p:tgtEl>
                                          <p:spTgt spid="195"/>
                                        </p:tgtEl>
                                        <p:attrNameLst>
                                          <p:attrName>style.visibility</p:attrName>
                                        </p:attrNameLst>
                                      </p:cBhvr>
                                      <p:to>
                                        <p:strVal val="visible"/>
                                      </p:to>
                                    </p:set>
                                    <p:animEffect transition="in" filter="fade">
                                      <p:cBhvr>
                                        <p:cTn id="25" dur="500"/>
                                        <p:tgtEl>
                                          <p:spTgt spid="195"/>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97"/>
                                        </p:tgtEl>
                                        <p:attrNameLst>
                                          <p:attrName>style.visibility</p:attrName>
                                        </p:attrNameLst>
                                      </p:cBhvr>
                                      <p:to>
                                        <p:strVal val="visible"/>
                                      </p:to>
                                    </p:set>
                                    <p:anim calcmode="lin" valueType="num">
                                      <p:cBhvr additive="base">
                                        <p:cTn id="30" dur="500"/>
                                        <p:tgtEl>
                                          <p:spTgt spid="19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9"/>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sz="2000">
                <a:solidFill>
                  <a:schemeClr val="lt1"/>
                </a:solidFill>
              </a:rPr>
              <a:t>Discussion - From Simulation to Observation</a:t>
            </a:r>
            <a:endParaRPr/>
          </a:p>
        </p:txBody>
      </p:sp>
      <p:graphicFrame>
        <p:nvGraphicFramePr>
          <p:cNvPr id="203" name="Google Shape;203;p39"/>
          <p:cNvGraphicFramePr/>
          <p:nvPr>
            <p:extLst>
              <p:ext uri="{D42A27DB-BD31-4B8C-83A1-F6EECF244321}">
                <p14:modId xmlns:p14="http://schemas.microsoft.com/office/powerpoint/2010/main" val="2268016408"/>
              </p:ext>
            </p:extLst>
          </p:nvPr>
        </p:nvGraphicFramePr>
        <p:xfrm>
          <a:off x="311698" y="644786"/>
          <a:ext cx="4782000" cy="4372690"/>
        </p:xfrm>
        <a:graphic>
          <a:graphicData uri="http://schemas.openxmlformats.org/drawingml/2006/table">
            <a:tbl>
              <a:tblPr firstRow="1" firstCol="1">
                <a:noFill/>
                <a:tableStyleId>{8604016A-8ED0-4BCF-9218-027BD19F7E42}</a:tableStyleId>
              </a:tblPr>
              <a:tblGrid>
                <a:gridCol w="981600">
                  <a:extLst>
                    <a:ext uri="{9D8B030D-6E8A-4147-A177-3AD203B41FA5}">
                      <a16:colId xmlns:a16="http://schemas.microsoft.com/office/drawing/2014/main" val="20000"/>
                    </a:ext>
                  </a:extLst>
                </a:gridCol>
                <a:gridCol w="1907125">
                  <a:extLst>
                    <a:ext uri="{9D8B030D-6E8A-4147-A177-3AD203B41FA5}">
                      <a16:colId xmlns:a16="http://schemas.microsoft.com/office/drawing/2014/main" val="20001"/>
                    </a:ext>
                  </a:extLst>
                </a:gridCol>
                <a:gridCol w="1893275">
                  <a:extLst>
                    <a:ext uri="{9D8B030D-6E8A-4147-A177-3AD203B41FA5}">
                      <a16:colId xmlns:a16="http://schemas.microsoft.com/office/drawing/2014/main" val="20002"/>
                    </a:ext>
                  </a:extLst>
                </a:gridCol>
              </a:tblGrid>
              <a:tr h="745600">
                <a:tc>
                  <a:txBody>
                    <a:bodyPr/>
                    <a:lstStyle/>
                    <a:p>
                      <a:pPr marL="0" marR="0" lvl="0" indent="0" algn="l" rtl="0">
                        <a:lnSpc>
                          <a:spcPct val="100000"/>
                        </a:lnSpc>
                        <a:spcBef>
                          <a:spcPts val="0"/>
                        </a:spcBef>
                        <a:spcAft>
                          <a:spcPts val="0"/>
                        </a:spcAft>
                        <a:buNone/>
                      </a:pPr>
                      <a:r>
                        <a:rPr lang="en-AU" sz="1400" u="none" strike="noStrike" cap="none"/>
                        <a:t>Metal transport</a:t>
                      </a:r>
                      <a:endParaRPr/>
                    </a:p>
                    <a:p>
                      <a:pPr marL="0" marR="0" lvl="0" indent="0" algn="l" rtl="0">
                        <a:lnSpc>
                          <a:spcPct val="100000"/>
                        </a:lnSpc>
                        <a:spcBef>
                          <a:spcPts val="0"/>
                        </a:spcBef>
                        <a:spcAft>
                          <a:spcPts val="0"/>
                        </a:spcAft>
                        <a:buNone/>
                      </a:pPr>
                      <a:r>
                        <a:rPr lang="en-AU" sz="1400" u="none" strike="noStrike" cap="none"/>
                        <a:t>(4-grid model)</a:t>
                      </a:r>
                      <a:endParaRPr/>
                    </a:p>
                  </a:txBody>
                  <a:tcPr marL="91450" marR="91450" marT="45725" marB="45725"/>
                </a:tc>
                <a:tc>
                  <a:txBody>
                    <a:bodyPr/>
                    <a:lstStyle/>
                    <a:p>
                      <a:pPr marL="0" marR="0" lvl="0" indent="0" algn="l" rtl="0">
                        <a:lnSpc>
                          <a:spcPct val="100000"/>
                        </a:lnSpc>
                        <a:spcBef>
                          <a:spcPts val="0"/>
                        </a:spcBef>
                        <a:spcAft>
                          <a:spcPts val="0"/>
                        </a:spcAft>
                        <a:buNone/>
                      </a:pPr>
                      <a:r>
                        <a:rPr lang="en-AU" sz="1400" u="none" strike="noStrike" cap="none" dirty="0"/>
                        <a:t>Cold (&lt; 1e4 K)</a:t>
                      </a:r>
                      <a:endParaRPr dirty="0"/>
                    </a:p>
                  </a:txBody>
                  <a:tcPr marL="91450" marR="91450" marT="45725" marB="45725"/>
                </a:tc>
                <a:tc>
                  <a:txBody>
                    <a:bodyPr/>
                    <a:lstStyle/>
                    <a:p>
                      <a:pPr marL="0" marR="0" lvl="0" indent="0" algn="l" rtl="0">
                        <a:lnSpc>
                          <a:spcPct val="100000"/>
                        </a:lnSpc>
                        <a:spcBef>
                          <a:spcPts val="0"/>
                        </a:spcBef>
                        <a:spcAft>
                          <a:spcPts val="0"/>
                        </a:spcAft>
                        <a:buNone/>
                      </a:pPr>
                      <a:r>
                        <a:rPr lang="en-AU" sz="1400" u="none" strike="noStrike" cap="none" dirty="0"/>
                        <a:t>Hot (&gt; 1e7 K)</a:t>
                      </a:r>
                      <a:endParaRPr dirty="0"/>
                    </a:p>
                  </a:txBody>
                  <a:tcPr marL="91450" marR="91450" marT="45725" marB="45725"/>
                </a:tc>
                <a:extLst>
                  <a:ext uri="{0D108BD9-81ED-4DB2-BD59-A6C34878D82A}">
                    <a16:rowId xmlns:a16="http://schemas.microsoft.com/office/drawing/2014/main" val="10000"/>
                  </a:ext>
                </a:extLst>
              </a:tr>
              <a:tr h="1713900">
                <a:tc>
                  <a:txBody>
                    <a:bodyPr/>
                    <a:lstStyle/>
                    <a:p>
                      <a:pPr marL="0" marR="0" lvl="0" indent="0" algn="l" rtl="0">
                        <a:lnSpc>
                          <a:spcPct val="100000"/>
                        </a:lnSpc>
                        <a:spcBef>
                          <a:spcPts val="0"/>
                        </a:spcBef>
                        <a:spcAft>
                          <a:spcPts val="0"/>
                        </a:spcAft>
                        <a:buNone/>
                      </a:pPr>
                      <a:r>
                        <a:rPr lang="en-AU" sz="1400" u="none" strike="noStrike" cap="none"/>
                        <a:t>Wind</a:t>
                      </a:r>
                      <a:endParaRPr/>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extLst>
                  <a:ext uri="{0D108BD9-81ED-4DB2-BD59-A6C34878D82A}">
                    <a16:rowId xmlns:a16="http://schemas.microsoft.com/office/drawing/2014/main" val="10001"/>
                  </a:ext>
                </a:extLst>
              </a:tr>
              <a:tr h="1713900">
                <a:tc>
                  <a:txBody>
                    <a:bodyPr/>
                    <a:lstStyle/>
                    <a:p>
                      <a:pPr marL="0" marR="0" lvl="0" indent="0" algn="l" rtl="0">
                        <a:lnSpc>
                          <a:spcPct val="100000"/>
                        </a:lnSpc>
                        <a:spcBef>
                          <a:spcPts val="0"/>
                        </a:spcBef>
                        <a:spcAft>
                          <a:spcPts val="0"/>
                        </a:spcAft>
                        <a:buNone/>
                      </a:pPr>
                      <a:r>
                        <a:rPr lang="en-AU" sz="1400" u="none" strike="noStrike" cap="none"/>
                        <a:t>Plane</a:t>
                      </a:r>
                      <a:endParaRPr/>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dirty="0"/>
                    </a:p>
                  </a:txBody>
                  <a:tcPr marL="91450" marR="91450" marT="45725" marB="45725"/>
                </a:tc>
                <a:extLst>
                  <a:ext uri="{0D108BD9-81ED-4DB2-BD59-A6C34878D82A}">
                    <a16:rowId xmlns:a16="http://schemas.microsoft.com/office/drawing/2014/main" val="10002"/>
                  </a:ext>
                </a:extLst>
              </a:tr>
            </a:tbl>
          </a:graphicData>
        </a:graphic>
      </p:graphicFrame>
      <p:sp>
        <p:nvSpPr>
          <p:cNvPr id="204" name="Google Shape;204;p39"/>
          <p:cNvSpPr/>
          <p:nvPr/>
        </p:nvSpPr>
        <p:spPr>
          <a:xfrm>
            <a:off x="1699356" y="2829257"/>
            <a:ext cx="893026" cy="820616"/>
          </a:xfrm>
          <a:prstGeom prst="upArrow">
            <a:avLst>
              <a:gd name="adj1" fmla="val 50000"/>
              <a:gd name="adj2" fmla="val 50000"/>
            </a:avLst>
          </a:prstGeom>
          <a:solidFill>
            <a:srgbClr val="3384FF"/>
          </a:solidFill>
          <a:ln w="25400" cap="flat" cmpd="sng">
            <a:solidFill>
              <a:srgbClr val="001D4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5" name="Google Shape;205;p39"/>
          <p:cNvSpPr/>
          <p:nvPr/>
        </p:nvSpPr>
        <p:spPr>
          <a:xfrm>
            <a:off x="3910013" y="2829257"/>
            <a:ext cx="893026" cy="820616"/>
          </a:xfrm>
          <a:prstGeom prst="upArrow">
            <a:avLst>
              <a:gd name="adj1" fmla="val 50000"/>
              <a:gd name="adj2" fmla="val 50000"/>
            </a:avLst>
          </a:prstGeom>
          <a:solidFill>
            <a:srgbClr val="C1400C"/>
          </a:solidFill>
          <a:ln w="25400" cap="flat" cmpd="sng">
            <a:solidFill>
              <a:srgbClr val="001D4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06" name="Google Shape;206;p39"/>
          <p:cNvSpPr/>
          <p:nvPr/>
        </p:nvSpPr>
        <p:spPr>
          <a:xfrm rot="2648009">
            <a:off x="2882748" y="2772901"/>
            <a:ext cx="736898" cy="902102"/>
          </a:xfrm>
          <a:prstGeom prst="upArrow">
            <a:avLst>
              <a:gd name="adj1" fmla="val 50000"/>
              <a:gd name="adj2" fmla="val 50000"/>
            </a:avLst>
          </a:prstGeom>
          <a:solidFill>
            <a:srgbClr val="F79D78"/>
          </a:solidFill>
          <a:ln w="25400" cap="flat" cmpd="sng">
            <a:solidFill>
              <a:srgbClr val="001D4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207" name="Google Shape;207;p39"/>
          <p:cNvPicPr preferRelativeResize="0"/>
          <p:nvPr/>
        </p:nvPicPr>
        <p:blipFill rotWithShape="1">
          <a:blip r:embed="rId3">
            <a:alphaModFix/>
          </a:blip>
          <a:srcRect/>
          <a:stretch/>
        </p:blipFill>
        <p:spPr>
          <a:xfrm>
            <a:off x="5954588" y="636351"/>
            <a:ext cx="2228850" cy="752475"/>
          </a:xfrm>
          <a:prstGeom prst="rect">
            <a:avLst/>
          </a:prstGeom>
          <a:noFill/>
          <a:ln>
            <a:noFill/>
          </a:ln>
        </p:spPr>
      </p:pic>
      <p:pic>
        <p:nvPicPr>
          <p:cNvPr id="208" name="Google Shape;208;p39"/>
          <p:cNvPicPr preferRelativeResize="0"/>
          <p:nvPr/>
        </p:nvPicPr>
        <p:blipFill rotWithShape="1">
          <a:blip r:embed="rId4">
            <a:alphaModFix/>
          </a:blip>
          <a:srcRect/>
          <a:stretch/>
        </p:blipFill>
        <p:spPr>
          <a:xfrm>
            <a:off x="6264638" y="3715185"/>
            <a:ext cx="1675494" cy="948870"/>
          </a:xfrm>
          <a:prstGeom prst="rect">
            <a:avLst/>
          </a:prstGeom>
          <a:noFill/>
          <a:ln>
            <a:noFill/>
          </a:ln>
        </p:spPr>
      </p:pic>
      <p:pic>
        <p:nvPicPr>
          <p:cNvPr id="209" name="Google Shape;209;p39"/>
          <p:cNvPicPr preferRelativeResize="0"/>
          <p:nvPr/>
        </p:nvPicPr>
        <p:blipFill rotWithShape="1">
          <a:blip r:embed="rId5">
            <a:alphaModFix/>
          </a:blip>
          <a:srcRect/>
          <a:stretch/>
        </p:blipFill>
        <p:spPr>
          <a:xfrm>
            <a:off x="6264639" y="636351"/>
            <a:ext cx="1675494" cy="3070094"/>
          </a:xfrm>
          <a:prstGeom prst="rect">
            <a:avLst/>
          </a:prstGeom>
          <a:noFill/>
          <a:ln>
            <a:noFill/>
          </a:ln>
        </p:spPr>
      </p:pic>
      <p:pic>
        <p:nvPicPr>
          <p:cNvPr id="210" name="Google Shape;210;p39"/>
          <p:cNvPicPr preferRelativeResize="0"/>
          <p:nvPr/>
        </p:nvPicPr>
        <p:blipFill rotWithShape="1">
          <a:blip r:embed="rId6">
            <a:alphaModFix/>
          </a:blip>
          <a:srcRect/>
          <a:stretch/>
        </p:blipFill>
        <p:spPr>
          <a:xfrm>
            <a:off x="5836257" y="627611"/>
            <a:ext cx="2465512" cy="1075490"/>
          </a:xfrm>
          <a:prstGeom prst="rect">
            <a:avLst/>
          </a:prstGeom>
          <a:noFill/>
          <a:ln>
            <a:noFill/>
          </a:ln>
        </p:spPr>
      </p:pic>
      <p:pic>
        <p:nvPicPr>
          <p:cNvPr id="211" name="Google Shape;211;p39"/>
          <p:cNvPicPr preferRelativeResize="0"/>
          <p:nvPr/>
        </p:nvPicPr>
        <p:blipFill rotWithShape="1">
          <a:blip r:embed="rId7">
            <a:alphaModFix/>
          </a:blip>
          <a:srcRect/>
          <a:stretch/>
        </p:blipFill>
        <p:spPr>
          <a:xfrm>
            <a:off x="1296922" y="3901260"/>
            <a:ext cx="1895475" cy="857250"/>
          </a:xfrm>
          <a:prstGeom prst="rect">
            <a:avLst/>
          </a:prstGeom>
          <a:noFill/>
          <a:ln>
            <a:noFill/>
          </a:ln>
        </p:spPr>
      </p:pic>
      <p:pic>
        <p:nvPicPr>
          <p:cNvPr id="212" name="Google Shape;212;p39"/>
          <p:cNvPicPr preferRelativeResize="0"/>
          <p:nvPr/>
        </p:nvPicPr>
        <p:blipFill rotWithShape="1">
          <a:blip r:embed="rId8">
            <a:alphaModFix/>
          </a:blip>
          <a:srcRect/>
          <a:stretch/>
        </p:blipFill>
        <p:spPr>
          <a:xfrm>
            <a:off x="1296922" y="1867550"/>
            <a:ext cx="1895475" cy="857250"/>
          </a:xfrm>
          <a:prstGeom prst="rect">
            <a:avLst/>
          </a:prstGeom>
          <a:noFill/>
          <a:ln>
            <a:noFill/>
          </a:ln>
        </p:spPr>
      </p:pic>
      <p:pic>
        <p:nvPicPr>
          <p:cNvPr id="213" name="Google Shape;213;p39"/>
          <p:cNvPicPr preferRelativeResize="0"/>
          <p:nvPr/>
        </p:nvPicPr>
        <p:blipFill rotWithShape="1">
          <a:blip r:embed="rId9">
            <a:alphaModFix/>
          </a:blip>
          <a:srcRect/>
          <a:stretch/>
        </p:blipFill>
        <p:spPr>
          <a:xfrm>
            <a:off x="5592638" y="2114882"/>
            <a:ext cx="2952750" cy="714375"/>
          </a:xfrm>
          <a:prstGeom prst="rect">
            <a:avLst/>
          </a:prstGeom>
          <a:noFill/>
          <a:ln>
            <a:noFill/>
          </a:ln>
        </p:spPr>
      </p:pic>
      <p:pic>
        <p:nvPicPr>
          <p:cNvPr id="214" name="Google Shape;214;p39"/>
          <p:cNvPicPr preferRelativeResize="0"/>
          <p:nvPr/>
        </p:nvPicPr>
        <p:blipFill rotWithShape="1">
          <a:blip r:embed="rId10">
            <a:alphaModFix/>
          </a:blip>
          <a:srcRect/>
          <a:stretch/>
        </p:blipFill>
        <p:spPr>
          <a:xfrm>
            <a:off x="5542859" y="3546246"/>
            <a:ext cx="3119052" cy="355014"/>
          </a:xfrm>
          <a:prstGeom prst="rect">
            <a:avLst/>
          </a:prstGeom>
          <a:noFill/>
          <a:ln>
            <a:noFill/>
          </a:ln>
        </p:spPr>
      </p:pic>
      <p:pic>
        <p:nvPicPr>
          <p:cNvPr id="215" name="Google Shape;215;p39"/>
          <p:cNvPicPr preferRelativeResize="0"/>
          <p:nvPr/>
        </p:nvPicPr>
        <p:blipFill rotWithShape="1">
          <a:blip r:embed="rId11">
            <a:alphaModFix/>
          </a:blip>
          <a:srcRect/>
          <a:stretch/>
        </p:blipFill>
        <p:spPr>
          <a:xfrm>
            <a:off x="3202599" y="3895505"/>
            <a:ext cx="1895475" cy="857250"/>
          </a:xfrm>
          <a:prstGeom prst="rect">
            <a:avLst/>
          </a:prstGeom>
          <a:noFill/>
          <a:ln>
            <a:noFill/>
          </a:ln>
        </p:spPr>
      </p:pic>
      <p:pic>
        <p:nvPicPr>
          <p:cNvPr id="216" name="Google Shape;216;p39"/>
          <p:cNvPicPr preferRelativeResize="0"/>
          <p:nvPr/>
        </p:nvPicPr>
        <p:blipFill rotWithShape="1">
          <a:blip r:embed="rId12">
            <a:alphaModFix/>
          </a:blip>
          <a:srcRect/>
          <a:stretch/>
        </p:blipFill>
        <p:spPr>
          <a:xfrm>
            <a:off x="3202722" y="1867550"/>
            <a:ext cx="1895475" cy="857250"/>
          </a:xfrm>
          <a:prstGeom prst="rect">
            <a:avLst/>
          </a:prstGeom>
          <a:noFill/>
          <a:ln>
            <a:noFill/>
          </a:ln>
        </p:spPr>
      </p:pic>
      <p:pic>
        <p:nvPicPr>
          <p:cNvPr id="217" name="Google Shape;217;p39"/>
          <p:cNvPicPr preferRelativeResize="0"/>
          <p:nvPr/>
        </p:nvPicPr>
        <p:blipFill rotWithShape="1">
          <a:blip r:embed="rId13">
            <a:alphaModFix/>
          </a:blip>
          <a:srcRect/>
          <a:stretch/>
        </p:blipFill>
        <p:spPr>
          <a:xfrm>
            <a:off x="4150336" y="3074022"/>
            <a:ext cx="381000" cy="381000"/>
          </a:xfrm>
          <a:prstGeom prst="rect">
            <a:avLst/>
          </a:prstGeom>
          <a:noFill/>
          <a:ln>
            <a:noFill/>
          </a:ln>
        </p:spPr>
      </p:pic>
      <p:pic>
        <p:nvPicPr>
          <p:cNvPr id="218" name="Google Shape;218;p39"/>
          <p:cNvPicPr preferRelativeResize="0"/>
          <p:nvPr/>
        </p:nvPicPr>
        <p:blipFill rotWithShape="1">
          <a:blip r:embed="rId14">
            <a:alphaModFix/>
          </a:blip>
          <a:srcRect/>
          <a:stretch/>
        </p:blipFill>
        <p:spPr>
          <a:xfrm>
            <a:off x="3076392" y="3145637"/>
            <a:ext cx="237770" cy="237770"/>
          </a:xfrm>
          <a:prstGeom prst="rect">
            <a:avLst/>
          </a:prstGeom>
          <a:noFill/>
          <a:ln>
            <a:noFill/>
          </a:ln>
        </p:spPr>
      </p:pic>
      <p:pic>
        <p:nvPicPr>
          <p:cNvPr id="219" name="Google Shape;219;p39"/>
          <p:cNvPicPr preferRelativeResize="0"/>
          <p:nvPr/>
        </p:nvPicPr>
        <p:blipFill rotWithShape="1">
          <a:blip r:embed="rId15">
            <a:alphaModFix/>
          </a:blip>
          <a:srcRect/>
          <a:stretch/>
        </p:blipFill>
        <p:spPr>
          <a:xfrm>
            <a:off x="1944448" y="3069936"/>
            <a:ext cx="402842" cy="486188"/>
          </a:xfrm>
          <a:prstGeom prst="rect">
            <a:avLst/>
          </a:prstGeom>
          <a:noFill/>
          <a:ln>
            <a:noFill/>
          </a:ln>
        </p:spPr>
      </p:pic>
      <p:sp>
        <p:nvSpPr>
          <p:cNvPr id="220" name="Google Shape;220;p39"/>
          <p:cNvSpPr/>
          <p:nvPr/>
        </p:nvSpPr>
        <p:spPr>
          <a:xfrm>
            <a:off x="4150336" y="2114882"/>
            <a:ext cx="943341" cy="456868"/>
          </a:xfrm>
          <a:prstGeom prst="roundRect">
            <a:avLst>
              <a:gd name="adj" fmla="val 16667"/>
            </a:avLst>
          </a:prstGeom>
          <a:noFill/>
          <a:ln w="25400" cap="flat" cmpd="sng">
            <a:solidFill>
              <a:srgbClr val="001D4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1" name="Google Shape;221;p39"/>
          <p:cNvSpPr/>
          <p:nvPr/>
        </p:nvSpPr>
        <p:spPr>
          <a:xfrm>
            <a:off x="6629400" y="2350477"/>
            <a:ext cx="1915988" cy="374323"/>
          </a:xfrm>
          <a:prstGeom prst="roundRect">
            <a:avLst>
              <a:gd name="adj" fmla="val 16667"/>
            </a:avLst>
          </a:prstGeom>
          <a:noFill/>
          <a:ln w="25400" cap="flat" cmpd="sng">
            <a:solidFill>
              <a:srgbClr val="001D4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222" name="Google Shape;222;p39"/>
          <p:cNvCxnSpPr/>
          <p:nvPr/>
        </p:nvCxnSpPr>
        <p:spPr>
          <a:xfrm>
            <a:off x="5025777" y="2571750"/>
            <a:ext cx="822191" cy="1059036"/>
          </a:xfrm>
          <a:prstGeom prst="straightConnector1">
            <a:avLst/>
          </a:prstGeom>
          <a:noFill/>
          <a:ln w="38100" cap="flat" cmpd="sng">
            <a:solidFill>
              <a:srgbClr val="0042AC"/>
            </a:solidFill>
            <a:prstDash val="solid"/>
            <a:round/>
            <a:headEnd type="none" w="sm" len="sm"/>
            <a:tailEnd type="triangle" w="med" len="med"/>
          </a:ln>
        </p:spPr>
      </p:cxnSp>
      <p:cxnSp>
        <p:nvCxnSpPr>
          <p:cNvPr id="223" name="Google Shape;223;p39"/>
          <p:cNvCxnSpPr>
            <a:stCxn id="221" idx="2"/>
          </p:cNvCxnSpPr>
          <p:nvPr/>
        </p:nvCxnSpPr>
        <p:spPr>
          <a:xfrm>
            <a:off x="7587394" y="2724800"/>
            <a:ext cx="69300" cy="888000"/>
          </a:xfrm>
          <a:prstGeom prst="straightConnector1">
            <a:avLst/>
          </a:prstGeom>
          <a:noFill/>
          <a:ln w="38100" cap="flat" cmpd="sng">
            <a:solidFill>
              <a:srgbClr val="0042AC"/>
            </a:solidFill>
            <a:prstDash val="solid"/>
            <a:round/>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fade">
                                      <p:cBhvr>
                                        <p:cTn id="7" dur="500"/>
                                        <p:tgtEl>
                                          <p:spTgt spid="2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1000"/>
                                        <p:tgtEl>
                                          <p:spTgt spid="207"/>
                                        </p:tgtEl>
                                      </p:cBhvr>
                                    </p:animEffect>
                                    <p:set>
                                      <p:cBhvr>
                                        <p:cTn id="12" dur="1" fill="hold">
                                          <p:stCondLst>
                                            <p:cond delay="1000"/>
                                          </p:stCondLst>
                                        </p:cTn>
                                        <p:tgtEl>
                                          <p:spTgt spid="20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9"/>
                                        </p:tgtEl>
                                        <p:attrNameLst>
                                          <p:attrName>style.visibility</p:attrName>
                                        </p:attrNameLst>
                                      </p:cBhvr>
                                      <p:to>
                                        <p:strVal val="visible"/>
                                      </p:to>
                                    </p:set>
                                    <p:animEffect transition="in" filter="fade">
                                      <p:cBhvr>
                                        <p:cTn id="17" dur="1000"/>
                                        <p:tgtEl>
                                          <p:spTgt spid="209"/>
                                        </p:tgtEl>
                                      </p:cBhvr>
                                    </p:animEffect>
                                  </p:childTnLst>
                                </p:cTn>
                              </p:par>
                              <p:par>
                                <p:cTn id="18" presetID="10" presetClass="entr" presetSubtype="0" fill="hold" nodeType="withEffect">
                                  <p:stCondLst>
                                    <p:cond delay="0"/>
                                  </p:stCondLst>
                                  <p:childTnLst>
                                    <p:set>
                                      <p:cBhvr>
                                        <p:cTn id="19" dur="1" fill="hold">
                                          <p:stCondLst>
                                            <p:cond delay="0"/>
                                          </p:stCondLst>
                                        </p:cTn>
                                        <p:tgtEl>
                                          <p:spTgt spid="208"/>
                                        </p:tgtEl>
                                        <p:attrNameLst>
                                          <p:attrName>style.visibility</p:attrName>
                                        </p:attrNameLst>
                                      </p:cBhvr>
                                      <p:to>
                                        <p:strVal val="visible"/>
                                      </p:to>
                                    </p:set>
                                    <p:animEffect transition="in" filter="fade">
                                      <p:cBhvr>
                                        <p:cTn id="20" dur="1000"/>
                                        <p:tgtEl>
                                          <p:spTgt spid="20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nodeType="clickEffect">
                                  <p:stCondLst>
                                    <p:cond delay="0"/>
                                  </p:stCondLst>
                                  <p:childTnLst>
                                    <p:animEffect transition="out" filter="fade">
                                      <p:cBhvr>
                                        <p:cTn id="24" dur="1000"/>
                                        <p:tgtEl>
                                          <p:spTgt spid="209"/>
                                        </p:tgtEl>
                                      </p:cBhvr>
                                    </p:animEffect>
                                    <p:set>
                                      <p:cBhvr>
                                        <p:cTn id="25" dur="1" fill="hold">
                                          <p:stCondLst>
                                            <p:cond delay="1000"/>
                                          </p:stCondLst>
                                        </p:cTn>
                                        <p:tgtEl>
                                          <p:spTgt spid="209"/>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1000"/>
                                        <p:tgtEl>
                                          <p:spTgt spid="208"/>
                                        </p:tgtEl>
                                      </p:cBhvr>
                                    </p:animEffect>
                                    <p:set>
                                      <p:cBhvr>
                                        <p:cTn id="28" dur="1" fill="hold">
                                          <p:stCondLst>
                                            <p:cond delay="1000"/>
                                          </p:stCondLst>
                                        </p:cTn>
                                        <p:tgtEl>
                                          <p:spTgt spid="208"/>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12"/>
                                        </p:tgtEl>
                                        <p:attrNameLst>
                                          <p:attrName>style.visibility</p:attrName>
                                        </p:attrNameLst>
                                      </p:cBhvr>
                                      <p:to>
                                        <p:strVal val="visible"/>
                                      </p:to>
                                    </p:set>
                                    <p:animEffect transition="in" filter="fade">
                                      <p:cBhvr>
                                        <p:cTn id="33" dur="500"/>
                                        <p:tgtEl>
                                          <p:spTgt spid="212"/>
                                        </p:tgtEl>
                                      </p:cBhvr>
                                    </p:animEffect>
                                  </p:childTnLst>
                                </p:cTn>
                              </p:par>
                              <p:par>
                                <p:cTn id="34" presetID="10" presetClass="entr" presetSubtype="0" fill="hold" nodeType="withEffect">
                                  <p:stCondLst>
                                    <p:cond delay="0"/>
                                  </p:stCondLst>
                                  <p:childTnLst>
                                    <p:set>
                                      <p:cBhvr>
                                        <p:cTn id="35" dur="1" fill="hold">
                                          <p:stCondLst>
                                            <p:cond delay="0"/>
                                          </p:stCondLst>
                                        </p:cTn>
                                        <p:tgtEl>
                                          <p:spTgt spid="211"/>
                                        </p:tgtEl>
                                        <p:attrNameLst>
                                          <p:attrName>style.visibility</p:attrName>
                                        </p:attrNameLst>
                                      </p:cBhvr>
                                      <p:to>
                                        <p:strVal val="visible"/>
                                      </p:to>
                                    </p:set>
                                    <p:animEffect transition="in" filter="fade">
                                      <p:cBhvr>
                                        <p:cTn id="36" dur="500"/>
                                        <p:tgtEl>
                                          <p:spTgt spid="211"/>
                                        </p:tgtEl>
                                      </p:cBhvr>
                                    </p:animEffect>
                                  </p:childTnLst>
                                </p:cTn>
                              </p:par>
                              <p:par>
                                <p:cTn id="37" presetID="10" presetClass="entr" presetSubtype="0" fill="hold" nodeType="withEffect">
                                  <p:stCondLst>
                                    <p:cond delay="0"/>
                                  </p:stCondLst>
                                  <p:childTnLst>
                                    <p:set>
                                      <p:cBhvr>
                                        <p:cTn id="38" dur="1" fill="hold">
                                          <p:stCondLst>
                                            <p:cond delay="0"/>
                                          </p:stCondLst>
                                        </p:cTn>
                                        <p:tgtEl>
                                          <p:spTgt spid="216"/>
                                        </p:tgtEl>
                                        <p:attrNameLst>
                                          <p:attrName>style.visibility</p:attrName>
                                        </p:attrNameLst>
                                      </p:cBhvr>
                                      <p:to>
                                        <p:strVal val="visible"/>
                                      </p:to>
                                    </p:set>
                                    <p:animEffect transition="in" filter="fade">
                                      <p:cBhvr>
                                        <p:cTn id="39" dur="500"/>
                                        <p:tgtEl>
                                          <p:spTgt spid="216"/>
                                        </p:tgtEl>
                                      </p:cBhvr>
                                    </p:animEffect>
                                  </p:childTnLst>
                                </p:cTn>
                              </p:par>
                              <p:par>
                                <p:cTn id="40" presetID="10" presetClass="entr" presetSubtype="0" fill="hold" nodeType="withEffect">
                                  <p:stCondLst>
                                    <p:cond delay="0"/>
                                  </p:stCondLst>
                                  <p:childTnLst>
                                    <p:set>
                                      <p:cBhvr>
                                        <p:cTn id="41" dur="1" fill="hold">
                                          <p:stCondLst>
                                            <p:cond delay="0"/>
                                          </p:stCondLst>
                                        </p:cTn>
                                        <p:tgtEl>
                                          <p:spTgt spid="215"/>
                                        </p:tgtEl>
                                        <p:attrNameLst>
                                          <p:attrName>style.visibility</p:attrName>
                                        </p:attrNameLst>
                                      </p:cBhvr>
                                      <p:to>
                                        <p:strVal val="visible"/>
                                      </p:to>
                                    </p:set>
                                    <p:animEffect transition="in" filter="fade">
                                      <p:cBhvr>
                                        <p:cTn id="42" dur="500"/>
                                        <p:tgtEl>
                                          <p:spTgt spid="2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0"/>
                                        </p:tgtEl>
                                        <p:attrNameLst>
                                          <p:attrName>style.visibility</p:attrName>
                                        </p:attrNameLst>
                                      </p:cBhvr>
                                      <p:to>
                                        <p:strVal val="visible"/>
                                      </p:to>
                                    </p:set>
                                    <p:animEffect transition="in" filter="fade">
                                      <p:cBhvr>
                                        <p:cTn id="47" dur="1000"/>
                                        <p:tgtEl>
                                          <p:spTgt spid="210"/>
                                        </p:tgtEl>
                                      </p:cBhvr>
                                    </p:animEffect>
                                  </p:childTnLst>
                                </p:cTn>
                              </p:par>
                              <p:par>
                                <p:cTn id="48" presetID="10" presetClass="entr" presetSubtype="0" fill="hold" nodeType="withEffect">
                                  <p:stCondLst>
                                    <p:cond delay="0"/>
                                  </p:stCondLst>
                                  <p:childTnLst>
                                    <p:set>
                                      <p:cBhvr>
                                        <p:cTn id="49" dur="1" fill="hold">
                                          <p:stCondLst>
                                            <p:cond delay="0"/>
                                          </p:stCondLst>
                                        </p:cTn>
                                        <p:tgtEl>
                                          <p:spTgt spid="205"/>
                                        </p:tgtEl>
                                        <p:attrNameLst>
                                          <p:attrName>style.visibility</p:attrName>
                                        </p:attrNameLst>
                                      </p:cBhvr>
                                      <p:to>
                                        <p:strVal val="visible"/>
                                      </p:to>
                                    </p:set>
                                    <p:animEffect transition="in" filter="fade">
                                      <p:cBhvr>
                                        <p:cTn id="50" dur="1000"/>
                                        <p:tgtEl>
                                          <p:spTgt spid="205"/>
                                        </p:tgtEl>
                                      </p:cBhvr>
                                    </p:animEffect>
                                  </p:childTnLst>
                                </p:cTn>
                              </p:par>
                              <p:par>
                                <p:cTn id="51" presetID="10" presetClass="entr" presetSubtype="0" fill="hold" nodeType="withEffect">
                                  <p:stCondLst>
                                    <p:cond delay="0"/>
                                  </p:stCondLst>
                                  <p:childTnLst>
                                    <p:set>
                                      <p:cBhvr>
                                        <p:cTn id="52" dur="1" fill="hold">
                                          <p:stCondLst>
                                            <p:cond delay="0"/>
                                          </p:stCondLst>
                                        </p:cTn>
                                        <p:tgtEl>
                                          <p:spTgt spid="206"/>
                                        </p:tgtEl>
                                        <p:attrNameLst>
                                          <p:attrName>style.visibility</p:attrName>
                                        </p:attrNameLst>
                                      </p:cBhvr>
                                      <p:to>
                                        <p:strVal val="visible"/>
                                      </p:to>
                                    </p:set>
                                    <p:animEffect transition="in" filter="fade">
                                      <p:cBhvr>
                                        <p:cTn id="53" dur="1000"/>
                                        <p:tgtEl>
                                          <p:spTgt spid="206"/>
                                        </p:tgtEl>
                                      </p:cBhvr>
                                    </p:animEffect>
                                  </p:childTnLst>
                                </p:cTn>
                              </p:par>
                              <p:par>
                                <p:cTn id="54" presetID="10" presetClass="entr" presetSubtype="0" fill="hold" nodeType="withEffect">
                                  <p:stCondLst>
                                    <p:cond delay="0"/>
                                  </p:stCondLst>
                                  <p:childTnLst>
                                    <p:set>
                                      <p:cBhvr>
                                        <p:cTn id="55" dur="1" fill="hold">
                                          <p:stCondLst>
                                            <p:cond delay="0"/>
                                          </p:stCondLst>
                                        </p:cTn>
                                        <p:tgtEl>
                                          <p:spTgt spid="219"/>
                                        </p:tgtEl>
                                        <p:attrNameLst>
                                          <p:attrName>style.visibility</p:attrName>
                                        </p:attrNameLst>
                                      </p:cBhvr>
                                      <p:to>
                                        <p:strVal val="visible"/>
                                      </p:to>
                                    </p:set>
                                    <p:animEffect transition="in" filter="fade">
                                      <p:cBhvr>
                                        <p:cTn id="56" dur="1000"/>
                                        <p:tgtEl>
                                          <p:spTgt spid="219"/>
                                        </p:tgtEl>
                                      </p:cBhvr>
                                    </p:animEffect>
                                  </p:childTnLst>
                                </p:cTn>
                              </p:par>
                              <p:par>
                                <p:cTn id="57" presetID="10" presetClass="entr" presetSubtype="0" fill="hold" nodeType="withEffect">
                                  <p:stCondLst>
                                    <p:cond delay="0"/>
                                  </p:stCondLst>
                                  <p:childTnLst>
                                    <p:set>
                                      <p:cBhvr>
                                        <p:cTn id="58" dur="1" fill="hold">
                                          <p:stCondLst>
                                            <p:cond delay="0"/>
                                          </p:stCondLst>
                                        </p:cTn>
                                        <p:tgtEl>
                                          <p:spTgt spid="218"/>
                                        </p:tgtEl>
                                        <p:attrNameLst>
                                          <p:attrName>style.visibility</p:attrName>
                                        </p:attrNameLst>
                                      </p:cBhvr>
                                      <p:to>
                                        <p:strVal val="visible"/>
                                      </p:to>
                                    </p:set>
                                    <p:animEffect transition="in" filter="fade">
                                      <p:cBhvr>
                                        <p:cTn id="59" dur="1000"/>
                                        <p:tgtEl>
                                          <p:spTgt spid="218"/>
                                        </p:tgtEl>
                                      </p:cBhvr>
                                    </p:animEffect>
                                  </p:childTnLst>
                                </p:cTn>
                              </p:par>
                              <p:par>
                                <p:cTn id="60" presetID="10" presetClass="entr" presetSubtype="0" fill="hold" nodeType="withEffect">
                                  <p:stCondLst>
                                    <p:cond delay="0"/>
                                  </p:stCondLst>
                                  <p:childTnLst>
                                    <p:set>
                                      <p:cBhvr>
                                        <p:cTn id="61" dur="1" fill="hold">
                                          <p:stCondLst>
                                            <p:cond delay="0"/>
                                          </p:stCondLst>
                                        </p:cTn>
                                        <p:tgtEl>
                                          <p:spTgt spid="217"/>
                                        </p:tgtEl>
                                        <p:attrNameLst>
                                          <p:attrName>style.visibility</p:attrName>
                                        </p:attrNameLst>
                                      </p:cBhvr>
                                      <p:to>
                                        <p:strVal val="visible"/>
                                      </p:to>
                                    </p:set>
                                    <p:animEffect transition="in" filter="fade">
                                      <p:cBhvr>
                                        <p:cTn id="62" dur="1000"/>
                                        <p:tgtEl>
                                          <p:spTgt spid="217"/>
                                        </p:tgtEl>
                                      </p:cBhvr>
                                    </p:animEffect>
                                  </p:childTnLst>
                                </p:cTn>
                              </p:par>
                              <p:par>
                                <p:cTn id="63" presetID="10" presetClass="entr" presetSubtype="0" fill="hold" nodeType="withEffect">
                                  <p:stCondLst>
                                    <p:cond delay="0"/>
                                  </p:stCondLst>
                                  <p:childTnLst>
                                    <p:set>
                                      <p:cBhvr>
                                        <p:cTn id="64" dur="1" fill="hold">
                                          <p:stCondLst>
                                            <p:cond delay="0"/>
                                          </p:stCondLst>
                                        </p:cTn>
                                        <p:tgtEl>
                                          <p:spTgt spid="204"/>
                                        </p:tgtEl>
                                        <p:attrNameLst>
                                          <p:attrName>style.visibility</p:attrName>
                                        </p:attrNameLst>
                                      </p:cBhvr>
                                      <p:to>
                                        <p:strVal val="visible"/>
                                      </p:to>
                                    </p:set>
                                    <p:animEffect transition="in" filter="fade">
                                      <p:cBhvr>
                                        <p:cTn id="65" dur="1000"/>
                                        <p:tgtEl>
                                          <p:spTgt spid="204"/>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213"/>
                                        </p:tgtEl>
                                        <p:attrNameLst>
                                          <p:attrName>style.visibility</p:attrName>
                                        </p:attrNameLst>
                                      </p:cBhvr>
                                      <p:to>
                                        <p:strVal val="visible"/>
                                      </p:to>
                                    </p:set>
                                    <p:animEffect transition="in" filter="fade">
                                      <p:cBhvr>
                                        <p:cTn id="70" dur="1000"/>
                                        <p:tgtEl>
                                          <p:spTgt spid="213"/>
                                        </p:tgtEl>
                                      </p:cBhvr>
                                    </p:animEffect>
                                  </p:childTnLst>
                                </p:cTn>
                              </p:par>
                            </p:childTnLst>
                          </p:cTn>
                        </p:par>
                      </p:childTnLst>
                    </p:cTn>
                  </p:par>
                  <p:par>
                    <p:cTn id="71" fill="hold">
                      <p:stCondLst>
                        <p:cond delay="indefinite"/>
                      </p:stCondLst>
                      <p:childTnLst>
                        <p:par>
                          <p:cTn id="72" fill="hold">
                            <p:stCondLst>
                              <p:cond delay="0"/>
                            </p:stCondLst>
                            <p:childTnLst>
                              <p:par>
                                <p:cTn id="73" presetID="23" presetClass="entr" presetSubtype="16" fill="hold" nodeType="clickEffect">
                                  <p:stCondLst>
                                    <p:cond delay="0"/>
                                  </p:stCondLst>
                                  <p:childTnLst>
                                    <p:set>
                                      <p:cBhvr>
                                        <p:cTn id="74" dur="1" fill="hold">
                                          <p:stCondLst>
                                            <p:cond delay="0"/>
                                          </p:stCondLst>
                                        </p:cTn>
                                        <p:tgtEl>
                                          <p:spTgt spid="214"/>
                                        </p:tgtEl>
                                        <p:attrNameLst>
                                          <p:attrName>style.visibility</p:attrName>
                                        </p:attrNameLst>
                                      </p:cBhvr>
                                      <p:to>
                                        <p:strVal val="visible"/>
                                      </p:to>
                                    </p:set>
                                    <p:anim calcmode="lin" valueType="num">
                                      <p:cBhvr additive="base">
                                        <p:cTn id="75" dur="500"/>
                                        <p:tgtEl>
                                          <p:spTgt spid="214"/>
                                        </p:tgtEl>
                                        <p:attrNameLst>
                                          <p:attrName>ppt_w</p:attrName>
                                        </p:attrNameLst>
                                      </p:cBhvr>
                                      <p:tavLst>
                                        <p:tav tm="0">
                                          <p:val>
                                            <p:strVal val="0"/>
                                          </p:val>
                                        </p:tav>
                                        <p:tav tm="100000">
                                          <p:val>
                                            <p:strVal val="#ppt_w"/>
                                          </p:val>
                                        </p:tav>
                                      </p:tavLst>
                                    </p:anim>
                                    <p:anim calcmode="lin" valueType="num">
                                      <p:cBhvr additive="base">
                                        <p:cTn id="76" dur="500"/>
                                        <p:tgtEl>
                                          <p:spTgt spid="214"/>
                                        </p:tgtEl>
                                        <p:attrNameLst>
                                          <p:attrName>ppt_h</p:attrName>
                                        </p:attrNameLst>
                                      </p:cBhvr>
                                      <p:tavLst>
                                        <p:tav tm="0">
                                          <p:val>
                                            <p:strVal val="0"/>
                                          </p:val>
                                        </p:tav>
                                        <p:tav tm="100000">
                                          <p:val>
                                            <p:strVal val="#ppt_h"/>
                                          </p:val>
                                        </p:tav>
                                      </p:tavLst>
                                    </p:anim>
                                  </p:childTnLst>
                                </p:cTn>
                              </p:par>
                              <p:par>
                                <p:cTn id="77" presetID="23" presetClass="entr" presetSubtype="16" fill="hold" nodeType="withEffect">
                                  <p:stCondLst>
                                    <p:cond delay="0"/>
                                  </p:stCondLst>
                                  <p:childTnLst>
                                    <p:set>
                                      <p:cBhvr>
                                        <p:cTn id="78" dur="1" fill="hold">
                                          <p:stCondLst>
                                            <p:cond delay="0"/>
                                          </p:stCondLst>
                                        </p:cTn>
                                        <p:tgtEl>
                                          <p:spTgt spid="220"/>
                                        </p:tgtEl>
                                        <p:attrNameLst>
                                          <p:attrName>style.visibility</p:attrName>
                                        </p:attrNameLst>
                                      </p:cBhvr>
                                      <p:to>
                                        <p:strVal val="visible"/>
                                      </p:to>
                                    </p:set>
                                    <p:anim calcmode="lin" valueType="num">
                                      <p:cBhvr additive="base">
                                        <p:cTn id="79" dur="500"/>
                                        <p:tgtEl>
                                          <p:spTgt spid="220"/>
                                        </p:tgtEl>
                                        <p:attrNameLst>
                                          <p:attrName>ppt_w</p:attrName>
                                        </p:attrNameLst>
                                      </p:cBhvr>
                                      <p:tavLst>
                                        <p:tav tm="0">
                                          <p:val>
                                            <p:strVal val="0"/>
                                          </p:val>
                                        </p:tav>
                                        <p:tav tm="100000">
                                          <p:val>
                                            <p:strVal val="#ppt_w"/>
                                          </p:val>
                                        </p:tav>
                                      </p:tavLst>
                                    </p:anim>
                                    <p:anim calcmode="lin" valueType="num">
                                      <p:cBhvr additive="base">
                                        <p:cTn id="80" dur="500"/>
                                        <p:tgtEl>
                                          <p:spTgt spid="220"/>
                                        </p:tgtEl>
                                        <p:attrNameLst>
                                          <p:attrName>ppt_h</p:attrName>
                                        </p:attrNameLst>
                                      </p:cBhvr>
                                      <p:tavLst>
                                        <p:tav tm="0">
                                          <p:val>
                                            <p:strVal val="0"/>
                                          </p:val>
                                        </p:tav>
                                        <p:tav tm="100000">
                                          <p:val>
                                            <p:strVal val="#ppt_h"/>
                                          </p:val>
                                        </p:tav>
                                      </p:tavLst>
                                    </p:anim>
                                  </p:childTnLst>
                                </p:cTn>
                              </p:par>
                              <p:par>
                                <p:cTn id="81" presetID="23" presetClass="entr" presetSubtype="16" fill="hold" nodeType="withEffect">
                                  <p:stCondLst>
                                    <p:cond delay="0"/>
                                  </p:stCondLst>
                                  <p:childTnLst>
                                    <p:set>
                                      <p:cBhvr>
                                        <p:cTn id="82" dur="1" fill="hold">
                                          <p:stCondLst>
                                            <p:cond delay="0"/>
                                          </p:stCondLst>
                                        </p:cTn>
                                        <p:tgtEl>
                                          <p:spTgt spid="223"/>
                                        </p:tgtEl>
                                        <p:attrNameLst>
                                          <p:attrName>style.visibility</p:attrName>
                                        </p:attrNameLst>
                                      </p:cBhvr>
                                      <p:to>
                                        <p:strVal val="visible"/>
                                      </p:to>
                                    </p:set>
                                    <p:anim calcmode="lin" valueType="num">
                                      <p:cBhvr additive="base">
                                        <p:cTn id="83" dur="500"/>
                                        <p:tgtEl>
                                          <p:spTgt spid="223"/>
                                        </p:tgtEl>
                                        <p:attrNameLst>
                                          <p:attrName>ppt_w</p:attrName>
                                        </p:attrNameLst>
                                      </p:cBhvr>
                                      <p:tavLst>
                                        <p:tav tm="0">
                                          <p:val>
                                            <p:strVal val="0"/>
                                          </p:val>
                                        </p:tav>
                                        <p:tav tm="100000">
                                          <p:val>
                                            <p:strVal val="#ppt_w"/>
                                          </p:val>
                                        </p:tav>
                                      </p:tavLst>
                                    </p:anim>
                                    <p:anim calcmode="lin" valueType="num">
                                      <p:cBhvr additive="base">
                                        <p:cTn id="84" dur="500"/>
                                        <p:tgtEl>
                                          <p:spTgt spid="223"/>
                                        </p:tgtEl>
                                        <p:attrNameLst>
                                          <p:attrName>ppt_h</p:attrName>
                                        </p:attrNameLst>
                                      </p:cBhvr>
                                      <p:tavLst>
                                        <p:tav tm="0">
                                          <p:val>
                                            <p:strVal val="0"/>
                                          </p:val>
                                        </p:tav>
                                        <p:tav tm="100000">
                                          <p:val>
                                            <p:strVal val="#ppt_h"/>
                                          </p:val>
                                        </p:tav>
                                      </p:tavLst>
                                    </p:anim>
                                  </p:childTnLst>
                                </p:cTn>
                              </p:par>
                              <p:par>
                                <p:cTn id="85" presetID="23" presetClass="entr" presetSubtype="16" fill="hold" nodeType="withEffect">
                                  <p:stCondLst>
                                    <p:cond delay="0"/>
                                  </p:stCondLst>
                                  <p:childTnLst>
                                    <p:set>
                                      <p:cBhvr>
                                        <p:cTn id="86" dur="1" fill="hold">
                                          <p:stCondLst>
                                            <p:cond delay="0"/>
                                          </p:stCondLst>
                                        </p:cTn>
                                        <p:tgtEl>
                                          <p:spTgt spid="221"/>
                                        </p:tgtEl>
                                        <p:attrNameLst>
                                          <p:attrName>style.visibility</p:attrName>
                                        </p:attrNameLst>
                                      </p:cBhvr>
                                      <p:to>
                                        <p:strVal val="visible"/>
                                      </p:to>
                                    </p:set>
                                    <p:anim calcmode="lin" valueType="num">
                                      <p:cBhvr additive="base">
                                        <p:cTn id="87" dur="500"/>
                                        <p:tgtEl>
                                          <p:spTgt spid="221"/>
                                        </p:tgtEl>
                                        <p:attrNameLst>
                                          <p:attrName>ppt_w</p:attrName>
                                        </p:attrNameLst>
                                      </p:cBhvr>
                                      <p:tavLst>
                                        <p:tav tm="0">
                                          <p:val>
                                            <p:strVal val="0"/>
                                          </p:val>
                                        </p:tav>
                                        <p:tav tm="100000">
                                          <p:val>
                                            <p:strVal val="#ppt_w"/>
                                          </p:val>
                                        </p:tav>
                                      </p:tavLst>
                                    </p:anim>
                                    <p:anim calcmode="lin" valueType="num">
                                      <p:cBhvr additive="base">
                                        <p:cTn id="88" dur="500"/>
                                        <p:tgtEl>
                                          <p:spTgt spid="221"/>
                                        </p:tgtEl>
                                        <p:attrNameLst>
                                          <p:attrName>ppt_h</p:attrName>
                                        </p:attrNameLst>
                                      </p:cBhvr>
                                      <p:tavLst>
                                        <p:tav tm="0">
                                          <p:val>
                                            <p:strVal val="0"/>
                                          </p:val>
                                        </p:tav>
                                        <p:tav tm="100000">
                                          <p:val>
                                            <p:strVal val="#ppt_h"/>
                                          </p:val>
                                        </p:tav>
                                      </p:tavLst>
                                    </p:anim>
                                  </p:childTnLst>
                                </p:cTn>
                              </p:par>
                              <p:par>
                                <p:cTn id="89" presetID="23" presetClass="entr" presetSubtype="16" fill="hold" nodeType="withEffect">
                                  <p:stCondLst>
                                    <p:cond delay="0"/>
                                  </p:stCondLst>
                                  <p:childTnLst>
                                    <p:set>
                                      <p:cBhvr>
                                        <p:cTn id="90" dur="1" fill="hold">
                                          <p:stCondLst>
                                            <p:cond delay="0"/>
                                          </p:stCondLst>
                                        </p:cTn>
                                        <p:tgtEl>
                                          <p:spTgt spid="222"/>
                                        </p:tgtEl>
                                        <p:attrNameLst>
                                          <p:attrName>style.visibility</p:attrName>
                                        </p:attrNameLst>
                                      </p:cBhvr>
                                      <p:to>
                                        <p:strVal val="visible"/>
                                      </p:to>
                                    </p:set>
                                    <p:anim calcmode="lin" valueType="num">
                                      <p:cBhvr additive="base">
                                        <p:cTn id="91" dur="500"/>
                                        <p:tgtEl>
                                          <p:spTgt spid="222"/>
                                        </p:tgtEl>
                                        <p:attrNameLst>
                                          <p:attrName>ppt_w</p:attrName>
                                        </p:attrNameLst>
                                      </p:cBhvr>
                                      <p:tavLst>
                                        <p:tav tm="0">
                                          <p:val>
                                            <p:strVal val="0"/>
                                          </p:val>
                                        </p:tav>
                                        <p:tav tm="100000">
                                          <p:val>
                                            <p:strVal val="#ppt_w"/>
                                          </p:val>
                                        </p:tav>
                                      </p:tavLst>
                                    </p:anim>
                                    <p:anim calcmode="lin" valueType="num">
                                      <p:cBhvr additive="base">
                                        <p:cTn id="92" dur="500"/>
                                        <p:tgtEl>
                                          <p:spTgt spid="22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40"/>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sz="2000" dirty="0">
                <a:solidFill>
                  <a:schemeClr val="lt1"/>
                </a:solidFill>
              </a:rPr>
              <a:t>Discussion - From Simulation to Observation</a:t>
            </a:r>
            <a:endParaRPr dirty="0"/>
          </a:p>
        </p:txBody>
      </p:sp>
      <p:pic>
        <p:nvPicPr>
          <p:cNvPr id="229" name="Google Shape;229;p40"/>
          <p:cNvPicPr preferRelativeResize="0"/>
          <p:nvPr/>
        </p:nvPicPr>
        <p:blipFill rotWithShape="1">
          <a:blip r:embed="rId3">
            <a:alphaModFix/>
          </a:blip>
          <a:srcRect/>
          <a:stretch/>
        </p:blipFill>
        <p:spPr>
          <a:xfrm>
            <a:off x="1255406" y="644786"/>
            <a:ext cx="3119051" cy="1360573"/>
          </a:xfrm>
          <a:prstGeom prst="rect">
            <a:avLst/>
          </a:prstGeom>
          <a:noFill/>
          <a:ln>
            <a:noFill/>
          </a:ln>
        </p:spPr>
      </p:pic>
      <p:pic>
        <p:nvPicPr>
          <p:cNvPr id="230" name="Google Shape;230;p40"/>
          <p:cNvPicPr preferRelativeResize="0"/>
          <p:nvPr/>
        </p:nvPicPr>
        <p:blipFill rotWithShape="1">
          <a:blip r:embed="rId4">
            <a:alphaModFix/>
          </a:blip>
          <a:srcRect/>
          <a:stretch/>
        </p:blipFill>
        <p:spPr>
          <a:xfrm>
            <a:off x="1255406" y="2186347"/>
            <a:ext cx="3119052" cy="355014"/>
          </a:xfrm>
          <a:prstGeom prst="rect">
            <a:avLst/>
          </a:prstGeom>
          <a:noFill/>
          <a:ln>
            <a:noFill/>
          </a:ln>
        </p:spPr>
      </p:pic>
      <p:pic>
        <p:nvPicPr>
          <p:cNvPr id="231" name="Google Shape;231;p40"/>
          <p:cNvPicPr preferRelativeResize="0"/>
          <p:nvPr/>
        </p:nvPicPr>
        <p:blipFill rotWithShape="1">
          <a:blip r:embed="rId5">
            <a:alphaModFix/>
          </a:blip>
          <a:srcRect/>
          <a:stretch/>
        </p:blipFill>
        <p:spPr>
          <a:xfrm>
            <a:off x="1255405" y="2722349"/>
            <a:ext cx="3119052" cy="1975040"/>
          </a:xfrm>
          <a:prstGeom prst="rect">
            <a:avLst/>
          </a:prstGeom>
          <a:noFill/>
          <a:ln>
            <a:noFill/>
          </a:ln>
        </p:spPr>
      </p:pic>
      <p:pic>
        <p:nvPicPr>
          <p:cNvPr id="232" name="Google Shape;232;p40"/>
          <p:cNvPicPr preferRelativeResize="0"/>
          <p:nvPr/>
        </p:nvPicPr>
        <p:blipFill rotWithShape="1">
          <a:blip r:embed="rId6">
            <a:alphaModFix/>
          </a:blip>
          <a:srcRect/>
          <a:stretch/>
        </p:blipFill>
        <p:spPr>
          <a:xfrm>
            <a:off x="5266021" y="644786"/>
            <a:ext cx="2205790" cy="2029868"/>
          </a:xfrm>
          <a:prstGeom prst="rect">
            <a:avLst/>
          </a:prstGeom>
          <a:noFill/>
          <a:ln>
            <a:noFill/>
          </a:ln>
        </p:spPr>
      </p:pic>
      <p:pic>
        <p:nvPicPr>
          <p:cNvPr id="233" name="Google Shape;233;p40"/>
          <p:cNvPicPr preferRelativeResize="0"/>
          <p:nvPr/>
        </p:nvPicPr>
        <p:blipFill rotWithShape="1">
          <a:blip r:embed="rId7">
            <a:alphaModFix/>
          </a:blip>
          <a:srcRect/>
          <a:stretch/>
        </p:blipFill>
        <p:spPr>
          <a:xfrm>
            <a:off x="5266021" y="2850776"/>
            <a:ext cx="3205626" cy="1846613"/>
          </a:xfrm>
          <a:prstGeom prst="rect">
            <a:avLst/>
          </a:prstGeom>
          <a:noFill/>
          <a:ln>
            <a:noFill/>
          </a:ln>
        </p:spPr>
      </p:pic>
      <p:sp>
        <p:nvSpPr>
          <p:cNvPr id="2" name="Rectangle 1">
            <a:extLst>
              <a:ext uri="{FF2B5EF4-FFF2-40B4-BE49-F238E27FC236}">
                <a16:creationId xmlns:a16="http://schemas.microsoft.com/office/drawing/2014/main" id="{E4C48D26-8E82-04A8-9E79-F27249DF22C0}"/>
              </a:ext>
            </a:extLst>
          </p:cNvPr>
          <p:cNvSpPr/>
          <p:nvPr/>
        </p:nvSpPr>
        <p:spPr>
          <a:xfrm>
            <a:off x="2716306" y="143435"/>
            <a:ext cx="1434353" cy="367553"/>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6912B06-7272-AFC9-93FA-182AE61C12C8}"/>
              </a:ext>
            </a:extLst>
          </p:cNvPr>
          <p:cNvSpPr/>
          <p:nvPr/>
        </p:nvSpPr>
        <p:spPr>
          <a:xfrm>
            <a:off x="4473389" y="143435"/>
            <a:ext cx="1622612" cy="367553"/>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580EB9D-AAD9-FB63-BBA7-0F93D29FA4A3}"/>
              </a:ext>
            </a:extLst>
          </p:cNvPr>
          <p:cNvSpPr/>
          <p:nvPr/>
        </p:nvSpPr>
        <p:spPr>
          <a:xfrm>
            <a:off x="5334000" y="3247354"/>
            <a:ext cx="762001" cy="1073634"/>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82397F2-B30C-B1DF-1A97-5913BD38BFD1}"/>
              </a:ext>
            </a:extLst>
          </p:cNvPr>
          <p:cNvSpPr/>
          <p:nvPr/>
        </p:nvSpPr>
        <p:spPr>
          <a:xfrm>
            <a:off x="6615953" y="2922494"/>
            <a:ext cx="1783976" cy="169433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A328506-E1AD-FC62-7A3A-BD6D20930755}"/>
              </a:ext>
            </a:extLst>
          </p:cNvPr>
          <p:cNvCxnSpPr>
            <a:cxnSpLocks/>
            <a:stCxn id="2" idx="2"/>
            <a:endCxn id="5" idx="0"/>
          </p:cNvCxnSpPr>
          <p:nvPr/>
        </p:nvCxnSpPr>
        <p:spPr>
          <a:xfrm>
            <a:off x="3433483" y="510988"/>
            <a:ext cx="2281518" cy="27363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A6A305E-0072-8C96-7801-F182EEF99245}"/>
              </a:ext>
            </a:extLst>
          </p:cNvPr>
          <p:cNvCxnSpPr>
            <a:cxnSpLocks/>
            <a:stCxn id="3" idx="2"/>
            <a:endCxn id="6" idx="0"/>
          </p:cNvCxnSpPr>
          <p:nvPr/>
        </p:nvCxnSpPr>
        <p:spPr>
          <a:xfrm>
            <a:off x="5284695" y="510988"/>
            <a:ext cx="2223246" cy="241150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animEffect transition="in" filter="fade">
                                      <p:cBhvr>
                                        <p:cTn id="7" dur="500"/>
                                        <p:tgtEl>
                                          <p:spTgt spid="23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Left)">
                                      <p:cBhvr>
                                        <p:cTn id="12" dur="500"/>
                                        <p:tgtEl>
                                          <p:spTgt spid="5"/>
                                        </p:tgtEl>
                                      </p:cBhvr>
                                    </p:animEffect>
                                  </p:childTnLst>
                                </p:cTn>
                              </p:par>
                              <p:par>
                                <p:cTn id="13" presetID="18" presetClass="entr" presetSubtype="12"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trips(downLeft)">
                                      <p:cBhvr>
                                        <p:cTn id="15" dur="500"/>
                                        <p:tgtEl>
                                          <p:spTgt spid="6"/>
                                        </p:tgtEl>
                                      </p:cBhvr>
                                    </p:animEffect>
                                  </p:childTnLst>
                                </p:cTn>
                              </p:par>
                              <p:par>
                                <p:cTn id="16" presetID="18" presetClass="entr" presetSubtype="12"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strips(downLeft)">
                                      <p:cBhvr>
                                        <p:cTn id="18" dur="500"/>
                                        <p:tgtEl>
                                          <p:spTgt spid="11"/>
                                        </p:tgtEl>
                                      </p:cBhvr>
                                    </p:animEffect>
                                  </p:childTnLst>
                                </p:cTn>
                              </p:par>
                              <p:par>
                                <p:cTn id="19" presetID="18" presetClass="entr" presetSubtype="12"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strips(downLeft)">
                                      <p:cBhvr>
                                        <p:cTn id="21" dur="500"/>
                                        <p:tgtEl>
                                          <p:spTgt spid="8"/>
                                        </p:tgtEl>
                                      </p:cBhvr>
                                    </p:animEffect>
                                  </p:childTnLst>
                                </p:cTn>
                              </p:par>
                              <p:par>
                                <p:cTn id="22" presetID="18" presetClass="entr" presetSubtype="12"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strips(downLeft)">
                                      <p:cBhvr>
                                        <p:cTn id="24" dur="500"/>
                                        <p:tgtEl>
                                          <p:spTgt spid="2"/>
                                        </p:tgtEl>
                                      </p:cBhvr>
                                    </p:animEffect>
                                  </p:childTnLst>
                                </p:cTn>
                              </p:par>
                              <p:par>
                                <p:cTn id="25" presetID="18" presetClass="entr" presetSubtype="12"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strips(downLeft)">
                                      <p:cBhvr>
                                        <p:cTn id="27" dur="500"/>
                                        <p:tgtEl>
                                          <p:spTgt spid="3"/>
                                        </p:tgtEl>
                                      </p:cBhvr>
                                    </p:animEffect>
                                  </p:childTnLst>
                                </p:cTn>
                              </p:par>
                              <p:par>
                                <p:cTn id="28" presetID="18" presetClass="entr" presetSubtype="12" fill="hold" nodeType="withEffect">
                                  <p:stCondLst>
                                    <p:cond delay="0"/>
                                  </p:stCondLst>
                                  <p:childTnLst>
                                    <p:set>
                                      <p:cBhvr>
                                        <p:cTn id="29" dur="1" fill="hold">
                                          <p:stCondLst>
                                            <p:cond delay="0"/>
                                          </p:stCondLst>
                                        </p:cTn>
                                        <p:tgtEl>
                                          <p:spTgt spid="233"/>
                                        </p:tgtEl>
                                        <p:attrNameLst>
                                          <p:attrName>style.visibility</p:attrName>
                                        </p:attrNameLst>
                                      </p:cBhvr>
                                      <p:to>
                                        <p:strVal val="visible"/>
                                      </p:to>
                                    </p:set>
                                    <p:animEffect transition="in" filter="strips(downLeft)">
                                      <p:cBhvr>
                                        <p:cTn id="30" dur="500"/>
                                        <p:tgtEl>
                                          <p:spTgt spid="233"/>
                                        </p:tgtEl>
                                      </p:cBhvr>
                                    </p:animEffect>
                                  </p:childTnLst>
                                </p:cTn>
                              </p:par>
                              <p:par>
                                <p:cTn id="31" presetID="18" presetClass="entr" presetSubtype="12" fill="hold" nodeType="withEffect">
                                  <p:stCondLst>
                                    <p:cond delay="0"/>
                                  </p:stCondLst>
                                  <p:childTnLst>
                                    <p:set>
                                      <p:cBhvr>
                                        <p:cTn id="32" dur="1" fill="hold">
                                          <p:stCondLst>
                                            <p:cond delay="0"/>
                                          </p:stCondLst>
                                        </p:cTn>
                                        <p:tgtEl>
                                          <p:spTgt spid="232"/>
                                        </p:tgtEl>
                                        <p:attrNameLst>
                                          <p:attrName>style.visibility</p:attrName>
                                        </p:attrNameLst>
                                      </p:cBhvr>
                                      <p:to>
                                        <p:strVal val="visible"/>
                                      </p:to>
                                    </p:set>
                                    <p:animEffect transition="in" filter="strips(downLeft)">
                                      <p:cBhvr>
                                        <p:cTn id="33" dur="500"/>
                                        <p:tgtEl>
                                          <p:spTgt spid="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1"/>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sz="2000">
                <a:solidFill>
                  <a:schemeClr val="lt1"/>
                </a:solidFill>
              </a:rPr>
              <a:t>Discussion - From Simulation to Observation</a:t>
            </a:r>
            <a:endParaRPr/>
          </a:p>
        </p:txBody>
      </p:sp>
      <p:pic>
        <p:nvPicPr>
          <p:cNvPr id="239" name="Google Shape;239;p41"/>
          <p:cNvPicPr preferRelativeResize="0"/>
          <p:nvPr/>
        </p:nvPicPr>
        <p:blipFill rotWithShape="1">
          <a:blip r:embed="rId3">
            <a:alphaModFix/>
          </a:blip>
          <a:srcRect/>
          <a:stretch/>
        </p:blipFill>
        <p:spPr>
          <a:xfrm>
            <a:off x="311698" y="644786"/>
            <a:ext cx="2205790" cy="2029868"/>
          </a:xfrm>
          <a:prstGeom prst="rect">
            <a:avLst/>
          </a:prstGeom>
          <a:noFill/>
          <a:ln>
            <a:noFill/>
          </a:ln>
        </p:spPr>
      </p:pic>
      <p:pic>
        <p:nvPicPr>
          <p:cNvPr id="240" name="Google Shape;240;p41"/>
          <p:cNvPicPr preferRelativeResize="0"/>
          <p:nvPr/>
        </p:nvPicPr>
        <p:blipFill rotWithShape="1">
          <a:blip r:embed="rId4">
            <a:alphaModFix/>
          </a:blip>
          <a:srcRect/>
          <a:stretch/>
        </p:blipFill>
        <p:spPr>
          <a:xfrm>
            <a:off x="311698" y="3318659"/>
            <a:ext cx="2205790" cy="1378730"/>
          </a:xfrm>
          <a:prstGeom prst="rect">
            <a:avLst/>
          </a:prstGeom>
          <a:noFill/>
          <a:ln>
            <a:noFill/>
          </a:ln>
        </p:spPr>
      </p:pic>
      <p:pic>
        <p:nvPicPr>
          <p:cNvPr id="241" name="Google Shape;241;p41"/>
          <p:cNvPicPr preferRelativeResize="0"/>
          <p:nvPr/>
        </p:nvPicPr>
        <p:blipFill rotWithShape="1">
          <a:blip r:embed="rId5">
            <a:alphaModFix/>
          </a:blip>
          <a:srcRect/>
          <a:stretch/>
        </p:blipFill>
        <p:spPr>
          <a:xfrm>
            <a:off x="4134182" y="1113349"/>
            <a:ext cx="2343150" cy="266700"/>
          </a:xfrm>
          <a:prstGeom prst="rect">
            <a:avLst/>
          </a:prstGeom>
          <a:noFill/>
          <a:ln>
            <a:noFill/>
          </a:ln>
        </p:spPr>
      </p:pic>
      <p:sp>
        <p:nvSpPr>
          <p:cNvPr id="242" name="Google Shape;242;p41"/>
          <p:cNvSpPr txBox="1"/>
          <p:nvPr/>
        </p:nvSpPr>
        <p:spPr>
          <a:xfrm>
            <a:off x="4134182" y="590129"/>
            <a:ext cx="3081421"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a:solidFill>
                  <a:schemeClr val="lt1"/>
                </a:solidFill>
                <a:latin typeface="Arial"/>
                <a:ea typeface="Arial"/>
                <a:cs typeface="Arial"/>
                <a:sym typeface="Arial"/>
              </a:rPr>
              <a:t>In the scenario of a low metallicity background, we can assume:</a:t>
            </a:r>
            <a:endParaRPr/>
          </a:p>
        </p:txBody>
      </p:sp>
      <p:pic>
        <p:nvPicPr>
          <p:cNvPr id="243" name="Google Shape;243;p41"/>
          <p:cNvPicPr preferRelativeResize="0"/>
          <p:nvPr/>
        </p:nvPicPr>
        <p:blipFill rotWithShape="1">
          <a:blip r:embed="rId6">
            <a:alphaModFix/>
          </a:blip>
          <a:srcRect/>
          <a:stretch/>
        </p:blipFill>
        <p:spPr>
          <a:xfrm>
            <a:off x="4134182" y="1659720"/>
            <a:ext cx="1352550" cy="600075"/>
          </a:xfrm>
          <a:prstGeom prst="rect">
            <a:avLst/>
          </a:prstGeom>
          <a:noFill/>
          <a:ln>
            <a:noFill/>
          </a:ln>
        </p:spPr>
      </p:pic>
      <p:pic>
        <p:nvPicPr>
          <p:cNvPr id="244" name="Google Shape;244;p41"/>
          <p:cNvPicPr preferRelativeResize="0"/>
          <p:nvPr/>
        </p:nvPicPr>
        <p:blipFill rotWithShape="1">
          <a:blip r:embed="rId7">
            <a:alphaModFix/>
          </a:blip>
          <a:srcRect/>
          <a:stretch/>
        </p:blipFill>
        <p:spPr>
          <a:xfrm>
            <a:off x="5801057" y="1659720"/>
            <a:ext cx="1352550" cy="600075"/>
          </a:xfrm>
          <a:prstGeom prst="rect">
            <a:avLst/>
          </a:prstGeom>
          <a:noFill/>
          <a:ln>
            <a:noFill/>
          </a:ln>
        </p:spPr>
      </p:pic>
      <p:sp>
        <p:nvSpPr>
          <p:cNvPr id="245" name="Google Shape;245;p41"/>
          <p:cNvSpPr txBox="1"/>
          <p:nvPr/>
        </p:nvSpPr>
        <p:spPr>
          <a:xfrm>
            <a:off x="4134181" y="2576146"/>
            <a:ext cx="308142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AU" sz="1400" b="0" i="0" u="none" strike="noStrike" cap="none" dirty="0">
                <a:solidFill>
                  <a:schemeClr val="lt1"/>
                </a:solidFill>
                <a:latin typeface="Arial"/>
                <a:ea typeface="Arial"/>
                <a:cs typeface="Arial"/>
                <a:sym typeface="Arial"/>
              </a:rPr>
              <a:t>Recall that: </a:t>
            </a:r>
            <a:endParaRPr dirty="0"/>
          </a:p>
        </p:txBody>
      </p:sp>
      <p:pic>
        <p:nvPicPr>
          <p:cNvPr id="246" name="Google Shape;246;p41"/>
          <p:cNvPicPr preferRelativeResize="0"/>
          <p:nvPr/>
        </p:nvPicPr>
        <p:blipFill rotWithShape="1">
          <a:blip r:embed="rId8">
            <a:alphaModFix/>
          </a:blip>
          <a:srcRect/>
          <a:stretch/>
        </p:blipFill>
        <p:spPr>
          <a:xfrm>
            <a:off x="5291469" y="2576146"/>
            <a:ext cx="2371725" cy="285750"/>
          </a:xfrm>
          <a:prstGeom prst="rect">
            <a:avLst/>
          </a:prstGeom>
          <a:noFill/>
          <a:ln>
            <a:noFill/>
          </a:ln>
        </p:spPr>
      </p:pic>
      <p:pic>
        <p:nvPicPr>
          <p:cNvPr id="247" name="Google Shape;247;p41"/>
          <p:cNvPicPr preferRelativeResize="0"/>
          <p:nvPr/>
        </p:nvPicPr>
        <p:blipFill rotWithShape="1">
          <a:blip r:embed="rId9">
            <a:alphaModFix/>
          </a:blip>
          <a:srcRect/>
          <a:stretch/>
        </p:blipFill>
        <p:spPr>
          <a:xfrm>
            <a:off x="4134181" y="3130721"/>
            <a:ext cx="3333750" cy="1754606"/>
          </a:xfrm>
          <a:prstGeom prst="rect">
            <a:avLst/>
          </a:prstGeom>
          <a:noFill/>
          <a:ln>
            <a:noFill/>
          </a:ln>
        </p:spPr>
      </p:pic>
      <p:sp>
        <p:nvSpPr>
          <p:cNvPr id="3" name="Bevel 2">
            <a:extLst>
              <a:ext uri="{FF2B5EF4-FFF2-40B4-BE49-F238E27FC236}">
                <a16:creationId xmlns:a16="http://schemas.microsoft.com/office/drawing/2014/main" id="{F8931C59-C0CB-8991-7BCC-56EA02FA7B1B}"/>
              </a:ext>
            </a:extLst>
          </p:cNvPr>
          <p:cNvSpPr/>
          <p:nvPr/>
        </p:nvSpPr>
        <p:spPr>
          <a:xfrm>
            <a:off x="3881717" y="2883706"/>
            <a:ext cx="3845859" cy="2259793"/>
          </a:xfrm>
          <a:prstGeom prst="bevel">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2"/>
                                        </p:tgtEl>
                                        <p:attrNameLst>
                                          <p:attrName>style.visibility</p:attrName>
                                        </p:attrNameLst>
                                      </p:cBhvr>
                                      <p:to>
                                        <p:strVal val="visible"/>
                                      </p:to>
                                    </p:set>
                                    <p:anim calcmode="lin" valueType="num">
                                      <p:cBhvr additive="base">
                                        <p:cTn id="7" dur="500"/>
                                        <p:tgtEl>
                                          <p:spTgt spid="242"/>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241"/>
                                        </p:tgtEl>
                                        <p:attrNameLst>
                                          <p:attrName>style.visibility</p:attrName>
                                        </p:attrNameLst>
                                      </p:cBhvr>
                                      <p:to>
                                        <p:strVal val="visible"/>
                                      </p:to>
                                    </p:set>
                                    <p:anim calcmode="lin" valueType="num">
                                      <p:cBhvr additive="base">
                                        <p:cTn id="10" dur="500"/>
                                        <p:tgtEl>
                                          <p:spTgt spid="241"/>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43"/>
                                        </p:tgtEl>
                                        <p:attrNameLst>
                                          <p:attrName>style.visibility</p:attrName>
                                        </p:attrNameLst>
                                      </p:cBhvr>
                                      <p:to>
                                        <p:strVal val="visible"/>
                                      </p:to>
                                    </p:set>
                                    <p:animEffect transition="in" filter="fade">
                                      <p:cBhvr>
                                        <p:cTn id="15" dur="500"/>
                                        <p:tgtEl>
                                          <p:spTgt spid="243"/>
                                        </p:tgtEl>
                                      </p:cBhvr>
                                    </p:animEffect>
                                  </p:childTnLst>
                                </p:cTn>
                              </p:par>
                              <p:par>
                                <p:cTn id="16" presetID="10" presetClass="entr" presetSubtype="0" fill="hold" nodeType="withEffect">
                                  <p:stCondLst>
                                    <p:cond delay="0"/>
                                  </p:stCondLst>
                                  <p:childTnLst>
                                    <p:set>
                                      <p:cBhvr>
                                        <p:cTn id="17" dur="1" fill="hold">
                                          <p:stCondLst>
                                            <p:cond delay="0"/>
                                          </p:stCondLst>
                                        </p:cTn>
                                        <p:tgtEl>
                                          <p:spTgt spid="244"/>
                                        </p:tgtEl>
                                        <p:attrNameLst>
                                          <p:attrName>style.visibility</p:attrName>
                                        </p:attrNameLst>
                                      </p:cBhvr>
                                      <p:to>
                                        <p:strVal val="visible"/>
                                      </p:to>
                                    </p:set>
                                    <p:animEffect transition="in" filter="fade">
                                      <p:cBhvr>
                                        <p:cTn id="18" dur="500"/>
                                        <p:tgtEl>
                                          <p:spTgt spid="24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5"/>
                                        </p:tgtEl>
                                        <p:attrNameLst>
                                          <p:attrName>style.visibility</p:attrName>
                                        </p:attrNameLst>
                                      </p:cBhvr>
                                      <p:to>
                                        <p:strVal val="visible"/>
                                      </p:to>
                                    </p:set>
                                    <p:animEffect transition="in" filter="fade">
                                      <p:cBhvr>
                                        <p:cTn id="23" dur="500"/>
                                        <p:tgtEl>
                                          <p:spTgt spid="245"/>
                                        </p:tgtEl>
                                      </p:cBhvr>
                                    </p:animEffect>
                                  </p:childTnLst>
                                </p:cTn>
                              </p:par>
                              <p:par>
                                <p:cTn id="24" presetID="10" presetClass="entr" presetSubtype="0" fill="hold" nodeType="withEffect">
                                  <p:stCondLst>
                                    <p:cond delay="0"/>
                                  </p:stCondLst>
                                  <p:childTnLst>
                                    <p:set>
                                      <p:cBhvr>
                                        <p:cTn id="25" dur="1" fill="hold">
                                          <p:stCondLst>
                                            <p:cond delay="0"/>
                                          </p:stCondLst>
                                        </p:cTn>
                                        <p:tgtEl>
                                          <p:spTgt spid="246"/>
                                        </p:tgtEl>
                                        <p:attrNameLst>
                                          <p:attrName>style.visibility</p:attrName>
                                        </p:attrNameLst>
                                      </p:cBhvr>
                                      <p:to>
                                        <p:strVal val="visible"/>
                                      </p:to>
                                    </p:set>
                                    <p:animEffect transition="in" filter="fade">
                                      <p:cBhvr>
                                        <p:cTn id="26" dur="500"/>
                                        <p:tgtEl>
                                          <p:spTgt spid="24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247"/>
                                        </p:tgtEl>
                                        <p:attrNameLst>
                                          <p:attrName>style.visibility</p:attrName>
                                        </p:attrNameLst>
                                      </p:cBhvr>
                                      <p:to>
                                        <p:strVal val="visible"/>
                                      </p:to>
                                    </p:set>
                                    <p:anim calcmode="lin" valueType="num">
                                      <p:cBhvr>
                                        <p:cTn id="31" dur="1000" fill="hold"/>
                                        <p:tgtEl>
                                          <p:spTgt spid="247"/>
                                        </p:tgtEl>
                                        <p:attrNameLst>
                                          <p:attrName>ppt_w</p:attrName>
                                        </p:attrNameLst>
                                      </p:cBhvr>
                                      <p:tavLst>
                                        <p:tav tm="0">
                                          <p:val>
                                            <p:fltVal val="0"/>
                                          </p:val>
                                        </p:tav>
                                        <p:tav tm="100000">
                                          <p:val>
                                            <p:strVal val="#ppt_w"/>
                                          </p:val>
                                        </p:tav>
                                      </p:tavLst>
                                    </p:anim>
                                    <p:anim calcmode="lin" valueType="num">
                                      <p:cBhvr>
                                        <p:cTn id="32" dur="1000" fill="hold"/>
                                        <p:tgtEl>
                                          <p:spTgt spid="247"/>
                                        </p:tgtEl>
                                        <p:attrNameLst>
                                          <p:attrName>ppt_h</p:attrName>
                                        </p:attrNameLst>
                                      </p:cBhvr>
                                      <p:tavLst>
                                        <p:tav tm="0">
                                          <p:val>
                                            <p:fltVal val="0"/>
                                          </p:val>
                                        </p:tav>
                                        <p:tav tm="100000">
                                          <p:val>
                                            <p:strVal val="#ppt_h"/>
                                          </p:val>
                                        </p:tav>
                                      </p:tavLst>
                                    </p:anim>
                                    <p:anim calcmode="lin" valueType="num">
                                      <p:cBhvr>
                                        <p:cTn id="33" dur="1000" fill="hold"/>
                                        <p:tgtEl>
                                          <p:spTgt spid="247"/>
                                        </p:tgtEl>
                                        <p:attrNameLst>
                                          <p:attrName>style.rotation</p:attrName>
                                        </p:attrNameLst>
                                      </p:cBhvr>
                                      <p:tavLst>
                                        <p:tav tm="0">
                                          <p:val>
                                            <p:fltVal val="90"/>
                                          </p:val>
                                        </p:tav>
                                        <p:tav tm="100000">
                                          <p:val>
                                            <p:fltVal val="0"/>
                                          </p:val>
                                        </p:tav>
                                      </p:tavLst>
                                    </p:anim>
                                    <p:animEffect transition="in" filter="fade">
                                      <p:cBhvr>
                                        <p:cTn id="34" dur="1000"/>
                                        <p:tgtEl>
                                          <p:spTgt spid="247"/>
                                        </p:tgtEl>
                                      </p:cBhvr>
                                    </p:animEffect>
                                  </p:childTnLst>
                                </p:cTn>
                              </p:par>
                              <p:par>
                                <p:cTn id="35" presetID="31" presetClass="entr"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p:cTn id="37" dur="1000" fill="hold"/>
                                        <p:tgtEl>
                                          <p:spTgt spid="3"/>
                                        </p:tgtEl>
                                        <p:attrNameLst>
                                          <p:attrName>ppt_w</p:attrName>
                                        </p:attrNameLst>
                                      </p:cBhvr>
                                      <p:tavLst>
                                        <p:tav tm="0">
                                          <p:val>
                                            <p:fltVal val="0"/>
                                          </p:val>
                                        </p:tav>
                                        <p:tav tm="100000">
                                          <p:val>
                                            <p:strVal val="#ppt_w"/>
                                          </p:val>
                                        </p:tav>
                                      </p:tavLst>
                                    </p:anim>
                                    <p:anim calcmode="lin" valueType="num">
                                      <p:cBhvr>
                                        <p:cTn id="38" dur="1000" fill="hold"/>
                                        <p:tgtEl>
                                          <p:spTgt spid="3"/>
                                        </p:tgtEl>
                                        <p:attrNameLst>
                                          <p:attrName>ppt_h</p:attrName>
                                        </p:attrNameLst>
                                      </p:cBhvr>
                                      <p:tavLst>
                                        <p:tav tm="0">
                                          <p:val>
                                            <p:fltVal val="0"/>
                                          </p:val>
                                        </p:tav>
                                        <p:tav tm="100000">
                                          <p:val>
                                            <p:strVal val="#ppt_h"/>
                                          </p:val>
                                        </p:tav>
                                      </p:tavLst>
                                    </p:anim>
                                    <p:anim calcmode="lin" valueType="num">
                                      <p:cBhvr>
                                        <p:cTn id="39" dur="1000" fill="hold"/>
                                        <p:tgtEl>
                                          <p:spTgt spid="3"/>
                                        </p:tgtEl>
                                        <p:attrNameLst>
                                          <p:attrName>style.rotation</p:attrName>
                                        </p:attrNameLst>
                                      </p:cBhvr>
                                      <p:tavLst>
                                        <p:tav tm="0">
                                          <p:val>
                                            <p:fltVal val="90"/>
                                          </p:val>
                                        </p:tav>
                                        <p:tav tm="100000">
                                          <p:val>
                                            <p:fltVal val="0"/>
                                          </p:val>
                                        </p:tav>
                                      </p:tavLst>
                                    </p:anim>
                                    <p:animEffect transition="in" filter="fade">
                                      <p:cBhvr>
                                        <p:cTn id="4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2"/>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sz="2000">
                <a:solidFill>
                  <a:schemeClr val="lt1"/>
                </a:solidFill>
              </a:rPr>
              <a:t>Conclusion</a:t>
            </a:r>
            <a:endParaRPr/>
          </a:p>
        </p:txBody>
      </p:sp>
      <p:sp>
        <p:nvSpPr>
          <p:cNvPr id="253" name="Google Shape;253;p42"/>
          <p:cNvSpPr txBox="1"/>
          <p:nvPr/>
        </p:nvSpPr>
        <p:spPr>
          <a:xfrm>
            <a:off x="311698" y="644786"/>
            <a:ext cx="8520600" cy="3716402"/>
          </a:xfrm>
          <a:prstGeom prst="rect">
            <a:avLst/>
          </a:prstGeom>
          <a:noFill/>
          <a:ln>
            <a:noFill/>
          </a:ln>
        </p:spPr>
        <p:txBody>
          <a:bodyPr spcFirstLastPara="1" wrap="square" lIns="190500" tIns="0" rIns="0" bIns="190500" anchor="t" anchorCtr="0">
            <a:spAutoFit/>
          </a:bodyPr>
          <a:lstStyle/>
          <a:p>
            <a:pPr marL="228600" marR="0" lvl="0" indent="-91440" algn="l" rtl="0">
              <a:lnSpc>
                <a:spcPct val="100000"/>
              </a:lnSpc>
              <a:spcBef>
                <a:spcPts val="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Summary</a:t>
            </a:r>
            <a:endParaRPr dirty="0"/>
          </a:p>
          <a:p>
            <a:pPr marL="228600" marR="0" lvl="0" indent="-8890" algn="l" rtl="0">
              <a:lnSpc>
                <a:spcPct val="100000"/>
              </a:lnSpc>
              <a:spcBef>
                <a:spcPts val="800"/>
              </a:spcBef>
              <a:spcAft>
                <a:spcPts val="0"/>
              </a:spcAft>
              <a:buClr>
                <a:srgbClr val="000000"/>
              </a:buClr>
              <a:buSzPts val="1300"/>
              <a:buFont typeface="Arial"/>
              <a:buNone/>
            </a:pPr>
            <a:endParaRPr sz="1300" b="1" i="0" u="none" strike="noStrike" cap="none" dirty="0">
              <a:solidFill>
                <a:schemeClr val="lt1"/>
              </a:solidFill>
              <a:latin typeface="Proxima Nova"/>
              <a:ea typeface="Proxima Nova"/>
              <a:cs typeface="Proxima Nova"/>
              <a:sym typeface="Proxima Nova"/>
            </a:endParaRPr>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Synthetic Observations</a:t>
            </a:r>
            <a:endParaRPr dirty="0"/>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accent2"/>
                </a:solidFill>
                <a:latin typeface="Proxima Nova"/>
                <a:ea typeface="Proxima Nova"/>
                <a:cs typeface="Proxima Nova"/>
                <a:sym typeface="Proxima Nova"/>
              </a:rPr>
              <a:t>synthetic X-ray spectra </a:t>
            </a:r>
            <a:r>
              <a:rPr lang="en-AU" sz="1300" b="1" i="0" u="none" strike="noStrike" cap="none" dirty="0">
                <a:solidFill>
                  <a:schemeClr val="lt1"/>
                </a:solidFill>
                <a:latin typeface="Proxima Nova"/>
                <a:ea typeface="Proxima Nova"/>
                <a:cs typeface="Proxima Nova"/>
                <a:sym typeface="Proxima Nova"/>
              </a:rPr>
              <a:t>generated from high-resolution hydrodynamic simulations (</a:t>
            </a:r>
            <a:r>
              <a:rPr lang="en-AU" sz="1300" b="1" i="0" u="none" strike="noStrike" cap="none" dirty="0">
                <a:solidFill>
                  <a:schemeClr val="accent2"/>
                </a:solidFill>
                <a:latin typeface="Proxima Nova"/>
                <a:ea typeface="Proxima Nova"/>
                <a:cs typeface="Proxima Nova"/>
                <a:sym typeface="Proxima Nova"/>
              </a:rPr>
              <a:t>QUOKKA</a:t>
            </a:r>
            <a:r>
              <a:rPr lang="en-AU" sz="1300" b="1" i="0" u="none" strike="noStrike" cap="none" dirty="0">
                <a:solidFill>
                  <a:schemeClr val="lt1"/>
                </a:solidFill>
                <a:latin typeface="Proxima Nova"/>
                <a:ea typeface="Proxima Nova"/>
                <a:cs typeface="Proxima Nova"/>
                <a:sym typeface="Proxima Nova"/>
              </a:rPr>
              <a:t>)</a:t>
            </a:r>
            <a:endParaRPr dirty="0"/>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Negative Metallicity Gradients</a:t>
            </a:r>
            <a:endParaRPr dirty="0"/>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significant </a:t>
            </a:r>
            <a:r>
              <a:rPr lang="en-AU" sz="1300" b="1" i="0" u="none" strike="noStrike" cap="none" dirty="0">
                <a:solidFill>
                  <a:schemeClr val="accent2"/>
                </a:solidFill>
                <a:latin typeface="Proxima Nova"/>
                <a:ea typeface="Proxima Nova"/>
                <a:cs typeface="Proxima Nova"/>
                <a:sym typeface="Proxima Nova"/>
              </a:rPr>
              <a:t>metallicity gradients </a:t>
            </a:r>
            <a:r>
              <a:rPr lang="en-AU" sz="1300" b="1" i="0" u="none" strike="noStrike" cap="none" dirty="0">
                <a:solidFill>
                  <a:schemeClr val="lt1"/>
                </a:solidFill>
                <a:latin typeface="Proxima Nova"/>
                <a:ea typeface="Proxima Nova"/>
                <a:cs typeface="Proxima Nova"/>
                <a:sym typeface="Proxima Nova"/>
              </a:rPr>
              <a:t>within galactic outflows, with higher metallicities observed near the central disc and decreasing with distance from the mid-plane</a:t>
            </a:r>
            <a:endParaRPr dirty="0"/>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Imperfect Mixing</a:t>
            </a:r>
            <a:endParaRPr dirty="0"/>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the observed gradients result from </a:t>
            </a:r>
            <a:r>
              <a:rPr lang="en-AU" sz="1300" b="1" i="0" u="none" strike="noStrike" cap="none" dirty="0">
                <a:solidFill>
                  <a:schemeClr val="accent2"/>
                </a:solidFill>
                <a:latin typeface="Proxima Nova"/>
                <a:ea typeface="Proxima Nova"/>
                <a:cs typeface="Proxima Nova"/>
                <a:sym typeface="Proxima Nova"/>
              </a:rPr>
              <a:t>imperfect mixing </a:t>
            </a:r>
            <a:r>
              <a:rPr lang="en-AU" sz="1300" b="1" i="0" u="none" strike="noStrike" cap="none" dirty="0">
                <a:solidFill>
                  <a:schemeClr val="lt1"/>
                </a:solidFill>
                <a:latin typeface="Proxima Nova"/>
                <a:ea typeface="Proxima Nova"/>
                <a:cs typeface="Proxima Nova"/>
                <a:sym typeface="Proxima Nova"/>
              </a:rPr>
              <a:t>between hot gas from supernova ejection and the surrounding interstellar medium (ISM)</a:t>
            </a:r>
            <a:endParaRPr dirty="0"/>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A toy model</a:t>
            </a:r>
            <a:endParaRPr dirty="0"/>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a </a:t>
            </a:r>
            <a:r>
              <a:rPr lang="en-AU" sz="1300" b="1" i="0" u="none" strike="noStrike" cap="none" dirty="0">
                <a:solidFill>
                  <a:schemeClr val="accent2"/>
                </a:solidFill>
                <a:latin typeface="Proxima Nova"/>
                <a:ea typeface="Proxima Nova"/>
                <a:cs typeface="Proxima Nova"/>
                <a:sym typeface="Proxima Nova"/>
              </a:rPr>
              <a:t>simplified model </a:t>
            </a:r>
            <a:r>
              <a:rPr lang="en-AU" sz="1300" b="1" i="0" u="none" strike="noStrike" cap="none" dirty="0">
                <a:solidFill>
                  <a:schemeClr val="lt1"/>
                </a:solidFill>
                <a:latin typeface="Proxima Nova"/>
                <a:ea typeface="Proxima Nova"/>
                <a:cs typeface="Proxima Nova"/>
                <a:sym typeface="Proxima Nova"/>
              </a:rPr>
              <a:t>linking the metallicity ratio in observations to the mixing process between hot and cold gases</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3"/>
          <p:cNvSpPr txBox="1">
            <a:spLocks noGrp="1"/>
          </p:cNvSpPr>
          <p:nvPr>
            <p:ph type="title"/>
          </p:nvPr>
        </p:nvSpPr>
        <p:spPr>
          <a:xfrm>
            <a:off x="311698" y="72086"/>
            <a:ext cx="8520600" cy="5727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200"/>
              <a:buNone/>
            </a:pPr>
            <a:r>
              <a:rPr lang="en-AU" sz="2000">
                <a:solidFill>
                  <a:schemeClr val="lt1"/>
                </a:solidFill>
              </a:rPr>
              <a:t>Conclusion</a:t>
            </a:r>
            <a:endParaRPr/>
          </a:p>
        </p:txBody>
      </p:sp>
      <p:sp>
        <p:nvSpPr>
          <p:cNvPr id="259" name="Google Shape;259;p43"/>
          <p:cNvSpPr txBox="1"/>
          <p:nvPr/>
        </p:nvSpPr>
        <p:spPr>
          <a:xfrm>
            <a:off x="311698" y="644786"/>
            <a:ext cx="8520600" cy="4024179"/>
          </a:xfrm>
          <a:prstGeom prst="rect">
            <a:avLst/>
          </a:prstGeom>
          <a:noFill/>
          <a:ln>
            <a:noFill/>
          </a:ln>
        </p:spPr>
        <p:txBody>
          <a:bodyPr spcFirstLastPara="1" wrap="square" lIns="190500" tIns="0" rIns="0" bIns="190500" anchor="t" anchorCtr="0">
            <a:spAutoFit/>
          </a:bodyPr>
          <a:lstStyle/>
          <a:p>
            <a:pPr marL="228600" marR="0" lvl="0" indent="-91440" algn="l" rtl="0">
              <a:lnSpc>
                <a:spcPct val="100000"/>
              </a:lnSpc>
              <a:spcBef>
                <a:spcPts val="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Limitations</a:t>
            </a:r>
            <a:endParaRPr dirty="0"/>
          </a:p>
          <a:p>
            <a:pPr marL="228600" marR="0" lvl="0" indent="-8890" algn="l" rtl="0">
              <a:lnSpc>
                <a:spcPct val="100000"/>
              </a:lnSpc>
              <a:spcBef>
                <a:spcPts val="800"/>
              </a:spcBef>
              <a:spcAft>
                <a:spcPts val="0"/>
              </a:spcAft>
              <a:buClr>
                <a:srgbClr val="000000"/>
              </a:buClr>
              <a:buSzPts val="1300"/>
              <a:buFont typeface="Arial"/>
              <a:buNone/>
            </a:pPr>
            <a:endParaRPr sz="1300" b="1" i="0" u="none" strike="noStrike" cap="none" dirty="0">
              <a:solidFill>
                <a:schemeClr val="lt1"/>
              </a:solidFill>
              <a:latin typeface="Proxima Nova"/>
              <a:ea typeface="Proxima Nova"/>
              <a:cs typeface="Proxima Nova"/>
              <a:sym typeface="Proxima Nova"/>
            </a:endParaRPr>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Simplified Metallicity Assumptions</a:t>
            </a:r>
            <a:endParaRPr dirty="0"/>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simulations assume solar-scaled abundances for all elements</a:t>
            </a:r>
            <a:endParaRPr dirty="0"/>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Metallicity in simulation</a:t>
            </a:r>
          </a:p>
          <a:p>
            <a:pPr marL="228600" marR="0" lvl="0" indent="-91440" algn="l" rtl="0">
              <a:lnSpc>
                <a:spcPct val="100000"/>
              </a:lnSpc>
              <a:spcBef>
                <a:spcPts val="800"/>
              </a:spcBef>
              <a:spcAft>
                <a:spcPts val="0"/>
              </a:spcAft>
              <a:buClr>
                <a:srgbClr val="000000"/>
              </a:buClr>
              <a:buSzPts val="1300"/>
              <a:buFont typeface="Arial"/>
              <a:buChar char="•"/>
            </a:pPr>
            <a:r>
              <a:rPr lang="en-AU" sz="1300" b="1" dirty="0">
                <a:solidFill>
                  <a:schemeClr val="lt1"/>
                </a:solidFill>
                <a:latin typeface="Proxima Nova"/>
                <a:sym typeface="Proxima Nova"/>
              </a:rPr>
              <a:t>Simulations treat metals as passive scale, cooling not self-consistent</a:t>
            </a:r>
            <a:endParaRPr dirty="0"/>
          </a:p>
          <a:p>
            <a:pPr marL="228600" marR="0" lvl="0" indent="-8890" algn="l" rtl="0">
              <a:lnSpc>
                <a:spcPct val="100000"/>
              </a:lnSpc>
              <a:spcBef>
                <a:spcPts val="800"/>
              </a:spcBef>
              <a:spcAft>
                <a:spcPts val="0"/>
              </a:spcAft>
              <a:buClr>
                <a:srgbClr val="000000"/>
              </a:buClr>
              <a:buSzPts val="1300"/>
              <a:buFont typeface="Arial"/>
              <a:buNone/>
            </a:pPr>
            <a:endParaRPr sz="1300" b="1" i="0" u="none" strike="noStrike" cap="none" dirty="0">
              <a:solidFill>
                <a:schemeClr val="lt1"/>
              </a:solidFill>
              <a:latin typeface="Proxima Nova"/>
              <a:ea typeface="Proxima Nova"/>
              <a:cs typeface="Proxima Nova"/>
              <a:sym typeface="Proxima Nova"/>
            </a:endParaRPr>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Future Work</a:t>
            </a:r>
            <a:endParaRPr dirty="0"/>
          </a:p>
          <a:p>
            <a:pPr marL="228600" marR="0" lvl="0" indent="-8890" algn="l" rtl="0">
              <a:lnSpc>
                <a:spcPct val="100000"/>
              </a:lnSpc>
              <a:spcBef>
                <a:spcPts val="800"/>
              </a:spcBef>
              <a:spcAft>
                <a:spcPts val="0"/>
              </a:spcAft>
              <a:buClr>
                <a:srgbClr val="000000"/>
              </a:buClr>
              <a:buSzPts val="1300"/>
              <a:buFont typeface="Arial"/>
              <a:buNone/>
            </a:pPr>
            <a:endParaRPr sz="1300" b="1" i="0" u="none" strike="noStrike" cap="none" dirty="0">
              <a:solidFill>
                <a:schemeClr val="lt1"/>
              </a:solidFill>
              <a:latin typeface="Proxima Nova"/>
              <a:ea typeface="Proxima Nova"/>
              <a:cs typeface="Proxima Nova"/>
              <a:sym typeface="Proxima Nova"/>
            </a:endParaRPr>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Quantify the effect of Signal-to-Noise Ratio (SNR)</a:t>
            </a:r>
            <a:endParaRPr dirty="0"/>
          </a:p>
          <a:p>
            <a:pPr marL="228600" marR="0" lvl="0" indent="-91440" algn="l" rtl="0">
              <a:lnSpc>
                <a:spcPct val="100000"/>
              </a:lnSpc>
              <a:spcBef>
                <a:spcPts val="800"/>
              </a:spcBef>
              <a:spcAft>
                <a:spcPts val="0"/>
              </a:spcAft>
              <a:buClr>
                <a:srgbClr val="000000"/>
              </a:buClr>
              <a:buSzPts val="1300"/>
              <a:buFont typeface="Arial"/>
              <a:buChar char="•"/>
            </a:pPr>
            <a:r>
              <a:rPr lang="en-AU" sz="1300" b="1" i="0" u="none" strike="noStrike" cap="none" dirty="0">
                <a:solidFill>
                  <a:schemeClr val="lt1"/>
                </a:solidFill>
                <a:latin typeface="Proxima Nova"/>
                <a:ea typeface="Proxima Nova"/>
                <a:cs typeface="Proxima Nova"/>
                <a:sym typeface="Proxima Nova"/>
              </a:rPr>
              <a:t>* </a:t>
            </a:r>
            <a:r>
              <a:rPr lang="en-AU" sz="1300" b="1" dirty="0">
                <a:solidFill>
                  <a:schemeClr val="lt1"/>
                </a:solidFill>
                <a:latin typeface="Proxima Nova"/>
                <a:ea typeface="Proxima Nova"/>
                <a:cs typeface="Proxima Nova"/>
                <a:sym typeface="Proxima Nova"/>
              </a:rPr>
              <a:t>Produce mock observations for future X-ray telescopes</a:t>
            </a:r>
          </a:p>
          <a:p>
            <a:pPr marL="228600" marR="0" lvl="0" indent="-91440" algn="l" rtl="0">
              <a:lnSpc>
                <a:spcPct val="100000"/>
              </a:lnSpc>
              <a:spcBef>
                <a:spcPts val="800"/>
              </a:spcBef>
              <a:spcAft>
                <a:spcPts val="0"/>
              </a:spcAft>
              <a:buClr>
                <a:srgbClr val="000000"/>
              </a:buClr>
              <a:buSzPts val="1300"/>
              <a:buFont typeface="Arial"/>
              <a:buChar char="•"/>
            </a:pPr>
            <a:r>
              <a:rPr lang="en-AU" sz="1300" b="1" dirty="0">
                <a:solidFill>
                  <a:schemeClr val="lt1"/>
                </a:solidFill>
                <a:latin typeface="Proxima Nova"/>
                <a:ea typeface="Proxima Nova"/>
                <a:cs typeface="Proxima Nova"/>
                <a:sym typeface="Proxima Nova"/>
              </a:rPr>
              <a:t>* Extended Observation Bandwidth    </a:t>
            </a:r>
          </a:p>
          <a:p>
            <a:pPr marL="228600" marR="0" lvl="0" indent="-91440" algn="l" rtl="0">
              <a:lnSpc>
                <a:spcPct val="100000"/>
              </a:lnSpc>
              <a:spcBef>
                <a:spcPts val="800"/>
              </a:spcBef>
              <a:spcAft>
                <a:spcPts val="0"/>
              </a:spcAft>
              <a:buClr>
                <a:srgbClr val="000000"/>
              </a:buClr>
              <a:buSzPts val="1300"/>
              <a:buFont typeface="Arial"/>
              <a:buChar char="•"/>
            </a:pPr>
            <a:r>
              <a:rPr lang="en-AU" sz="1300" b="1" dirty="0">
                <a:solidFill>
                  <a:schemeClr val="lt1"/>
                </a:solidFill>
                <a:latin typeface="Proxima Nova"/>
                <a:ea typeface="Proxima Nova"/>
                <a:cs typeface="Proxima Nova"/>
                <a:sym typeface="Proxima Nova"/>
              </a:rPr>
              <a:t>* Publication in prep.  (coming </a:t>
            </a:r>
            <a:r>
              <a:rPr lang="en-AU" sz="1300" b="1" dirty="0" err="1">
                <a:solidFill>
                  <a:schemeClr val="lt1"/>
                </a:solidFill>
                <a:latin typeface="Proxima Nova"/>
                <a:ea typeface="Proxima Nova"/>
                <a:cs typeface="Proxima Nova"/>
                <a:sym typeface="Proxima Nova"/>
              </a:rPr>
              <a:t>s∞n</a:t>
            </a:r>
            <a:r>
              <a:rPr lang="en-AU" sz="1300" b="1" dirty="0">
                <a:solidFill>
                  <a:schemeClr val="lt1"/>
                </a:solidFill>
                <a:latin typeface="Proxima Nova"/>
                <a:ea typeface="Proxima Nova"/>
                <a:cs typeface="Proxima Nova"/>
                <a:sym typeface="Proxima Nova"/>
              </a:rPr>
              <a:t>)</a:t>
            </a:r>
            <a:endParaRPr sz="1300" b="1" dirty="0">
              <a:solidFill>
                <a:schemeClr val="lt1"/>
              </a:solidFill>
              <a:latin typeface="Proxima Nova"/>
              <a:ea typeface="Proxima Nova"/>
              <a:cs typeface="Proxima Nova"/>
              <a:sym typeface="Proxima Nov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5"/>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6"/>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7"/>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4"/>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280" name="Google Shape;280;p44"/>
          <p:cNvPicPr preferRelativeResize="0"/>
          <p:nvPr/>
        </p:nvPicPr>
        <p:blipFill>
          <a:blip r:embed="rId3">
            <a:alphaModFix/>
          </a:blip>
          <a:stretch>
            <a:fillRect/>
          </a:stretch>
        </p:blipFill>
        <p:spPr>
          <a:xfrm>
            <a:off x="1727638" y="752025"/>
            <a:ext cx="5688729" cy="363944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8"/>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286" name="Google Shape;286;p48"/>
          <p:cNvPicPr preferRelativeResize="0"/>
          <p:nvPr/>
        </p:nvPicPr>
        <p:blipFill>
          <a:blip r:embed="rId3">
            <a:alphaModFix/>
          </a:blip>
          <a:stretch>
            <a:fillRect/>
          </a:stretch>
        </p:blipFill>
        <p:spPr>
          <a:xfrm>
            <a:off x="1841750" y="752025"/>
            <a:ext cx="5460495" cy="363944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9"/>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292" name="Google Shape;292;p49"/>
          <p:cNvPicPr preferRelativeResize="0"/>
          <p:nvPr/>
        </p:nvPicPr>
        <p:blipFill>
          <a:blip r:embed="rId3">
            <a:alphaModFix/>
          </a:blip>
          <a:stretch>
            <a:fillRect/>
          </a:stretch>
        </p:blipFill>
        <p:spPr>
          <a:xfrm>
            <a:off x="2282675" y="752025"/>
            <a:ext cx="4578654" cy="363944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50"/>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51"/>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52"/>
          <p:cNvSpPr/>
          <p:nvPr/>
        </p:nvSpPr>
        <p:spPr>
          <a:xfrm>
            <a:off x="4724400" y="3944242"/>
            <a:ext cx="4190999" cy="152400"/>
          </a:xfrm>
          <a:prstGeom prst="rect">
            <a:avLst/>
          </a:prstGeom>
          <a:solidFill>
            <a:srgbClr val="000000">
              <a:alpha val="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1098</TotalTime>
  <Words>4528</Words>
  <Application>Microsoft Macintosh PowerPoint</Application>
  <PresentationFormat>On-screen Show (16:9)</PresentationFormat>
  <Paragraphs>289</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Montserrat</vt:lpstr>
      <vt:lpstr>Lato</vt:lpstr>
      <vt:lpstr>Proxima Nova</vt:lpstr>
      <vt:lpstr>Arial</vt:lpstr>
      <vt:lpstr>Focus</vt:lpstr>
      <vt:lpstr>PowerPoint Presentation</vt:lpstr>
      <vt:lpstr>PowerPoint Presentation</vt:lpstr>
      <vt:lpstr>PowerPoint Presentation</vt:lpstr>
      <vt:lpstr>Introduction</vt:lpstr>
      <vt:lpstr>PowerPoint Presentation</vt:lpstr>
      <vt:lpstr>Introduction</vt:lpstr>
      <vt:lpstr>Data &amp; Methods - The QED simulations</vt:lpstr>
      <vt:lpstr>Data &amp; Methods - The QED simulations</vt:lpstr>
      <vt:lpstr>Data &amp; Methods - Metallicity</vt:lpstr>
      <vt:lpstr>Data &amp; Methods - Generation of synthetic X-ray data</vt:lpstr>
      <vt:lpstr>Data &amp; Methods - Generation of synthetic X-ray data</vt:lpstr>
      <vt:lpstr>Data &amp; Methods - Generation of synthetic X-ray data</vt:lpstr>
      <vt:lpstr>Data &amp; Methods - Fitting the X-ray Spectrum</vt:lpstr>
      <vt:lpstr>Results - Metallicity Gradients in Galactic Outflows</vt:lpstr>
      <vt:lpstr>Results - Impact of the Background Metallicity</vt:lpstr>
      <vt:lpstr>Discussion - Origin of Metallicity Gradients</vt:lpstr>
      <vt:lpstr>Discussion - Reliability of Metallicity Gradients</vt:lpstr>
      <vt:lpstr>Discussion - Reliability of Metallicity Gradients</vt:lpstr>
      <vt:lpstr>Discussion - Reliability of Metallicity Gradients</vt:lpstr>
      <vt:lpstr>Discussion - From Simulation to Observation</vt:lpstr>
      <vt:lpstr>Discussion - From Simulation to Observation</vt:lpstr>
      <vt:lpstr>Discussion - From Simulation to Observation</vt:lpstr>
      <vt:lpstr>Conclusion</vt:lpstr>
      <vt:lpstr>Conclusion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Rongjun Huang</cp:lastModifiedBy>
  <cp:revision>8</cp:revision>
  <dcterms:modified xsi:type="dcterms:W3CDTF">2024-06-12T11:06:46Z</dcterms:modified>
</cp:coreProperties>
</file>