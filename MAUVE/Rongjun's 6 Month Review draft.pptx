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77" r:id="rId3"/>
    <p:sldId id="283" r:id="rId4"/>
    <p:sldId id="284" r:id="rId5"/>
    <p:sldId id="279" r:id="rId6"/>
    <p:sldId id="285" r:id="rId7"/>
    <p:sldId id="286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D6462-F6C9-6B44-9548-19727F0AC7A8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F8936-C81B-364E-A4F2-7A925200D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9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DF70AB96-FDAD-8BA7-1809-5543AC72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386AE541-5429-54B4-DA44-B93236FBB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0B05A83A-6DAC-66F5-0B5F-BCC019CC9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7324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6A46E8F3-D46D-96C7-7513-1E8B1ED3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2298C2C6-8903-68DF-B086-D12C98D9A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C6D215CD-9920-DA6B-7DBC-87FBC0F29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4726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E88B33BD-3011-69F3-7C03-3623E435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803EEE8C-EF73-EF73-5F82-F088A92AC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1D8893F2-DD88-E37B-0190-76A55176C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6607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5C68623E-30EC-1EB1-BA31-F79042042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B9273F56-9DAE-63BA-E579-1C1A8C26F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4B78BE12-AABF-57D1-851B-3DFF83E04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2052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DEADC281-A58E-5448-F7B3-F8D631AF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9B7BFB62-5843-3E0F-14B1-454791F2A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CF83AE90-01AE-D5B6-32ED-E62D4490C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823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7CE5E989-C56C-2501-7758-93D6BB33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4CD12443-1648-55A4-08BE-05CAC0301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7DDEF931-4FF9-B770-8867-4EE756B5A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22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485C0659-B3DD-7BCE-E444-F735A3ED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491D3E8B-3D5B-6F4B-BCF8-66995CCD24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496310BD-AD14-2DA7-4460-A175D6205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8369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75B865FD-3124-05B1-C177-599DD873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97464945-D058-52F8-AE84-3D1D767F7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DC2C39AB-C020-A797-1FF1-39B8E2A80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1398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3472BE9B-654D-84E4-361A-4160FCC3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2f9e8873d8_0_1:notes">
            <a:extLst>
              <a:ext uri="{FF2B5EF4-FFF2-40B4-BE49-F238E27FC236}">
                <a16:creationId xmlns:a16="http://schemas.microsoft.com/office/drawing/2014/main" id="{7DBA2699-D257-6686-87E2-9DC1CF71B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2f9e8873d8_0_1:notes">
            <a:extLst>
              <a:ext uri="{FF2B5EF4-FFF2-40B4-BE49-F238E27FC236}">
                <a16:creationId xmlns:a16="http://schemas.microsoft.com/office/drawing/2014/main" id="{4BF7E5D3-4593-182A-F33C-160031B8E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021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8E8B-D5B6-188F-68E7-F4534BF12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7D2D0-F960-2574-F2F2-8503F3D44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00C7B-2D78-B01E-CF95-B0D62BA5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537C8-A767-B16C-0A47-C5B96552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AA13B-32E9-E621-0C54-673BD340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6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24EB-C2C5-2DB1-4FB0-A6DA5DF3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0E82-ED15-2B99-2F6F-F4CDD5653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6C10F-02CB-5784-DE77-E2492870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B8263-02EE-8372-A9AC-A065AD89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758B-F699-1D13-2EFC-CF1D654E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44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FC5A-6E72-D7C2-0527-7F1945E6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6335-CDEF-AF73-ADEE-6F2F565C1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AA8E2-B856-0221-E355-F3EB7CDA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B3888-CE49-BF8F-60A1-CA1190F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3D374-2A99-6783-97B9-514DB052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3F89-570A-7C2E-C456-56DAF456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9F6BF-C8F0-B3BB-9ACE-F2E35836D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80111-C25E-7B8F-2DCF-6A7BBBE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76F21-0186-1479-F489-EA69FEA8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96DB8-AC36-9DAF-793E-44C7B2CA6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DC1CC-11E2-887E-602C-305A387E4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3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4112-7BEA-19B7-3D09-B796E96B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BE11D-BFE6-6C47-B2D4-54D270D12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AA33F-0DDA-9D2A-3ACE-A003B45E9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F5C1E-8CEE-267D-EF8F-ECA40DE9F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5CEE9-A2F7-F5C2-E1FD-AA64C8AB5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6622D-C225-49F5-FB97-167C40DEE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547D5-F5E8-96A3-8A8B-B9EFBE1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1FCD4D-944D-8A42-280B-709EFAD5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0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DC1-E3D9-BC01-28B7-27586CDA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88010-B306-BE96-D404-E63CF6FB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E6DC5-F7F3-B20C-507B-049500280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E5EAC-115B-3943-31DF-3EFC054A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6AAB9-3E2E-BE27-05D2-0A827FB97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3B834-249A-D1DA-97F1-9DA737CF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953D7-99C3-0845-9C56-B308710A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86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7290-0AFE-AFCD-E575-41A7AFCC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6AC2-FF3C-3D6E-D5DA-2E45C5E94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F19E2-9651-A249-0A10-E8FC19B3E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94830-27E0-ABDE-39EB-BC204BCF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05CB9-A463-91DF-D046-E3776576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B3E70-5366-F726-379A-C82BD451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5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653A-C342-D7EF-1D13-91DB63DA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55BFA-4751-D2FB-2C62-BA0D2C364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33763-37AB-CE78-E339-EA44BC3FF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EFA15-E47E-38F5-AA78-A7F77F11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605C3-955B-95DF-1B39-D41B63AB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1643D-C68D-AA48-B416-94168B76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7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5E26E-CFE3-432E-238A-6076FA24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1C597-2B57-5803-DDE7-DF3068766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1BF2-3976-699F-0344-680B2B88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CF1C-264C-CBED-2EC7-7CF69BF8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7BB5D-F55E-36F0-8751-BDAA1279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85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4E9EB-0768-AC5F-954B-EEF74C433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B14B5-F04D-6CA4-35B6-3B2341ADF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5A3DE-A6DA-4CEF-7E5D-29F1E7B9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A7890-ECD2-B154-9D7E-68646F2E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3126-C0F6-33C7-C5AA-3216FD8F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4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871AC-120E-44D2-F3B1-B985D285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F6D89-B646-6AD9-DAB1-D9EBAFF52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491D8-80A2-D24E-BDC3-2705D7E6B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EBACE-3D29-F14A-A83E-53F2976715E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3A6EF-DB86-8A79-A861-0B6C6BF38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8D0B-6048-7E09-DC74-45EA3378F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B78A2-FB42-9248-BAB9-AB2D057EB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4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818FE-17DD-53DE-2317-C70C53FBB1F8}"/>
              </a:ext>
            </a:extLst>
          </p:cNvPr>
          <p:cNvSpPr txBox="1"/>
          <p:nvPr/>
        </p:nvSpPr>
        <p:spPr>
          <a:xfrm>
            <a:off x="6768662" y="5765996"/>
            <a:ext cx="5423338" cy="903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altLang="zh-HK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ple Braille" pitchFamily="2" charset="0"/>
              </a:rPr>
              <a:t>Rongjun Huang   </a:t>
            </a:r>
          </a:p>
          <a:p>
            <a:pPr>
              <a:lnSpc>
                <a:spcPct val="115000"/>
              </a:lnSpc>
            </a:pPr>
            <a:r>
              <a:rPr lang="en-AU" altLang="zh-HK" sz="2400" dirty="0">
                <a:solidFill>
                  <a:srgbClr val="00B0F0"/>
                </a:solidFill>
                <a:latin typeface="Apple Braille" pitchFamily="2" charset="0"/>
              </a:rPr>
              <a:t>Supervisors: Luca Cortese, Luke Davies</a:t>
            </a:r>
            <a:endParaRPr lang="en-AU" sz="2400" dirty="0">
              <a:solidFill>
                <a:srgbClr val="00B0F0"/>
              </a:solidFill>
              <a:latin typeface="Apple Braille" pitchFamily="2" charset="0"/>
            </a:endParaRPr>
          </a:p>
        </p:txBody>
      </p:sp>
      <p:sp>
        <p:nvSpPr>
          <p:cNvPr id="4" name="Google Shape;228;p17">
            <a:extLst>
              <a:ext uri="{FF2B5EF4-FFF2-40B4-BE49-F238E27FC236}">
                <a16:creationId xmlns:a16="http://schemas.microsoft.com/office/drawing/2014/main" id="{AAC633C9-D344-97EA-BFDD-82009FEBE053}"/>
              </a:ext>
            </a:extLst>
          </p:cNvPr>
          <p:cNvSpPr txBox="1">
            <a:spLocks/>
          </p:cNvSpPr>
          <p:nvPr/>
        </p:nvSpPr>
        <p:spPr>
          <a:xfrm>
            <a:off x="1864991" y="2326405"/>
            <a:ext cx="8462018" cy="220518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Bef>
                <a:spcPts val="1500"/>
              </a:spcBef>
            </a:pPr>
            <a:r>
              <a:rPr lang="en-AU" altLang="zh-HK" sz="3600" dirty="0">
                <a:solidFill>
                  <a:srgbClr val="FFFF00"/>
                </a:solidFill>
                <a:latin typeface="Apple Braille" pitchFamily="2" charset="0"/>
                <a:ea typeface="Arial"/>
                <a:cs typeface="Arial"/>
                <a:sym typeface="Arial"/>
              </a:rPr>
              <a:t>Environmental effects on Spatially-resolved Star Formation and Interstellar Medium Properties in the Virgo Cluster</a:t>
            </a:r>
            <a:endParaRPr lang="en-AU" sz="3600" dirty="0">
              <a:solidFill>
                <a:srgbClr val="FFFF00"/>
              </a:solidFill>
              <a:latin typeface="Apple Braille" pitchFamily="2" charset="0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2577A7C-AFAE-2064-C6D4-D93F7251D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114" y="12738"/>
            <a:ext cx="4394886" cy="1079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University of Western Australia | Study Options">
            <a:extLst>
              <a:ext uri="{FF2B5EF4-FFF2-40B4-BE49-F238E27FC236}">
                <a16:creationId xmlns:a16="http://schemas.microsoft.com/office/drawing/2014/main" id="{B1A6F02E-94B8-52B3-5DCC-0CE3BA3D3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65996"/>
            <a:ext cx="2698976" cy="107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CRAR – Industry Engagement at AAL">
            <a:extLst>
              <a:ext uri="{FF2B5EF4-FFF2-40B4-BE49-F238E27FC236}">
                <a16:creationId xmlns:a16="http://schemas.microsoft.com/office/drawing/2014/main" id="{9038062C-44ED-E0C6-DB29-B3B0B466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13"/>
            <a:ext cx="1977081" cy="107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2FC31BA8-2795-6F31-550F-A667E1F4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6;p18">
            <a:extLst>
              <a:ext uri="{FF2B5EF4-FFF2-40B4-BE49-F238E27FC236}">
                <a16:creationId xmlns:a16="http://schemas.microsoft.com/office/drawing/2014/main" id="{7337C621-05D6-ACB0-4439-9C2E1BCDAAF3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tabLst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Outline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sp>
        <p:nvSpPr>
          <p:cNvPr id="4" name="Google Shape;237;p18">
            <a:extLst>
              <a:ext uri="{FF2B5EF4-FFF2-40B4-BE49-F238E27FC236}">
                <a16:creationId xmlns:a16="http://schemas.microsoft.com/office/drawing/2014/main" id="{74D2F5FC-10F9-2991-FB2B-85339806DCE2}"/>
              </a:ext>
            </a:extLst>
          </p:cNvPr>
          <p:cNvSpPr txBox="1">
            <a:spLocks/>
          </p:cNvSpPr>
          <p:nvPr/>
        </p:nvSpPr>
        <p:spPr>
          <a:xfrm>
            <a:off x="828450" y="2045664"/>
            <a:ext cx="10535098" cy="316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Background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This Work</a:t>
            </a:r>
          </a:p>
        </p:txBody>
      </p:sp>
    </p:spTree>
    <p:extLst>
      <p:ext uri="{BB962C8B-B14F-4D97-AF65-F5344CB8AC3E}">
        <p14:creationId xmlns:p14="http://schemas.microsoft.com/office/powerpoint/2010/main" val="396474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DF1A779A-35F4-4472-3B24-F993B345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18">
            <a:extLst>
              <a:ext uri="{FF2B5EF4-FFF2-40B4-BE49-F238E27FC236}">
                <a16:creationId xmlns:a16="http://schemas.microsoft.com/office/drawing/2014/main" id="{2E546E5B-245A-90E0-374B-5A712E9F1333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lvl="0">
              <a:buClr>
                <a:srgbClr val="FFFFFF"/>
              </a:buClr>
              <a:buSzPts val="2400"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1. Background. Self-regulation (“Bathtub”) model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pic>
        <p:nvPicPr>
          <p:cNvPr id="4" name="Picture 3" descr="Diagram of a diagram of a wind turbine&#10;&#10;AI-generated content may be incorrect.">
            <a:extLst>
              <a:ext uri="{FF2B5EF4-FFF2-40B4-BE49-F238E27FC236}">
                <a16:creationId xmlns:a16="http://schemas.microsoft.com/office/drawing/2014/main" id="{3DEB7AC8-3B30-633A-40DB-CD738FDDB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414" y="1540466"/>
            <a:ext cx="7554134" cy="3777067"/>
          </a:xfrm>
          <a:prstGeom prst="rect">
            <a:avLst/>
          </a:prstGeom>
        </p:spPr>
      </p:pic>
      <p:sp>
        <p:nvSpPr>
          <p:cNvPr id="5" name="Google Shape;237;p18">
            <a:extLst>
              <a:ext uri="{FF2B5EF4-FFF2-40B4-BE49-F238E27FC236}">
                <a16:creationId xmlns:a16="http://schemas.microsoft.com/office/drawing/2014/main" id="{A06A8F0A-ED53-3493-B8B7-9B7B2B32C77A}"/>
              </a:ext>
            </a:extLst>
          </p:cNvPr>
          <p:cNvSpPr txBox="1">
            <a:spLocks/>
          </p:cNvSpPr>
          <p:nvPr/>
        </p:nvSpPr>
        <p:spPr>
          <a:xfrm>
            <a:off x="828450" y="1392897"/>
            <a:ext cx="2980964" cy="4072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None/>
              <a:defRPr/>
            </a:pPr>
            <a:r>
              <a:rPr lang="en-AU" sz="2000" kern="0" dirty="0">
                <a:solidFill>
                  <a:srgbClr val="FFFFFF"/>
                </a:solidFill>
              </a:rPr>
              <a:t>Gas inflow from the IGM fuels star formation; feedback-driven outflows expel gas.</a:t>
            </a:r>
          </a:p>
          <a:p>
            <a:pPr marL="0" indent="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None/>
              <a:defRPr/>
            </a:pPr>
            <a:r>
              <a:rPr lang="en-AU" sz="2000" kern="0" dirty="0">
                <a:solidFill>
                  <a:srgbClr val="FFFFFF"/>
                </a:solidFill>
              </a:rPr>
              <a:t>Gas reservoir adjusts quickly: system tends toward equilibrium where SFR balances net accretion.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CE78B-F0DE-EC83-F473-370F138017F4}"/>
              </a:ext>
            </a:extLst>
          </p:cNvPr>
          <p:cNvSpPr txBox="1"/>
          <p:nvPr/>
        </p:nvSpPr>
        <p:spPr>
          <a:xfrm>
            <a:off x="3809414" y="5686865"/>
            <a:ext cx="755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Bathtub model =&gt; Predicts key scaling relations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4F85A-1FF4-3273-33AF-9A3DEB4D552A}"/>
              </a:ext>
            </a:extLst>
          </p:cNvPr>
          <p:cNvSpPr txBox="1"/>
          <p:nvPr/>
        </p:nvSpPr>
        <p:spPr>
          <a:xfrm>
            <a:off x="9270124" y="5317533"/>
            <a:ext cx="209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>
                <a:solidFill>
                  <a:schemeClr val="bg1"/>
                </a:solidFill>
              </a:rPr>
              <a:t>(Lilly+2013)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63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46CF56DB-5CF1-A350-9208-EEC0296D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18">
            <a:extLst>
              <a:ext uri="{FF2B5EF4-FFF2-40B4-BE49-F238E27FC236}">
                <a16:creationId xmlns:a16="http://schemas.microsoft.com/office/drawing/2014/main" id="{34C06288-DCD9-9111-D8B8-B480D49A4BF5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lvl="0">
              <a:buClr>
                <a:srgbClr val="FFFFFF"/>
              </a:buClr>
              <a:buSzPts val="2400"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1. Background. Scaling relations (Spatially-resolved)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74F1CEE6-D496-811F-B479-274D602AC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30214"/>
            <a:ext cx="5442084" cy="5597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B896C9-E9DF-F2D7-40C2-30F39AB87135}"/>
              </a:ext>
            </a:extLst>
          </p:cNvPr>
          <p:cNvSpPr txBox="1"/>
          <p:nvPr/>
        </p:nvSpPr>
        <p:spPr>
          <a:xfrm>
            <a:off x="9442385" y="6227785"/>
            <a:ext cx="209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>
                <a:solidFill>
                  <a:schemeClr val="bg1"/>
                </a:solidFill>
              </a:rPr>
              <a:t>(Baker+2023)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Google Shape;237;p18">
            <a:extLst>
              <a:ext uri="{FF2B5EF4-FFF2-40B4-BE49-F238E27FC236}">
                <a16:creationId xmlns:a16="http://schemas.microsoft.com/office/drawing/2014/main" id="{4879048D-CC89-01E2-0744-3907B8B0E44F}"/>
              </a:ext>
            </a:extLst>
          </p:cNvPr>
          <p:cNvSpPr txBox="1">
            <a:spLocks/>
          </p:cNvSpPr>
          <p:nvPr/>
        </p:nvSpPr>
        <p:spPr>
          <a:xfrm>
            <a:off x="828450" y="1848594"/>
            <a:ext cx="4195495" cy="316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 err="1">
                <a:solidFill>
                  <a:srgbClr val="FFFFFF"/>
                </a:solidFill>
              </a:rPr>
              <a:t>rSFMS</a:t>
            </a:r>
            <a:endParaRPr lang="en-AU" sz="2000" kern="0" dirty="0">
              <a:solidFill>
                <a:srgbClr val="FFFFFF"/>
              </a:solidFill>
            </a:endParaRP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 err="1">
                <a:solidFill>
                  <a:srgbClr val="FFFFFF"/>
                </a:solidFill>
              </a:rPr>
              <a:t>rMZR</a:t>
            </a:r>
            <a:endParaRPr lang="en-AU" sz="2000" kern="0" dirty="0">
              <a:solidFill>
                <a:srgbClr val="FFFFFF"/>
              </a:solidFill>
            </a:endParaRP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 err="1">
                <a:solidFill>
                  <a:srgbClr val="FFFFFF"/>
                </a:solidFill>
              </a:rPr>
              <a:t>rFMR</a:t>
            </a:r>
            <a:endParaRPr lang="en-AU" sz="20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1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B821DACA-ED74-623B-E956-34F99095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18">
            <a:extLst>
              <a:ext uri="{FF2B5EF4-FFF2-40B4-BE49-F238E27FC236}">
                <a16:creationId xmlns:a16="http://schemas.microsoft.com/office/drawing/2014/main" id="{1F2AFB65-1A2B-B3B6-6D51-000FC953408B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lvl="0">
              <a:buClr>
                <a:srgbClr val="FFFFFF"/>
              </a:buClr>
              <a:buSzPts val="2400"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1. Background. From field to cluster galaxies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sp>
        <p:nvSpPr>
          <p:cNvPr id="3" name="Google Shape;237;p18">
            <a:extLst>
              <a:ext uri="{FF2B5EF4-FFF2-40B4-BE49-F238E27FC236}">
                <a16:creationId xmlns:a16="http://schemas.microsoft.com/office/drawing/2014/main" id="{8173D885-CB24-0B9B-704D-3AC0346C1609}"/>
              </a:ext>
            </a:extLst>
          </p:cNvPr>
          <p:cNvSpPr txBox="1">
            <a:spLocks/>
          </p:cNvSpPr>
          <p:nvPr/>
        </p:nvSpPr>
        <p:spPr>
          <a:xfrm>
            <a:off x="828450" y="1267197"/>
            <a:ext cx="10535098" cy="4323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\</a:t>
            </a:r>
            <a:r>
              <a:rPr lang="en-AU" sz="2000" kern="0" dirty="0" err="1">
                <a:solidFill>
                  <a:srgbClr val="FFFFFF"/>
                </a:solidFill>
              </a:rPr>
              <a:t>textbf</a:t>
            </a:r>
            <a:r>
              <a:rPr lang="en-AU" sz="2000" kern="0" dirty="0">
                <a:solidFill>
                  <a:srgbClr val="FFFFFF"/>
                </a:solidFill>
              </a:rPr>
              <a:t>{SFMS/</a:t>
            </a:r>
            <a:r>
              <a:rPr lang="en-AU" sz="2000" kern="0" dirty="0" err="1">
                <a:solidFill>
                  <a:srgbClr val="FFFFFF"/>
                </a:solidFill>
              </a:rPr>
              <a:t>rSFMS</a:t>
            </a:r>
            <a:r>
              <a:rPr lang="en-AU" sz="2000" kern="0" dirty="0">
                <a:solidFill>
                  <a:srgbClr val="FFFFFF"/>
                </a:solidFill>
              </a:rPr>
              <a:t>:} similar slope, \</a:t>
            </a:r>
            <a:r>
              <a:rPr lang="en-AU" sz="2000" kern="0" dirty="0" err="1">
                <a:solidFill>
                  <a:srgbClr val="FFFFFF"/>
                </a:solidFill>
              </a:rPr>
              <a:t>textit</a:t>
            </a:r>
            <a:r>
              <a:rPr lang="en-AU" sz="2000" kern="0" dirty="0">
                <a:solidFill>
                  <a:srgbClr val="FFFFFF"/>
                </a:solidFill>
              </a:rPr>
              <a:t>{larger scatter} in clusters due to quenching (e.g. \ion{H}{</a:t>
            </a:r>
            <a:r>
              <a:rPr lang="en-AU" sz="2000" kern="0" dirty="0" err="1">
                <a:solidFill>
                  <a:srgbClr val="FFFFFF"/>
                </a:solidFill>
              </a:rPr>
              <a:t>i</a:t>
            </a:r>
            <a:r>
              <a:rPr lang="en-AU" sz="2000" kern="0" dirty="0">
                <a:solidFill>
                  <a:srgbClr val="FFFFFF"/>
                </a:solidFill>
              </a:rPr>
              <a:t>}-stripped spirals below sequence).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\</a:t>
            </a:r>
            <a:r>
              <a:rPr lang="en-AU" sz="2000" kern="0" dirty="0" err="1">
                <a:solidFill>
                  <a:srgbClr val="FFFFFF"/>
                </a:solidFill>
              </a:rPr>
              <a:t>textbf</a:t>
            </a:r>
            <a:r>
              <a:rPr lang="en-AU" sz="2000" kern="0" dirty="0">
                <a:solidFill>
                  <a:srgbClr val="FFFFFF"/>
                </a:solidFill>
              </a:rPr>
              <a:t>{Metallicity:} modest \(\sim\)0.05 </a:t>
            </a:r>
            <a:r>
              <a:rPr lang="en-AU" sz="2000" kern="0" dirty="0" err="1">
                <a:solidFill>
                  <a:srgbClr val="FFFFFF"/>
                </a:solidFill>
              </a:rPr>
              <a:t>dex</a:t>
            </a:r>
            <a:r>
              <a:rPr lang="en-AU" sz="2000" kern="0" dirty="0">
                <a:solidFill>
                  <a:srgbClr val="FFFFFF"/>
                </a:solidFill>
              </a:rPr>
              <a:t> enhancements at fixed mass in satellites vs. field.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\</a:t>
            </a:r>
            <a:r>
              <a:rPr lang="en-AU" sz="2000" kern="0" dirty="0" err="1">
                <a:solidFill>
                  <a:srgbClr val="FFFFFF"/>
                </a:solidFill>
              </a:rPr>
              <a:t>textbf</a:t>
            </a:r>
            <a:r>
              <a:rPr lang="en-AU" sz="2000" kern="0" dirty="0">
                <a:solidFill>
                  <a:srgbClr val="FFFFFF"/>
                </a:solidFill>
              </a:rPr>
              <a:t>{Physics:} ram-pressure stripping (RPS), starvation/strangulation, tidal interactions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\</a:t>
            </a:r>
            <a:r>
              <a:rPr lang="en-AU" sz="2000" kern="0" dirty="0" err="1">
                <a:solidFill>
                  <a:srgbClr val="FFFFFF"/>
                </a:solidFill>
              </a:rPr>
              <a:t>textbf</a:t>
            </a:r>
            <a:r>
              <a:rPr lang="en-AU" sz="2000" kern="0" dirty="0">
                <a:solidFill>
                  <a:srgbClr val="FFFFFF"/>
                </a:solidFill>
              </a:rPr>
              <a:t>{Implication:} galaxies can deviate from the FMR depending on recent inflow/outflow history.</a:t>
            </a:r>
          </a:p>
        </p:txBody>
      </p:sp>
    </p:spTree>
    <p:extLst>
      <p:ext uri="{BB962C8B-B14F-4D97-AF65-F5344CB8AC3E}">
        <p14:creationId xmlns:p14="http://schemas.microsoft.com/office/powerpoint/2010/main" val="240702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F54A58F3-4165-E137-03A3-7D03F66E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18">
            <a:extLst>
              <a:ext uri="{FF2B5EF4-FFF2-40B4-BE49-F238E27FC236}">
                <a16:creationId xmlns:a16="http://schemas.microsoft.com/office/drawing/2014/main" id="{7F2829EE-5709-8313-234F-45E74C8FD680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lvl="0">
              <a:buClr>
                <a:srgbClr val="FFFFFF"/>
              </a:buClr>
              <a:buSzPts val="2400"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1. Background. Scientific Motivation (Virgo Cluster)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sp>
        <p:nvSpPr>
          <p:cNvPr id="3" name="Google Shape;237;p18">
            <a:extLst>
              <a:ext uri="{FF2B5EF4-FFF2-40B4-BE49-F238E27FC236}">
                <a16:creationId xmlns:a16="http://schemas.microsoft.com/office/drawing/2014/main" id="{23366180-21F3-E877-A37C-669019F1578C}"/>
              </a:ext>
            </a:extLst>
          </p:cNvPr>
          <p:cNvSpPr txBox="1">
            <a:spLocks/>
          </p:cNvSpPr>
          <p:nvPr/>
        </p:nvSpPr>
        <p:spPr>
          <a:xfrm>
            <a:off x="828450" y="1771343"/>
            <a:ext cx="10535098" cy="331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 \item Clusters are stress-tests of self-regulation: do equilibrium relations survive at \(\sim100\) pc scales?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Virgo (\(D\!\</a:t>
            </a:r>
            <a:r>
              <a:rPr lang="en-AU" sz="2000" kern="0" dirty="0" err="1">
                <a:solidFill>
                  <a:srgbClr val="FFFFFF"/>
                </a:solidFill>
              </a:rPr>
              <a:t>approx</a:t>
            </a:r>
            <a:r>
              <a:rPr lang="en-AU" sz="2000" kern="0" dirty="0">
                <a:solidFill>
                  <a:srgbClr val="FFFFFF"/>
                </a:solidFill>
              </a:rPr>
              <a:t>\!16.5\) Mpc) is close enough to resolve individual \ion{H}{ii} regions and spans diverse infall stages.</a:t>
            </a:r>
          </a:p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r>
              <a:rPr lang="en-AU" sz="2000" kern="0" dirty="0">
                <a:solidFill>
                  <a:srgbClr val="FFFFFF"/>
                </a:solidFill>
              </a:rPr>
              <a:t>\item We seek to \</a:t>
            </a:r>
            <a:r>
              <a:rPr lang="en-AU" sz="2000" kern="0" dirty="0" err="1">
                <a:solidFill>
                  <a:srgbClr val="FFFFFF"/>
                </a:solidFill>
              </a:rPr>
              <a:t>textbf</a:t>
            </a:r>
            <a:r>
              <a:rPr lang="en-AU" sz="2000" kern="0" dirty="0">
                <a:solidFill>
                  <a:srgbClr val="FFFFFF"/>
                </a:solidFill>
              </a:rPr>
              <a:t>{map and compare} the resolved metallicity surface \(\</a:t>
            </a:r>
            <a:r>
              <a:rPr lang="en-AU" sz="2000" kern="0" dirty="0" err="1">
                <a:solidFill>
                  <a:srgbClr val="FFFFFF"/>
                </a:solidFill>
              </a:rPr>
              <a:t>Zgas</a:t>
            </a:r>
            <a:r>
              <a:rPr lang="en-AU" sz="2000" kern="0" dirty="0">
                <a:solidFill>
                  <a:srgbClr val="FFFFFF"/>
                </a:solidFill>
              </a:rPr>
              <a:t>(\</a:t>
            </a:r>
            <a:r>
              <a:rPr lang="en-AU" sz="2000" kern="0" dirty="0" err="1">
                <a:solidFill>
                  <a:srgbClr val="FFFFFF"/>
                </a:solidFill>
              </a:rPr>
              <a:t>SigST</a:t>
            </a:r>
            <a:r>
              <a:rPr lang="en-AU" sz="2000" kern="0" dirty="0">
                <a:solidFill>
                  <a:srgbClr val="FFFFFF"/>
                </a:solidFill>
              </a:rPr>
              <a:t>,\</a:t>
            </a:r>
            <a:r>
              <a:rPr lang="en-AU" sz="2000" kern="0" dirty="0" err="1">
                <a:solidFill>
                  <a:srgbClr val="FFFFFF"/>
                </a:solidFill>
              </a:rPr>
              <a:t>SigSFR</a:t>
            </a:r>
            <a:r>
              <a:rPr lang="en-AU" sz="2000" kern="0" dirty="0">
                <a:solidFill>
                  <a:srgbClr val="FFFFFF"/>
                </a:solidFill>
              </a:rPr>
              <a:t>)\) across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94458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5C9754E4-01C2-1AAD-EE4B-582E3C56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;p18">
            <a:extLst>
              <a:ext uri="{FF2B5EF4-FFF2-40B4-BE49-F238E27FC236}">
                <a16:creationId xmlns:a16="http://schemas.microsoft.com/office/drawing/2014/main" id="{C6019197-2744-6420-705D-016952BE1889}"/>
              </a:ext>
            </a:extLst>
          </p:cNvPr>
          <p:cNvSpPr txBox="1">
            <a:spLocks/>
          </p:cNvSpPr>
          <p:nvPr/>
        </p:nvSpPr>
        <p:spPr>
          <a:xfrm>
            <a:off x="828450" y="10510"/>
            <a:ext cx="105350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76200" lvl="0">
              <a:buClr>
                <a:srgbClr val="FFFFFF"/>
              </a:buClr>
              <a:buSzPts val="2400"/>
              <a:defRPr/>
            </a:pPr>
            <a:r>
              <a:rPr lang="en-AU" kern="0" dirty="0">
                <a:solidFill>
                  <a:srgbClr val="FFFFFF"/>
                </a:solidFill>
                <a:latin typeface="Apple Braille" pitchFamily="2" charset="0"/>
              </a:rPr>
              <a:t>2. This work. Objectives (PhD Program)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Braille" pitchFamily="2" charset="0"/>
              <a:sym typeface="Montserrat"/>
            </a:endParaRPr>
          </a:p>
        </p:txBody>
      </p:sp>
      <p:sp>
        <p:nvSpPr>
          <p:cNvPr id="3" name="Google Shape;237;p18">
            <a:extLst>
              <a:ext uri="{FF2B5EF4-FFF2-40B4-BE49-F238E27FC236}">
                <a16:creationId xmlns:a16="http://schemas.microsoft.com/office/drawing/2014/main" id="{B2064636-0427-EA74-2C32-6A03C94F5EBF}"/>
              </a:ext>
            </a:extLst>
          </p:cNvPr>
          <p:cNvSpPr txBox="1">
            <a:spLocks/>
          </p:cNvSpPr>
          <p:nvPr/>
        </p:nvSpPr>
        <p:spPr>
          <a:xfrm>
            <a:off x="828450" y="1771343"/>
            <a:ext cx="10535098" cy="331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-457200">
              <a:spcBef>
                <a:spcPts val="1200"/>
              </a:spcBef>
              <a:spcAft>
                <a:spcPts val="1600"/>
              </a:spcAft>
              <a:buClr>
                <a:srgbClr val="FFFFFF"/>
              </a:buClr>
              <a:buAutoNum type="arabicPeriod"/>
              <a:defRPr/>
            </a:pPr>
            <a:endParaRPr lang="en-AU" sz="20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45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BB3D8EF3-ED00-C46C-2DD8-4298783C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35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9F870921-4CF4-638E-0BA9-970FE160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56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5">
          <a:extLst>
            <a:ext uri="{FF2B5EF4-FFF2-40B4-BE49-F238E27FC236}">
              <a16:creationId xmlns:a16="http://schemas.microsoft.com/office/drawing/2014/main" id="{62207375-990D-0DE1-3257-F3D2EE05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73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3216</TotalTime>
  <Words>303</Words>
  <Application>Microsoft Macintosh PowerPoint</Application>
  <PresentationFormat>Widescreen</PresentationFormat>
  <Paragraphs>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Apple Braille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10</cp:revision>
  <dcterms:created xsi:type="dcterms:W3CDTF">2025-06-28T11:55:19Z</dcterms:created>
  <dcterms:modified xsi:type="dcterms:W3CDTF">2025-08-21T05:00:33Z</dcterms:modified>
</cp:coreProperties>
</file>