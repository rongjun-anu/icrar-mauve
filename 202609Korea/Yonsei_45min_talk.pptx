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3.xml" ContentType="application/vnd.openxmlformats-officedocument.presentationml.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57" r:id="rId3"/>
    <p:sldId id="258" r:id="rId4"/>
    <p:sldId id="298" r:id="rId49"/>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49"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AU" sz="1800">
                <a:latin typeface="Arial"/>
                <a:ea typeface="Arial"/>
                <a:cs typeface="Arial"/>
              </a:rPr>
              <a:t>Fixed-target response (illustration)</a:t>
            </a:r>
          </a:p>
        </c:rich>
      </c:tx>
      <c:overlay val="0"/>
    </c:title>
    <c:autoTitleDeleted val="0"/>
    <c:plotArea>
      <c:layout/>
      <c:scatterChart>
        <c:scatterStyle val="lineMarker"/>
        <c:varyColors val="1"/>
        <c:ser>
          <c:idx val="0"/>
          <c:order val="0"/>
          <c:tx>
            <c:v>Response</c:v>
          </c:tx>
          <c:spPr>
            <a:ln w="38100">
              <a:solidFill>
                <a:srgbClr val="85457F"/>
              </a:solidFill>
            </a:ln>
          </c:spPr>
          <c:marker>
            <c:symbol val="none"/>
          </c:marker>
          <c:xVal>
            <c:numRef>
              <c:f>'Chart Data'!$A$2:$A$42</c:f>
              <c:numCache>
                <c:formatCode>General</c:formatCode>
                <c:ptCount val="41"/>
                <c:pt idx="0">
                  <c:v>0</c:v>
                </c:pt>
                <c:pt idx="1">
                  <c:v>0.1</c:v>
                </c:pt>
                <c:pt idx="2">
                  <c:v>0.2</c:v>
                </c:pt>
                <c:pt idx="3">
                  <c:v>0.3</c:v>
                </c:pt>
                <c:pt idx="4">
                  <c:v>0.4</c:v>
                </c:pt>
                <c:pt idx="5">
                  <c:v>0.5</c:v>
                </c:pt>
                <c:pt idx="6">
                  <c:v>0.6</c:v>
                </c:pt>
                <c:pt idx="7">
                  <c:v>0.7</c:v>
                </c:pt>
                <c:pt idx="8">
                  <c:v>0.8</c:v>
                </c:pt>
                <c:pt idx="9">
                  <c:v>0.9</c:v>
                </c:pt>
                <c:pt idx="10">
                  <c:v>1</c:v>
                </c:pt>
                <c:pt idx="11">
                  <c:v>1.1000000000000001</c:v>
                </c:pt>
                <c:pt idx="12">
                  <c:v>1.2</c:v>
                </c:pt>
                <c:pt idx="13">
                  <c:v>1.3</c:v>
                </c:pt>
                <c:pt idx="14">
                  <c:v>1.4</c:v>
                </c:pt>
                <c:pt idx="15">
                  <c:v>1.5</c:v>
                </c:pt>
                <c:pt idx="16">
                  <c:v>1.6</c:v>
                </c:pt>
                <c:pt idx="17">
                  <c:v>1.7</c:v>
                </c:pt>
                <c:pt idx="18">
                  <c:v>1.8</c:v>
                </c:pt>
                <c:pt idx="19">
                  <c:v>1.9</c:v>
                </c:pt>
                <c:pt idx="20">
                  <c:v>2</c:v>
                </c:pt>
                <c:pt idx="21">
                  <c:v>2.1</c:v>
                </c:pt>
                <c:pt idx="22">
                  <c:v>2.2000000000000002</c:v>
                </c:pt>
                <c:pt idx="23">
                  <c:v>2.2999999999999998</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numCache>
            </c:numRef>
          </c:xVal>
          <c:yVal>
            <c:numRef>
              <c:f>'Chart Data'!$B$2:$B$42</c:f>
              <c:numCache>
                <c:formatCode>0.00</c:formatCode>
                <c:ptCount val="41"/>
                <c:pt idx="0">
                  <c:v>0</c:v>
                </c:pt>
                <c:pt idx="1">
                  <c:v>9.5162581964000001E-2</c:v>
                </c:pt>
                <c:pt idx="2">
                  <c:v>0.181269246922</c:v>
                </c:pt>
                <c:pt idx="3">
                  <c:v>0.25918177931800002</c:v>
                </c:pt>
                <c:pt idx="4">
                  <c:v>0.32967995396400002</c:v>
                </c:pt>
                <c:pt idx="5">
                  <c:v>0.39346934028699998</c:v>
                </c:pt>
                <c:pt idx="6">
                  <c:v>0.45118836390599998</c:v>
                </c:pt>
                <c:pt idx="7">
                  <c:v>0.50341469620900003</c:v>
                </c:pt>
                <c:pt idx="8">
                  <c:v>0.55067103588300004</c:v>
                </c:pt>
                <c:pt idx="9">
                  <c:v>0.59343034025899999</c:v>
                </c:pt>
                <c:pt idx="10">
                  <c:v>0.63212055882899998</c:v>
                </c:pt>
                <c:pt idx="11">
                  <c:v>0.667128916302</c:v>
                </c:pt>
                <c:pt idx="12">
                  <c:v>0.69880578808799998</c:v>
                </c:pt>
                <c:pt idx="13">
                  <c:v>0.72746820696600001</c:v>
                </c:pt>
                <c:pt idx="14">
                  <c:v>0.75340303605799996</c:v>
                </c:pt>
                <c:pt idx="15">
                  <c:v>0.77686983985199998</c:v>
                </c:pt>
                <c:pt idx="16">
                  <c:v>0.79810348200500003</c:v>
                </c:pt>
                <c:pt idx="17">
                  <c:v>0.81731647594699997</c:v>
                </c:pt>
                <c:pt idx="18">
                  <c:v>0.83470111177799999</c:v>
                </c:pt>
                <c:pt idx="19">
                  <c:v>0.85043138077699998</c:v>
                </c:pt>
                <c:pt idx="20">
                  <c:v>0.86466471676300005</c:v>
                </c:pt>
                <c:pt idx="21">
                  <c:v>0.87754357174700004</c:v>
                </c:pt>
                <c:pt idx="22">
                  <c:v>0.88919684163799995</c:v>
                </c:pt>
                <c:pt idx="23">
                  <c:v>0.89974115627700002</c:v>
                </c:pt>
                <c:pt idx="24">
                  <c:v>0.90928204671099999</c:v>
                </c:pt>
                <c:pt idx="25">
                  <c:v>0.91791500137600002</c:v>
                </c:pt>
                <c:pt idx="26">
                  <c:v>0.92572642178599995</c:v>
                </c:pt>
                <c:pt idx="27">
                  <c:v>0.93279448726000003</c:v>
                </c:pt>
                <c:pt idx="28">
                  <c:v>0.93918993737500001</c:v>
                </c:pt>
                <c:pt idx="29">
                  <c:v>0.94497677994399998</c:v>
                </c:pt>
                <c:pt idx="30">
                  <c:v>0.95021293163200005</c:v>
                </c:pt>
                <c:pt idx="31">
                  <c:v>0.95495079760599999</c:v>
                </c:pt>
                <c:pt idx="32">
                  <c:v>0.95923779602199999</c:v>
                </c:pt>
                <c:pt idx="33">
                  <c:v>0.96311683259900005</c:v>
                </c:pt>
                <c:pt idx="34">
                  <c:v>0.96662673003999999</c:v>
                </c:pt>
                <c:pt idx="35">
                  <c:v>0.96980261657800004</c:v>
                </c:pt>
                <c:pt idx="36">
                  <c:v>0.97267627755300001</c:v>
                </c:pt>
                <c:pt idx="37">
                  <c:v>0.97527647353000002</c:v>
                </c:pt>
                <c:pt idx="38">
                  <c:v>0.977629228144</c:v>
                </c:pt>
                <c:pt idx="39">
                  <c:v>0.97975808855400004</c:v>
                </c:pt>
                <c:pt idx="40">
                  <c:v>0.98168436111099999</c:v>
                </c:pt>
              </c:numCache>
            </c:numRef>
          </c:yVal>
          <c:smooth val="1"/>
          <c:extLst>
            <c:ext xmlns:c16="http://schemas.microsoft.com/office/drawing/2014/chart" uri="{C3380CC4-5D6E-409C-BE32-E72D297353CC}">
              <c16:uniqueId val="{00000000-1CEE-614D-8155-346FEA96163B}"/>
            </c:ext>
          </c:extLst>
        </c:ser>
        <c:ser>
          <c:idx val="1"/>
          <c:order val="1"/>
          <c:tx>
            <c:v>Target</c:v>
          </c:tx>
          <c:spPr>
            <a:ln w="19050">
              <a:solidFill>
                <a:srgbClr val="52636C"/>
              </a:solidFill>
              <a:prstDash val="dash"/>
            </a:ln>
          </c:spPr>
          <c:marker>
            <c:symbol val="none"/>
          </c:marker>
          <c:xVal>
            <c:numRef>
              <c:f>'Chart Data'!$C$2:$C$42</c:f>
              <c:numCache>
                <c:formatCode>General</c:formatCode>
                <c:ptCount val="41"/>
                <c:pt idx="0">
                  <c:v>0</c:v>
                </c:pt>
                <c:pt idx="1">
                  <c:v>0.1</c:v>
                </c:pt>
                <c:pt idx="2">
                  <c:v>0.2</c:v>
                </c:pt>
                <c:pt idx="3">
                  <c:v>0.3</c:v>
                </c:pt>
                <c:pt idx="4">
                  <c:v>0.4</c:v>
                </c:pt>
                <c:pt idx="5">
                  <c:v>0.5</c:v>
                </c:pt>
                <c:pt idx="6">
                  <c:v>0.6</c:v>
                </c:pt>
                <c:pt idx="7">
                  <c:v>0.7</c:v>
                </c:pt>
                <c:pt idx="8">
                  <c:v>0.8</c:v>
                </c:pt>
                <c:pt idx="9">
                  <c:v>0.9</c:v>
                </c:pt>
                <c:pt idx="10">
                  <c:v>1</c:v>
                </c:pt>
                <c:pt idx="11">
                  <c:v>1.1000000000000001</c:v>
                </c:pt>
                <c:pt idx="12">
                  <c:v>1.2</c:v>
                </c:pt>
                <c:pt idx="13">
                  <c:v>1.3</c:v>
                </c:pt>
                <c:pt idx="14">
                  <c:v>1.4</c:v>
                </c:pt>
                <c:pt idx="15">
                  <c:v>1.5</c:v>
                </c:pt>
                <c:pt idx="16">
                  <c:v>1.6</c:v>
                </c:pt>
                <c:pt idx="17">
                  <c:v>1.7</c:v>
                </c:pt>
                <c:pt idx="18">
                  <c:v>1.8</c:v>
                </c:pt>
                <c:pt idx="19">
                  <c:v>1.9</c:v>
                </c:pt>
                <c:pt idx="20">
                  <c:v>2</c:v>
                </c:pt>
                <c:pt idx="21">
                  <c:v>2.1</c:v>
                </c:pt>
                <c:pt idx="22">
                  <c:v>2.2000000000000002</c:v>
                </c:pt>
                <c:pt idx="23">
                  <c:v>2.2999999999999998</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numCache>
            </c:numRef>
          </c:xVal>
          <c:yVal>
            <c:numRef>
              <c:f>'Chart Data'!$D$2:$D$42</c:f>
              <c:numCache>
                <c:formatCode>0.00</c:formatCode>
                <c:ptCount val="4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numCache>
            </c:numRef>
          </c:yVal>
          <c:smooth val="1"/>
          <c:extLst>
            <c:ext xmlns:c16="http://schemas.microsoft.com/office/drawing/2014/chart" uri="{C3380CC4-5D6E-409C-BE32-E72D297353CC}">
              <c16:uniqueId val="{00000001-1CEE-614D-8155-346FEA96163B}"/>
            </c:ext>
          </c:extLst>
        </c:ser>
        <c:dLbls>
          <c:showLegendKey val="0"/>
          <c:showVal val="0"/>
          <c:showCatName val="0"/>
          <c:showSerName val="0"/>
          <c:showPercent val="0"/>
          <c:showBubbleSize val="0"/>
        </c:dLbls>
        <c:axId val="48650112"/>
        <c:axId val="48672768"/>
      </c:scatterChart>
      <c:valAx>
        <c:axId val="48672768"/>
        <c:scaling>
          <c:orientation val="minMax"/>
          <c:max val="1.1000000000000001"/>
          <c:min val="0"/>
        </c:scaling>
        <c:delete val="0"/>
        <c:axPos val="l"/>
        <c:majorGridlines>
          <c:spPr>
            <a:ln w="9525">
              <a:solidFill>
                <a:srgbClr val="E1E6E9"/>
              </a:solidFill>
            </a:ln>
          </c:spPr>
        </c:majorGridlines>
        <c:title>
          <c:tx>
            <c:rich>
              <a:bodyPr/>
              <a:lstStyle/>
              <a:p>
                <a:r>
                  <a:rPr lang="en-AU">
                    <a:latin typeface="Arial"/>
                    <a:ea typeface="Arial"/>
                    <a:cs typeface="Arial"/>
                  </a:rPr>
                  <a:t>Normalized abundance response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midCat"/>
        <c:majorUnit val="0.25"/>
      </c:valAx>
      <c:valAx>
        <c:axId val="48650112"/>
        <c:scaling>
          <c:orientation val="minMax"/>
          <c:max val="4"/>
          <c:min val="0"/>
        </c:scaling>
        <c:delete val="0"/>
        <c:axPos val="b"/>
        <c:title>
          <c:tx>
            <c:rich>
              <a:bodyPr/>
              <a:lstStyle/>
              <a:p>
                <a:r>
                  <a:rPr lang="en-AU">
                    <a:latin typeface="Arial"/>
                    <a:ea typeface="Arial"/>
                    <a:cs typeface="Arial"/>
                  </a:rPr>
                  <a:t>Time / </a:t>
                </a:r>
                <a:r>
                  <a:rPr lang="el-GR">
                    <a:latin typeface="Arial"/>
                    <a:ea typeface="Arial"/>
                    <a:cs typeface="Arial"/>
                  </a:rPr>
                  <a:t>τΦ</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Arial"/>
                <a:ea typeface="Arial"/>
                <a:cs typeface="Arial"/>
              </a:defRPr>
            </a:pPr>
            <a:endParaRPr lang="en-US"/>
          </a:p>
        </c:txPr>
        <c:crossAx val="48672768"/>
        <c:crosses val="autoZero"/>
        <c:crossBetween val="midCat"/>
        <c:majorUnit val="1"/>
      </c:valAx>
      <c:spPr>
        <a:solidFill>
          <a:srgbClr val="FFFFFF"/>
        </a:solidFill>
      </c:spPr>
    </c:plotArea>
    <c:legend>
      <c:legendPos val="b"/>
      <c:overlay val="0"/>
      <c:txPr>
        <a:bodyPr anchorCtr="1"/>
        <a:lstStyle/>
        <a:p>
          <a:pPr>
            <a:defRPr sz="150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AU" sz="1875">
                <a:latin typeface="Arial"/>
                <a:ea typeface="Arial"/>
                <a:cs typeface="Arial"/>
              </a:rPr>
              <a:t>Full valid footprint</a:t>
            </a:r>
          </a:p>
        </c:rich>
      </c:tx>
      <c:overlay val="0"/>
    </c:title>
    <c:autoTitleDeleted val="0"/>
    <c:plotArea>
      <c:layout/>
      <c:barChart>
        <c:barDir val="col"/>
        <c:grouping val="stacked"/>
        <c:varyColors val="0"/>
        <c:ser>
          <c:idx val="0"/>
          <c:order val="0"/>
          <c:tx>
            <c:v>SF</c:v>
          </c:tx>
          <c:spPr>
            <a:solidFill>
              <a:srgbClr val="2166AC"/>
            </a:solidFill>
            <a:ln w="0">
              <a:noFill/>
            </a:ln>
          </c:spPr>
          <c:invertIfNegative val="1"/>
          <c:dLbls>
            <c:spPr>
              <a:noFill/>
              <a:ln>
                <a:noFill/>
              </a:ln>
              <a:effectLst/>
            </c:spPr>
            <c:txPr>
              <a:bodyPr anchorCtr="1"/>
              <a:lstStyle/>
              <a:p>
                <a:pPr>
                  <a:defRPr sz="1425" b="1">
                    <a:solidFill>
                      <a:srgbClr val="FFFFFF"/>
                    </a:solidFill>
                    <a:latin typeface="Arial"/>
                    <a:ea typeface="Arial"/>
                    <a:cs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Pre (8)</c:v>
                </c:pt>
                <c:pt idx="1">
                  <c:v>Close (5)</c:v>
                </c:pt>
                <c:pt idx="2">
                  <c:v>Post (13)</c:v>
                </c:pt>
              </c:strCache>
            </c:strRef>
          </c:cat>
          <c:val>
            <c:numRef>
              <c:f>'Chart Data'!$B$2:$B$4</c:f>
              <c:numCache>
                <c:formatCode>0%</c:formatCode>
                <c:ptCount val="3"/>
                <c:pt idx="0">
                  <c:v>0.38802274717899998</c:v>
                </c:pt>
                <c:pt idx="1">
                  <c:v>0.25102976748599998</c:v>
                </c:pt>
                <c:pt idx="2">
                  <c:v>6.6243091354E-2</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A89F-AF45-B9F1-578C775BB29E}"/>
            </c:ext>
          </c:extLst>
        </c:ser>
        <c:ser>
          <c:idx val="1"/>
          <c:order val="1"/>
          <c:tx>
            <c:v>ND</c:v>
          </c:tx>
          <c:spPr>
            <a:solidFill>
              <a:srgbClr val="E69F00"/>
            </a:solidFill>
            <a:ln w="0">
              <a:noFill/>
            </a:ln>
          </c:spPr>
          <c:invertIfNegative val="1"/>
          <c:dLbls>
            <c:spPr>
              <a:noFill/>
              <a:ln>
                <a:noFill/>
              </a:ln>
              <a:effectLst/>
            </c:spPr>
            <c:txPr>
              <a:bodyPr anchorCtr="1"/>
              <a:lstStyle/>
              <a:p>
                <a:pPr>
                  <a:defRPr sz="1425" b="1">
                    <a:solidFill>
                      <a:srgbClr val="FFFFFF"/>
                    </a:solidFill>
                    <a:latin typeface="Arial"/>
                    <a:ea typeface="Arial"/>
                    <a:cs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Pre (8)</c:v>
                </c:pt>
                <c:pt idx="1">
                  <c:v>Close (5)</c:v>
                </c:pt>
                <c:pt idx="2">
                  <c:v>Post (13)</c:v>
                </c:pt>
              </c:strCache>
            </c:strRef>
          </c:cat>
          <c:val>
            <c:numRef>
              <c:f>'Chart Data'!$D$2:$D$4</c:f>
              <c:numCache>
                <c:formatCode>0%</c:formatCode>
                <c:ptCount val="3"/>
                <c:pt idx="0">
                  <c:v>0.31191140170699999</c:v>
                </c:pt>
                <c:pt idx="1">
                  <c:v>0.50948992992300002</c:v>
                </c:pt>
                <c:pt idx="2">
                  <c:v>0.72746875020799995</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1-A89F-AF45-B9F1-578C775BB29E}"/>
            </c:ext>
          </c:extLst>
        </c:ser>
        <c:ser>
          <c:idx val="2"/>
          <c:order val="2"/>
          <c:tx>
            <c:v>NSF</c:v>
          </c:tx>
          <c:spPr>
            <a:solidFill>
              <a:srgbClr val="B2182B"/>
            </a:solidFill>
            <a:ln w="0">
              <a:noFill/>
            </a:ln>
          </c:spPr>
          <c:invertIfNegative val="1"/>
          <c:dLbls>
            <c:spPr>
              <a:noFill/>
              <a:ln>
                <a:noFill/>
              </a:ln>
              <a:effectLst/>
            </c:spPr>
            <c:txPr>
              <a:bodyPr anchorCtr="1"/>
              <a:lstStyle/>
              <a:p>
                <a:pPr>
                  <a:defRPr sz="1425" b="1">
                    <a:solidFill>
                      <a:srgbClr val="FFFFFF"/>
                    </a:solidFill>
                    <a:latin typeface="Arial"/>
                    <a:ea typeface="Arial"/>
                    <a:cs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Data'!$E$2:$E$4</c:f>
              <c:strCache>
                <c:ptCount val="3"/>
                <c:pt idx="0">
                  <c:v>Pre (8)</c:v>
                </c:pt>
                <c:pt idx="1">
                  <c:v>Close (5)</c:v>
                </c:pt>
                <c:pt idx="2">
                  <c:v>Post (13)</c:v>
                </c:pt>
              </c:strCache>
            </c:strRef>
          </c:cat>
          <c:val>
            <c:numRef>
              <c:f>'Chart Data'!$F$2:$F$4</c:f>
              <c:numCache>
                <c:formatCode>0%</c:formatCode>
                <c:ptCount val="3"/>
                <c:pt idx="0">
                  <c:v>0.30006585111400003</c:v>
                </c:pt>
                <c:pt idx="1">
                  <c:v>0.239480302591</c:v>
                </c:pt>
                <c:pt idx="2">
                  <c:v>0.206288158438</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2-A89F-AF45-B9F1-578C775BB29E}"/>
            </c:ext>
          </c:extLst>
        </c:ser>
        <c:dLbls>
          <c:dLblPos val="ctr"/>
          <c:showLegendKey val="0"/>
          <c:showVal val="1"/>
          <c:showCatName val="0"/>
          <c:showSerName val="0"/>
          <c:showPercent val="0"/>
          <c:showBubbleSize val="0"/>
        </c:dLbls>
        <c:gapWidth val="12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1E6E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majorUnit val="0.25"/>
      </c:valAx>
      <c:spPr>
        <a:solidFill>
          <a:srgbClr val="FFFFFF"/>
        </a:solidFill>
      </c:spPr>
    </c:plotArea>
    <c:legend>
      <c:legendPos val="b"/>
      <c:overlay val="0"/>
      <c:txPr>
        <a:bodyPr anchorCtr="1"/>
        <a:lstStyle/>
        <a:p>
          <a:pPr>
            <a:defRPr sz="1425">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AU" sz="1875">
                <a:latin typeface="Arial"/>
                <a:ea typeface="Arial"/>
                <a:cs typeface="Arial"/>
              </a:rPr>
              <a:t>Post-fit S/N ≥ 25 footprint</a:t>
            </a:r>
          </a:p>
        </c:rich>
      </c:tx>
      <c:overlay val="0"/>
    </c:title>
    <c:autoTitleDeleted val="0"/>
    <c:plotArea>
      <c:layout/>
      <c:barChart>
        <c:barDir val="col"/>
        <c:grouping val="stacked"/>
        <c:varyColors val="0"/>
        <c:ser>
          <c:idx val="0"/>
          <c:order val="0"/>
          <c:tx>
            <c:v>SF</c:v>
          </c:tx>
          <c:spPr>
            <a:solidFill>
              <a:srgbClr val="2166AC"/>
            </a:solidFill>
            <a:ln w="0">
              <a:noFill/>
            </a:ln>
          </c:spPr>
          <c:invertIfNegative val="1"/>
          <c:dLbls>
            <c:spPr>
              <a:noFill/>
              <a:ln>
                <a:noFill/>
              </a:ln>
              <a:effectLst/>
            </c:spPr>
            <c:txPr>
              <a:bodyPr anchorCtr="1"/>
              <a:lstStyle/>
              <a:p>
                <a:pPr>
                  <a:defRPr sz="1425" b="1">
                    <a:solidFill>
                      <a:srgbClr val="FFFFFF"/>
                    </a:solidFill>
                    <a:latin typeface="Arial"/>
                    <a:ea typeface="Arial"/>
                    <a:cs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Pre (8)</c:v>
                </c:pt>
                <c:pt idx="1">
                  <c:v>Close (5)</c:v>
                </c:pt>
                <c:pt idx="2">
                  <c:v>Post (13)</c:v>
                </c:pt>
              </c:strCache>
            </c:strRef>
          </c:cat>
          <c:val>
            <c:numRef>
              <c:f>'Chart Data'!$B$2:$B$4</c:f>
              <c:numCache>
                <c:formatCode>0%</c:formatCode>
                <c:ptCount val="3"/>
                <c:pt idx="0">
                  <c:v>0.49358426498199998</c:v>
                </c:pt>
                <c:pt idx="1">
                  <c:v>0.33167973443299997</c:v>
                </c:pt>
                <c:pt idx="2">
                  <c:v>0.100664246379</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FC88-0B43-8404-B45F259829B1}"/>
            </c:ext>
          </c:extLst>
        </c:ser>
        <c:ser>
          <c:idx val="1"/>
          <c:order val="1"/>
          <c:tx>
            <c:v>ND</c:v>
          </c:tx>
          <c:spPr>
            <a:solidFill>
              <a:srgbClr val="E69F00"/>
            </a:solidFill>
            <a:ln w="0">
              <a:noFill/>
            </a:ln>
          </c:spPr>
          <c:invertIfNegative val="1"/>
          <c:dLbls>
            <c:spPr>
              <a:noFill/>
              <a:ln>
                <a:noFill/>
              </a:ln>
              <a:effectLst/>
            </c:spPr>
            <c:txPr>
              <a:bodyPr anchorCtr="1"/>
              <a:lstStyle/>
              <a:p>
                <a:pPr>
                  <a:defRPr sz="1425" b="1">
                    <a:solidFill>
                      <a:srgbClr val="FFFFFF"/>
                    </a:solidFill>
                    <a:latin typeface="Arial"/>
                    <a:ea typeface="Arial"/>
                    <a:cs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Pre (8)</c:v>
                </c:pt>
                <c:pt idx="1">
                  <c:v>Close (5)</c:v>
                </c:pt>
                <c:pt idx="2">
                  <c:v>Post (13)</c:v>
                </c:pt>
              </c:strCache>
            </c:strRef>
          </c:cat>
          <c:val>
            <c:numRef>
              <c:f>'Chart Data'!$D$2:$D$4</c:f>
              <c:numCache>
                <c:formatCode>0%</c:formatCode>
                <c:ptCount val="3"/>
                <c:pt idx="0">
                  <c:v>0.13738277570900001</c:v>
                </c:pt>
                <c:pt idx="1">
                  <c:v>0.38646069300000002</c:v>
                </c:pt>
                <c:pt idx="2">
                  <c:v>0.62772672276700003</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1-FC88-0B43-8404-B45F259829B1}"/>
            </c:ext>
          </c:extLst>
        </c:ser>
        <c:ser>
          <c:idx val="2"/>
          <c:order val="2"/>
          <c:tx>
            <c:v>NSF</c:v>
          </c:tx>
          <c:spPr>
            <a:solidFill>
              <a:srgbClr val="B2182B"/>
            </a:solidFill>
            <a:ln w="0">
              <a:noFill/>
            </a:ln>
          </c:spPr>
          <c:invertIfNegative val="1"/>
          <c:dLbls>
            <c:spPr>
              <a:noFill/>
              <a:ln>
                <a:noFill/>
              </a:ln>
              <a:effectLst/>
            </c:spPr>
            <c:txPr>
              <a:bodyPr anchorCtr="1"/>
              <a:lstStyle/>
              <a:p>
                <a:pPr>
                  <a:defRPr sz="1425" b="1">
                    <a:solidFill>
                      <a:srgbClr val="FFFFFF"/>
                    </a:solidFill>
                    <a:latin typeface="Arial"/>
                    <a:ea typeface="Arial"/>
                    <a:cs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Data'!$E$2:$E$4</c:f>
              <c:strCache>
                <c:ptCount val="3"/>
                <c:pt idx="0">
                  <c:v>Pre (8)</c:v>
                </c:pt>
                <c:pt idx="1">
                  <c:v>Close (5)</c:v>
                </c:pt>
                <c:pt idx="2">
                  <c:v>Post (13)</c:v>
                </c:pt>
              </c:strCache>
            </c:strRef>
          </c:cat>
          <c:val>
            <c:numRef>
              <c:f>'Chart Data'!$F$2:$F$4</c:f>
              <c:numCache>
                <c:formatCode>0%</c:formatCode>
                <c:ptCount val="3"/>
                <c:pt idx="0">
                  <c:v>0.36903295930899999</c:v>
                </c:pt>
                <c:pt idx="1">
                  <c:v>0.28185957256600003</c:v>
                </c:pt>
                <c:pt idx="2">
                  <c:v>0.27160903085400001</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2-FC88-0B43-8404-B45F259829B1}"/>
            </c:ext>
          </c:extLst>
        </c:ser>
        <c:dLbls>
          <c:dLblPos val="ctr"/>
          <c:showLegendKey val="0"/>
          <c:showVal val="1"/>
          <c:showCatName val="0"/>
          <c:showSerName val="0"/>
          <c:showPercent val="0"/>
          <c:showBubbleSize val="0"/>
        </c:dLbls>
        <c:gapWidth val="12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1E6E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majorUnit val="0.25"/>
      </c:valAx>
      <c:spPr>
        <a:solidFill>
          <a:srgbClr val="FFFFFF"/>
        </a:solidFill>
      </c:spPr>
    </c:plotArea>
    <c:legend>
      <c:legendPos val="b"/>
      <c:overlay val="0"/>
      <c:txPr>
        <a:bodyPr anchorCtr="1"/>
        <a:lstStyle/>
        <a:p>
          <a:pPr>
            <a:defRPr sz="1425">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00:30; cumulative 00:00-00:30.</a:t>
            </a:r>
          </a:p>
          <a:p>
            <a:endParaRPr/>
          </a:p>
          <a:p>
            <a:r>
              <a:t>SPEAKING CUES</a:t>
            </a:r>
          </a:p>
          <a:p>
            <a:r>
              <a:t>Welcome and acknowledge Luca Cortese, Barbara Catinella, Luke Davies and the MAUVE collaboration. The broad question today is how environmental processing changes gas cycling and chemical enrichment within galaxies. The talk moves from the survey to Paper I, the model and three ongoing tests.</a:t>
            </a:r>
          </a:p>
          <a:p>
            <a:endParaRPr/>
          </a:p>
          <a:p>
            <a:r>
              <a:t>OUTLINE DETAIL</a:t>
            </a:r>
          </a:p>
          <a:p>
            <a:r>
              <a:t>### Slide 1. Title and introduction - 0:30</a:t>
            </a:r>
          </a:p>
          <a:p>
            <a:endParaRPr/>
          </a:p>
          <a:p>
            <a:r>
              <a:t>Use the accepted title, presenter, affiliation and Yonsei date, with an existing MUSE galaxy image. Acknowledge Luca Cortese, Barbara Catinella, Luke Davies and the MAUVE collaboration verbally and in the notes. The opening is about the wider survey and physical problem, rather than only the paper title.</a:t>
            </a:r>
          </a:p>
          <a:p>
            <a:endParaRPr/>
          </a:p>
          <a:p>
            <a:endParaRPr/>
          </a:p>
          <a:p>
            <a:r>
              <a:t>SOURCES</a:t>
            </a:r>
          </a:p>
          <a:p>
            <a:r>
              <a:t>Talk brief: https://chatgpt.com/c/6a9d3c52-9460-83ec-be1d-7023ec6a0ae4</a:t>
            </a:r>
          </a:p>
          <a:p>
            <a:r>
              <a:t>MUSE-derived RGB imagery: /Users/Igniz/Desktop/ICRAR/v3tk_to_VRI/*_observed_VRI.png and /Users/Igniz/Desktop/ICRAR/further/20260907_MAUVE_seminar_poster_images/README.md, provenance.json.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00:30-02:00.</a:t>
            </a:r>
          </a:p>
          <a:p>
            <a:endParaRPr/>
          </a:p>
          <a:p>
            <a:r>
              <a:t>SPEAKING CUES</a:t>
            </a:r>
          </a:p>
          <a:p>
            <a:r>
              <a:t>A galaxy grows through a baryon cycle. Gas enters from the halo, joins the interstellar medium and can cool into the star-forming reservoir. Star formation locks up some material and synthesizes metals. Stellar feedback returns gas and metals and can drive outflows; some material may recycle. The rates do not need to balance instantaneously, but their competition regulates gas content, star formation and enrichment. This conceptual picture supplies the language for the local continuity equations later in the talk.</a:t>
            </a:r>
          </a:p>
          <a:p>
            <a:endParaRPr/>
          </a:p>
          <a:p>
            <a:r>
              <a:t>OUTLINE DETAIL</a:t>
            </a:r>
          </a:p>
          <a:p>
            <a:r>
              <a:t>### Slide 2. Galaxy evolution is regulated by the baryon cycle - 1:30</a:t>
            </a:r>
          </a:p>
          <a:p>
            <a:endParaRPr/>
          </a:p>
          <a:p>
            <a:r>
              <a:t>Begin with the general physical picture. Galaxies grow because gas enters from the halo and circumgalactic medium, joins the interstellar medium, cools into denser phases, and forms stars. Stellar evolution returns both gas and newly synthesised metals, while feedback drives outflows that may escape, remain in the circumgalactic medium, or recycle. The rates need not balance instantaneously, but their long-term competition regulates gas content, star formation and chemical enrichment. Use the baryon-cycle artwork as a conceptual map, not as a quantitative measurement. This establishes the language used later in the resolved gas-regulator section. [S11]</a:t>
            </a:r>
          </a:p>
          <a:p>
            <a:endParaRPr/>
          </a:p>
          <a:p>
            <a:r>
              <a:t>**Transition:** That picture is usually introduced for galaxies evolving in relative isolation. A cluster adds external forces and can change several links in the cycle at the same time.</a:t>
            </a:r>
          </a:p>
          <a:p>
            <a:endParaRPr/>
          </a:p>
          <a:p>
            <a:endParaRPr/>
          </a:p>
          <a:p>
            <a:r>
              <a:t>SOURCES</a:t>
            </a:r>
          </a:p>
          <a:p>
            <a:r>
              <a:t>Conceptual baryon-cycle artwork reused from the current Yonsei talk material: /Users/Igniz/Desktop/ICRAR/202609Korea/20260922_Yonsei_CGER.pptx, slide 2. No quantitative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02:00-03:30.</a:t>
            </a:r>
          </a:p>
          <a:p>
            <a:r>
              <a:t/>
            </a:r>
            <a:endParaRPr/>
          </a:p>
          <a:p>
            <a:r>
              <a:t>SPEAKING NARRATIVE</a:t>
            </a:r>
          </a:p>
          <a:p>
            <a:r>
              <a:t>The baryon-cycle picture now becomes an observational question: where do we measure these processes? Several decades of integrated surveys established global relations among stellar mass, star formation and chemical enrichment. Over the past decade and more, integral-field spectroscopy has brought those measurements inside galaxies. CALIFA, SAMI and MaNGA provide large nearby samples, while MAGPI extends resolved work to intermediate redshift. Their characteristic physical resolution is of order a kiloparsec, with a range across each survey rather than a sharp lower boundary.</a:t>
            </a:r>
          </a:p>
          <a:p>
            <a:r>
              <a:t/>
            </a:r>
            <a:endParaRPr/>
          </a:p>
          <a:p>
            <a:r>
              <a:t>For much closer galaxies, MAD and PHANGS-MUSE resolve roughly 100-pc scales, reaching H II regions and local interstellar structure. PHANGS-MUSE often achieves 50-100 pc, and MAD reports about 100 pc or better. Combined with ALMA molecular-gas maps, these observations connect star formation to its local gas reservoir. The image is NGC4254, a Virgo galaxy. Describe these as nearby star-forming-disc surveys, rather than exclusively field samples: PHANGS already includes Virgo members.</a:t>
            </a:r>
          </a:p>
          <a:p>
            <a:r>
              <a:t/>
            </a:r>
          </a:p>
          <a:p>
            <a:r>
              <a:t>TRANSITION</a:t>
            </a:r>
            <a:endParaRPr/>
          </a:p>
          <a:p>
            <a:r>
              <a:t>These surveys establish what we can measure locally. How well do we understand those same processes as a galaxy is transformed by a cluster environment?</a:t>
            </a:r>
          </a:p>
          <a:p>
            <a:r>
              <a:t/>
            </a:r>
            <a:endParaRPr/>
          </a:p>
          <a:p>
            <a:r>
              <a:t>SOURCES</a:t>
            </a:r>
          </a:p>
          <a:p>
            <a:r>
              <a:t>CALIFA: Sanchez et al. 2016, DR3, https://arxiv.org/abs/1604.02289.</a:t>
            </a:r>
            <a:endParaRPr/>
          </a:p>
          <a:p>
            <a:r>
              <a:t>SAMI: Bryant et al. 2015, section 5, https://www.sami-survey.org/system/files/papers/211/MNRAS-2015-Bryant-2857-79_FINALpublishedversion.pdf.</a:t>
            </a:r>
            <a:endParaRPr/>
          </a:p>
          <a:p>
            <a:r>
              <a:t>MaNGA: https://www.sdss4.org/surveys/manga. Survey sampling and PSF are distinct; the slide groups surveys only at order-of-magnitude physical scales.</a:t>
            </a:r>
          </a:p>
          <a:p>
            <a:r>
              <a:t>MAGPI: Foster et al. 2021, https://openresearch-repository.anu.edu.au/items/7a607796-8fd3-4234-977a-8293d0e454f4.</a:t>
            </a:r>
          </a:p>
          <a:p>
            <a:r>
              <a:t>MAD: Erroz-Ferrer et al. 2019, https://academic.oup.com/mnras/article/484/4/5009/5298497; https://www.mad.astro.ethz.ch/.</a:t>
            </a:r>
          </a:p>
          <a:p>
            <a:r>
              <a:t>PHANGS-MUSE: Emsellem et al. 2022, https://doi.org/10.1051/0004-6361/202141727.</a:t>
            </a:r>
          </a:p>
          <a:p>
            <a:r>
              <a:t>PHANGS-ALMA: Leroy et al. 2021, https://doi.org/10.3847/1538-4365/abf7b9.</a:t>
            </a:r>
          </a:p>
          <a:p>
            <a:r>
              <a:t>PHANGS Virgo membership: Scheuermann et al. 2022, https://academic.oup.com/mnras/article/511/4/6087/6510829.</a:t>
            </a:r>
          </a:p>
          <a:p>
            <a:r>
              <a:t>Image retained from source deck: /Users/Igniz/Desktop/ICRAR/v3tk_to_VRI/NGC4254_observed_VRI.png.</a:t>
            </a: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00:45; cumulative 04:15-05:00.</a:t>
            </a:r>
          </a:p>
          <a:p>
            <a:r>
              <a:t/>
            </a:r>
            <a:endParaRPr/>
          </a:p>
          <a:p>
            <a:r>
              <a:t>SPEAKING NARRATIVE</a:t>
            </a:r>
          </a:p>
          <a:p>
            <a:r>
              <a:t>Resolved cluster work already exists. GASP maps stripping across galaxy discs and tails at redshifts 0.04-0.07 with characteristic physical resolution of about 1 kpc. Its programme includes several environments and controls.</a:t>
            </a:r>
          </a:p>
          <a:p>
            <a:r>
              <a:t/>
            </a:r>
            <a:endParaRPr/>
          </a:p>
          <a:p>
            <a:r>
              <a:t>The missing comparison is systematic mapping at roughly 100 pc across cluster infall stages, with matched information on the ionized gas, stellar populations and molecular reservoir. Nearby-disc surveys supply valuable benchmarks and some Virgo members. MAUVE expands the coverage of environmental transformation rather than establishing the first resolved observations of any cluster galaxy.</a:t>
            </a:r>
          </a:p>
          <a:p>
            <a:r>
              <a:t/>
            </a:r>
          </a:p>
          <a:p>
            <a:r>
              <a:t>Virgo at an adopted 16.5 Mpc makes roughly 100-200 pc observations across the gas disc feasible. One arcsecond corresponds to about 80 pc at that distance, but actual resolution depends on the observations. Comparisons across infall stages are cross-sectional, not time sequences of individual galaxies.</a:t>
            </a:r>
            <a:endParaRPr/>
          </a:p>
          <a:p>
            <a:r>
              <a:t/>
            </a:r>
          </a:p>
          <a:p>
            <a:r>
              <a:t>TRANSITION</a:t>
            </a:r>
            <a:endParaRPr/>
          </a:p>
          <a:p>
            <a:r>
              <a:t>MAUVE was designed to provide this resolved, multiphase comparison in Virgo.</a:t>
            </a:r>
          </a:p>
          <a:p>
            <a:r>
              <a:t/>
            </a:r>
            <a:endParaRPr/>
          </a:p>
          <a:p>
            <a:r>
              <a:t>SOURCES</a:t>
            </a:r>
            <a:endParaRPr/>
          </a:p>
          <a:p>
            <a:r>
              <a:t>Poggianti et al. 2017, GASP I, sections 1 and 4: https://arxiv.org/abs/1704.05086; https://doi.org/10.3847/1538-4357/aa78ed.</a:t>
            </a:r>
          </a:p>
          <a:p>
            <a:r>
              <a:t>Mei et al. 2007, Virgo distance: https://arxiv.org/abs/astro-ph/0702510.</a:t>
            </a:r>
          </a:p>
          <a:p>
            <a:r>
              <a:t>Catinella et al. 2025, MAUVE: https://doi.org/10.18727/0722-6691/5393.</a:t>
            </a:r>
          </a:p>
          <a:p>
            <a:r>
              <a:t>MAUVE science justification: /Users/Igniz/Desktop/ICRAR/202609Korea/MAUVE_sci_just_compressed.pdf, pages 2 and 5.</a:t>
            </a: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01:15; cumulative 05:00-06:15.</a:t>
            </a:r>
          </a:p>
          <a:p>
            <a:endParaRPr/>
          </a:p>
          <a:p>
            <a:r>
              <a:t>SPEAKING CUES</a:t>
            </a:r>
          </a:p>
          <a:p>
            <a:r>
              <a:t>MAUVE stands for Multiphase Astrophysics to Unveil the Virgo Environment. The programme was designed for 40 galaxies spanning different infall stages and retaining molecular gas. MUSE links stellar populations and ionized gas at roughly 100 to 200 parsec scales, ALMA the molecular reservoir, and HST stars and clusters. Existing H I observations place them in the wider environmental context. Different analyses use different available subsets.</a:t>
            </a:r>
          </a:p>
          <a:p>
            <a:endParaRPr/>
          </a:p>
          <a:p>
            <a:r>
              <a:t>OUTLINE DETAIL</a:t>
            </a:r>
          </a:p>
          <a:p>
            <a:r>
              <a:t>### Slide 6. MAUVE resolves the Virgo environment - 1:15</a:t>
            </a:r>
          </a:p>
          <a:p>
            <a:endParaRPr/>
          </a:p>
          <a:p>
            <a:r>
              <a:t>Expand the acronym: Multiphase Astrophysics to Unveil the Virgo Environment. Describe the 40-galaxy survey design across infall stages, MUSE ionized gas and stellar spectroscopy at roughly 100-200 pc scales, ALMA molecular gas, and complementary HST stellar/cluster information. Existing atomic-gas observations add wider environmental context. Distinguish programme design from the available subset used in an individual analysis. [S1, S12]</a:t>
            </a:r>
          </a:p>
          <a:p>
            <a:endParaRPr/>
          </a:p>
          <a:p>
            <a:endParaRPr/>
          </a:p>
          <a:p>
            <a:r>
              <a:t>SOURCES</a:t>
            </a:r>
          </a:p>
          <a:p>
            <a:r>
              <a:t>Catinella et al. 2025, The Messenger 195, 15. https://doi.org/10.18727/0722-6691/5393 | /Users/Igniz/Desktop/ICRAR/EAS2026/pdfs/Catinella2025.pdf</a:t>
            </a:r>
          </a:p>
          <a:p>
            <a:r>
              <a:t>MAUVE science justification: /Users/Igniz/Desktop/ICRAR/MAUVE/MAUVE_sci_just_compressed.pdf, pp. 2 and 5, especially Figure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01:15; cumulative 06:15-07:30.</a:t>
            </a:r>
          </a:p>
          <a:p>
            <a:endParaRPr/>
          </a:p>
          <a:p>
            <a:r>
              <a:t>SPEAKING CUES</a:t>
            </a:r>
          </a:p>
          <a:p>
            <a:r>
              <a:t>Luca and Toby introduce the early-science papers as a connected set before presenting individual objects. Use the same structure here. NGC4383 follows an outflow across ionized, molecular and atomic gas and ends in a fountain interpretation. NGC4064 asks whether feedback can complete quenching after stripping. The twelve-galaxy comparison asks why non-HII emission becomes more visible as star formation fades. Together they show that the cluster does more than strip gas: it changes the context in which feedback, recycling and ionization operate.</a:t>
            </a:r>
          </a:p>
          <a:p>
            <a:endParaRPr/>
          </a:p>
          <a:p>
            <a:r>
              <a:t>OUTLINE DETAIL</a:t>
            </a:r>
          </a:p>
          <a:p>
            <a:r>
              <a:t>### Slide 7. MAUVE early science connects feedback, gas phases and ionization - 1:15</a:t>
            </a:r>
          </a:p>
          <a:p>
            <a:endParaRPr/>
          </a:p>
          <a:p>
            <a:r>
              <a:t>Follow the presentation structure used by Luca Cortese and Toby Brown: introduce the early-science projects as one connected set before discussing individual systems. Use three visual cards. NGC4383 follows an outflow across ionized, molecular and atomic phases and reaches a fountain interpretation. NGC4064 asks whether feedback can complete quenching after environmental stripping. The 12-galaxy Brown et al. comparison asks why non-HII emission becomes more visible as star formation fades. The common message is that the cluster changes the physical setting in which feedback, recycling and ionization operate; MAUVE science is broader than gas removal alone. [S2-S5, S16, S17]</a:t>
            </a:r>
          </a:p>
          <a:p>
            <a:endParaRPr/>
          </a:p>
          <a:p>
            <a:endParaRPr/>
          </a:p>
          <a:p>
            <a:r>
              <a:t>SOURCES</a:t>
            </a:r>
          </a:p>
          <a:p>
            <a:r>
              <a:t>Watts et al. 2024, MNRAS 530, 1968. https://academic.oup.com/mnras/article/530/2/1968/7642869 | /Users/Igniz/Desktop/ICRAR/EAS2026/pdfs/Watts2024.pdf</a:t>
            </a:r>
          </a:p>
          <a:p>
            <a:r>
              <a:t>Cortese et al. 2026. https://arxiv.org/abs/2602.01612 | /Users/Igniz/Desktop/ICRAR/EAS2026/pdfs/Cortese2026.pdf; EAS2026 original image34.png is Figure 5 top row.</a:t>
            </a:r>
          </a:p>
          <a:p>
            <a:r>
              <a:t>Attwater et al. 2026. https://arxiv.org/abs/2512.10574 | /Users/Igniz/Desktop/ICRAR/EAS2026/pdfs/Attwater2026.pdf; image35.png reused from EAS2026.</a:t>
            </a:r>
          </a:p>
          <a:p>
            <a:r>
              <a:t>Brown et al. 2026, ApJ 1004, 73. https://arxiv.org/abs/2604.20056 | /Users/Igniz/Desktop/ICRAR/EAS2026/pdfs/Brown2026.pdf; Figure 9 cropped from PDF page 13.</a:t>
            </a:r>
          </a:p>
          <a:p>
            <a:r>
              <a:t>Luca Cortese, MAUVE: Multiphase views of gas cycling and quenching in the Virgo cluster, Ascona 2026. /Users/Igniz/Desktop/ICRAR/202609Korea/cortese_ascona26.pdf, especially pages 11-20.</a:t>
            </a:r>
          </a:p>
          <a:p>
            <a:r>
              <a:t>Toby Brown, How does environment affect the ISM in Virgo Cluster galaxies?, MAUVE colloquium 2026. /Users/Igniz/Desktop/ICRAR/202609Korea/mauve-muse_colloquium.pdf, especially pages 12-26.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07:30-08:30.</a:t>
            </a:r>
          </a:p>
          <a:p>
            <a:endParaRPr/>
          </a:p>
          <a:p>
            <a:r>
              <a:t>SPEAKING CUES</a:t>
            </a:r>
          </a:p>
          <a:p>
            <a:r>
              <a:t>Follow the evidence chain used in the Cortese and Brown talks. Watts finds a six-kiloparsec ionized bicone from the central starburst. ALMA shows that molecular gas contributes little above roughly one kiloparsec. MeerKAT indicates that atomic gas likely dominates the cold component farther from the disc. The cold gas velocities remain below the ionized phase and the escape speed, favouring recycling in a galactic fountain. The warped HI disc limits a precise cold mass-loading estimate.</a:t>
            </a:r>
          </a:p>
          <a:p>
            <a:endParaRPr/>
          </a:p>
          <a:p>
            <a:r>
              <a:t>OUTLINE DETAIL</a:t>
            </a:r>
          </a:p>
          <a:p>
            <a:r>
              <a:t>### Slide 8. NGC4383: from ionized wind to a multiphase fountain - 1:00</a:t>
            </a:r>
          </a:p>
          <a:p>
            <a:endParaRPr/>
          </a:p>
          <a:p>
            <a:r>
              <a:t>Use the four-step evidence chain foregrounded in both talks. A central starburst launches a roughly 6 kpc ionized bicone. Molecular gas contributes little above approximately 1 kpc. Atomic hydrogen likely dominates the cold component farther from the disc. Cold-gas velocities remain below those of the ionized phase and below escape, favouring bound circulation in a galactic fountain. Retain the main limitation: the warped H I disc prevents a precise decomposition and cold mass-loading estimate. [S2, S3, S16, S17]</a:t>
            </a:r>
          </a:p>
          <a:p>
            <a:endParaRPr/>
          </a:p>
          <a:p>
            <a:endParaRPr/>
          </a:p>
          <a:p>
            <a:r>
              <a:t>SOURCES</a:t>
            </a:r>
          </a:p>
          <a:p>
            <a:r>
              <a:t>Watts et al. 2024, MNRAS 530, 1968. https://academic.oup.com/mnras/article/530/2/1968/7642869 | /Users/Igniz/Desktop/ICRAR/EAS2026/pdfs/Watts2024.pdf</a:t>
            </a:r>
          </a:p>
          <a:p>
            <a:r>
              <a:t>Cortese et al. 2026. https://arxiv.org/abs/2602.01612 | /Users/Igniz/Desktop/ICRAR/EAS2026/pdfs/Cortese2026.pdf; EAS2026 original image34.png is Figure 5 top row.</a:t>
            </a:r>
          </a:p>
          <a:p>
            <a:r>
              <a:t>Luca Cortese, MAUVE: Multiphase views of gas cycling and quenching in the Virgo cluster, Ascona 2026. /Users/Igniz/Desktop/ICRAR/202609Korea/cortese_ascona26.pdf, especially pages 11-20.</a:t>
            </a:r>
          </a:p>
          <a:p>
            <a:r>
              <a:t>Toby Brown, How does environment affect the ISM in Virgo Cluster galaxies?, MAUVE colloquium 2026. /Users/Igniz/Desktop/ICRAR/202609Korea/mauve-muse_colloquium.pdf, especially pages 12-26.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08:30-09:30.</a:t>
            </a:r>
          </a:p>
          <a:p>
            <a:endParaRPr/>
          </a:p>
          <a:p>
            <a:r>
              <a:t>SPEAKING CUES</a:t>
            </a:r>
          </a:p>
          <a:p>
            <a:r>
              <a:t>Luca and Toby frame NGC4064 as feedback operating after the environment has removed most of the reservoir. The galaxy is a gas-poor backsplash system with concentrated central star formation and an ionized bipolar outflow extending about two kiloparsecs. The inferred ionized outflow rate is 0.53 solar masses per year against an integrated SFR of 0.32, giving mass loading 1.66. Under the paper assumptions, outflow removal is faster than star-formation consumption: 0.58 versus 0.97 gigayears. These estimates depend strongly on density, geometry and filling factor, so the conclusion is that feedback may accelerate final quenching in this object.</a:t>
            </a:r>
          </a:p>
          <a:p>
            <a:endParaRPr/>
          </a:p>
          <a:p>
            <a:r>
              <a:t>OUTLINE DETAIL</a:t>
            </a:r>
          </a:p>
          <a:p>
            <a:r>
              <a:t>### Slide 9. NGC4064: feedback may complete quenching after stripping - 1:00</a:t>
            </a:r>
          </a:p>
          <a:p>
            <a:endParaRPr/>
          </a:p>
          <a:p>
            <a:r>
              <a:t>Adopt the physical framing used by Luca and Toby. NGC4064 is a gas-poor backsplash system whose outer reservoir has already been strongly reduced, but concentrated central star formation drives an ionized bipolar outflow extending about 2 kpc. Present the paper's estimates: ionized outflow rate 0.53 solar masses per year, integrated SFR 0.32 solar masses per year, and mass loading eta = 1.66. Under the assumed density, geometry and filling factor, the inferred removal timescale is 0.58 Gyr compared with 0.97 Gyr for consumption by star formation. Conclude that feedback may accelerate final quenching in this object, with the stated systematic uncertainties. [S4, S16, S17]</a:t>
            </a:r>
          </a:p>
          <a:p>
            <a:endParaRPr/>
          </a:p>
          <a:p>
            <a:endParaRPr/>
          </a:p>
          <a:p>
            <a:r>
              <a:t>SOURCES</a:t>
            </a:r>
          </a:p>
          <a:p>
            <a:r>
              <a:t>Attwater et al. 2026. https://arxiv.org/abs/2512.10574 | /Users/Igniz/Desktop/ICRAR/EAS2026/pdfs/Attwater2026.pdf; image35.png reused from EAS2026.</a:t>
            </a:r>
          </a:p>
          <a:p>
            <a:r>
              <a:t>Luca Cortese, MAUVE: Multiphase views of gas cycling and quenching in the Virgo cluster, Ascona 2026. /Users/Igniz/Desktop/ICRAR/202609Korea/cortese_ascona26.pdf, especially pages 11-20.</a:t>
            </a:r>
          </a:p>
          <a:p>
            <a:r>
              <a:t>Toby Brown, How does environment affect the ISM in Virgo Cluster galaxies?, MAUVE colloquium 2026. /Users/Igniz/Desktop/ICRAR/202609Korea/mauve-muse_colloquium.pdf, especially pages 12-26.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09:30-11:00.</a:t>
            </a:r>
          </a:p>
          <a:p>
            <a:endParaRPr/>
          </a:p>
          <a:p>
            <a:r>
              <a:t>SPEAKING CUES</a:t>
            </a:r>
          </a:p>
          <a:p>
            <a:r>
              <a:t>Brown compares twelve early MAUVE-MUSE galaxies with twelve matched PHANGS-MUSE field galaxies at roughly one hundred parsec resolution. The BPT distributions show a larger non-star-forming contribution in the cluster sample. The key interpretation in both talks is that environmental quenching suppresses bright HII emission, revealing pervasive diffuse ionized gas as the dominant visible component. Turbulence within the selected star-forming regions remains similar. A small high-dispersion tail above one hundred kilometres per second, five percent in MAUVE versus one percent in PHANGS, supports a secondary contribution from shocks or turbulent mixing layers.</a:t>
            </a:r>
          </a:p>
          <a:p>
            <a:endParaRPr/>
          </a:p>
          <a:p>
            <a:r>
              <a:t>OUTLINE DETAIL</a:t>
            </a:r>
          </a:p>
          <a:p>
            <a:r>
              <a:t>### Slide 10. As HII emission fades, diffuse ionized gas becomes visible - 1:30</a:t>
            </a:r>
          </a:p>
          <a:p>
            <a:endParaRPr/>
          </a:p>
          <a:p>
            <a:r>
              <a:t>Make Brown et al.'s causal ordering clearer. The study compares 12 early MAUVE-MUSE galaxies with 12 matched PHANGS-MUSE field galaxies at roughly 100 pc resolution. Environmental quenching suppresses bright HII emission, allowing pervasive diffuse ionized gas to become the dominant visible ionized component. Turbulence within selected star-forming regions remains similar between samples. A small high-dispersion tail above 100 km/s, containing 5% of MAUVE spaxels versus 1% in PHANGS, supports a secondary contribution from shocks or turbulent mixing layers. The BPT figure on the slide shows the ionization shift; the velocity-dispersion evidence comes from Figure 11. [S5, S16, S17]</a:t>
            </a:r>
          </a:p>
          <a:p>
            <a:endParaRPr/>
          </a:p>
          <a:p>
            <a:r>
              <a:t>**Transition:** These results make it essential to select the SF-dominated emission carefully before interpreting metallicity and SFR together.</a:t>
            </a:r>
          </a:p>
          <a:p>
            <a:endParaRPr/>
          </a:p>
          <a:p>
            <a:endParaRPr/>
          </a:p>
          <a:p>
            <a:r>
              <a:t>SOURCES</a:t>
            </a:r>
          </a:p>
          <a:p>
            <a:r>
              <a:t>Brown et al. 2026, ApJ 1004, 73. https://arxiv.org/abs/2604.20056 | /Users/Igniz/Desktop/ICRAR/EAS2026/pdfs/Brown2026.pdf; Figure 9 cropped from PDF page 13.</a:t>
            </a:r>
          </a:p>
          <a:p>
            <a:r>
              <a:t>Luca Cortese, MAUVE: Multiphase views of gas cycling and quenching in the Virgo cluster, Ascona 2026. /Users/Igniz/Desktop/ICRAR/202609Korea/cortese_ascona26.pdf, especially pages 11-20.</a:t>
            </a:r>
          </a:p>
          <a:p>
            <a:r>
              <a:t>Toby Brown, How does environment affect the ISM in Virgo Cluster galaxies?, MAUVE colloquium 2026. /Users/Igniz/Desktop/ICRAR/202609Korea/mauve-muse_colloquium.pdf, especially pages 12-26.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Budget 01:00; cumulative 11:00-12:00.</a:t>
            </a:r>
          </a:p>
          <a:p>
            <a:endParaRPr dirty="0"/>
          </a:p>
          <a:p>
            <a:r>
              <a:rPr dirty="0"/>
              <a:t>SPEAKING CUES</a:t>
            </a:r>
          </a:p>
          <a:p>
            <a:r>
              <a:rPr dirty="0"/>
              <a:t>Define the three measured quantities. The resolved SF main sequence relates SFR surface density to stellar surface density. The rMZR relates abundance to stellar density. The question is the secondary SFR dependence at fixed stellar density, which has been debated across IFU surveys and diagnostics. Baker is context at kiloparsec scales; MAUVE moves to much smaller physical scales.</a:t>
            </a:r>
          </a:p>
          <a:p>
            <a:endParaRPr dirty="0"/>
          </a:p>
          <a:p>
            <a:r>
              <a:rPr dirty="0"/>
              <a:t>OUTLINE DETAIL</a:t>
            </a:r>
          </a:p>
          <a:p>
            <a:r>
              <a:rPr dirty="0"/>
              <a:t>### Slide 11. The local link between stars, star formation and metals - 1:00</a:t>
            </a:r>
          </a:p>
          <a:p>
            <a:endParaRPr dirty="0"/>
          </a:p>
          <a:p>
            <a:r>
              <a:rPr dirty="0"/>
              <a:t>Define stellar mass surface density, SFR surface density and gas-phase oxygen abundance. Briefly distinguish the resolved SF main sequence, the resolved mass-metallicity relation and the debated secondary SFR dependence. Use the EAS conceptual context figure, with its original attribution. [S6, S7]</a:t>
            </a:r>
          </a:p>
          <a:p>
            <a:endParaRPr dirty="0"/>
          </a:p>
          <a:p>
            <a:endParaRPr dirty="0"/>
          </a:p>
          <a:p>
            <a:r>
              <a:rPr dirty="0"/>
              <a:t>SOURCES</a:t>
            </a:r>
          </a:p>
          <a:p>
            <a:r>
              <a:rPr dirty="0"/>
              <a:t>Huang et al. 2026, MNRAS 549, 1019. https://</a:t>
            </a:r>
            <a:r>
              <a:rPr dirty="0" err="1"/>
              <a:t>arxiv.org</a:t>
            </a:r>
            <a:r>
              <a:rPr dirty="0"/>
              <a:t>/abs/2605.31412 | /Users/</a:t>
            </a:r>
            <a:r>
              <a:rPr dirty="0" err="1"/>
              <a:t>Igniz</a:t>
            </a:r>
            <a:r>
              <a:rPr dirty="0"/>
              <a:t>/Desktop/ICRAR/EAS2026/pdfs/Huang2026.pdf and /Users/</a:t>
            </a:r>
            <a:r>
              <a:rPr dirty="0" err="1"/>
              <a:t>Igniz</a:t>
            </a:r>
            <a:r>
              <a:rPr dirty="0"/>
              <a:t>/Desktop/ICRAR/MAUVE/MAUVE Rongjun </a:t>
            </a:r>
            <a:r>
              <a:rPr dirty="0" err="1"/>
              <a:t>Zgas-Sigma_SFR</a:t>
            </a:r>
            <a:r>
              <a:rPr dirty="0"/>
              <a:t> paper/</a:t>
            </a:r>
            <a:r>
              <a:rPr dirty="0" err="1"/>
              <a:t>main.tex</a:t>
            </a:r>
            <a:r>
              <a:rPr dirty="0"/>
              <a:t>. Figures are direct crops of the paper PDF, not older standalone versions.</a:t>
            </a:r>
          </a:p>
          <a:p>
            <a:r>
              <a:rPr dirty="0"/>
              <a:t>Existing talk: /Users/</a:t>
            </a:r>
            <a:r>
              <a:rPr dirty="0" err="1"/>
              <a:t>Igniz</a:t>
            </a:r>
            <a:r>
              <a:rPr dirty="0"/>
              <a:t>/Desktop/ICRAR/EAS2026/EAS2026 SS7 Rongjun </a:t>
            </a:r>
            <a:r>
              <a:rPr dirty="0" err="1"/>
              <a:t>Huang.pptx</a:t>
            </a:r>
            <a:r>
              <a:rPr dirty="0"/>
              <a:t>. Image6: Baker et al. 2023 context figure (original slide 2); image43: reservoir schematic. Preserve original scientific attribution.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12:00-13:30.</a:t>
            </a:r>
          </a:p>
          <a:p>
            <a:endParaRPr/>
          </a:p>
          <a:p>
            <a:r>
              <a:t>SPEAKING CUES</a:t>
            </a:r>
          </a:p>
          <a:p>
            <a:r>
              <a:t>The paper requires secure HII classification in both the nitrogen and sulphur BPT diagrams. The further cuts are EW Halpha greater than six Angstrom and intrinsic Halpha dispersion below forty-five kilometres per second. SFR comes from dust-corrected Halpha. Fourteen galaxies are analysed; NGC4383 is a metallicity outlier excluded from the ensemble, leaving thirteen. The old EAS slide had the dispersion inequality reversed; this slide follows the paper.</a:t>
            </a:r>
          </a:p>
          <a:p>
            <a:endParaRPr/>
          </a:p>
          <a:p>
            <a:r>
              <a:t>OUTLINE DETAIL</a:t>
            </a:r>
          </a:p>
          <a:p>
            <a:r>
              <a:t>### Slide 12. Selecting star-forming emission - 1:30</a:t>
            </a:r>
          </a:p>
          <a:p>
            <a:endParaRPr/>
          </a:p>
          <a:p>
            <a:r>
              <a:t>Show the original BPT diagnostic figure and state the paper's HII selection: secure HII classification in both BPT diagrams, EW(Halpha) &gt; 6 Angstrom, and intrinsic Halpha dispersion &lt; 45 km/s. SFR is derived from dust-corrected Halpha. The analysis uses 14 galaxies from internal release v2; ensemble relations exclude metallicity outlier NGC4383 and therefore contain 13 galaxies. Do not import the incorrect dispersion inequality printed in the old EAS slide. [S6]</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13:30-15:00.</a:t>
            </a:r>
          </a:p>
          <a:p>
            <a:endParaRPr/>
          </a:p>
          <a:p>
            <a:r>
              <a:t>SPEAKING CUES</a:t>
            </a:r>
          </a:p>
          <a:p>
            <a:r>
              <a:t>First read the axes: log stellar surface density in solar masses per square kiloparsec, and oxygen abundance. The primary relation rises and then flattens at high stellar density. The two panels use O3N2-M13 and O3N2-C20. They share the same line index and are not independent diagnostics. Next we separate this cloud of points by star formation.</a:t>
            </a:r>
          </a:p>
          <a:p>
            <a:endParaRPr/>
          </a:p>
          <a:p>
            <a:r>
              <a:t>OUTLINE DETAIL</a:t>
            </a:r>
          </a:p>
          <a:p>
            <a:r>
              <a:t>### Slide 13. The resolved mass-metallicity relation - 1:30</a:t>
            </a:r>
          </a:p>
          <a:p>
            <a:endParaRPr/>
          </a:p>
          <a:p>
            <a:r>
              <a:t>Show the original O3N2-M13 and O3N2-C20 relation panels. Explain the primary increase and high-density flattening before adding the SFR dependence. Identify stellar surface-density units explicitly. The two O3N2 recipes share an index and are not independent spectral diagnostics. [S6, Figure 2]</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02:00; cumulative 15:00-17:00.</a:t>
            </a:r>
          </a:p>
          <a:p>
            <a:endParaRPr/>
          </a:p>
          <a:p>
            <a:r>
              <a:t>SPEAKING CUES</a:t>
            </a:r>
          </a:p>
          <a:p>
            <a:r>
              <a:t>These are the lower two panels of Figure 3, enlarged for readability. The left shows abundance against stellar density in SFR bins. The right shows abundance against SFR in stellar-density bins. Read the cool, low-density tracks first: higher SFR corresponds to lower abundance. Then read the high-density warm tracks: the association is positive. This is a conditional spatial association, not a measured temporal response.</a:t>
            </a:r>
          </a:p>
          <a:p>
            <a:endParaRPr/>
          </a:p>
          <a:p>
            <a:r>
              <a:t>OUTLINE DETAIL</a:t>
            </a:r>
          </a:p>
          <a:p>
            <a:r>
              <a:t>### Slide 14. At fixed stellar density, the SFR dependence changes - 2:00</a:t>
            </a:r>
          </a:p>
          <a:p>
            <a:endParaRPr/>
          </a:p>
          <a:p>
            <a:r>
              <a:t>Use the original SFR-stratified relation and explain the low-density and high-density regimes separately. Higher local SFR is associated with lower O3N2-inferred abundance at low stellar surface density and with higher abundance at high surface density. Describe a conditional association, not an observed temporal response. [S6, Figure 3]</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02:00; cumulative 17:00-19:00.</a:t>
            </a:r>
          </a:p>
          <a:p>
            <a:endParaRPr/>
          </a:p>
          <a:p>
            <a:r>
              <a:t>SPEAKING CUES</a:t>
            </a:r>
          </a:p>
          <a:p>
            <a:r>
              <a:t>Spearman rho is negative when higher SFR accompanies lower abundance and positive when the two increase together. The original colours identify galaxies; black is the ensemble. Both O3N2 calibrations show the density dependence. Quote the transition as approximately 7.5 to 8 in log10 of stellar mass surface density in solar masses per square kiloparsec. It is not a sharp universal threshold.</a:t>
            </a:r>
          </a:p>
          <a:p>
            <a:endParaRPr/>
          </a:p>
          <a:p>
            <a:r>
              <a:t>OUTLINE DETAIL</a:t>
            </a:r>
          </a:p>
          <a:p>
            <a:r>
              <a:t>### Slide 15. The sign changes near log stellar surface density 7.5-8.0 - 2:00</a:t>
            </a:r>
          </a:p>
          <a:p>
            <a:endParaRPr/>
          </a:p>
          <a:p>
            <a:r>
              <a:t>Show the Spearman-versus-density figure with its original galaxy colours and the black ensemble reference. Define the sign of the coefficient. State the approximate transition in log10(Sigma_star / [solar masses kpc^-2]); it is not an exact universal threshold. This figure supplies the quantitative version of the preceding visual result. [S6, Figure 5]</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19:00-20:30.</a:t>
            </a:r>
          </a:p>
          <a:p>
            <a:endParaRPr/>
          </a:p>
          <a:p>
            <a:r>
              <a:t>SPEAKING CUES</a:t>
            </a:r>
          </a:p>
          <a:p>
            <a:r>
              <a:t>NGC4192 is useful because both patterns occur within one system. The left panel is the SFR offset; the middle is the local product of standardized SFR offset and spatially lagged abundance offset. Positive and negative regions describe local association. The Moran-like index and the thresholds in the original figure are not a calibrated significance or causal map. These selected panels are from the same Figure 4 version as the paper.</a:t>
            </a:r>
          </a:p>
          <a:p>
            <a:endParaRPr/>
          </a:p>
          <a:p>
            <a:r>
              <a:t>OUTLINE DETAIL</a:t>
            </a:r>
          </a:p>
          <a:p>
            <a:r>
              <a:t>### Slide 16. Opposite local behaviours coexist in one disc - 1:30</a:t>
            </a:r>
          </a:p>
          <a:p>
            <a:endParaRPr/>
          </a:p>
          <a:p>
            <a:r>
              <a:t>Use the original NGC4192 offset and Moran-like map. Explain that correlated and anti-correlated spatial patterns can occur within one galaxy. The map is a local association diagnostic; neither its colour nor its absolute index is by itself a causal measurement or a calibrated significance map. [S6, Figure 4]</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02:00; cumulative 20:30-22:30.</a:t>
            </a:r>
          </a:p>
          <a:p>
            <a:endParaRPr/>
          </a:p>
          <a:p>
            <a:r>
              <a:t>SPEAKING CUES</a:t>
            </a:r>
          </a:p>
          <a:p>
            <a:r>
              <a:t>This caveat belongs in the main result. O3N2-M13 and O3N2-C20 have a coherent inversion but share a line index. D16 is mostly mildly positive across much of the range. PG16 is heterogeneous and can show the opposite ordering. The primary rMZR is more stable than the secondary dependence. Ionization, N over O, diffuse emission and shared line measurements all matter for interpretation.</a:t>
            </a:r>
          </a:p>
          <a:p>
            <a:endParaRPr/>
          </a:p>
          <a:p>
            <a:r>
              <a:t>OUTLINE DETAIL</a:t>
            </a:r>
          </a:p>
          <a:p>
            <a:r>
              <a:t>### Slide 17. Metallicity calibration changes the inferred relation - 2:00</a:t>
            </a:r>
          </a:p>
          <a:p>
            <a:endParaRPr/>
          </a:p>
          <a:p>
            <a:r>
              <a:t>Compare the four diagnostics in an editable summary: O3N2-M13 and O3N2-C20 show the coherent inversion; D16 is mostly mildly positive across much of the density range; S-calibration PG16 is more heterogeneous and can show the opposite ordering. The primary rMZR is more stable than the secondary relation. Discuss ionization, N/O, DIG and shared line measurements as relevant systematics. Keep this caveat in the main talk. [S6, Section 5.1 and Figure 6]</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22:30-24:00.</a:t>
            </a:r>
          </a:p>
          <a:p>
            <a:endParaRPr/>
          </a:p>
          <a:p>
            <a:r>
              <a:t>SPEAKING CUES</a:t>
            </a:r>
          </a:p>
          <a:p>
            <a:r>
              <a:t>The O3N2-dependent association changes sign with stellar density. Opposite local behaviours coexist within discs. The physical cause remains an interpretation problem, and Paper I alone does not establish ram pressure as the cause of the inversion. A useful model must accommodate both signs and point to another measurable quantity.</a:t>
            </a:r>
          </a:p>
          <a:p>
            <a:endParaRPr/>
          </a:p>
          <a:p>
            <a:r>
              <a:t>OUTLINE DETAIL</a:t>
            </a:r>
          </a:p>
          <a:p>
            <a:r>
              <a:t>### Slide 18. What the observations establish - 1:30</a:t>
            </a:r>
          </a:p>
          <a:p>
            <a:endParaRPr/>
          </a:p>
          <a:p>
            <a:r>
              <a:t>Summarize the O3N2-dependent sign reversal and the coexistence of local behaviours. Separate the observed association from the question of its physical cause. Environment may modulate the gas cycle, but the Paper I result alone does not establish ram-pressure stripping as the cause of the inversion. [S6]</a:t>
            </a:r>
          </a:p>
          <a:p>
            <a:endParaRPr/>
          </a:p>
          <a:p>
            <a:r>
              <a:t>**Transition:** A useful model should explain how both signs can arise locally and identify the additional quantity we need to measure.</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00:45; cumulative 24:00-24:45.</a:t>
            </a:r>
          </a:p>
          <a:p>
            <a:endParaRPr/>
          </a:p>
          <a:p>
            <a:r>
              <a:t>SPEAKING CUES</a:t>
            </a:r>
          </a:p>
          <a:p>
            <a:r>
              <a:t>The reservoir picture is a schematic. Set a boundary around local star-forming molecular gas. Supply replenishes it from the surrounding ISM, star formation locks some mass into stars, recycling returns some, and removal transfers gas out of the reservoir. Local supply is not automatically pristine cosmological accretion. The boundary and phase definition matter.</a:t>
            </a:r>
          </a:p>
          <a:p>
            <a:endParaRPr/>
          </a:p>
          <a:p>
            <a:r>
              <a:t>OUTLINE DETAIL</a:t>
            </a:r>
          </a:p>
          <a:p>
            <a:r>
              <a:t>### Slide 19. A local molecular reservoir - 0:45</a:t>
            </a:r>
          </a:p>
          <a:p>
            <a:endParaRPr/>
          </a:p>
          <a:p>
            <a:r>
              <a:t>Use the existing EAS reservoir illustration, clearly as a schematic. Define the local molecular gas reservoir, its gas supply, star formation and removal. Local supply means replenishment from the surrounding ISM, not automatically pristine accretion from outside the galaxy. The reservoir boundary matters. [S6, S7, S10]</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a:p>
            <a:r>
              <a:t>Existing talk: /Users/Igniz/Desktop/ICRAR/EAS2026/EAS2026 SS7 Rongjun Huang.pptx. Image6: Baker et al. 2023 context figure (original slide 2); image43: reservoir schematic. Preserve original scientific attribution.</a:t>
            </a:r>
          </a:p>
          <a:p>
            <a:r>
              <a:t>Reservoir definitions: /Users/Igniz/Desktop/ICRAR/MAUVE/20260831_Molecular_Gas_Supply_Definitions_and_Observational_Inference.md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01:15; cumulative 24:45-26:00.</a:t>
            </a:r>
          </a:p>
          <a:p>
            <a:endParaRPr/>
          </a:p>
          <a:p>
            <a:r>
              <a:t>SPEAKING CUES</a:t>
            </a:r>
          </a:p>
          <a:p>
            <a:r>
              <a:t>All rates here are per unit area. The star formation law defines a depletion time for the effective reservoir. Supply adds gas, one minus R times SFR is the mass locked in long-lived stars, and the final term removes gas. R is the instantaneous returned fraction. A single effective reservoir and instantaneous recycling are assumptions. None of these derivatives or supply rates is directly measured by a static MUSE map.</a:t>
            </a:r>
          </a:p>
          <a:p>
            <a:endParaRPr/>
          </a:p>
          <a:p>
            <a:r>
              <a:t>OUTLINE DETAIL</a:t>
            </a:r>
          </a:p>
          <a:p>
            <a:r>
              <a:t>### Slide 20. Gas continuity - 1:15</a:t>
            </a:r>
          </a:p>
          <a:p>
            <a:endParaRPr/>
          </a:p>
          <a:p>
            <a:r>
              <a:t>Introduce the gas budget, with all rates per unit area:</a:t>
            </a:r>
          </a:p>
          <a:p>
            <a:endParaRPr/>
          </a:p>
          <a:p>
            <a:r>
              <a:t>$$</a:t>
            </a:r>
          </a:p>
          <a:p>
            <a:r>
              <a:t>\Sigma_{\rm SFR}=\frac{\Sigma_g}{\tau_{\rm dep}},\qquad</a:t>
            </a:r>
          </a:p>
          <a:p>
            <a:r>
              <a:t>\frac{d\Sigma_g}{dt}=\Sigma_\Phi-(1-R)\Sigma_{\rm SFR}-\Sigma_{\rm out}.</a:t>
            </a:r>
          </a:p>
          <a:p>
            <a:r>
              <a:t>$$</a:t>
            </a:r>
          </a:p>
          <a:p>
            <a:endParaRPr/>
          </a:p>
          <a:p>
            <a:r>
              <a:t>Walk through supply, long-lived stellar locking and removal. State that instantaneous recycling and a single effective reservoir are model assumptions. Removal can include feedback and environmental effects, but the equation does not measure either rate from the MUSE maps. [S6, Section 4]</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01:15; cumulative 26:00-27:15.</a:t>
            </a:r>
          </a:p>
          <a:p>
            <a:endParaRPr/>
          </a:p>
          <a:p>
            <a:r>
              <a:t>SPEAKING CUES</a:t>
            </a:r>
          </a:p>
          <a:p>
            <a:r>
              <a:t>In linear abundance, gas gets enriched by newly synthesized metals and diluted if the supply abundance is lower. y is the yield and Z Phi is the abundance of supplied gas. The explicit removal term cancels only when removed gas has the same abundance as the reservoir. Removal still changes the gas amount, SFR and response time. The observational axis twelve plus log oxygen over hydrogen must not be inserted as linear Z.</a:t>
            </a:r>
          </a:p>
          <a:p>
            <a:endParaRPr/>
          </a:p>
          <a:p>
            <a:r>
              <a:t>OUTLINE DETAIL</a:t>
            </a:r>
          </a:p>
          <a:p>
            <a:r>
              <a:t>### Slide 21. Metal enrichment competes with dilution - 1:15</a:t>
            </a:r>
          </a:p>
          <a:p>
            <a:endParaRPr/>
          </a:p>
          <a:p>
            <a:r>
              <a:t>Use the abundance equation:</a:t>
            </a:r>
          </a:p>
          <a:p>
            <a:endParaRPr/>
          </a:p>
          <a:p>
            <a:r>
              <a:t>$$</a:t>
            </a:r>
          </a:p>
          <a:p>
            <a:r>
              <a:t>\frac{dZ}{dt}=\frac{y(1-R)\Sigma_{\rm SFR}+(Z_\Phi-Z)\Sigma_\Phi}{\Sigma_g}.</a:t>
            </a:r>
          </a:p>
          <a:p>
            <a:r>
              <a:t>$$</a:t>
            </a:r>
          </a:p>
          <a:p>
            <a:endParaRPr/>
          </a:p>
          <a:p>
            <a:r>
              <a:t>Explain the positive enrichment term and the dilution term when supplied gas has lower abundance. Here Z is a linear abundance, not the plotted 12 + log10(O/H). The explicit removal term cancels only under the assumption that removed gas has the reservoir abundance; removal still changes the reservoir, SFR and response time. [S6, Section 4]</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01:15; cumulative 27:15-28:30.</a:t>
            </a:r>
          </a:p>
          <a:p>
            <a:endParaRPr/>
          </a:p>
          <a:p>
            <a:r>
              <a:t>SPEAKING CUES</a:t>
            </a:r>
          </a:p>
          <a:p>
            <a:r>
              <a:t>Regroup the abundance equation as relaxation toward an instantaneous target. The target depends on the ratio of star formation to supply. Tau Phi is gas mass divided by supply rate. Holding yield, returned fraction and supply abundance fixed, the first-order perturbation uses natural logarithms. A proportionally larger supply change lowers the target; a larger SFR change raises it. This is a conditional statement about the target rather than a theorem for observed correlation signs.</a:t>
            </a:r>
          </a:p>
          <a:p>
            <a:endParaRPr/>
          </a:p>
          <a:p>
            <a:r>
              <a:t>OUTLINE DETAIL</a:t>
            </a:r>
          </a:p>
          <a:p>
            <a:r>
              <a:t>### Slide 22. The instantaneous target abundance - 1:15</a:t>
            </a:r>
          </a:p>
          <a:p>
            <a:endParaRPr/>
          </a:p>
          <a:p>
            <a:r>
              <a:t>Introduce the target and relaxation time:</a:t>
            </a:r>
          </a:p>
          <a:p>
            <a:endParaRPr/>
          </a:p>
          <a:p>
            <a:r>
              <a:t>$$</a:t>
            </a:r>
          </a:p>
          <a:p>
            <a:r>
              <a:t>Z^\dagger=Z_\Phi+y(1-R)\frac{\Sigma_{\rm SFR}}{\Sigma_\Phi},\qquad</a:t>
            </a:r>
          </a:p>
          <a:p>
            <a:r>
              <a:t>\tau_\Phi=\frac{\Sigma_g}{\Sigma_\Phi},\qquad</a:t>
            </a:r>
          </a:p>
          <a:p>
            <a:r>
              <a:t>\dot Z=\frac{Z^\dagger-Z}{\tau_\Phi}.</a:t>
            </a:r>
          </a:p>
          <a:p>
            <a:r>
              <a:t>$$</a:t>
            </a:r>
          </a:p>
          <a:p>
            <a:endParaRPr/>
          </a:p>
          <a:p>
            <a:r>
              <a:t>At fixed yield, recycling and supplied abundance, the first-order relation is</a:t>
            </a:r>
          </a:p>
          <a:p>
            <a:endParaRPr/>
          </a:p>
          <a:p>
            <a:r>
              <a:t>$$</a:t>
            </a:r>
          </a:p>
          <a:p>
            <a:r>
              <a:t>\delta Z^\dagger=(Z^\dagger-Z_\Phi)</a:t>
            </a:r>
          </a:p>
          <a:p>
            <a:r>
              <a:t>\left(\delta\ln\Sigma_{\rm SFR}-\delta\ln\Sigma_\Phi\right).</a:t>
            </a:r>
          </a:p>
          <a:p>
            <a:r>
              <a:t>$$</a:t>
            </a:r>
          </a:p>
          <a:p>
            <a:endParaRPr/>
          </a:p>
          <a:p>
            <a:r>
              <a:t>Natural logarithms are used here. Supply rising proportionally more than SFR lowers the target; SFR rising proportionally more than supply raises it. This is a statement about the target under stated assumptions, not an unconditional theorem about the sign of an observed correlation. [S6]</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28:30-29:30.</a:t>
            </a:r>
          </a:p>
          <a:p>
            <a:endParaRPr/>
          </a:p>
          <a:p>
            <a:r>
              <a:t>SPEAKING CUES</a:t>
            </a:r>
          </a:p>
          <a:p>
            <a:r>
              <a:t>This curve is only the exact solution for a fixed target and constant tau, with the response normalized between its initial and final values. At one tau the response has completed about sixty-three percent of the change. A changing target is lagged and smoothed. The observed correlation depends on covariance of drivers, timescales and phases sampled. A spatial map is not a time derivative; tau Phi is not uniquely a measured turbulent mixing time.</a:t>
            </a:r>
          </a:p>
          <a:p>
            <a:endParaRPr/>
          </a:p>
          <a:p>
            <a:r>
              <a:t>OUTLINE DETAIL</a:t>
            </a:r>
          </a:p>
          <a:p>
            <a:r>
              <a:t>### Slide 23. The response has a finite timescale - 1:00</a:t>
            </a:r>
          </a:p>
          <a:p>
            <a:endParaRPr/>
          </a:p>
          <a:p>
            <a:r>
              <a:t>Explain that the observed abundance lags and smooths a changing target. A fixed-target response is used only as an analytic illustration. Correlations depend on how the drivers covary, their timescales and the phases sampled. A spatial map does not directly measure a time derivative. Do not identify the effective relaxation time uniquely with a measured turbulent-mixing time. [S6, Section 4.2]</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29:30-30:30.</a:t>
            </a:r>
          </a:p>
          <a:p>
            <a:endParaRPr/>
          </a:p>
          <a:p>
            <a:r>
              <a:t>SPEAKING CUES</a:t>
            </a:r>
          </a:p>
          <a:p>
            <a:r>
              <a:t>The analytic result is a competition, not two separate models. If fractional SFR or SFE variability dominates over supply variability, enrichment wins and metallicity follows SFR. If fractional supply variability dominates while supply and SFR co-vary, dilution wins and metallicity opposes SFR. Comparable amplitudes give a weak relation. The finite response time adds phase lag and scatter, but it does not change the identity of the competing drivers.</a:t>
            </a:r>
          </a:p>
          <a:p>
            <a:endParaRPr/>
          </a:p>
          <a:p>
            <a:r>
              <a:t>OUTLINE DETAIL</a:t>
            </a:r>
          </a:p>
          <a:p>
            <a:r>
              <a:t>### Slide 24. One equation produces both correlation signs - 1:00</a:t>
            </a:r>
          </a:p>
          <a:p>
            <a:endParaRPr/>
          </a:p>
          <a:p>
            <a:r>
              <a:t>Present the analytic result as a competition between relative driver amplitudes. If SFR or SFE fluctuations dominate over supply fluctuations, enrichment produces a positive metallicity-SFR correlation. If gas-supply fluctuations dominate while supply and SFR co-vary, dilution produces a negative correlation. Comparable amplitudes yield a weak relation. Express the same statement as delta Z proportional to delta ln tau_Phi minus delta ln tau_dep. The finite response time adds phase lag and scatter without changing the identities of the two competing drivers. [S6, Sections 4.1-4.3]</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30:30-31:30.</a:t>
            </a:r>
          </a:p>
          <a:p>
            <a:endParaRPr/>
          </a:p>
          <a:p>
            <a:r>
              <a:t>SPEAKING CUES</a:t>
            </a:r>
          </a:p>
          <a:p>
            <a:r>
              <a:t>The continuity equations do not depend on the size of the chosen reservoir. Replace each surface density by the corresponding galaxy-integrated quantity and the algebra is unchanged. The same analytic competition therefore predicts positive and negative SFR-metallicity correlations at fixed local stellar density and at fixed total stellar mass. The physical drivers and averaging differ with scale, but the equation does not impose a sign flip merely because the aperture becomes larger.</a:t>
            </a:r>
          </a:p>
          <a:p>
            <a:endParaRPr/>
          </a:p>
          <a:p>
            <a:r>
              <a:t>OUTLINE DETAIL</a:t>
            </a:r>
          </a:p>
          <a:p>
            <a:r>
              <a:t>### Slide 25. The regulator is scale-free - 1:00</a:t>
            </a:r>
          </a:p>
          <a:p>
            <a:endParaRPr/>
          </a:p>
          <a:p>
            <a:r>
              <a:t>Make the resolved-to-integrated mapping explicit. Replace the surface-density variables (Sigma_g, Sigma_*, Sigma_SFR, Sigma_Phi) with their galaxy-integrated counterparts (M_g, M_*, SFR, Phi). The continuity equations and perturbation rule retain the same functional form. At fixed local stellar density or fixed total stellar mass, SFR/SFE-driven variability can therefore produce a positive correlation, while gas-supply-driven variability can produce a negative one. Emphasize that scale-free algebra does not require identical timescales, covariance or spatial averaging at the two scales. [S6, Section 5.3]</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31:30-32:30.</a:t>
            </a:r>
          </a:p>
          <a:p>
            <a:endParaRPr/>
          </a:p>
          <a:p>
            <a:r>
              <a:t>SPEAKING CUES</a:t>
            </a:r>
          </a:p>
          <a:p>
            <a:r>
              <a:t>Most bathtub applications emphasize the inflow-driven negative FMR. Forbes et al. model that stochastic accretion route and discuss parameter scatter, including mass loading, as another possible source of covariance; that feedback-sensitive route is not the mechanism adopted here. Wang and Lilly explicitly showed the positive SFE-driven route using small-amplitude analytic approximations plus numerical experiments. Our contribution is the compact analytic competition between relative SFR or SFE variability and gas-supply variability, written once and carried from resolved to integrated scales.</a:t>
            </a:r>
          </a:p>
          <a:p>
            <a:endParaRPr/>
          </a:p>
          <a:p>
            <a:r>
              <a:t>OUTLINE DETAIL</a:t>
            </a:r>
          </a:p>
          <a:p>
            <a:r>
              <a:t>### Slide 26. What this adds to earlier regulator models - 1:00</a:t>
            </a:r>
          </a:p>
          <a:p>
            <a:endParaRPr/>
          </a:p>
          <a:p>
            <a:r>
              <a:t>Position the result by physical mechanism. Many bathtub applications foreground stochastic inflow and therefore recover the familiar negative FMR. Forbes et al. (2014) primarily model that accretion-driven anticorrelation and discuss how scatter in parameters, including mass loading, can change the covariance; this feedback-sensitive route is not the preferred mechanism here. Wang and Lilly (2021) explicitly demonstrate the positive SFE-driven route and the negative inflow-driven route using small-amplitude analytic approximations and numerical response experiments. The contribution of this work is a compact analytic competition between relative SFR/SFE variability and gas-supply variability, written once and carried from resolved to integrated scales. Do not say that Wang and Lilly provided only numerical solutions: their paper contains approximate analytic expressions that they verify numerically. [S6; Forbes et al. 2014; Wang and Lilly 2021]</a:t>
            </a:r>
          </a:p>
          <a:p>
            <a:endParaRP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a:p>
            <a:r>
              <a:t>Forbes et al. 2014, MNRAS 443, 168. https://doi.org/10.1093/mnras/stu1142; Wang &amp; Lilly 2021, ApJ 910, 137. https://doi.org/10.3847/1538-4357/abe413. Forbes et al. primarily model stochastic accretion and note parameter-scatter routes; Wang &amp; Lilly derive small-amplitude approximations and verify them numerically.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32:30-33:30.</a:t>
            </a:r>
          </a:p>
          <a:p>
            <a:endParaRPr/>
          </a:p>
          <a:p>
            <a:r>
              <a:t>SPEAKING CUES</a:t>
            </a:r>
          </a:p>
          <a:p>
            <a:r>
              <a:t>Now ask where star formation remains rather than what the surviving SF relation looks like. This existing September snapshot has twenty-six product-level systems after inclination and product-availability selection: eight pre-, five close-, thirteen post-peak. NGC4567 and 4568 are one combined product. The comparison is cross-sectional and the close-to-peak sample is small. No new analysis was run to make the talk.</a:t>
            </a:r>
          </a:p>
          <a:p>
            <a:endParaRPr/>
          </a:p>
          <a:p>
            <a:r>
              <a:t>OUTLINE DETAIL</a:t>
            </a:r>
          </a:p>
          <a:p>
            <a:r>
              <a:t>### Slide 27. Where star formation remains along the RPS sequence - 1:00</a:t>
            </a:r>
          </a:p>
          <a:p>
            <a:endParaRPr/>
          </a:p>
          <a:p>
            <a:r>
              <a:t>Introduce the ongoing occupancy question. Present the analysis snapshot as 26 product-level systems after inclination and product-availability selection: 8 pre-peak, 5 close-to-peak and 13 post-peak. NGC4567_8 is one combined product representing two physical components. These counts belong to this analysis, not the complete 40-target survey. [S8, S9]</a:t>
            </a:r>
          </a:p>
          <a:p>
            <a:endParaRPr/>
          </a:p>
          <a:p>
            <a:endParaRPr/>
          </a:p>
          <a:p>
            <a:r>
              <a:t>SOURCES</a:t>
            </a:r>
          </a:p>
          <a:p>
            <a:r>
              <a:t>Existing analysis snapshot: /Users/Igniz/Desktop/ICRAR/further/20260905_stage_SF_fraction_analysis.md; assets: /Users/Igniz/Desktop/ICRAR/further/20260905_stage_SF_fraction_analysis_assets. No science pipeline recomputed for this presentation.</a:t>
            </a:r>
          </a:p>
          <a:p>
            <a:r>
              <a:t>Latest framing: /Users/Igniz/Desktop/ICRAR/MAUVE/20260906 Where Star Formation Remains along Infall Stages.md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33:30-35:00.</a:t>
            </a:r>
          </a:p>
          <a:p>
            <a:endParaRPr/>
          </a:p>
          <a:p>
            <a:r>
              <a:t>SPEAKING CUES</a:t>
            </a:r>
          </a:p>
          <a:p>
            <a:r>
              <a:t>The denominator is the valid observed footprint with finite stellar mass, accepted BINID and mask, and valid radius. SF means the selected HII population with EW and dispersion cuts. ND means one of the required Balmer detections fails; detected means SNR at least three and native flux threshold twenty for Halpha and Hbeta. NSF is detected but fails SF selection. ND is not zero SFR, and NSF mixes possible excitation mechanisms. A further post-fit SNR cut changes this denominator.</a:t>
            </a:r>
          </a:p>
          <a:p>
            <a:endParaRPr/>
          </a:p>
          <a:p>
            <a:r>
              <a:t>OUTLINE DETAIL</a:t>
            </a:r>
          </a:p>
          <a:p>
            <a:r>
              <a:t>### Slide 28. SF, ND and NSF measure different outcomes - 1:30</a:t>
            </a:r>
          </a:p>
          <a:p>
            <a:endParaRPr/>
          </a:p>
          <a:p>
            <a:r>
              <a:t>Define SF as the selected HII/EW/dispersion population; ND as failure of the required Balmer detections; NSF as Balmer-detected emission that fails the SF selection. Define the denominator as the valid observed footprint. ND is sensitivity-limited, and NSF may mix DIG, shocks, old-star and nuclear excitation. The categories do not uniquely identify physical mechanisms. [S8]</a:t>
            </a:r>
          </a:p>
          <a:p>
            <a:endParaRPr/>
          </a:p>
          <a:p>
            <a:endParaRPr/>
          </a:p>
          <a:p>
            <a:r>
              <a:t>SOURCES</a:t>
            </a:r>
          </a:p>
          <a:p>
            <a:r>
              <a:t>Existing analysis snapshot: /Users/Igniz/Desktop/ICRAR/further/20260905_stage_SF_fraction_analysis.md; assets: /Users/Igniz/Desktop/ICRAR/further/20260905_stage_SF_fraction_analysis_assets. No science pipeline recomputed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02:00; cumulative 35:00-37:00.</a:t>
            </a:r>
          </a:p>
          <a:p>
            <a:endParaRPr/>
          </a:p>
          <a:p>
            <a:r>
              <a:t>SPEAKING CUES</a:t>
            </a:r>
          </a:p>
          <a:p>
            <a:r>
              <a:t>Each galaxy contributes equally to the stage mean. On the full valid footprint, SF fractions are thirty-nine, twenty-five and seven percent; ND rises from thirty-one to fifty-one to seventy-three percent. The right panel restricts the footprint to post-fit SNR at least twenty-five and produces different fractions. It preferentially excludes ND area, so it is a conditional view. These descriptive means do not show whole-galaxy uncertainty; the bootstrap comparison is in backup B4.</a:t>
            </a:r>
          </a:p>
          <a:p>
            <a:endParaRPr/>
          </a:p>
          <a:p>
            <a:r>
              <a:t>OUTLINE DETAIL</a:t>
            </a:r>
          </a:p>
          <a:p>
            <a:r>
              <a:t>### Slide 29. SF occupancy is lower in the post-peak sample - 2:00</a:t>
            </a:r>
          </a:p>
          <a:p>
            <a:endParaRPr/>
          </a:p>
          <a:p>
            <a:r>
              <a:t>Use editable charts made directly from the existing equal-galaxy summary CSVs. Show the full valid footprint alongside the post-fit S/N &gt;= 25 subset. Full-footprint mean SF fractions are 0.388, 0.251 and 0.066 for pre-, close- and post-peak; corresponding ND fractions are 0.312, 0.509 and 0.727. Mark the result as preliminary and cross-sectional. Do not interpret the S/N cut as a neutral removal of bad data: it changes the denominator and preferentially excludes ND area. [S8]</a:t>
            </a:r>
          </a:p>
          <a:p>
            <a:endParaRPr/>
          </a:p>
          <a:p>
            <a:endParaRPr/>
          </a:p>
          <a:p>
            <a:r>
              <a:t>SOURCES</a:t>
            </a:r>
          </a:p>
          <a:p>
            <a:r>
              <a:t>Existing analysis snapshot: /Users/Igniz/Desktop/ICRAR/further/20260905_stage_SF_fraction_analysis.md; assets: /Users/Igniz/Desktop/ICRAR/further/20260905_stage_SF_fraction_analysis_assets. No science pipeline recomputed for this presentation.</a:t>
            </a:r>
          </a:p>
          <a:p>
            <a:r>
              <a:t>/Users/Igniz/Desktop/ICRAR/further/20260905_stage_SF_fraction_analysis_assets/stage_global_equal_uncut.csv</a:t>
            </a:r>
          </a:p>
          <a:p>
            <a:r>
              <a:t>/Users/Igniz/Desktop/ICRAR/further/20260905_stage_SF_fraction_analysis_assets/stage_global_equal_snr25.csv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01:15; cumulative 37:00-38:15.</a:t>
            </a:r>
          </a:p>
          <a:p>
            <a:endParaRPr/>
          </a:p>
          <a:p>
            <a:r>
              <a:t>SPEAKING CUES</a:t>
            </a:r>
          </a:p>
          <a:p>
            <a:r>
              <a:t>The existing profiles have a panel for each stage. Explain the categories using the legend and radius in effective-radius units. Solid curves are the SNR-selected denominator and dashed curves the full valid footprint. Outer non-detections become dominant while detected non-SF emission is important centrally. The descriptive picture combines contraction and broader occupancy decline. Whole galaxies are the independent units; each supported galaxy receives equal weight in a bin.</a:t>
            </a:r>
          </a:p>
          <a:p>
            <a:endParaRPr/>
          </a:p>
          <a:p>
            <a:r>
              <a:t>OUTLINE DETAIL</a:t>
            </a:r>
          </a:p>
          <a:p>
            <a:r>
              <a:t>### Slide 30. Outer non-detections and central non-SF emission - 1:15</a:t>
            </a:r>
          </a:p>
          <a:p>
            <a:endParaRPr/>
          </a:p>
          <a:p>
            <a:r>
              <a:t>Show the existing equal-galaxy radial profiles, with cut and uncut curves explicitly identified. The descriptive picture combines a contracting SF footprint with a broader decline in occupancy; the destination differs with radius. Outer and low-density regions are increasingly ND, while detected NSF emission becomes prominent centrally. Avoid treating the stage average as the track of every galaxy. [S8, S9]</a:t>
            </a:r>
          </a:p>
          <a:p>
            <a:endParaRPr/>
          </a:p>
          <a:p>
            <a:endParaRPr/>
          </a:p>
          <a:p>
            <a:r>
              <a:t>SOURCES</a:t>
            </a:r>
          </a:p>
          <a:p>
            <a:r>
              <a:t>Existing analysis snapshot: /Users/Igniz/Desktop/ICRAR/further/20260905_stage_SF_fraction_analysis.md; assets: /Users/Igniz/Desktop/ICRAR/further/20260905_stage_SF_fraction_analysis_assets. No science pipeline recomputed for this presentation.</a:t>
            </a:r>
          </a:p>
          <a:p>
            <a:r>
              <a:t>Latest framing: /Users/Igniz/Desktop/ICRAR/MAUVE/20260906 Where Star Formation Remains along Infall Stages.md</a:t>
            </a:r>
          </a:p>
          <a:p>
            <a:r>
              <a:t>/Users/Igniz/Desktop/ICRAR/further/20260905_stage_SF_fraction_analysis_assets/stage_fraction_profiles_radius_equal.png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01:15; cumulative 38:15-39:30.</a:t>
            </a:r>
          </a:p>
          <a:p>
            <a:endParaRPr/>
          </a:p>
          <a:p>
            <a:r>
              <a:t>SPEAKING CUES</a:t>
            </a:r>
          </a:p>
          <a:p>
            <a:r>
              <a:t>Compare the two close-to-peak objects NGC4501 and NGC4424 with post-peak IC3392. Retain the actual category colours. The maps use the SNR-selected classification, grey is excluded by post-fit SNR, and the black contour is one effective radius. The original percentage legends are outside the image crop: they use the original valid-disc denominator and are not the conditional fractions in the preceding chart. Do not infer a physical mechanism for individual NSF patches from these categories alone.</a:t>
            </a:r>
          </a:p>
          <a:p>
            <a:endParaRPr/>
          </a:p>
          <a:p>
            <a:r>
              <a:t>OUTLINE DETAIL</a:t>
            </a:r>
          </a:p>
          <a:p>
            <a:r>
              <a:t>### Slide 31. The maps show substantial galaxy-to-galaxy diversity - 1:15</a:t>
            </a:r>
          </a:p>
          <a:p>
            <a:endParaRPr/>
          </a:p>
          <a:p>
            <a:r>
              <a:t>Use selected existing spatial maps, including contrasting close-to-peak systems and a post-peak example. Keep SF/ND/NSF/excluded colours and labels unchanged. Connect this diversity to the small close-to-peak sample and the need for galaxy-level inference. Do not label an individual NSF feature as a confirmed shock or AGN using the category map alone. [S8, S9]</a:t>
            </a:r>
          </a:p>
          <a:p>
            <a:endParaRPr/>
          </a:p>
          <a:p>
            <a:endParaRPr/>
          </a:p>
          <a:p>
            <a:r>
              <a:t>SOURCES</a:t>
            </a:r>
          </a:p>
          <a:p>
            <a:r>
              <a:t>Existing analysis snapshot: /Users/Igniz/Desktop/ICRAR/further/20260905_stage_SF_fraction_analysis.md; assets: /Users/Igniz/Desktop/ICRAR/further/20260905_stage_SF_fraction_analysis_assets. No science pipeline recomputed for this presentation.</a:t>
            </a:r>
          </a:p>
          <a:p>
            <a:r>
              <a:t>Latest framing: /Users/Igniz/Desktop/ICRAR/MAUVE/20260906 Where Star Formation Remains along Infall Stages.md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00:30; cumulative 39:30-40:00.</a:t>
            </a:r>
          </a:p>
          <a:p>
            <a:endParaRPr/>
          </a:p>
          <a:p>
            <a:r>
              <a:t>SPEAKING CUES</a:t>
            </a:r>
          </a:p>
          <a:p>
            <a:r>
              <a:t>The fractions answer how much of the footprint belongs to selected SF. They cannot say whether surviving SF is enhanced, normal or suppressed. The next comparison must measure the surviving population at matched stellar density and radius.</a:t>
            </a:r>
          </a:p>
          <a:p>
            <a:endParaRPr/>
          </a:p>
          <a:p>
            <a:r>
              <a:t>OUTLINE DETAIL</a:t>
            </a:r>
          </a:p>
          <a:p>
            <a:r>
              <a:t>### Slide 32. Occupancy and surviving-SF intensity are separate - 0:30</a:t>
            </a:r>
          </a:p>
          <a:p>
            <a:endParaRPr/>
          </a:p>
          <a:p>
            <a:r>
              <a:t>State the next measurement: compare the SFR of regions that remain SF at fixed stellar density and radius. The present fractions cannot tell whether those survivors are enhanced, normal or suppressed. [S8]</a:t>
            </a:r>
          </a:p>
          <a:p>
            <a:endParaRPr/>
          </a:p>
          <a:p>
            <a:endParaRPr/>
          </a:p>
          <a:p>
            <a:r>
              <a:t>SOURCES</a:t>
            </a:r>
          </a:p>
          <a:p>
            <a:r>
              <a:t>Existing analysis snapshot: /Users/Igniz/Desktop/ICRAR/further/20260905_stage_SF_fraction_analysis.md; assets: /Users/Igniz/Desktop/ICRAR/further/20260905_stage_SF_fraction_analysis_assets. No science pipeline recomputed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40:00-41:00.</a:t>
            </a:r>
          </a:p>
          <a:p>
            <a:endParaRPr/>
          </a:p>
          <a:p>
            <a:r>
              <a:t>SPEAKING CUES</a:t>
            </a:r>
          </a:p>
          <a:p>
            <a:r>
              <a:t>This is the current preliminary NGC4254 result. The upper-left map fits the Halpha source geometry; the upper-right map is the metallicity fluctuation used in the correlation. The lower panels compare the measured two-point correlation with the injection-diffusion baseline and a spiral-aware decomposition. The alignment and the nonzero added components show that spiral geometry is shaping the enrichment pattern. Treat this as one-galaxy preliminary evidence, not a sample-wide conclusion.</a:t>
            </a:r>
          </a:p>
          <a:p>
            <a:endParaRPr/>
          </a:p>
          <a:p>
            <a:r>
              <a:t>OUTLINE DETAIL</a:t>
            </a:r>
          </a:p>
          <a:p>
            <a:r>
              <a:t>### Slide 33. NGC4254: spiral structure shapes metallicity fluctuations - 1:00</a:t>
            </a:r>
          </a:p>
          <a:p>
            <a:endParaRPr/>
          </a:p>
          <a:p>
            <a:r>
              <a:t>Present the user-provided four-panel NGC4254 snapshot as a preliminary result. The upper-left panel shows the dereddened H-alpha field and fitted source spirals; the upper-right panel shows the metallicity fluctuation used in the correlation. The lower-left panel compares the measured two-point correlation with the uniform KT18 baseline and spiral-aware model. The lower-right panel decomposes the complete correlation. The result demonstrates that spiral geometry leaves a measurable imprint on the enrichment pattern in this galaxy. Keep the scope explicit: this is preliminary evidence from NGC4254, not a sample-wide measurement. [S15]</a:t>
            </a:r>
          </a:p>
          <a:p>
            <a:endParaRPr/>
          </a:p>
          <a:p>
            <a:endParaRPr/>
          </a:p>
          <a:p>
            <a:r>
              <a:t>SOURCES</a:t>
            </a:r>
          </a:p>
          <a:p>
            <a:r>
              <a:t>User-provided preliminary NGC4254 metallicity-fluctuation figure supplied 10 September 2026. Snapshot copied to /private/tmp/yonsei_build/assets/NGC4254_metallicity_fluctuations_preliminary.jpg. Interpretation and provenance recorded in /Users/Igniz/Desktop/ICRAR/202609Korea/Yonsei_45min_talk_outline.md; no science pipeline recomputed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41:00-42:00.</a:t>
            </a:r>
          </a:p>
          <a:p>
            <a:endParaRPr/>
          </a:p>
          <a:p>
            <a:r>
              <a:t>SPEAKING CUES</a:t>
            </a:r>
          </a:p>
          <a:p>
            <a:r>
              <a:t>Read the decomposition from physically simpler to richer terms. C two-p zero is the uniform-field injection-diffusion prediction of Krumholz and Ting 2018. C two-p N adds the perturbed spiral field; a complete symmetric arm pattern integrates to zero azimuthally, but asymmetric arms or incomplete masks leave a net term. C M is the mean or cumulative past correlation over the correlation time, so a spiral imprint can remain in the fluctuation phase. C NP is the first-order residual from source clustering: one GMC births correlated clusters whose Gaussian diffusion couples stellar drift to enrichment delay. This born-in correlation is distinct from injection-diffusion and cumulative mean.</a:t>
            </a:r>
          </a:p>
          <a:p>
            <a:endParaRPr/>
          </a:p>
          <a:p>
            <a:r>
              <a:t>OUTLINE DETAIL</a:t>
            </a:r>
          </a:p>
          <a:p>
            <a:r>
              <a:t>### Slide 34. Four terms separate geometry, memory and source clustering - 1:00</a:t>
            </a:r>
          </a:p>
          <a:p>
            <a:endParaRPr/>
          </a:p>
          <a:p>
            <a:r>
              <a:t>Define each correlation component precisely. C_{2p,0} is the uniform-field injection-diffusion prediction of Krumholz and Ting (2018). C_{2p,N} adds the perturbed spiral field. Its azimuthal integral is zero for complete, symmetric arms, but asymmetric arms or incomplete observational masks can leave a nonzero net term. C_M is the mean or cumulative past correlation over the correlation time, allowing a visible spiral imprint to remain in the fluctuation phase. C_NP is the first-order residual from clustered sources after injection-diffusion: one GMC forms correlated clusters whose Gaussian diffusion couples stellar drift to the enrichment yield delay. This born-in source correlation is physically distinct from both the injection-diffusion baseline and the cumulative mean. [S15]</a:t>
            </a:r>
          </a:p>
          <a:p>
            <a:endParaRPr/>
          </a:p>
          <a:p>
            <a:endParaRPr/>
          </a:p>
          <a:p>
            <a:r>
              <a:t>SOURCES</a:t>
            </a:r>
          </a:p>
          <a:p>
            <a:r>
              <a:t>User-provided preliminary NGC4254 metallicity-fluctuation figure supplied 10 September 2026. Snapshot copied to /private/tmp/yonsei_build/assets/NGC4254_metallicity_fluctuations_preliminary.jpg. Interpretation and provenance recorded in /Users/Igniz/Desktop/ICRAR/202609Korea/Yonsei_45min_talk_outline.md; no science pipeline recomputed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01:30; cumulative 42:00-43:30.</a:t>
            </a:r>
          </a:p>
          <a:p>
            <a:endParaRPr/>
          </a:p>
          <a:p>
            <a:r>
              <a:t>SPEAKING CUES</a:t>
            </a:r>
          </a:p>
          <a:p>
            <a:r>
              <a:t>CO gives a molecular reservoir after conversion assumptions. With matched SFR we obtain a depletion time or inverse molecular SFE. Ask whether the positive association tracks depletion-time changes, or whether gas content and carefully defined supply proxies add information. CO alone does not give a replenishment-rate map. Match beams, apertures, sensitivity and tracer timescales, and propagate the CO conversion uncertainty.</a:t>
            </a:r>
          </a:p>
          <a:p>
            <a:endParaRPr/>
          </a:p>
          <a:p>
            <a:r>
              <a:t>OUTLINE DETAIL</a:t>
            </a:r>
          </a:p>
          <a:p>
            <a:r>
              <a:t>### Slide 35. ALMA measures the reservoir and depletion time - 1:30</a:t>
            </a:r>
          </a:p>
          <a:p>
            <a:endParaRPr/>
          </a:p>
          <a:p>
            <a:r>
              <a:t>Define Sigma_H2, tau_dep = Sigma_H2 / Sigma_SFR and molecular SFE. Explain the test of whether the positive branch associates with depletion-time changes or whether gas abundance and supply proxies are more informative. CO constrains molecular mass after conversion assumptions; it is not a direct map of the local replenishment rate. Match beams, apertures, sensitivity and tracer timescales. [S1, S10]</a:t>
            </a:r>
          </a:p>
          <a:p>
            <a:endParaRPr/>
          </a:p>
          <a:p>
            <a:endParaRPr/>
          </a:p>
          <a:p>
            <a:r>
              <a:t>SOURCES</a:t>
            </a:r>
          </a:p>
          <a:p>
            <a:r>
              <a:t>Catinella et al. 2025, The Messenger 195, 15. https://doi.org/10.18727/0722-6691/5393 | /Users/Igniz/Desktop/ICRAR/EAS2026/pdfs/Catinella2025.pdf</a:t>
            </a:r>
          </a:p>
          <a:p>
            <a:r>
              <a:t>Reservoir definitions: /Users/Igniz/Desktop/ICRAR/MAUVE/20260831_Molecular_Gas_Supply_Definitions_and_Observational_Inference.md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00:30; cumulative 43:30-44:00.</a:t>
            </a:r>
          </a:p>
          <a:p>
            <a:endParaRPr/>
          </a:p>
          <a:p>
            <a:r>
              <a:t>SPEAKING CUES</a:t>
            </a:r>
          </a:p>
          <a:p>
            <a:r>
              <a:t>Connect the three directions. Environmental occupancy identifies where SF remains. The preliminary NGC4254 decomposition shows that spiral geometry, temporal memory and source clustering can shape metallicity fluctuations. Molecular gas tests the reservoir and depletion time. Common emission-line diagnostics and forward-modelled comparisons connect these measurements.</a:t>
            </a:r>
          </a:p>
          <a:p>
            <a:endParaRPr/>
          </a:p>
          <a:p>
            <a:r>
              <a:t>OUTLINE DETAIL</a:t>
            </a:r>
          </a:p>
          <a:p>
            <a:r>
              <a:t>### Slide 36. A connected research programme - 0:30</a:t>
            </a:r>
          </a:p>
          <a:p>
            <a:endParaRPr/>
          </a:p>
          <a:p>
            <a:r>
              <a:t>Connect the three ongoing directions: environmental SF occupancy, internal metallicity structure, and molecular-reservoir tests. Emission-line products and simulation comparisons support diagnostic robustness and physical interpretation; avoid making them a separate long project list. [S0]</a:t>
            </a:r>
          </a:p>
          <a:p>
            <a:endParaRPr/>
          </a:p>
          <a:p>
            <a:endParaRPr/>
          </a:p>
          <a:p>
            <a:r>
              <a:t>SOURCES</a:t>
            </a:r>
          </a:p>
          <a:p>
            <a:r>
              <a:t>Talk brief: https://chatgpt.com/c/6a9d3c52-9460-83ec-be1d-7023ec6a0ae4</a:t>
            </a:r>
          </a:p>
          <a:p>
            <a:r>
              <a:t>User-provided preliminary NGC4254 metallicity-fluctuation figure supplied 10 September 2026. Snapshot copied to /private/tmp/yonsei_build/assets/NGC4254_metallicity_fluctuations_preliminary.jpg. Interpretation and provenance recorded in /Users/Igniz/Desktop/ICRAR/202609Korea/Yonsei_45min_talk_outline.md; no science pipeline recomputed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01:00; cumulative 44:00-45:00.</a:t>
            </a:r>
          </a:p>
          <a:p>
            <a:r>
              <a:t/>
            </a:r>
            <a:endParaRPr/>
          </a:p>
          <a:p>
            <a:r>
              <a:t>SPEAKING NARRATIVE</a:t>
            </a:r>
          </a:p>
          <a:p>
            <a:r>
              <a:t>MAUVE is already producing a connected set of results. First, feedback remains important throughout environmental transformation. In NGC4383, ionized and cold gas trace a multiphase outflow whose cold component is consistent with a fountain. In NGC4064, centrally concentrated star formation drives an outflow after stripping has removed much of the cold-gas reservoir, so feedback may accelerate the final stages of quenching.</a:t>
            </a:r>
          </a:p>
          <a:p>
            <a:r>
              <a:t/>
            </a:r>
            <a:endParaRPr/>
          </a:p>
          <a:p>
            <a:r>
              <a:t>Second, the ionized interstellar medium changes as galaxies are processed by the cluster. Brown et al. find elevated optical line ratios and a larger contribution from ionization outside classical H II regions in the early MAUVE-MUSE sample. The interpretation is that diffuse ionized gas becomes more visible as H II-region emission fades; it is not a claim that the environment creates all of the diffuse gas.</a:t>
            </a:r>
          </a:p>
          <a:p>
            <a:r>
              <a:t/>
            </a:r>
          </a:p>
          <a:p>
            <a:r>
              <a:t>Third, Huang et al. show that the resolved metallicity-SFR association reverses with stellar surface density. The diagnostic dependence is part of the result, and the physical interpretation is a competition among enrichment, gas supply and star formation rather than one universal causal pathway.</a:t>
            </a:r>
            <a:endParaRPr/>
          </a:p>
          <a:p>
            <a:r>
              <a:t/>
            </a:r>
          </a:p>
          <a:p>
            <a:r>
              <a:t>These results are only the beginning of the data exploitation. The collaboration welcomes new science ideas and collaborators; contact mauve-pis@googlegroups.com or visit mauve.icrar.org.</a:t>
            </a:r>
          </a:p>
          <a:p>
            <a:r>
              <a:t/>
            </a:r>
          </a:p>
          <a:p>
            <a:r>
              <a:t>TRANSITION</a:t>
            </a:r>
            <a:endParaRPr/>
          </a:p>
          <a:p>
            <a:r>
              <a:t>Thank the MAUVE collaboration, invite questions, and use the backup slides as needed.</a:t>
            </a:r>
          </a:p>
          <a:p>
            <a:r>
              <a:t/>
            </a:r>
            <a:endParaRPr/>
          </a:p>
          <a:p>
            <a:r>
              <a:t>SOURCES</a:t>
            </a:r>
            <a:endParaRPr/>
          </a:p>
          <a:p>
            <a:r>
              <a:t>Watts et al. 2024, MNRAS 530, 1968-1983, https://doi.org/10.1093/mnras/stae898.</a:t>
            </a:r>
          </a:p>
          <a:p>
            <a:r>
              <a:t>Cortese et al. 2026, PASA 43, e034, https://doi.org/10.1017/pasa.2026.10159.</a:t>
            </a:r>
          </a:p>
          <a:p>
            <a:r>
              <a:t>Attwater et al. 2026, arXiv:2512.10574; local manuscript: /Users/Igniz/Desktop/ICRAR/EAS2026/pdfs/Attwater2026.pdf.</a:t>
            </a:r>
          </a:p>
          <a:p>
            <a:r>
              <a:t>Brown et al. 2026, accepted in ApJ on 17 April 2026, arXiv:2604.20056; local manuscript: /Users/Igniz/Desktop/ICRAR/EAS2026/pdfs/Brown2026.pdf.</a:t>
            </a:r>
          </a:p>
          <a:p>
            <a:r>
              <a:t>Huang et al. 2026, MNRAS 549, stag1019, https://doi.org/10.1093/mnras/stag1019.</a:t>
            </a:r>
          </a:p>
          <a:p>
            <a:r>
              <a:t>Collaboration website and contact: https://mauve.icrar.org/; mauve-pis@googlegroups.com.</a:t>
            </a:r>
          </a:p>
          <a:p>
            <a:r>
              <a:t>Visual/content reference supplied by the presenter: attached MAUVE summary slide.</a:t>
            </a:r>
          </a:p>
          <a:p>
            <a: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outside the 45-minute talk.</a:t>
            </a:r>
          </a:p>
          <a:p>
            <a:endParaRPr/>
          </a:p>
          <a:p>
            <a:r>
              <a:t>SPEAKING CUES</a:t>
            </a:r>
          </a:p>
          <a:p>
            <a:r>
              <a:t>These counts describe different scopes. Forty is the programme design, fourteen is the Paper I sample, thirteen is its ensemble relation, and twenty-six is the product-system occupancy snapshot. NGC4567_8 is combined, so product-system and physical-galaxy counts are not interchangeable.</a:t>
            </a:r>
          </a:p>
          <a:p>
            <a:endParaRPr/>
          </a:p>
          <a:p>
            <a:r>
              <a:t>OUTLINE DETAIL</a:t>
            </a:r>
          </a:p>
          <a:p>
            <a:r>
              <a:t>Survey and analysis sample bookkeeping</a:t>
            </a:r>
          </a:p>
          <a:p>
            <a:endParaRPr/>
          </a:p>
          <a:p>
            <a:r>
              <a:t>SOURCES</a:t>
            </a:r>
          </a:p>
          <a:p>
            <a:r>
              <a:t>Catinella et al. 2025, The Messenger 195, 15. https://doi.org/10.18727/0722-6691/5393 | /Users/Igniz/Desktop/ICRAR/EAS2026/pdfs/Catinella2025.pdf</a:t>
            </a:r>
          </a:p>
          <a:p>
            <a:r>
              <a:t>Huang et al. 2026, MNRAS 549, 1019. https://arxiv.org/abs/2605.31412 | /Users/Igniz/Desktop/ICRAR/EAS2026/pdfs/Huang2026.pdf and /Users/Igniz/Desktop/ICRAR/MAUVE/MAUVE Rongjun Zgas-Sigma_SFR paper/main.tex. Figures are direct crops of the paper PDF, not older standalone versions.</a:t>
            </a:r>
          </a:p>
          <a:p>
            <a:r>
              <a:t>Existing analysis snapshot: /Users/Igniz/Desktop/ICRAR/further/20260905_stage_SF_fraction_analysis.md; assets: /Users/Igniz/Desktop/ICRAR/further/20260905_stage_SF_fraction_analysis_assets. No science pipeline recomputed for this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outside the 45-minute talk.</a:t>
            </a:r>
          </a:p>
          <a:p>
            <a:endParaRPr/>
          </a:p>
          <a:p>
            <a:r>
              <a:t>SPEAKING CUES</a:t>
            </a:r>
          </a:p>
          <a:p>
            <a:r>
              <a:t>Full Figure 6 from the paper version. Walk through the primary and secondary relations for each calibration. Do not describe the O3N2 result as calibration-independent. D16 and PG16 provide distinct index dependencies and possible systematic effects.</a:t>
            </a:r>
          </a:p>
          <a:p>
            <a:endParaRPr/>
          </a:p>
          <a:p>
            <a:r>
              <a:t>OUTLINE DETAIL</a:t>
            </a:r>
          </a:p>
          <a:p>
            <a:r>
              <a:t>Full metallicity-diagnostic comparison</a:t>
            </a: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outside the 45-minute talk.</a:t>
            </a:r>
          </a:p>
          <a:p>
            <a:endParaRPr/>
          </a:p>
          <a:p>
            <a:r>
              <a:t>SPEAKING CUES</a:t>
            </a:r>
          </a:p>
          <a:p>
            <a:r>
              <a:t>Begin with metal mass surface density Sigma g times Z. Supplied metals add Z Phi times supply, newly produced metals add y one minus R times SFR, and gas locked or removed carries the current reservoir abundance under well-mixed assumptions. Apply the product rule and subtract Z times gas continuity. Stellar locking and same-abundance removal cancel explicitly. Metal-enhanced winds would change this equation.</a:t>
            </a:r>
          </a:p>
          <a:p>
            <a:endParaRPr/>
          </a:p>
          <a:p>
            <a:r>
              <a:t>OUTLINE DETAIL</a:t>
            </a:r>
          </a:p>
          <a:p>
            <a:r>
              <a:t>Metal continuity and the removal term</a:t>
            </a:r>
          </a:p>
          <a:p>
            <a:endParaRPr/>
          </a:p>
          <a:p>
            <a:r>
              <a:t>SOURCES</a:t>
            </a:r>
          </a:p>
          <a:p>
            <a:r>
              <a:t>Huang et al. 2026, MNRAS 549, 1019. https://arxiv.org/abs/2605.31412 | /Users/Igniz/Desktop/ICRAR/EAS2026/pdfs/Huang2026.pdf and /Users/Igniz/Desktop/ICRAR/MAUVE/MAUVE Rongjun Zgas-Sigma_SFR paper/main.tex. Figures are direct crops of the paper PDF, not older standalone versions.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outside the 45-minute talk.</a:t>
            </a:r>
          </a:p>
          <a:p>
            <a:endParaRPr/>
          </a:p>
          <a:p>
            <a:r>
              <a:t>SPEAKING CUES</a:t>
            </a:r>
          </a:p>
          <a:p>
            <a:r>
              <a:t>These are the existing whole-galaxy bootstrap intervals for SF occupancy on the SNR-at-least-25 denominator. Equal galaxy weighting gives each system the same total contribution; resample whole galaxies, not pixels. The close-to-peak interval is broad with five systems. Binned profiles require at least fifty valid pixels for an individual galaxy/bin and stage support of at least three galaxies and one thousand pixels. The bootstrap is conditional on the observed selected sample.</a:t>
            </a:r>
          </a:p>
          <a:p>
            <a:endParaRPr/>
          </a:p>
          <a:p>
            <a:r>
              <a:t>OUTLINE DETAIL</a:t>
            </a:r>
          </a:p>
          <a:p>
            <a:r>
              <a:t>Selection and uncertainty in occupancy</a:t>
            </a:r>
          </a:p>
          <a:p>
            <a:endParaRPr/>
          </a:p>
          <a:p>
            <a:r>
              <a:t>SOURCES</a:t>
            </a:r>
          </a:p>
          <a:p>
            <a:r>
              <a:t>Existing analysis snapshot: /Users/Igniz/Desktop/ICRAR/further/20260905_stage_SF_fraction_analysis.md; assets: /Users/Igniz/Desktop/ICRAR/further/20260905_stage_SF_fraction_analysis_assets. No science pipeline recomputed for this presentation.</a:t>
            </a:r>
          </a:p>
          <a:p>
            <a:r>
              <a:t>/Users/Igniz/Desktop/ICRAR/further/20260905_stage_SF_fraction_analysis_assets/whole_galaxy_bootstrap.csv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outside the 45-minute talk.</a:t>
            </a:r>
          </a:p>
          <a:p>
            <a:endParaRPr/>
          </a:p>
          <a:p>
            <a:r>
              <a:t>SPEAKING CUES</a:t>
            </a:r>
          </a:p>
          <a:p>
            <a:r>
              <a:t>Molecular gas mass and depletion time are measurable after CO conversion and matched-aperture choices. Supply can mean replenishment into a molecular reservoir, conversion from atomic gas, or transport across a boundary; these are different rates. A gas map alone does not determine them. Spatial dynamics, multiple tracers and simulations can constrain interpretations, subject to their assumptions.</a:t>
            </a:r>
          </a:p>
          <a:p>
            <a:endParaRPr/>
          </a:p>
          <a:p>
            <a:r>
              <a:t>OUTLINE DETAIL</a:t>
            </a:r>
          </a:p>
          <a:p>
            <a:r>
              <a:t>What CO can and cannot measure</a:t>
            </a:r>
          </a:p>
          <a:p>
            <a:endParaRPr/>
          </a:p>
          <a:p>
            <a:r>
              <a:t>SOURCES</a:t>
            </a:r>
          </a:p>
          <a:p>
            <a:r>
              <a:t>Reservoir definitions: /Users/Igniz/Desktop/ICRAR/MAUVE/20260831_Molecular_Gas_Supply_Definitions_and_Observational_Inference.md</a:t>
            </a:r>
          </a:p>
          <a:p>
            <a:r>
              <a:t>Catinella et al. 2025, The Messenger 195, 15. https://doi.org/10.18727/0722-6691/5393 | /Users/Igniz/Desktop/ICRAR/EAS2026/pdfs/Catinella2025.pdf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outside the 45-minute talk.</a:t>
            </a:r>
          </a:p>
          <a:p>
            <a:endParaRPr/>
          </a:p>
          <a:p>
            <a:r>
              <a:t>SPEAKING CUES</a:t>
            </a:r>
          </a:p>
          <a:p>
            <a:r>
              <a:t>Full source paths and links are in the notes and outline. The early-science sequence was revised after comparing Luca Cortese's Ascona talk and Toby Brown's MAUVE colloquium, then checking quantitative claims against the papers. Main paper versions, the September occupancy snapshot and the user-provided preliminary NGC4254 figure are explicitly distinguished. The main deck includes thirty-six slides timed to forty-five minutes; the six backups are for discussion.</a:t>
            </a:r>
          </a:p>
          <a:p>
            <a:endParaRPr/>
          </a:p>
          <a:p>
            <a:r>
              <a:t>OUTLINE DETAIL</a:t>
            </a:r>
          </a:p>
          <a:p>
            <a:r>
              <a:t>References and related MAUVE results</a:t>
            </a:r>
          </a:p>
          <a:p>
            <a:endParaRPr/>
          </a:p>
          <a:p>
            <a:r>
              <a:t>SOURCES</a:t>
            </a:r>
          </a:p>
          <a:p>
            <a:r>
              <a:t>Talk brief: https://chatgpt.com/c/6a9d3c52-9460-83ec-be1d-7023ec6a0ae4</a:t>
            </a:r>
          </a:p>
          <a:p>
            <a:r>
              <a:t>Catinella et al. 2025, The Messenger 195, 15. https://doi.org/10.18727/0722-6691/5393 | /Users/Igniz/Desktop/ICRAR/EAS2026/pdfs/Catinella2025.pdf</a:t>
            </a:r>
          </a:p>
          <a:p>
            <a:r>
              <a:t>Watts et al. 2024, MNRAS 530, 1968. https://academic.oup.com/mnras/article/530/2/1968/7642869 | /Users/Igniz/Desktop/ICRAR/EAS2026/pdfs/Watts2024.pdf</a:t>
            </a:r>
          </a:p>
          <a:p>
            <a:r>
              <a:t>Cortese et al. 2026. https://arxiv.org/abs/2602.01612 | /Users/Igniz/Desktop/ICRAR/EAS2026/pdfs/Cortese2026.pdf; EAS2026 original image34.png is Figure 5 top row.</a:t>
            </a:r>
          </a:p>
          <a:p>
            <a:r>
              <a:t>Attwater et al. 2026. https://arxiv.org/abs/2512.10574 | /Users/Igniz/Desktop/ICRAR/EAS2026/pdfs/Attwater2026.pdf; image35.png reused from EAS2026.</a:t>
            </a:r>
          </a:p>
          <a:p>
            <a:r>
              <a:t>Brown et al. 2026, ApJ 1004, 73. https://arxiv.org/abs/2604.20056 | /Users/Igniz/Desktop/ICRAR/EAS2026/pdfs/Brown2026.pdf; Figure 9 cropped from PDF page 13.</a:t>
            </a:r>
          </a:p>
          <a:p>
            <a:r>
              <a:t>Huang et al. 2026, MNRAS 549, 1019. https://arxiv.org/abs/2605.31412 | /Users/Igniz/Desktop/ICRAR/EAS2026/pdfs/Huang2026.pdf and /Users/Igniz/Desktop/ICRAR/MAUVE/MAUVE Rongjun Zgas-Sigma_SFR paper/main.tex. Figures are direct crops of the paper PDF, not older standalone versions.</a:t>
            </a:r>
          </a:p>
          <a:p>
            <a:r>
              <a:t>Existing analysis snapshot: /Users/Igniz/Desktop/ICRAR/further/20260905_stage_SF_fraction_analysis.md; assets: /Users/Igniz/Desktop/ICRAR/further/20260905_stage_SF_fraction_analysis_assets. No science pipeline recomputed for this presentation.</a:t>
            </a:r>
          </a:p>
          <a:p>
            <a:r>
              <a:t>Reservoir definitions: /Users/Igniz/Desktop/ICRAR/MAUVE/20260831_Molecular_Gas_Supply_Definitions_and_Observational_Inference.md</a:t>
            </a:r>
          </a:p>
          <a:p>
            <a:r>
              <a:t>MAUVE science justification: /Users/Igniz/Desktop/ICRAR/MAUVE/MAUVE_sci_just_compressed.pdf, pp. 2 and 5, especially Figure 1.</a:t>
            </a:r>
          </a:p>
          <a:p>
            <a:r>
              <a:t>Forbes et al. 2014, MNRAS 443, 168. https://doi.org/10.1093/mnras/stu1142; Wang &amp; Lilly 2021, ApJ 910, 137. https://doi.org/10.3847/1538-4357/abe413. Forbes et al. primarily model stochastic accretion and note parameter-scatter routes; Wang &amp; Lilly derive small-amplitude approximations and verify them numerically.</a:t>
            </a:r>
          </a:p>
          <a:p>
            <a:r>
              <a:t>User-provided preliminary NGC4254 metallicity-fluctuation figure supplied 10 September 2026. Snapshot copied to /private/tmp/yonsei_build/assets/NGC4254_metallicity_fluctuations_preliminary.jpg. Interpretation and provenance recorded in /Users/Igniz/Desktop/ICRAR/202609Korea/Yonsei_45min_talk_outline.md; no science pipeline recomputed for this presentation.</a:t>
            </a:r>
          </a:p>
          <a:p>
            <a:r>
              <a:t>Luca Cortese, MAUVE: Multiphase views of gas cycling and quenching in the Virgo cluster, Ascona 2026. /Users/Igniz/Desktop/ICRAR/202609Korea/cortese_ascona26.pdf, especially pages 11-20.</a:t>
            </a:r>
          </a:p>
          <a:p>
            <a:r>
              <a:t>Toby Brown, How does environment affect the ISM in Virgo Cluster galaxies?, MAUVE colloquium 2026. /Users/Igniz/Desktop/ICRAR/202609Korea/mauve-muse_colloquium.pdf, especially pages 12-26.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Budget 00:45; cumulative 03:30-04:15.</a:t>
            </a:r>
          </a:p>
          <a:p xmlns:a="http://schemas.openxmlformats.org/drawingml/2006/main">
            <a:r>
              <a:t/>
            </a:r>
          </a:p>
          <a:p xmlns:a="http://schemas.openxmlformats.org/drawingml/2006/main">
            <a:r>
              <a:t>SPEAKING NARRATIVE</a:t>
            </a:r>
          </a:p>
          <a:p xmlns:a="http://schemas.openxmlformats.org/drawingml/2006/main">
            <a:r>
              <a:t>Most galaxies live outside massive clusters, in environments ranging from isolated systems to groups. Clusters still matter because they expose gas cycling to external forces, including interaction with the hot intracluster gas and changes to the available gas supply. The approximate ten-percent figure is an illustrative model estimate for the present day, using cluster haloes above about 10^14 solar masses. It is not a universal observational census.</a:t>
            </a:r>
          </a:p>
          <a:p xmlns:a="http://schemas.openxmlformats.org/drawingml/2006/main">
            <a:r>
              <a:t/>
            </a:r>
          </a:p>
          <a:p xmlns:a="http://schemas.openxmlformats.org/drawingml/2006/main">
            <a:r>
              <a:t>Integrated surveys establish that environment changes gas content and star formation, but cannot tell us where the affected processes operate within the surviving disc. This motivates the three questions on the slide: where does star formation survive, how is the gas replenished, and when does enrichment dominate? The NGC4501 RGB image locates the discussion inside a real galaxy; it does not itself measure those processes.</a:t>
            </a:r>
          </a:p>
          <a:p xmlns:a="http://schemas.openxmlformats.org/drawingml/2006/main">
            <a:r>
              <a:t/>
            </a:r>
          </a:p>
          <a:p xmlns:a="http://schemas.openxmlformats.org/drawingml/2006/main">
            <a:r>
              <a:t>TRANSITION</a:t>
            </a:r>
          </a:p>
          <a:p xmlns:a="http://schemas.openxmlformats.org/drawingml/2006/main">
            <a:r>
              <a:t>Answering these questions requires resolved observations of cluster galaxies. The next slide identifies the remaining gap in physical scale and sample coverage.</a:t>
            </a:r>
          </a:p>
          <a:p xmlns:a="http://schemas.openxmlformats.org/drawingml/2006/main">
            <a:r>
              <a:t/>
            </a:r>
          </a:p>
          <a:p xmlns:a="http://schemas.openxmlformats.org/drawingml/2006/main">
            <a:r>
              <a:t>FRACTION CONTEXT</a:t>
            </a:r>
          </a:p>
          <a:p xmlns:a="http://schemas.openxmlformats.org/drawingml/2006/main">
            <a:r>
              <a:t>De Lucia et al. (2012), Figure 3 and the text immediately preceding section 3, obtain about 10% at z~0 in haloes with M200 &gt;~10^14 solar masses, using the Millennium semi-analytic model. Their tested stellar-mass cuts are approximately 10^9, 10^10 and 10^11 solar masses. Environmental fractions depend on the galaxy selection and classification.</a:t>
            </a:r>
          </a:p>
          <a:p xmlns:a="http://schemas.openxmlformats.org/drawingml/2006/main">
            <a:r>
              <a:t>Catalogue single-member groups are not equivalent to physical isolation: Kourkchi &amp; Tully (2017) report 7290 singles out of 15004 known galaxies (48.6%), while Yang et al. (2007) give different fractions with different sample definitions. Therefore the slide does not assert a universal &gt;50% isolated fraction.</a:t>
            </a:r>
          </a:p>
          <a:p xmlns:a="http://schemas.openxmlformats.org/drawingml/2006/main">
            <a:r>
              <a:t/>
            </a:r>
          </a:p>
          <a:p xmlns:a="http://schemas.openxmlformats.org/drawingml/2006/main">
            <a:r>
              <a:t>SOURCES</a:t>
            </a:r>
          </a:p>
          <a:p xmlns:a="http://schemas.openxmlformats.org/drawingml/2006/main">
            <a:r>
              <a:t>De Lucia et al. 2012, MNRAS 423, 1277, Figure 3: https://academic.oup.com/mnras/article/423/2/1277/961582; https://doi.org/10.1111/j.1365-2966.2012.20983.x.</a:t>
            </a:r>
          </a:p>
          <a:p xmlns:a="http://schemas.openxmlformats.org/drawingml/2006/main">
            <a:r>
              <a:t>Kourkchi &amp; Tully 2017, section 10: https://arxiv.org/abs/1705.08068.</a:t>
            </a:r>
          </a:p>
          <a:p xmlns:a="http://schemas.openxmlformats.org/drawingml/2006/main">
            <a:r>
              <a:t>Yang et al. 2007, Table 3: https://arxiv.org/abs/0707.4640.</a:t>
            </a:r>
          </a:p>
          <a:p xmlns:a="http://schemas.openxmlformats.org/drawingml/2006/main">
            <a:r>
              <a:t>Integrated environmental trends and the surviving-disc motivation: /Users/Igniz/Desktop/ICRAR/202609Korea/MAUVE_sci_just_compressed.pdf, page 2.</a:t>
            </a:r>
          </a:p>
          <a:p xmlns:a="http://schemas.openxmlformats.org/drawingml/2006/main">
            <a:r>
              <a:t>Image: /Users/Igniz/Desktop/ICRAR/v3tk_to_VRI/NGC4501_observed_VRI.png.</a:t>
            </a:r>
          </a:p>
          <a:p xmlns:a="http://schemas.openxmlformats.org/drawingml/2006/main">
            <a:r>
              <a:t>Visual/content reference supplied by the presenter: attached slide titled Environment changes the local gas cycle.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Type="http://schemas.openxmlformats.org/officeDocument/2006/relationships/slideLayout" Target="../slideLayouts/slideLayout1.xml" Id="R186a3dba1e604c34"/><Relationship Type="http://schemas.openxmlformats.org/officeDocument/2006/relationships/image" Target="../media/yonsei_slide37_result1.png" Id="R8c24defc98164172"/><Relationship Type="http://schemas.openxmlformats.org/officeDocument/2006/relationships/image" Target="../media/yonsei_slide37_result2.png" Id="R91ba25c858bc4be2"/><Relationship Type="http://schemas.openxmlformats.org/officeDocument/2006/relationships/image" Target="../media/yonsei_slide37_result3.png" Id="R40b6e40e1db6454f"/><Relationship Type="http://schemas.openxmlformats.org/officeDocument/2006/relationships/notesSlide" Target="../notesSlides/notesSlide36.xml" Id="R46dac5f84d9042d0"/></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Type="http://schemas.openxmlformats.org/officeDocument/2006/relationships/slideLayout" Target="../slideLayouts/slideLayout1.xml" Id="Rfe269b1dc2f54c0e"/><Relationship Type="http://schemas.openxmlformats.org/officeDocument/2006/relationships/image" Target="../media/yonsei_environment_NGC4501.png" Id="R19b42e97db564b0b"/><Relationship Type="http://schemas.openxmlformats.org/officeDocument/2006/relationships/notesSlide" Target="../notesSlides/notesSlide43.xml" Id="R3a9f4dddd33e431d"/></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A066B3-71DA-42D6-A26C-D9055F70C72B}"/>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C8AAC6"/>
                </a:solidFill>
                <a:latin typeface="Arial"/>
                <a:ea typeface="Arial"/>
                <a:cs typeface="Arial"/>
              </a:defRPr>
            </a:pPr>
            <a:r>
              <a:rPr sz="1125" b="1">
                <a:solidFill>
                  <a:srgbClr val="C8AAC6"/>
                </a:solidFill>
                <a:latin typeface="Arial"/>
                <a:ea typeface="Arial"/>
                <a:cs typeface="Arial"/>
              </a:rPr>
              <a:t>CGER GALAXY FORUM / 22 SEPTEMBER 2026</a:t>
            </a:r>
          </a:p>
        </p:txBody>
      </p:sp>
      <p:sp>
        <p:nvSpPr>
          <p:cNvPr id="2" name="Rectangle 1">
            <a:extLst>
              <a:ext uri="{FF2B5EF4-FFF2-40B4-BE49-F238E27FC236}">
                <a16:creationId xmlns:a16="http://schemas.microsoft.com/office/drawing/2014/main" id="{9C57A934-11E8-4ED3-A2D4-4673BCDD3CB0}"/>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endParaRPr/>
          </a:p>
        </p:txBody>
      </p:sp>
      <p:sp>
        <p:nvSpPr>
          <p:cNvPr id="3" name="Rectangle 2">
            <a:extLst>
              <a:ext uri="{FF2B5EF4-FFF2-40B4-BE49-F238E27FC236}">
                <a16:creationId xmlns:a16="http://schemas.microsoft.com/office/drawing/2014/main" id="{D78EED05-BB5C-48D6-8E52-DFA3C11A3063}"/>
              </a:ext>
            </a:extLst>
          </p:cNvPr>
          <p:cNvSpPr>
            <a:spLocks noGrp="1"/>
          </p:cNvSpPr>
          <p:nvPr/>
        </p:nvSpPr>
        <p:spPr>
          <a:xfrm>
            <a:off x="533400" y="6419850"/>
            <a:ext cx="11125200" cy="9525"/>
          </a:xfrm>
          <a:prstGeom prst="rect">
            <a:avLst/>
          </a:prstGeom>
          <a:solidFill>
            <a:srgbClr val="44606F"/>
          </a:solidFill>
          <a:ln w="0">
            <a:noFill/>
          </a:ln>
        </p:spPr>
        <p:txBody>
          <a:bodyPr/>
          <a:lstStyle/>
          <a:p>
            <a:endParaRPr lang="en-US"/>
          </a:p>
        </p:txBody>
      </p:sp>
      <p:sp>
        <p:nvSpPr>
          <p:cNvPr id="4" name="Rectangle 3">
            <a:extLst>
              <a:ext uri="{FF2B5EF4-FFF2-40B4-BE49-F238E27FC236}">
                <a16:creationId xmlns:a16="http://schemas.microsoft.com/office/drawing/2014/main" id="{BCA886A4-DD65-415F-9167-ED265B3717AF}"/>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C8D3D8"/>
                </a:solidFill>
                <a:latin typeface="Arial"/>
                <a:ea typeface="Arial"/>
                <a:cs typeface="Arial"/>
              </a:defRPr>
            </a:pPr>
            <a:r>
              <a:rPr sz="975" b="0">
                <a:solidFill>
                  <a:srgbClr val="C8D3D8"/>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0A867646-A142-4C2C-B017-30451A240E90}"/>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C8D3D8"/>
                </a:solidFill>
                <a:latin typeface="Arial"/>
                <a:ea typeface="Arial"/>
                <a:cs typeface="Arial"/>
              </a:defRPr>
            </a:pPr>
            <a:r>
              <a:rPr sz="1200" b="0">
                <a:solidFill>
                  <a:srgbClr val="C8D3D8"/>
                </a:solidFill>
                <a:latin typeface="Arial"/>
                <a:ea typeface="Arial"/>
                <a:cs typeface="Arial"/>
              </a:rPr>
              <a:t>1</a:t>
            </a:r>
          </a:p>
        </p:txBody>
      </p:sp>
      <p:pic>
        <p:nvPicPr>
          <p:cNvPr id="18" name="Picture 17"/>
          <p:cNvPicPr>
            <a:picLocks noChangeAspect="1"/>
          </p:cNvPicPr>
          <p:nvPr/>
        </p:nvPicPr>
        <p:blipFill>
          <a:blip r:embed="rId3"/>
          <a:stretch/>
        </p:blipFill>
        <p:spPr>
          <a:xfrm>
            <a:off x="6953250" y="767889"/>
            <a:ext cx="5095875" cy="5226972"/>
          </a:xfrm>
          <a:prstGeom prst="rect">
            <a:avLst/>
          </a:prstGeom>
        </p:spPr>
      </p:pic>
      <p:sp>
        <p:nvSpPr>
          <p:cNvPr id="7" name="Rectangle 6">
            <a:extLst>
              <a:ext uri="{FF2B5EF4-FFF2-40B4-BE49-F238E27FC236}">
                <a16:creationId xmlns:a16="http://schemas.microsoft.com/office/drawing/2014/main" id="{4ACA76A5-14F3-45B4-884F-688C17E11EB4}"/>
              </a:ext>
            </a:extLst>
          </p:cNvPr>
          <p:cNvSpPr>
            <a:spLocks noGrp="1"/>
          </p:cNvSpPr>
          <p:nvPr/>
        </p:nvSpPr>
        <p:spPr>
          <a:xfrm>
            <a:off x="533400" y="990600"/>
            <a:ext cx="6953250" cy="685800"/>
          </a:xfrm>
          <a:prstGeom prst="rect">
            <a:avLst/>
          </a:prstGeom>
          <a:noFill/>
          <a:ln w="0">
            <a:noFill/>
          </a:ln>
        </p:spPr>
        <p:txBody>
          <a:bodyPr wrap="square" lIns="0" tIns="0" rIns="0" bIns="0" anchor="t">
            <a:noAutofit/>
          </a:bodyPr>
          <a:lstStyle/>
          <a:p>
            <a:pPr algn="l">
              <a:defRPr sz="4200" b="1">
                <a:solidFill>
                  <a:srgbClr val="FFFFFF"/>
                </a:solidFill>
                <a:latin typeface="Arial"/>
                <a:ea typeface="Arial"/>
                <a:cs typeface="Arial"/>
              </a:defRPr>
            </a:pPr>
            <a:r>
              <a:rPr sz="4200" b="1">
                <a:solidFill>
                  <a:srgbClr val="FFFFFF"/>
                </a:solidFill>
                <a:latin typeface="Arial"/>
                <a:ea typeface="Arial"/>
                <a:cs typeface="Arial"/>
              </a:rPr>
              <a:t>MAUVE-MUSE:</a:t>
            </a:r>
          </a:p>
        </p:txBody>
      </p:sp>
      <p:sp>
        <p:nvSpPr>
          <p:cNvPr id="8" name="Rectangle 7">
            <a:extLst>
              <a:ext uri="{FF2B5EF4-FFF2-40B4-BE49-F238E27FC236}">
                <a16:creationId xmlns:a16="http://schemas.microsoft.com/office/drawing/2014/main" id="{EFAA3D90-D706-4647-8875-B03D50EF4F96}"/>
              </a:ext>
            </a:extLst>
          </p:cNvPr>
          <p:cNvSpPr>
            <a:spLocks noGrp="1"/>
          </p:cNvSpPr>
          <p:nvPr/>
        </p:nvSpPr>
        <p:spPr>
          <a:xfrm>
            <a:off x="533400" y="1847850"/>
            <a:ext cx="7048500" cy="2000250"/>
          </a:xfrm>
          <a:prstGeom prst="rect">
            <a:avLst/>
          </a:prstGeom>
          <a:noFill/>
          <a:ln w="0">
            <a:noFill/>
          </a:ln>
        </p:spPr>
        <p:txBody>
          <a:bodyPr wrap="square" lIns="0" tIns="0" rIns="0" bIns="0" anchor="t">
            <a:no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A Resolved View of Star Formation,</a:t>
            </a:r>
          </a:p>
          <a:p>
            <a:pPr algn="l">
              <a:defRPr sz="2850" b="1">
                <a:solidFill>
                  <a:srgbClr val="FFFFFF"/>
                </a:solidFill>
                <a:latin typeface="Arial"/>
                <a:ea typeface="Arial"/>
                <a:cs typeface="Arial"/>
              </a:defRPr>
            </a:pPr>
            <a:r>
              <a:rPr sz="2850" b="1">
                <a:solidFill>
                  <a:srgbClr val="FFFFFF"/>
                </a:solidFill>
                <a:latin typeface="Arial"/>
                <a:ea typeface="Arial"/>
                <a:cs typeface="Arial"/>
              </a:rPr>
              <a:t>Gas Cycling, and Chemical Enrichment</a:t>
            </a:r>
          </a:p>
          <a:p>
            <a:pPr algn="l">
              <a:defRPr sz="2850" b="1">
                <a:solidFill>
                  <a:srgbClr val="FFFFFF"/>
                </a:solidFill>
                <a:latin typeface="Arial"/>
                <a:ea typeface="Arial"/>
                <a:cs typeface="Arial"/>
              </a:defRPr>
            </a:pPr>
            <a:r>
              <a:rPr sz="2850" b="1">
                <a:solidFill>
                  <a:srgbClr val="FFFFFF"/>
                </a:solidFill>
                <a:latin typeface="Arial"/>
                <a:ea typeface="Arial"/>
                <a:cs typeface="Arial"/>
              </a:rPr>
              <a:t>in Virgo Cluster Galaxies</a:t>
            </a:r>
          </a:p>
        </p:txBody>
      </p:sp>
      <p:sp>
        <p:nvSpPr>
          <p:cNvPr id="9" name="Rectangle 8">
            <a:extLst>
              <a:ext uri="{FF2B5EF4-FFF2-40B4-BE49-F238E27FC236}">
                <a16:creationId xmlns:a16="http://schemas.microsoft.com/office/drawing/2014/main" id="{23267ECC-4586-41D0-9F4F-4EC0A5258F1B}"/>
              </a:ext>
            </a:extLst>
          </p:cNvPr>
          <p:cNvSpPr>
            <a:spLocks noGrp="1"/>
          </p:cNvSpPr>
          <p:nvPr/>
        </p:nvSpPr>
        <p:spPr>
          <a:xfrm>
            <a:off x="533400" y="4476750"/>
            <a:ext cx="6191250" cy="495300"/>
          </a:xfrm>
          <a:prstGeom prst="rect">
            <a:avLst/>
          </a:prstGeom>
          <a:noFill/>
          <a:ln w="0">
            <a:noFill/>
          </a:ln>
        </p:spPr>
        <p:txBody>
          <a:bodyPr wrap="square" lIns="0" tIns="0" rIns="0" bIns="0" anchor="t">
            <a:noAutofit/>
          </a:bodyPr>
          <a:lstStyle/>
          <a:p>
            <a:pPr algn="l">
              <a:defRPr sz="2550" b="1">
                <a:solidFill>
                  <a:srgbClr val="FFFFFF"/>
                </a:solidFill>
                <a:latin typeface="Arial"/>
                <a:ea typeface="Arial"/>
                <a:cs typeface="Arial"/>
              </a:defRPr>
            </a:pPr>
            <a:r>
              <a:rPr sz="2550" b="1">
                <a:solidFill>
                  <a:srgbClr val="FFFFFF"/>
                </a:solidFill>
                <a:latin typeface="Arial"/>
                <a:ea typeface="Arial"/>
                <a:cs typeface="Arial"/>
              </a:rPr>
              <a:t>Rongjun Huang</a:t>
            </a:r>
          </a:p>
        </p:txBody>
      </p:sp>
      <p:sp>
        <p:nvSpPr>
          <p:cNvPr id="10" name="Rectangle 9">
            <a:extLst>
              <a:ext uri="{FF2B5EF4-FFF2-40B4-BE49-F238E27FC236}">
                <a16:creationId xmlns:a16="http://schemas.microsoft.com/office/drawing/2014/main" id="{E80074BF-D867-4517-A36D-25161C7C44C8}"/>
              </a:ext>
            </a:extLst>
          </p:cNvPr>
          <p:cNvSpPr>
            <a:spLocks noGrp="1"/>
          </p:cNvSpPr>
          <p:nvPr/>
        </p:nvSpPr>
        <p:spPr>
          <a:xfrm>
            <a:off x="533400" y="4981575"/>
            <a:ext cx="6429375" cy="371475"/>
          </a:xfrm>
          <a:prstGeom prst="rect">
            <a:avLst/>
          </a:prstGeom>
          <a:noFill/>
          <a:ln w="0">
            <a:noFill/>
          </a:ln>
        </p:spPr>
        <p:txBody>
          <a:bodyPr wrap="square" lIns="0" tIns="0" rIns="0" bIns="0" anchor="t">
            <a:noAutofit/>
          </a:bodyPr>
          <a:lstStyle/>
          <a:p>
            <a:pPr algn="l">
              <a:defRPr sz="1725" b="0">
                <a:solidFill>
                  <a:srgbClr val="D7CDD9"/>
                </a:solidFill>
                <a:latin typeface="Arial"/>
                <a:ea typeface="Arial"/>
                <a:cs typeface="Arial"/>
              </a:defRPr>
            </a:pPr>
            <a:r>
              <a:rPr sz="1725" b="0">
                <a:solidFill>
                  <a:srgbClr val="D7CDD9"/>
                </a:solidFill>
                <a:latin typeface="Arial"/>
                <a:ea typeface="Arial"/>
                <a:cs typeface="Arial"/>
              </a:rPr>
              <a:t>ICRAR / The University of Western Australia</a:t>
            </a:r>
          </a:p>
        </p:txBody>
      </p:sp>
      <p:sp>
        <p:nvSpPr>
          <p:cNvPr id="11" name="Rectangle 10">
            <a:extLst>
              <a:ext uri="{FF2B5EF4-FFF2-40B4-BE49-F238E27FC236}">
                <a16:creationId xmlns:a16="http://schemas.microsoft.com/office/drawing/2014/main" id="{10C4EF1A-406B-4949-82BC-6AAF592E04CB}"/>
              </a:ext>
            </a:extLst>
          </p:cNvPr>
          <p:cNvSpPr>
            <a:spLocks noGrp="1"/>
          </p:cNvSpPr>
          <p:nvPr/>
        </p:nvSpPr>
        <p:spPr>
          <a:xfrm>
            <a:off x="533400" y="5514975"/>
            <a:ext cx="6477000" cy="381000"/>
          </a:xfrm>
          <a:prstGeom prst="rect">
            <a:avLst/>
          </a:prstGeom>
          <a:noFill/>
          <a:ln w="0">
            <a:noFill/>
          </a:ln>
        </p:spPr>
        <p:txBody>
          <a:bodyPr wrap="square" lIns="0" tIns="0" rIns="0" bIns="0" anchor="t">
            <a:noAutofit/>
          </a:bodyPr>
          <a:lstStyle/>
          <a:p>
            <a:pPr algn="l">
              <a:defRPr sz="1875" b="0">
                <a:solidFill>
                  <a:srgbClr val="D7CDD9"/>
                </a:solidFill>
                <a:latin typeface="Arial"/>
                <a:ea typeface="Arial"/>
                <a:cs typeface="Arial"/>
              </a:defRPr>
            </a:pPr>
            <a:r>
              <a:rPr sz="1875" b="0">
                <a:solidFill>
                  <a:srgbClr val="D7CDD9"/>
                </a:solidFill>
                <a:latin typeface="Arial"/>
                <a:ea typeface="Arial"/>
                <a:cs typeface="Arial"/>
              </a:rPr>
              <a:t>Yonsei University  ·  22 September 2026</a:t>
            </a:r>
          </a:p>
        </p:txBody>
      </p:sp>
      <p:sp>
        <p:nvSpPr>
          <p:cNvPr id="12" name="Rectangle 11">
            <a:extLst>
              <a:ext uri="{FF2B5EF4-FFF2-40B4-BE49-F238E27FC236}">
                <a16:creationId xmlns:a16="http://schemas.microsoft.com/office/drawing/2014/main" id="{AB701B31-565A-4BE1-AC07-DEE7FB398824}"/>
              </a:ext>
            </a:extLst>
          </p:cNvPr>
          <p:cNvSpPr>
            <a:spLocks noGrp="1"/>
          </p:cNvSpPr>
          <p:nvPr/>
        </p:nvSpPr>
        <p:spPr>
          <a:xfrm>
            <a:off x="9096375" y="6057900"/>
            <a:ext cx="2571750" cy="247650"/>
          </a:xfrm>
          <a:prstGeom prst="rect">
            <a:avLst/>
          </a:prstGeom>
          <a:noFill/>
          <a:ln w="0">
            <a:noFill/>
          </a:ln>
        </p:spPr>
        <p:txBody>
          <a:bodyPr wrap="square" lIns="0" tIns="0" rIns="0" bIns="0" anchor="t">
            <a:noAutofit/>
          </a:bodyPr>
          <a:lstStyle/>
          <a:p>
            <a:pPr algn="r">
              <a:defRPr sz="1200" b="0">
                <a:solidFill>
                  <a:srgbClr val="C8D3D8"/>
                </a:solidFill>
                <a:latin typeface="Arial"/>
                <a:ea typeface="Arial"/>
                <a:cs typeface="Arial"/>
              </a:defRPr>
            </a:pPr>
            <a:r>
              <a:rPr sz="1200" b="0">
                <a:solidFill>
                  <a:srgbClr val="C8D3D8"/>
                </a:solidFill>
                <a:latin typeface="Arial"/>
                <a:ea typeface="Arial"/>
                <a:cs typeface="Arial"/>
              </a:rPr>
              <a:t>NGC4501 / MUSE RGB</a:t>
            </a:r>
          </a:p>
        </p:txBody>
      </p:sp>
    </p:spTree>
    <p:extLst>
      <p:ext uri="{BB962C8B-B14F-4D97-AF65-F5344CB8AC3E}">
        <p14:creationId xmlns:p14="http://schemas.microsoft.com/office/powerpoint/2010/main" val="741362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FED8141-B5AC-4598-9A0D-DE2771926714}"/>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THE PHYSICAL FRAMEWORK</a:t>
            </a:r>
          </a:p>
        </p:txBody>
      </p:sp>
      <p:sp>
        <p:nvSpPr>
          <p:cNvPr id="2" name="Rectangle 1">
            <a:extLst>
              <a:ext uri="{FF2B5EF4-FFF2-40B4-BE49-F238E27FC236}">
                <a16:creationId xmlns:a16="http://schemas.microsoft.com/office/drawing/2014/main" id="{AD0A527B-3BFC-444E-A01A-621A67B66239}"/>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Galaxy evolution is regulated by the baryon cycle</a:t>
            </a:r>
          </a:p>
        </p:txBody>
      </p:sp>
      <p:sp>
        <p:nvSpPr>
          <p:cNvPr id="3" name="Rectangle 2">
            <a:extLst>
              <a:ext uri="{FF2B5EF4-FFF2-40B4-BE49-F238E27FC236}">
                <a16:creationId xmlns:a16="http://schemas.microsoft.com/office/drawing/2014/main" id="{49B73709-2B8C-4901-8B5A-B6A1A3FC7400}"/>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AACECFFE-C4C7-4AFD-8320-C47C5B7551B4}"/>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D485B7FA-9403-4104-B145-B8BC246EFD4A}"/>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2</a:t>
            </a:r>
          </a:p>
        </p:txBody>
      </p:sp>
      <p:pic>
        <p:nvPicPr>
          <p:cNvPr id="15" name="Picture 14"/>
          <p:cNvPicPr>
            <a:picLocks noChangeAspect="1"/>
          </p:cNvPicPr>
          <p:nvPr/>
        </p:nvPicPr>
        <p:blipFill>
          <a:blip r:embed="rId3"/>
          <a:stretch/>
        </p:blipFill>
        <p:spPr>
          <a:xfrm>
            <a:off x="1107281" y="1647825"/>
            <a:ext cx="6186488" cy="4124325"/>
          </a:xfrm>
          <a:prstGeom prst="rect">
            <a:avLst/>
          </a:prstGeom>
        </p:spPr>
      </p:pic>
      <p:sp>
        <p:nvSpPr>
          <p:cNvPr id="7" name="Rectangle 6">
            <a:extLst>
              <a:ext uri="{FF2B5EF4-FFF2-40B4-BE49-F238E27FC236}">
                <a16:creationId xmlns:a16="http://schemas.microsoft.com/office/drawing/2014/main" id="{5975CA67-A3B7-48A3-A2E2-E2346AB4F1B7}"/>
              </a:ext>
            </a:extLst>
          </p:cNvPr>
          <p:cNvSpPr>
            <a:spLocks noGrp="1"/>
          </p:cNvSpPr>
          <p:nvPr/>
        </p:nvSpPr>
        <p:spPr>
          <a:xfrm>
            <a:off x="8305800" y="1752600"/>
            <a:ext cx="3190875" cy="742950"/>
          </a:xfrm>
          <a:prstGeom prst="rect">
            <a:avLst/>
          </a:prstGeom>
          <a:noFill/>
          <a:ln w="0">
            <a:noFill/>
          </a:ln>
        </p:spPr>
        <p:txBody>
          <a:bodyPr wrap="square" lIns="0" tIns="0" rIns="0" bIns="0" anchor="t">
            <a:noAutofit/>
          </a:bodyPr>
          <a:lstStyle/>
          <a:p>
            <a:pPr algn="l">
              <a:defRPr sz="2325" b="1">
                <a:solidFill>
                  <a:srgbClr val="182934"/>
                </a:solidFill>
                <a:latin typeface="Arial"/>
                <a:ea typeface="Arial"/>
                <a:cs typeface="Arial"/>
              </a:defRPr>
            </a:pPr>
            <a:r>
              <a:rPr sz="2325" b="1">
                <a:solidFill>
                  <a:srgbClr val="182934"/>
                </a:solidFill>
                <a:latin typeface="Arial"/>
                <a:ea typeface="Arial"/>
                <a:cs typeface="Arial"/>
              </a:rPr>
              <a:t>A coupled flow of gas and metals</a:t>
            </a:r>
          </a:p>
        </p:txBody>
      </p:sp>
      <p:sp>
        <p:nvSpPr>
          <p:cNvPr id="8" name="Rectangle 7">
            <a:extLst>
              <a:ext uri="{FF2B5EF4-FFF2-40B4-BE49-F238E27FC236}">
                <a16:creationId xmlns:a16="http://schemas.microsoft.com/office/drawing/2014/main" id="{54A69831-C97F-40BB-8BBF-370EBBFBDF17}"/>
              </a:ext>
            </a:extLst>
          </p:cNvPr>
          <p:cNvSpPr>
            <a:spLocks noGrp="1"/>
          </p:cNvSpPr>
          <p:nvPr/>
        </p:nvSpPr>
        <p:spPr>
          <a:xfrm>
            <a:off x="8305800" y="2828925"/>
            <a:ext cx="3190875" cy="2371725"/>
          </a:xfrm>
          <a:prstGeom prst="rect">
            <a:avLst/>
          </a:prstGeom>
          <a:noFill/>
          <a:ln w="0">
            <a:noFill/>
          </a:ln>
        </p:spPr>
        <p:txBody>
          <a:bodyPr wrap="square" lIns="0" tIns="0" rIns="0" bIns="0" anchor="t">
            <a:noAutofit/>
          </a:bodyPr>
          <a:lstStyle/>
          <a:p>
            <a:pPr algn="l">
              <a:defRPr sz="1875" b="0">
                <a:solidFill>
                  <a:srgbClr val="182934"/>
                </a:solidFill>
                <a:latin typeface="Arial"/>
                <a:ea typeface="Arial"/>
                <a:cs typeface="Arial"/>
              </a:defRPr>
            </a:pPr>
            <a:r>
              <a:rPr sz="1875" b="0">
                <a:solidFill>
                  <a:srgbClr val="182934"/>
                </a:solidFill>
                <a:latin typeface="Arial"/>
                <a:ea typeface="Arial"/>
                <a:cs typeface="Arial"/>
              </a:rPr>
              <a:t>Gas enters from the halo and feeds the ISM.</a:t>
            </a:r>
          </a:p>
          <a:p>
            <a:endParaRPr sz="1875" b="0">
              <a:solidFill>
                <a:srgbClr val="182934"/>
              </a:solidFill>
              <a:latin typeface="Arial"/>
              <a:ea typeface="Arial"/>
              <a:cs typeface="Arial"/>
            </a:endParaRPr>
          </a:p>
          <a:p>
            <a:pPr algn="l">
              <a:defRPr sz="1875" b="0">
                <a:solidFill>
                  <a:srgbClr val="182934"/>
                </a:solidFill>
                <a:latin typeface="Arial"/>
                <a:ea typeface="Arial"/>
                <a:cs typeface="Arial"/>
              </a:defRPr>
            </a:pPr>
            <a:r>
              <a:rPr sz="1875" b="0">
                <a:solidFill>
                  <a:srgbClr val="182934"/>
                </a:solidFill>
                <a:latin typeface="Arial"/>
                <a:ea typeface="Arial"/>
                <a:cs typeface="Arial"/>
              </a:rPr>
              <a:t>Dense gas forms stars and becomes enriched.</a:t>
            </a:r>
          </a:p>
          <a:p>
            <a:endParaRPr sz="1875" b="0">
              <a:solidFill>
                <a:srgbClr val="182934"/>
              </a:solidFill>
              <a:latin typeface="Arial"/>
              <a:ea typeface="Arial"/>
              <a:cs typeface="Arial"/>
            </a:endParaRPr>
          </a:p>
          <a:p>
            <a:pPr algn="l">
              <a:defRPr sz="1875" b="0">
                <a:solidFill>
                  <a:srgbClr val="182934"/>
                </a:solidFill>
                <a:latin typeface="Arial"/>
                <a:ea typeface="Arial"/>
                <a:cs typeface="Arial"/>
              </a:defRPr>
            </a:pPr>
            <a:r>
              <a:rPr sz="1875" b="0">
                <a:solidFill>
                  <a:srgbClr val="182934"/>
                </a:solidFill>
                <a:latin typeface="Arial"/>
                <a:ea typeface="Arial"/>
                <a:cs typeface="Arial"/>
              </a:rPr>
              <a:t>Feedback removes, redistributes and recycles material.</a:t>
            </a:r>
          </a:p>
        </p:txBody>
      </p:sp>
      <p:sp>
        <p:nvSpPr>
          <p:cNvPr id="9" name="Rectangle 8">
            <a:extLst>
              <a:ext uri="{FF2B5EF4-FFF2-40B4-BE49-F238E27FC236}">
                <a16:creationId xmlns:a16="http://schemas.microsoft.com/office/drawing/2014/main" id="{F65AA6D9-5EC6-4E80-8104-9975048B5B85}"/>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Conceptual baryon-cycle artwork from the current Yonsei talk material.</a:t>
            </a:r>
          </a:p>
        </p:txBody>
      </p:sp>
    </p:spTree>
    <p:extLst>
      <p:ext uri="{BB962C8B-B14F-4D97-AF65-F5344CB8AC3E}">
        <p14:creationId xmlns:p14="http://schemas.microsoft.com/office/powerpoint/2010/main" val="99255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0066E79-65D8-4D8E-9777-F5E2587E8C31}"/>
              </a:ext>
            </a:extLst>
          </p:cNvPr>
          <p:cNvSpPr>
            <a:spLocks noGrp="1"/>
          </p:cNvSpPr>
          <p:nvPr/>
        </p:nvSpPr>
        <p:spPr>
          <a:xfrm>
            <a:off x="533400" y="266700"/>
            <a:ext cx="11001375" cy="228600"/>
          </a:xfrm>
          <a:prstGeom prst="rect">
            <a:avLst/>
          </a:prstGeom>
          <a:noFill/>
          <a:ln w="0">
            <a:noFill/>
          </a:ln>
        </p:spPr>
        <p:txBody>
          <a:bodyPr lIns="0" tIns="0" rIns="0" bIns="0" anchor="t">
            <a:noAutofit/>
          </a:bodyPr>
          <a:lstStyle/>
          <a:p>
            <a:pPr algn="l">
              <a:buNone/>
              <a:defRPr sz="1125" b="1">
                <a:solidFill>
                  <a:srgbClr val="85457F"/>
                </a:solidFill>
                <a:latin typeface="Arial"/>
                <a:ea typeface="Arial"/>
                <a:cs typeface="Arial"/>
              </a:defRPr>
            </a:pPr>
            <a:r>
              <a:rPr sz="1125" b="1">
                <a:solidFill>
                  <a:srgbClr val="85457F"/>
                </a:solidFill>
                <a:latin typeface="Arial"/>
                <a:ea typeface="Arial"/>
                <a:cs typeface="Arial"/>
              </a:rPr>
              <a:t>RESOLVED GALAXY SURVEYS</a:t>
            </a:r>
          </a:p>
        </p:txBody>
      </p:sp>
      <p:sp>
        <p:nvSpPr>
          <p:cNvPr id="2" name="Rectangle 1">
            <a:extLst>
              <a:ext uri="{FF2B5EF4-FFF2-40B4-BE49-F238E27FC236}">
                <a16:creationId xmlns:a16="http://schemas.microsoft.com/office/drawing/2014/main" id="{607348E7-1E2A-4F1B-A3B2-EE392D1B76F3}"/>
              </a:ext>
            </a:extLst>
          </p:cNvPr>
          <p:cNvSpPr>
            <a:spLocks noGrp="1"/>
          </p:cNvSpPr>
          <p:nvPr/>
        </p:nvSpPr>
        <p:spPr>
          <a:xfrm>
            <a:off x="533400" y="676275"/>
            <a:ext cx="11125200" cy="685800"/>
          </a:xfrm>
          <a:prstGeom prst="rect">
            <a:avLst/>
          </a:prstGeom>
          <a:noFill/>
          <a:ln w="0">
            <a:noFill/>
          </a:ln>
        </p:spPr>
        <p:txBody>
          <a:bodyPr lIns="0" tIns="0" rIns="0" bIns="0" anchor="t">
            <a:noAutofit/>
          </a:bodyPr>
          <a:lstStyle/>
          <a:p>
            <a:pPr algn="l">
              <a:buNone/>
              <a:defRPr sz="2850" b="1">
                <a:solidFill>
                  <a:srgbClr val="182934"/>
                </a:solidFill>
                <a:latin typeface="Arial"/>
                <a:ea typeface="Arial"/>
                <a:cs typeface="Arial"/>
              </a:defRPr>
            </a:pPr>
            <a:r>
              <a:rPr sz="2850" b="1">
                <a:solidFill>
                  <a:srgbClr val="182934"/>
                </a:solidFill>
                <a:latin typeface="Arial"/>
                <a:ea typeface="Arial"/>
                <a:cs typeface="Arial"/>
              </a:rPr>
              <a:t>From global averages to local physics</a:t>
            </a:r>
          </a:p>
        </p:txBody>
      </p:sp>
      <p:sp>
        <p:nvSpPr>
          <p:cNvPr id="3" name="Rectangle 2">
            <a:extLst>
              <a:ext uri="{FF2B5EF4-FFF2-40B4-BE49-F238E27FC236}">
                <a16:creationId xmlns:a16="http://schemas.microsoft.com/office/drawing/2014/main" id="{66AD7A7D-ED15-409B-B0A6-CC9AFD77426C}"/>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26E60A7E-37C9-4D60-8583-429E42EF6C01}"/>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44E539F6-401B-4C97-A886-45DBED368F59}"/>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3</a:t>
            </a:r>
          </a:p>
        </p:txBody>
      </p:sp>
      <p:pic>
        <p:nvPicPr>
          <p:cNvPr id="26" name="Picture 25"/>
          <p:cNvPicPr>
            <a:picLocks noChangeAspect="1"/>
          </p:cNvPicPr>
          <p:nvPr/>
        </p:nvPicPr>
        <p:blipFill>
          <a:blip r:embed="rId3"/>
          <a:stretch/>
        </p:blipFill>
        <p:spPr>
          <a:xfrm>
            <a:off x="533400" y="2247900"/>
            <a:ext cx="4667250" cy="3761613"/>
          </a:xfrm>
          <a:prstGeom prst="rect">
            <a:avLst/>
          </a:prstGeom>
        </p:spPr>
      </p:pic>
      <p:sp>
        <p:nvSpPr>
          <p:cNvPr id="7" name="Rectangle 6">
            <a:extLst>
              <a:ext uri="{FF2B5EF4-FFF2-40B4-BE49-F238E27FC236}">
                <a16:creationId xmlns:a16="http://schemas.microsoft.com/office/drawing/2014/main" id="{8D2D49A0-AB71-41E5-9FFE-6B4C693EBA2D}"/>
              </a:ext>
            </a:extLst>
          </p:cNvPr>
          <p:cNvSpPr>
            <a:spLocks noGrp="1"/>
          </p:cNvSpPr>
          <p:nvPr/>
        </p:nvSpPr>
        <p:spPr>
          <a:xfrm>
            <a:off x="533400" y="1409700"/>
            <a:ext cx="10953750" cy="628650"/>
          </a:xfrm>
          <a:prstGeom prst="rect">
            <a:avLst/>
          </a:prstGeom>
          <a:noFill/>
          <a:ln w="0">
            <a:noFill/>
          </a:ln>
        </p:spPr>
        <p:txBody>
          <a:bodyPr lIns="0" tIns="0" rIns="0" bIns="0" anchor="t">
            <a:noAutofit/>
          </a:bodyPr>
          <a:lstStyle/>
          <a:p>
            <a:pPr algn="l">
              <a:buNone/>
              <a:defRPr sz="1800" b="0">
                <a:solidFill>
                  <a:srgbClr val="182934"/>
                </a:solidFill>
                <a:latin typeface="Arial"/>
                <a:ea typeface="Arial"/>
                <a:cs typeface="Arial"/>
              </a:defRPr>
            </a:pPr>
            <a:r>
              <a:rPr sz="1800" b="0">
                <a:solidFill>
                  <a:srgbClr val="182934"/>
                </a:solidFill>
                <a:latin typeface="Arial"/>
                <a:ea typeface="Arial"/>
                <a:cs typeface="Arial"/>
              </a:rPr>
              <a:t>Integral-field spectroscopy maps star formation, chemistry and kinematics within galaxies.</a:t>
            </a:r>
          </a:p>
        </p:txBody>
      </p:sp>
      <p:sp>
        <p:nvSpPr>
          <p:cNvPr id="8" name="Rectangle 7">
            <a:extLst>
              <a:ext uri="{FF2B5EF4-FFF2-40B4-BE49-F238E27FC236}">
                <a16:creationId xmlns:a16="http://schemas.microsoft.com/office/drawing/2014/main" id="{57A85576-1C5D-4BB1-A1DF-E75D5D5ABCA3}"/>
              </a:ext>
            </a:extLst>
          </p:cNvPr>
          <p:cNvSpPr>
            <a:spLocks noGrp="1"/>
          </p:cNvSpPr>
          <p:nvPr/>
        </p:nvSpPr>
        <p:spPr>
          <a:xfrm>
            <a:off x="7362825" y="2781300"/>
            <a:ext cx="1933575" cy="914400"/>
          </a:xfrm>
          <a:prstGeom prst="rect">
            <a:avLst/>
          </a:prstGeom>
          <a:noFill/>
          <a:ln w="0">
            <a:noFill/>
          </a:ln>
        </p:spPr>
        <p:txBody>
          <a:bodyPr/>
          <a:lstStyle/>
          <a:p>
            <a:r>
              <a:t/>
            </a:r>
            <a:endParaRPr/>
          </a:p>
        </p:txBody>
      </p:sp>
      <p:sp>
        <p:nvSpPr>
          <p:cNvPr id="9" name="Rectangle 8">
            <a:extLst>
              <a:ext uri="{FF2B5EF4-FFF2-40B4-BE49-F238E27FC236}">
                <a16:creationId xmlns:a16="http://schemas.microsoft.com/office/drawing/2014/main" id="{5F38A8F3-9479-43F4-9163-AB40C39CE93F}"/>
              </a:ext>
            </a:extLst>
          </p:cNvPr>
          <p:cNvSpPr>
            <a:spLocks noGrp="1"/>
          </p:cNvSpPr>
          <p:nvPr/>
        </p:nvSpPr>
        <p:spPr>
          <a:xfrm>
            <a:off x="5638800" y="2209800"/>
            <a:ext cx="5810250" cy="400050"/>
          </a:xfrm>
          <a:prstGeom prst="rect">
            <a:avLst/>
          </a:prstGeom>
          <a:noFill/>
          <a:ln w="0">
            <a:noFill/>
          </a:ln>
        </p:spPr>
        <p:txBody>
          <a:bodyPr lIns="0" tIns="0" rIns="0" bIns="0" anchor="t">
            <a:noAutofit/>
          </a:bodyPr>
          <a:lstStyle/>
          <a:p>
            <a:pPr algn="l">
              <a:buNone/>
              <a:defRPr sz="2250" b="1">
                <a:solidFill>
                  <a:srgbClr val="85457F"/>
                </a:solidFill>
                <a:latin typeface="Arial"/>
                <a:ea typeface="Arial"/>
                <a:cs typeface="Arial"/>
              </a:defRPr>
            </a:pPr>
            <a:r>
              <a:rPr sz="2250" b="1">
                <a:solidFill>
                  <a:srgbClr val="85457F"/>
                </a:solidFill>
                <a:latin typeface="Arial"/>
                <a:ea typeface="Arial"/>
                <a:cs typeface="Arial"/>
              </a:rPr>
              <a:t>kpc scales</a:t>
            </a:r>
          </a:p>
        </p:txBody>
      </p:sp>
      <p:sp>
        <p:nvSpPr>
          <p:cNvPr id="10" name="Rectangle 9">
            <a:extLst>
              <a:ext uri="{FF2B5EF4-FFF2-40B4-BE49-F238E27FC236}">
                <a16:creationId xmlns:a16="http://schemas.microsoft.com/office/drawing/2014/main" id="{88BBBE22-1378-40B9-8AD7-8316111DDBDC}"/>
              </a:ext>
            </a:extLst>
          </p:cNvPr>
          <p:cNvSpPr>
            <a:spLocks noGrp="1"/>
          </p:cNvSpPr>
          <p:nvPr/>
        </p:nvSpPr>
        <p:spPr>
          <a:xfrm>
            <a:off x="5638800" y="2657475"/>
            <a:ext cx="5857875" cy="400050"/>
          </a:xfrm>
          <a:prstGeom prst="rect">
            <a:avLst/>
          </a:prstGeom>
          <a:noFill/>
          <a:ln w="0">
            <a:noFill/>
          </a:ln>
        </p:spPr>
        <p:txBody>
          <a:bodyPr lIns="0" tIns="0" rIns="0" bIns="0" anchor="t">
            <a:noAutofit/>
          </a:bodyPr>
          <a:lstStyle/>
          <a:p>
            <a:pPr algn="l">
              <a:buNone/>
              <a:defRPr sz="2025" b="1">
                <a:solidFill>
                  <a:srgbClr val="182934"/>
                </a:solidFill>
                <a:latin typeface="Arial"/>
                <a:ea typeface="Arial"/>
                <a:cs typeface="Arial"/>
              </a:defRPr>
            </a:pPr>
            <a:r>
              <a:rPr sz="2025" b="1">
                <a:solidFill>
                  <a:srgbClr val="182934"/>
                </a:solidFill>
                <a:latin typeface="Arial"/>
                <a:ea typeface="Arial"/>
                <a:cs typeface="Arial"/>
              </a:rPr>
              <a:t>CALIFA, SAMI, MaNGA, MAGPI</a:t>
            </a:r>
          </a:p>
        </p:txBody>
      </p:sp>
      <p:sp>
        <p:nvSpPr>
          <p:cNvPr id="11" name="Rectangle 10">
            <a:extLst>
              <a:ext uri="{FF2B5EF4-FFF2-40B4-BE49-F238E27FC236}">
                <a16:creationId xmlns:a16="http://schemas.microsoft.com/office/drawing/2014/main" id="{548D2584-D01B-4692-8A08-9D6B0331D7EA}"/>
              </a:ext>
            </a:extLst>
          </p:cNvPr>
          <p:cNvSpPr>
            <a:spLocks noGrp="1"/>
          </p:cNvSpPr>
          <p:nvPr/>
        </p:nvSpPr>
        <p:spPr>
          <a:xfrm>
            <a:off x="9458325" y="2781300"/>
            <a:ext cx="1933575" cy="914400"/>
          </a:xfrm>
          <a:prstGeom prst="rect">
            <a:avLst/>
          </a:prstGeom>
          <a:noFill/>
          <a:ln w="0">
            <a:noFill/>
          </a:ln>
        </p:spPr>
        <p:txBody>
          <a:bodyPr/>
          <a:lstStyle/>
          <a:p>
            <a:r>
              <a:t/>
            </a:r>
            <a:endParaRPr/>
          </a:p>
        </p:txBody>
      </p:sp>
      <p:sp>
        <p:nvSpPr>
          <p:cNvPr id="12" name="Rectangle 11">
            <a:extLst>
              <a:ext uri="{FF2B5EF4-FFF2-40B4-BE49-F238E27FC236}">
                <a16:creationId xmlns:a16="http://schemas.microsoft.com/office/drawing/2014/main" id="{54E40C48-2706-4693-9B88-CE59C6E26BF1}"/>
              </a:ext>
            </a:extLst>
          </p:cNvPr>
          <p:cNvSpPr>
            <a:spLocks noGrp="1"/>
          </p:cNvSpPr>
          <p:nvPr/>
        </p:nvSpPr>
        <p:spPr>
          <a:xfrm>
            <a:off x="5638800" y="3086100"/>
            <a:ext cx="5810250" cy="361950"/>
          </a:xfrm>
          <a:prstGeom prst="rect">
            <a:avLst/>
          </a:prstGeom>
          <a:noFill/>
          <a:ln w="0">
            <a:noFill/>
          </a:ln>
        </p:spPr>
        <p:txBody>
          <a:bodyPr lIns="0" tIns="0" rIns="0" bIns="0" anchor="t">
            <a:noAutofit/>
          </a:bodyPr>
          <a:lstStyle/>
          <a:p>
            <a:pPr algn="l">
              <a:buNone/>
              <a:defRPr sz="1725" b="0">
                <a:solidFill>
                  <a:srgbClr val="52636C"/>
                </a:solidFill>
                <a:latin typeface="Arial"/>
                <a:ea typeface="Arial"/>
                <a:cs typeface="Arial"/>
              </a:defRPr>
            </a:pPr>
            <a:r>
              <a:rPr sz="1725" b="0">
                <a:solidFill>
                  <a:srgbClr val="52636C"/>
                </a:solidFill>
                <a:latin typeface="Arial"/>
                <a:ea typeface="Arial"/>
                <a:cs typeface="Arial"/>
              </a:rPr>
              <a:t>Population-wide maps within galaxies</a:t>
            </a:r>
          </a:p>
        </p:txBody>
      </p:sp>
      <p:sp>
        <p:nvSpPr>
          <p:cNvPr id="13" name="Rectangle 12">
            <a:extLst>
              <a:ext uri="{FF2B5EF4-FFF2-40B4-BE49-F238E27FC236}">
                <a16:creationId xmlns:a16="http://schemas.microsoft.com/office/drawing/2014/main" id="{691514F9-6B1D-49F1-B9DB-A7AF8E2C8E65}"/>
              </a:ext>
            </a:extLst>
          </p:cNvPr>
          <p:cNvSpPr>
            <a:spLocks noGrp="1"/>
          </p:cNvSpPr>
          <p:nvPr/>
        </p:nvSpPr>
        <p:spPr>
          <a:xfrm>
            <a:off x="5638800" y="3848100"/>
            <a:ext cx="5810250" cy="400050"/>
          </a:xfrm>
          <a:prstGeom prst="rect">
            <a:avLst/>
          </a:prstGeom>
          <a:noFill/>
          <a:ln w="0">
            <a:noFill/>
          </a:ln>
        </p:spPr>
        <p:txBody>
          <a:bodyPr lIns="0" tIns="0" rIns="0" bIns="0" anchor="t">
            <a:noAutofit/>
          </a:bodyPr>
          <a:lstStyle/>
          <a:p>
            <a:pPr algn="l">
              <a:buNone/>
              <a:defRPr sz="2250" b="1">
                <a:solidFill>
                  <a:srgbClr val="007E87"/>
                </a:solidFill>
                <a:latin typeface="Arial"/>
                <a:ea typeface="Arial"/>
                <a:cs typeface="Arial"/>
              </a:defRPr>
            </a:pPr>
            <a:r>
              <a:rPr sz="2250" b="1">
                <a:solidFill>
                  <a:srgbClr val="007E87"/>
                </a:solidFill>
                <a:latin typeface="Arial"/>
                <a:ea typeface="Arial"/>
                <a:cs typeface="Arial"/>
              </a:rPr>
              <a:t>~100 pc scales</a:t>
            </a:r>
          </a:p>
        </p:txBody>
      </p:sp>
      <p:sp>
        <p:nvSpPr>
          <p:cNvPr id="14" name="Rectangle 13">
            <a:extLst>
              <a:ext uri="{FF2B5EF4-FFF2-40B4-BE49-F238E27FC236}">
                <a16:creationId xmlns:a16="http://schemas.microsoft.com/office/drawing/2014/main" id="{1716B3EC-FA33-4797-962F-F33730D30202}"/>
              </a:ext>
            </a:extLst>
          </p:cNvPr>
          <p:cNvSpPr>
            <a:spLocks noGrp="1"/>
          </p:cNvSpPr>
          <p:nvPr/>
        </p:nvSpPr>
        <p:spPr>
          <a:xfrm>
            <a:off x="7362825" y="3933825"/>
            <a:ext cx="1933575" cy="914400"/>
          </a:xfrm>
          <a:prstGeom prst="rect">
            <a:avLst/>
          </a:prstGeom>
          <a:noFill/>
          <a:ln w="0">
            <a:noFill/>
          </a:ln>
        </p:spPr>
        <p:txBody>
          <a:bodyPr/>
          <a:lstStyle/>
          <a:p>
            <a:r>
              <a:t/>
            </a:r>
            <a:endParaRPr/>
          </a:p>
        </p:txBody>
      </p:sp>
      <p:sp>
        <p:nvSpPr>
          <p:cNvPr id="15" name="Rectangle 14">
            <a:extLst>
              <a:ext uri="{FF2B5EF4-FFF2-40B4-BE49-F238E27FC236}">
                <a16:creationId xmlns:a16="http://schemas.microsoft.com/office/drawing/2014/main" id="{E6769B00-CC7F-4DE2-879F-651871BA16F4}"/>
              </a:ext>
            </a:extLst>
          </p:cNvPr>
          <p:cNvSpPr>
            <a:spLocks noGrp="1"/>
          </p:cNvSpPr>
          <p:nvPr/>
        </p:nvSpPr>
        <p:spPr>
          <a:xfrm>
            <a:off x="5638800" y="4295775"/>
            <a:ext cx="5810250" cy="381000"/>
          </a:xfrm>
          <a:prstGeom prst="rect">
            <a:avLst/>
          </a:prstGeom>
          <a:noFill/>
          <a:ln w="0">
            <a:noFill/>
          </a:ln>
        </p:spPr>
        <p:txBody>
          <a:bodyPr lIns="0" tIns="0" rIns="0" bIns="0" anchor="t">
            <a:noAutofit/>
          </a:bodyPr>
          <a:lstStyle/>
          <a:p>
            <a:pPr algn="l">
              <a:buNone/>
              <a:defRPr sz="2025" b="1">
                <a:solidFill>
                  <a:srgbClr val="182934"/>
                </a:solidFill>
                <a:latin typeface="Arial"/>
                <a:ea typeface="Arial"/>
                <a:cs typeface="Arial"/>
              </a:defRPr>
            </a:pPr>
            <a:r>
              <a:rPr sz="2025" b="1">
                <a:solidFill>
                  <a:srgbClr val="182934"/>
                </a:solidFill>
                <a:latin typeface="Arial"/>
                <a:ea typeface="Arial"/>
                <a:cs typeface="Arial"/>
              </a:rPr>
              <a:t>MAD and PHANGS-MUSE</a:t>
            </a:r>
          </a:p>
        </p:txBody>
      </p:sp>
      <p:sp>
        <p:nvSpPr>
          <p:cNvPr id="16" name="Rectangle 15">
            <a:extLst>
              <a:ext uri="{FF2B5EF4-FFF2-40B4-BE49-F238E27FC236}">
                <a16:creationId xmlns:a16="http://schemas.microsoft.com/office/drawing/2014/main" id="{096DD320-8EE0-43BD-9BD8-414B4FD7FA08}"/>
              </a:ext>
            </a:extLst>
          </p:cNvPr>
          <p:cNvSpPr>
            <a:spLocks noGrp="1"/>
          </p:cNvSpPr>
          <p:nvPr/>
        </p:nvSpPr>
        <p:spPr>
          <a:xfrm>
            <a:off x="5638800" y="4724400"/>
            <a:ext cx="5810250" cy="342900"/>
          </a:xfrm>
          <a:prstGeom prst="rect">
            <a:avLst/>
          </a:prstGeom>
          <a:noFill/>
          <a:ln w="0">
            <a:noFill/>
          </a:ln>
        </p:spPr>
        <p:txBody>
          <a:bodyPr lIns="0" tIns="0" rIns="0" bIns="0" anchor="t">
            <a:noAutofit/>
          </a:bodyPr>
          <a:lstStyle/>
          <a:p>
            <a:pPr algn="l">
              <a:buNone/>
              <a:defRPr sz="1725" b="0">
                <a:solidFill>
                  <a:srgbClr val="52636C"/>
                </a:solidFill>
                <a:latin typeface="Arial"/>
                <a:ea typeface="Arial"/>
                <a:cs typeface="Arial"/>
              </a:defRPr>
            </a:pPr>
            <a:r>
              <a:rPr sz="1725" b="0">
                <a:solidFill>
                  <a:srgbClr val="52636C"/>
                </a:solidFill>
                <a:latin typeface="Arial"/>
                <a:ea typeface="Arial"/>
                <a:cs typeface="Arial"/>
              </a:rPr>
              <a:t>H II regions and local ISM structure</a:t>
            </a:r>
          </a:p>
        </p:txBody>
      </p:sp>
      <p:sp>
        <p:nvSpPr>
          <p:cNvPr id="17" name="Rectangle 16">
            <a:extLst>
              <a:ext uri="{FF2B5EF4-FFF2-40B4-BE49-F238E27FC236}">
                <a16:creationId xmlns:a16="http://schemas.microsoft.com/office/drawing/2014/main" id="{4989CE11-07E7-4FD3-BFB1-5E039582E4F2}"/>
              </a:ext>
            </a:extLst>
          </p:cNvPr>
          <p:cNvSpPr>
            <a:spLocks noGrp="1"/>
          </p:cNvSpPr>
          <p:nvPr/>
        </p:nvSpPr>
        <p:spPr>
          <a:xfrm>
            <a:off x="9458325" y="3933825"/>
            <a:ext cx="1933575" cy="914400"/>
          </a:xfrm>
          <a:prstGeom prst="rect">
            <a:avLst/>
          </a:prstGeom>
          <a:noFill/>
          <a:ln w="0">
            <a:noFill/>
          </a:ln>
        </p:spPr>
        <p:txBody>
          <a:bodyPr/>
          <a:lstStyle/>
          <a:p>
            <a:r>
              <a:t/>
            </a:r>
            <a:endParaRPr/>
          </a:p>
        </p:txBody>
      </p:sp>
      <p:sp>
        <p:nvSpPr>
          <p:cNvPr id="18" name="Rectangle 17">
            <a:extLst>
              <a:ext uri="{FF2B5EF4-FFF2-40B4-BE49-F238E27FC236}">
                <a16:creationId xmlns:a16="http://schemas.microsoft.com/office/drawing/2014/main" id="{A60244F8-EC4D-4673-82B7-AA034A777A2C}"/>
              </a:ext>
            </a:extLst>
          </p:cNvPr>
          <p:cNvSpPr>
            <a:spLocks noGrp="1"/>
          </p:cNvSpPr>
          <p:nvPr/>
        </p:nvSpPr>
        <p:spPr>
          <a:xfrm>
            <a:off x="5638800" y="5391150"/>
            <a:ext cx="5810250" cy="609600"/>
          </a:xfrm>
          <a:prstGeom prst="rect">
            <a:avLst/>
          </a:prstGeom>
          <a:noFill/>
          <a:ln w="0">
            <a:noFill/>
          </a:ln>
        </p:spPr>
        <p:txBody>
          <a:bodyPr lIns="0" tIns="0" rIns="0" bIns="0" anchor="t">
            <a:noAutofit/>
          </a:bodyPr>
          <a:lstStyle/>
          <a:p>
            <a:pPr algn="l">
              <a:buNone/>
              <a:defRPr sz="1725" b="0">
                <a:solidFill>
                  <a:srgbClr val="182934"/>
                </a:solidFill>
                <a:latin typeface="Arial"/>
                <a:ea typeface="Arial"/>
                <a:cs typeface="Arial"/>
              </a:defRPr>
            </a:pPr>
            <a:r>
              <a:rPr sz="1725" b="0">
                <a:solidFill>
                  <a:srgbClr val="182934"/>
                </a:solidFill>
                <a:latin typeface="Arial"/>
                <a:ea typeface="Arial"/>
                <a:cs typeface="Arial"/>
              </a:rPr>
              <a:t>With ALMA: linking star formation</a:t>
            </a:r>
          </a:p>
          <a:p>
            <a:pPr algn="l">
              <a:buNone/>
              <a:defRPr sz="1725" b="0">
                <a:solidFill>
                  <a:srgbClr val="182934"/>
                </a:solidFill>
                <a:latin typeface="Arial"/>
                <a:ea typeface="Arial"/>
                <a:cs typeface="Arial"/>
              </a:defRPr>
            </a:pPr>
            <a:r>
              <a:rPr sz="1725" b="0">
                <a:solidFill>
                  <a:srgbClr val="182934"/>
                </a:solidFill>
                <a:latin typeface="Arial"/>
                <a:ea typeface="Arial"/>
                <a:cs typeface="Arial"/>
              </a:rPr>
              <a:t>to the molecular-gas reservoir</a:t>
            </a:r>
          </a:p>
        </p:txBody>
      </p:sp>
      <p:sp>
        <p:nvSpPr>
          <p:cNvPr id="19" name="Rectangle 18">
            <a:extLst>
              <a:ext uri="{FF2B5EF4-FFF2-40B4-BE49-F238E27FC236}">
                <a16:creationId xmlns:a16="http://schemas.microsoft.com/office/drawing/2014/main" id="{A9D3A496-3280-4EF3-B314-93183B7C3656}"/>
              </a:ext>
            </a:extLst>
          </p:cNvPr>
          <p:cNvSpPr>
            <a:spLocks noGrp="1"/>
          </p:cNvSpPr>
          <p:nvPr/>
        </p:nvSpPr>
        <p:spPr>
          <a:xfrm>
            <a:off x="9591675" y="4400550"/>
            <a:ext cx="1676400" cy="323850"/>
          </a:xfrm>
          <a:prstGeom prst="rect">
            <a:avLst/>
          </a:prstGeom>
          <a:noFill/>
          <a:ln w="0">
            <a:noFill/>
          </a:ln>
        </p:spPr>
        <p:txBody>
          <a:bodyPr wrap="square" lIns="0" tIns="0" rIns="0" bIns="0" anchor="t">
            <a:noAutofit/>
          </a:bodyPr>
          <a:lstStyle/>
          <a:p>
            <a:pPr algn="l">
              <a:buNone/>
              <a:defRPr sz="1275" b="0">
                <a:solidFill>
                  <a:srgbClr val="52636C"/>
                </a:solidFill>
                <a:latin typeface="Arial"/>
                <a:ea typeface="Arial"/>
                <a:cs typeface="Arial"/>
              </a:defRPr>
            </a:pPr>
            <a:r>
              <a:rPr sz="1275" b="0">
                <a:solidFill>
                  <a:srgbClr val="52636C"/>
                </a:solidFill>
                <a:latin typeface="Arial"/>
                <a:ea typeface="Arial"/>
                <a:cs typeface="Arial"/>
              </a:rPr>
              <a:t/>
            </a:r>
          </a:p>
        </p:txBody>
      </p:sp>
      <p:sp>
        <p:nvSpPr>
          <p:cNvPr id="20" name="Rectangle 19">
            <a:extLst>
              <a:ext uri="{FF2B5EF4-FFF2-40B4-BE49-F238E27FC236}">
                <a16:creationId xmlns:a16="http://schemas.microsoft.com/office/drawing/2014/main" id="{73630837-6600-4E91-B75A-6CFA83CC354F}"/>
              </a:ext>
            </a:extLst>
          </p:cNvPr>
          <p:cNvSpPr>
            <a:spLocks noGrp="1"/>
          </p:cNvSpPr>
          <p:nvPr/>
        </p:nvSpPr>
        <p:spPr>
          <a:xfrm>
            <a:off x="533400" y="6115050"/>
            <a:ext cx="11125200" cy="266700"/>
          </a:xfrm>
          <a:prstGeom prst="rect">
            <a:avLst/>
          </a:prstGeom>
          <a:noFill/>
          <a:ln w="0">
            <a:noFill/>
          </a:ln>
        </p:spPr>
        <p:txBody>
          <a:bodyPr lIns="0" tIns="0" rIns="0" bIns="0" anchor="t">
            <a:noAutofit/>
          </a:bodyPr>
          <a:lstStyle/>
          <a:p>
            <a:pPr algn="l">
              <a:buNone/>
              <a:defRPr sz="1200" b="0">
                <a:solidFill>
                  <a:srgbClr val="52636C"/>
                </a:solidFill>
                <a:latin typeface="Arial"/>
                <a:ea typeface="Arial"/>
                <a:cs typeface="Arial"/>
              </a:defRPr>
            </a:pPr>
            <a:r>
              <a:rPr sz="1200" b="0">
                <a:solidFill>
                  <a:srgbClr val="52636C"/>
                </a:solidFill>
                <a:latin typeface="Arial"/>
                <a:ea typeface="Arial"/>
                <a:cs typeface="Arial"/>
              </a:rPr>
              <a:t>NGC4254 / PHANGS-MUSE. Nearby star-forming discs, including Virgo members.</a:t>
            </a:r>
          </a:p>
        </p:txBody>
      </p:sp>
    </p:spTree>
    <p:extLst>
      <p:ext uri="{BB962C8B-B14F-4D97-AF65-F5344CB8AC3E}">
        <p14:creationId xmlns:p14="http://schemas.microsoft.com/office/powerpoint/2010/main" val="1951201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91D8247-7DED-4096-B7EE-8B5A6D0EBDA0}"/>
              </a:ext>
            </a:extLst>
          </p:cNvPr>
          <p:cNvSpPr>
            <a:spLocks noGrp="1"/>
          </p:cNvSpPr>
          <p:nvPr/>
        </p:nvSpPr>
        <p:spPr>
          <a:xfrm>
            <a:off x="533400" y="266700"/>
            <a:ext cx="11001375" cy="228600"/>
          </a:xfrm>
          <a:prstGeom prst="rect">
            <a:avLst/>
          </a:prstGeom>
          <a:noFill/>
          <a:ln w="0">
            <a:noFill/>
          </a:ln>
        </p:spPr>
        <p:txBody>
          <a:bodyPr lIns="0" tIns="0" rIns="0" bIns="0" anchor="t">
            <a:noAutofit/>
          </a:bodyPr>
          <a:lstStyle/>
          <a:p>
            <a:pPr algn="l">
              <a:buNone/>
              <a:defRPr sz="1125" b="1">
                <a:solidFill>
                  <a:srgbClr val="85457F"/>
                </a:solidFill>
                <a:latin typeface="Arial"/>
                <a:ea typeface="Arial"/>
                <a:cs typeface="Arial"/>
              </a:defRPr>
            </a:pPr>
            <a:r>
              <a:rPr sz="1125" b="1">
                <a:solidFill>
                  <a:srgbClr val="85457F"/>
                </a:solidFill>
                <a:latin typeface="Arial"/>
                <a:ea typeface="Arial"/>
                <a:cs typeface="Arial"/>
              </a:rPr>
              <a:t>THE OBSERVATIONAL GAP</a:t>
            </a:r>
          </a:p>
        </p:txBody>
      </p:sp>
      <p:sp>
        <p:nvSpPr>
          <p:cNvPr id="2" name="Rectangle 1">
            <a:extLst>
              <a:ext uri="{FF2B5EF4-FFF2-40B4-BE49-F238E27FC236}">
                <a16:creationId xmlns:a16="http://schemas.microsoft.com/office/drawing/2014/main" id="{E0A79FDD-70B3-4C0B-9A6E-018F2C121249}"/>
              </a:ext>
            </a:extLst>
          </p:cNvPr>
          <p:cNvSpPr>
            <a:spLocks noGrp="1"/>
          </p:cNvSpPr>
          <p:nvPr/>
        </p:nvSpPr>
        <p:spPr>
          <a:xfrm>
            <a:off x="533400" y="676275"/>
            <a:ext cx="11125200" cy="685800"/>
          </a:xfrm>
          <a:prstGeom prst="rect">
            <a:avLst/>
          </a:prstGeom>
          <a:noFill/>
          <a:ln w="0">
            <a:noFill/>
          </a:ln>
        </p:spPr>
        <p:txBody>
          <a:bodyPr lIns="0" tIns="0" rIns="0" bIns="0" anchor="t">
            <a:noAutofit/>
          </a:bodyPr>
          <a:lstStyle/>
          <a:p>
            <a:pPr algn="l">
              <a:buNone/>
              <a:defRPr sz="2850" b="1">
                <a:solidFill>
                  <a:srgbClr val="182934"/>
                </a:solidFill>
                <a:latin typeface="Arial"/>
                <a:ea typeface="Arial"/>
                <a:cs typeface="Arial"/>
              </a:defRPr>
            </a:pPr>
            <a:r>
              <a:rPr sz="2850" b="1">
                <a:solidFill>
                  <a:srgbClr val="182934"/>
                </a:solidFill>
                <a:latin typeface="Arial"/>
                <a:ea typeface="Arial"/>
                <a:cs typeface="Arial"/>
              </a:rPr>
              <a:t>The observational gap in cluster galaxies</a:t>
            </a:r>
          </a:p>
        </p:txBody>
      </p:sp>
      <p:sp>
        <p:nvSpPr>
          <p:cNvPr id="3" name="Rectangle 2">
            <a:extLst>
              <a:ext uri="{FF2B5EF4-FFF2-40B4-BE49-F238E27FC236}">
                <a16:creationId xmlns:a16="http://schemas.microsoft.com/office/drawing/2014/main" id="{014ED9C1-EE02-4913-BB5E-647D79D770AE}"/>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165FD4E3-FAAF-4A62-BE54-0D08EDB80D73}"/>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69BB34DD-EB3F-47D4-B490-F1406EFE1ABB}"/>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5</a:t>
            </a:r>
          </a:p>
        </p:txBody>
      </p:sp>
      <p:sp>
        <p:nvSpPr>
          <p:cNvPr id="6" name="Rectangle 5">
            <a:extLst>
              <a:ext uri="{FF2B5EF4-FFF2-40B4-BE49-F238E27FC236}">
                <a16:creationId xmlns:a16="http://schemas.microsoft.com/office/drawing/2014/main" id="{06D99EE5-89B7-4424-A610-EC1CF39E1051}"/>
              </a:ext>
            </a:extLst>
          </p:cNvPr>
          <p:cNvSpPr>
            <a:spLocks noGrp="1"/>
          </p:cNvSpPr>
          <p:nvPr/>
        </p:nvSpPr>
        <p:spPr>
          <a:xfrm>
            <a:off x="533400" y="1409700"/>
            <a:ext cx="10953750" cy="590550"/>
          </a:xfrm>
          <a:prstGeom prst="rect">
            <a:avLst/>
          </a:prstGeom>
          <a:noFill/>
          <a:ln w="0">
            <a:noFill/>
          </a:ln>
        </p:spPr>
        <p:txBody>
          <a:bodyPr lIns="0" tIns="0" rIns="0" bIns="0" anchor="t">
            <a:noAutofit/>
          </a:bodyPr>
          <a:lstStyle/>
          <a:p>
            <a:pPr algn="l">
              <a:buNone/>
              <a:defRPr sz="1800" b="0">
                <a:solidFill>
                  <a:srgbClr val="182934"/>
                </a:solidFill>
                <a:latin typeface="Arial"/>
                <a:ea typeface="Arial"/>
                <a:cs typeface="Arial"/>
              </a:defRPr>
            </a:pPr>
            <a:r>
              <a:rPr sz="1800" b="0">
                <a:solidFill>
                  <a:srgbClr val="182934"/>
                </a:solidFill>
                <a:latin typeface="Arial"/>
                <a:ea typeface="Arial"/>
                <a:cs typeface="Arial"/>
              </a:rPr>
              <a:t/>
            </a:r>
          </a:p>
        </p:txBody>
      </p:sp>
      <p:sp>
        <p:nvSpPr>
          <p:cNvPr id="7" name="Rectangle 6">
            <a:extLst>
              <a:ext uri="{FF2B5EF4-FFF2-40B4-BE49-F238E27FC236}">
                <a16:creationId xmlns:a16="http://schemas.microsoft.com/office/drawing/2014/main" id="{B283733E-EA9F-4C5A-B974-71CFB4D3666E}"/>
              </a:ext>
            </a:extLst>
          </p:cNvPr>
          <p:cNvSpPr>
            <a:spLocks noGrp="1"/>
          </p:cNvSpPr>
          <p:nvPr/>
        </p:nvSpPr>
        <p:spPr>
          <a:xfrm>
            <a:off x="533400" y="2181225"/>
            <a:ext cx="4857750" cy="657225"/>
          </a:xfrm>
          <a:prstGeom prst="rect">
            <a:avLst/>
          </a:prstGeom>
          <a:noFill/>
          <a:ln w="0">
            <a:noFill/>
          </a:ln>
        </p:spPr>
        <p:txBody>
          <a:bodyPr/>
          <a:lstStyle/>
          <a:p>
            <a:r>
              <a:t/>
            </a:r>
            <a:endParaRPr/>
          </a:p>
        </p:txBody>
      </p:sp>
      <p:sp>
        <p:nvSpPr>
          <p:cNvPr id="8" name="Rectangle 7">
            <a:extLst>
              <a:ext uri="{FF2B5EF4-FFF2-40B4-BE49-F238E27FC236}">
                <a16:creationId xmlns:a16="http://schemas.microsoft.com/office/drawing/2014/main" id="{B4B25F72-D2BB-4DF4-A7C4-DFC8E03BE4F8}"/>
              </a:ext>
            </a:extLst>
          </p:cNvPr>
          <p:cNvSpPr>
            <a:spLocks noGrp="1"/>
          </p:cNvSpPr>
          <p:nvPr/>
        </p:nvSpPr>
        <p:spPr>
          <a:xfrm>
            <a:off x="533400" y="2095500"/>
            <a:ext cx="5143500" cy="419100"/>
          </a:xfrm>
          <a:prstGeom prst="rect">
            <a:avLst/>
          </a:prstGeom>
          <a:noFill/>
          <a:ln w="0">
            <a:noFill/>
          </a:ln>
        </p:spPr>
        <p:txBody>
          <a:bodyPr lIns="0" tIns="0" rIns="0" bIns="0" anchor="t">
            <a:noAutofit/>
          </a:bodyPr>
          <a:lstStyle/>
          <a:p>
            <a:pPr algn="l">
              <a:buNone/>
              <a:defRPr sz="2100" b="1">
                <a:solidFill>
                  <a:srgbClr val="85457F"/>
                </a:solidFill>
                <a:latin typeface="Arial"/>
                <a:ea typeface="Arial"/>
                <a:cs typeface="Arial"/>
              </a:defRPr>
            </a:pPr>
            <a:r>
              <a:rPr sz="2100" b="1">
                <a:solidFill>
                  <a:srgbClr val="85457F"/>
                </a:solidFill>
                <a:latin typeface="Arial"/>
                <a:ea typeface="Arial"/>
                <a:cs typeface="Arial"/>
              </a:rPr>
              <a:t>Existing cluster studies</a:t>
            </a:r>
          </a:p>
        </p:txBody>
      </p:sp>
      <p:sp>
        <p:nvSpPr>
          <p:cNvPr id="9" name="Rectangle 8">
            <a:extLst>
              <a:ext uri="{FF2B5EF4-FFF2-40B4-BE49-F238E27FC236}">
                <a16:creationId xmlns:a16="http://schemas.microsoft.com/office/drawing/2014/main" id="{06DC75A7-2EC2-4696-9FFD-41C4E6AA42F1}"/>
              </a:ext>
            </a:extLst>
          </p:cNvPr>
          <p:cNvSpPr>
            <a:spLocks noGrp="1"/>
          </p:cNvSpPr>
          <p:nvPr/>
        </p:nvSpPr>
        <p:spPr>
          <a:xfrm>
            <a:off x="533400" y="2657475"/>
            <a:ext cx="5143500" cy="447675"/>
          </a:xfrm>
          <a:prstGeom prst="rect">
            <a:avLst/>
          </a:prstGeom>
          <a:noFill/>
          <a:ln w="0">
            <a:noFill/>
          </a:ln>
        </p:spPr>
        <p:txBody>
          <a:bodyPr lIns="0" tIns="0" rIns="0" bIns="0" anchor="t">
            <a:noAutofit/>
          </a:bodyPr>
          <a:lstStyle/>
          <a:p>
            <a:pPr algn="l">
              <a:buNone/>
              <a:defRPr sz="2550" b="1">
                <a:solidFill>
                  <a:srgbClr val="182934"/>
                </a:solidFill>
                <a:latin typeface="Arial"/>
                <a:ea typeface="Arial"/>
                <a:cs typeface="Arial"/>
              </a:defRPr>
            </a:pPr>
            <a:r>
              <a:rPr sz="2550" b="1">
                <a:solidFill>
                  <a:srgbClr val="182934"/>
                </a:solidFill>
                <a:latin typeface="Arial"/>
                <a:ea typeface="Arial"/>
                <a:cs typeface="Arial"/>
              </a:rPr>
              <a:t>GASP</a:t>
            </a:r>
          </a:p>
        </p:txBody>
      </p:sp>
      <p:sp>
        <p:nvSpPr>
          <p:cNvPr id="10" name="Rectangle 9">
            <a:extLst>
              <a:ext uri="{FF2B5EF4-FFF2-40B4-BE49-F238E27FC236}">
                <a16:creationId xmlns:a16="http://schemas.microsoft.com/office/drawing/2014/main" id="{09E8E648-9CE8-4E4B-BF3B-4D29D551F229}"/>
              </a:ext>
            </a:extLst>
          </p:cNvPr>
          <p:cNvSpPr>
            <a:spLocks noGrp="1"/>
          </p:cNvSpPr>
          <p:nvPr/>
        </p:nvSpPr>
        <p:spPr>
          <a:xfrm>
            <a:off x="533400" y="3019425"/>
            <a:ext cx="4857750" cy="657225"/>
          </a:xfrm>
          <a:prstGeom prst="rect">
            <a:avLst/>
          </a:prstGeom>
          <a:noFill/>
          <a:ln w="0">
            <a:noFill/>
          </a:ln>
        </p:spPr>
        <p:txBody>
          <a:bodyPr/>
          <a:lstStyle/>
          <a:p>
            <a:r>
              <a:t/>
            </a:r>
            <a:endParaRPr/>
          </a:p>
        </p:txBody>
      </p:sp>
      <p:sp>
        <p:nvSpPr>
          <p:cNvPr id="11" name="Rectangle 10">
            <a:extLst>
              <a:ext uri="{FF2B5EF4-FFF2-40B4-BE49-F238E27FC236}">
                <a16:creationId xmlns:a16="http://schemas.microsoft.com/office/drawing/2014/main" id="{AFD84577-E3F5-4FFC-B01C-16F49B07FBDA}"/>
              </a:ext>
            </a:extLst>
          </p:cNvPr>
          <p:cNvSpPr>
            <a:spLocks noGrp="1"/>
          </p:cNvSpPr>
          <p:nvPr/>
        </p:nvSpPr>
        <p:spPr>
          <a:xfrm>
            <a:off x="533400" y="3238500"/>
            <a:ext cx="5143500" cy="371475"/>
          </a:xfrm>
          <a:prstGeom prst="rect">
            <a:avLst/>
          </a:prstGeom>
          <a:noFill/>
          <a:ln w="0">
            <a:noFill/>
          </a:ln>
        </p:spPr>
        <p:txBody>
          <a:bodyPr lIns="0" tIns="0" rIns="0" bIns="0" anchor="t">
            <a:noAutofit/>
          </a:bodyPr>
          <a:lstStyle/>
          <a:p>
            <a:pPr algn="l">
              <a:buNone/>
              <a:defRPr sz="1950" b="0">
                <a:solidFill>
                  <a:srgbClr val="182934"/>
                </a:solidFill>
                <a:latin typeface="Arial"/>
                <a:ea typeface="Arial"/>
                <a:cs typeface="Arial"/>
              </a:defRPr>
            </a:pPr>
            <a:r>
              <a:rPr sz="1950" b="0">
                <a:solidFill>
                  <a:srgbClr val="182934"/>
                </a:solidFill>
                <a:latin typeface="Arial"/>
                <a:ea typeface="Arial"/>
                <a:cs typeface="Arial"/>
              </a:rPr>
              <a:t>z = 0.04-0.07 (~0.05)</a:t>
            </a:r>
          </a:p>
        </p:txBody>
      </p:sp>
      <p:sp>
        <p:nvSpPr>
          <p:cNvPr id="12" name="Rectangle 11">
            <a:extLst>
              <a:ext uri="{FF2B5EF4-FFF2-40B4-BE49-F238E27FC236}">
                <a16:creationId xmlns:a16="http://schemas.microsoft.com/office/drawing/2014/main" id="{7FF9CE69-99CC-4538-857E-483ABFC83A2E}"/>
              </a:ext>
            </a:extLst>
          </p:cNvPr>
          <p:cNvSpPr>
            <a:spLocks noGrp="1"/>
          </p:cNvSpPr>
          <p:nvPr/>
        </p:nvSpPr>
        <p:spPr>
          <a:xfrm>
            <a:off x="533400" y="3648075"/>
            <a:ext cx="5143500" cy="352425"/>
          </a:xfrm>
          <a:prstGeom prst="rect">
            <a:avLst/>
          </a:prstGeom>
          <a:noFill/>
          <a:ln w="0">
            <a:noFill/>
          </a:ln>
        </p:spPr>
        <p:txBody>
          <a:bodyPr lIns="0" tIns="0" rIns="0" bIns="0" anchor="t">
            <a:noAutofit/>
          </a:bodyPr>
          <a:lstStyle/>
          <a:p>
            <a:pPr algn="l">
              <a:buNone/>
              <a:defRPr sz="1875" b="0">
                <a:solidFill>
                  <a:srgbClr val="182934"/>
                </a:solidFill>
                <a:latin typeface="Arial"/>
                <a:ea typeface="Arial"/>
                <a:cs typeface="Arial"/>
              </a:defRPr>
            </a:pPr>
            <a:r>
              <a:rPr sz="1875" b="0">
                <a:solidFill>
                  <a:srgbClr val="182934"/>
                </a:solidFill>
                <a:latin typeface="Arial"/>
                <a:ea typeface="Arial"/>
                <a:cs typeface="Arial"/>
              </a:rPr>
              <a:t>~1 kpc spatial resolution</a:t>
            </a:r>
          </a:p>
        </p:txBody>
      </p:sp>
      <p:sp>
        <p:nvSpPr>
          <p:cNvPr id="13" name="Rectangle 12">
            <a:extLst>
              <a:ext uri="{FF2B5EF4-FFF2-40B4-BE49-F238E27FC236}">
                <a16:creationId xmlns:a16="http://schemas.microsoft.com/office/drawing/2014/main" id="{C7CA3B2F-F66A-4F36-B4AC-0E420D2557B5}"/>
              </a:ext>
            </a:extLst>
          </p:cNvPr>
          <p:cNvSpPr>
            <a:spLocks noGrp="1"/>
          </p:cNvSpPr>
          <p:nvPr/>
        </p:nvSpPr>
        <p:spPr>
          <a:xfrm>
            <a:off x="533400" y="3857625"/>
            <a:ext cx="4857750" cy="657225"/>
          </a:xfrm>
          <a:prstGeom prst="rect">
            <a:avLst/>
          </a:prstGeom>
          <a:noFill/>
          <a:ln w="0">
            <a:noFill/>
          </a:ln>
        </p:spPr>
        <p:txBody>
          <a:bodyPr/>
          <a:lstStyle/>
          <a:p>
            <a:r>
              <a:t/>
            </a:r>
            <a:endParaRPr/>
          </a:p>
        </p:txBody>
      </p:sp>
      <p:sp>
        <p:nvSpPr>
          <p:cNvPr id="14" name="Rectangle 13">
            <a:extLst>
              <a:ext uri="{FF2B5EF4-FFF2-40B4-BE49-F238E27FC236}">
                <a16:creationId xmlns:a16="http://schemas.microsoft.com/office/drawing/2014/main" id="{C06C9CFE-E6C2-40CE-B570-62528C6400D8}"/>
              </a:ext>
            </a:extLst>
          </p:cNvPr>
          <p:cNvSpPr>
            <a:spLocks noGrp="1"/>
          </p:cNvSpPr>
          <p:nvPr/>
        </p:nvSpPr>
        <p:spPr>
          <a:xfrm>
            <a:off x="533400" y="4229100"/>
            <a:ext cx="5143500" cy="381000"/>
          </a:xfrm>
          <a:prstGeom prst="rect">
            <a:avLst/>
          </a:prstGeom>
          <a:noFill/>
          <a:ln w="0">
            <a:noFill/>
          </a:ln>
        </p:spPr>
        <p:txBody>
          <a:bodyPr lIns="0" tIns="0" rIns="0" bIns="0" anchor="t">
            <a:noAutofit/>
          </a:bodyPr>
          <a:lstStyle/>
          <a:p>
            <a:pPr algn="l">
              <a:buNone/>
              <a:defRPr sz="1725" b="0">
                <a:solidFill>
                  <a:srgbClr val="52636C"/>
                </a:solidFill>
                <a:latin typeface="Arial"/>
                <a:ea typeface="Arial"/>
                <a:cs typeface="Arial"/>
              </a:defRPr>
            </a:pPr>
            <a:r>
              <a:rPr sz="1725" b="0">
                <a:solidFill>
                  <a:srgbClr val="52636C"/>
                </a:solidFill>
                <a:latin typeface="Arial"/>
                <a:ea typeface="Arial"/>
                <a:cs typeface="Arial"/>
              </a:rPr>
              <a:t>Gas stripping across discs and tails</a:t>
            </a:r>
          </a:p>
        </p:txBody>
      </p:sp>
      <p:sp>
        <p:nvSpPr>
          <p:cNvPr id="15" name="Rectangle 14">
            <a:extLst>
              <a:ext uri="{FF2B5EF4-FFF2-40B4-BE49-F238E27FC236}">
                <a16:creationId xmlns:a16="http://schemas.microsoft.com/office/drawing/2014/main" id="{2DAB98CC-230D-488B-8521-EDB70241BC5F}"/>
              </a:ext>
            </a:extLst>
          </p:cNvPr>
          <p:cNvSpPr>
            <a:spLocks noGrp="1"/>
          </p:cNvSpPr>
          <p:nvPr/>
        </p:nvSpPr>
        <p:spPr>
          <a:xfrm>
            <a:off x="2352675" y="4010025"/>
            <a:ext cx="2857500" cy="304800"/>
          </a:xfrm>
          <a:prstGeom prst="rect">
            <a:avLst/>
          </a:prstGeom>
          <a:noFill/>
          <a:ln w="0">
            <a:noFill/>
          </a:ln>
        </p:spPr>
        <p:txBody>
          <a:bodyPr wrap="square" lIns="0" tIns="0" rIns="0" bIns="0" anchor="t">
            <a:noAutofit/>
          </a:bodyPr>
          <a:lstStyle/>
          <a:p>
            <a:pPr algn="l">
              <a:buNone/>
              <a:defRPr sz="1650" b="0">
                <a:solidFill>
                  <a:srgbClr val="182934"/>
                </a:solidFill>
                <a:latin typeface="Arial"/>
                <a:ea typeface="Arial"/>
                <a:cs typeface="Arial"/>
              </a:defRPr>
            </a:pPr>
            <a:r>
              <a:rPr sz="1650" b="0">
                <a:solidFill>
                  <a:srgbClr val="182934"/>
                </a:solidFill>
                <a:latin typeface="Arial"/>
                <a:ea typeface="Arial"/>
                <a:cs typeface="Arial"/>
              </a:rPr>
              <a:t/>
            </a:r>
          </a:p>
        </p:txBody>
      </p:sp>
      <p:sp>
        <p:nvSpPr>
          <p:cNvPr id="16" name="Rectangle 15">
            <a:extLst>
              <a:ext uri="{FF2B5EF4-FFF2-40B4-BE49-F238E27FC236}">
                <a16:creationId xmlns:a16="http://schemas.microsoft.com/office/drawing/2014/main" id="{6955FD3F-460A-43CC-98AF-A665222B15A3}"/>
              </a:ext>
            </a:extLst>
          </p:cNvPr>
          <p:cNvSpPr>
            <a:spLocks noGrp="1"/>
          </p:cNvSpPr>
          <p:nvPr/>
        </p:nvSpPr>
        <p:spPr>
          <a:xfrm>
            <a:off x="5981700" y="2095500"/>
            <a:ext cx="5619750" cy="419100"/>
          </a:xfrm>
          <a:prstGeom prst="rect">
            <a:avLst/>
          </a:prstGeom>
          <a:noFill/>
          <a:ln w="0">
            <a:noFill/>
          </a:ln>
        </p:spPr>
        <p:txBody>
          <a:bodyPr lIns="0" tIns="0" rIns="0" bIns="0" anchor="t">
            <a:noAutofit/>
          </a:bodyPr>
          <a:lstStyle/>
          <a:p>
            <a:pPr algn="l">
              <a:buNone/>
              <a:defRPr sz="2100" b="1">
                <a:solidFill>
                  <a:srgbClr val="007E87"/>
                </a:solidFill>
                <a:latin typeface="Arial"/>
                <a:ea typeface="Arial"/>
                <a:cs typeface="Arial"/>
              </a:defRPr>
            </a:pPr>
            <a:r>
              <a:rPr sz="2100" b="1">
                <a:solidFill>
                  <a:srgbClr val="007E87"/>
                </a:solidFill>
                <a:latin typeface="Arial"/>
                <a:ea typeface="Arial"/>
                <a:cs typeface="Arial"/>
              </a:rPr>
              <a:t>The missing comparison</a:t>
            </a:r>
          </a:p>
        </p:txBody>
      </p:sp>
      <p:sp>
        <p:nvSpPr>
          <p:cNvPr id="17" name="Rectangle 16">
            <a:extLst>
              <a:ext uri="{FF2B5EF4-FFF2-40B4-BE49-F238E27FC236}">
                <a16:creationId xmlns:a16="http://schemas.microsoft.com/office/drawing/2014/main" id="{79F61062-D81F-4B8D-8A71-B2A7A3B65DB2}"/>
              </a:ext>
            </a:extLst>
          </p:cNvPr>
          <p:cNvSpPr>
            <a:spLocks noGrp="1"/>
          </p:cNvSpPr>
          <p:nvPr/>
        </p:nvSpPr>
        <p:spPr>
          <a:xfrm>
            <a:off x="5981700" y="2695575"/>
            <a:ext cx="5619750" cy="2124075"/>
          </a:xfrm>
          <a:prstGeom prst="rect">
            <a:avLst/>
          </a:prstGeom>
          <a:noFill/>
          <a:ln w="0">
            <a:noFill/>
          </a:ln>
        </p:spPr>
        <p:txBody>
          <a:bodyPr lIns="0" tIns="0" rIns="0" bIns="0" anchor="t">
            <a:noAutofit/>
          </a:bodyPr>
          <a:lstStyle/>
          <a:p>
            <a:pPr algn="l">
              <a:buNone/>
              <a:defRPr sz="2025" b="0">
                <a:solidFill>
                  <a:srgbClr val="182934"/>
                </a:solidFill>
                <a:latin typeface="Arial"/>
                <a:ea typeface="Arial"/>
                <a:cs typeface="Arial"/>
              </a:defRPr>
            </a:pPr>
            <a:r>
              <a:rPr sz="2025" b="0">
                <a:solidFill>
                  <a:srgbClr val="182934"/>
                </a:solidFill>
                <a:latin typeface="Arial"/>
                <a:ea typeface="Arial"/>
                <a:cs typeface="Arial"/>
              </a:rPr>
              <a:t>Systematic ~100 pc maps</a:t>
            </a:r>
          </a:p>
          <a:p>
            <a:pPr>
              <a:buNone/>
              <a:defRPr sz="2025" b="0">
                <a:solidFill>
                  <a:srgbClr val="182934"/>
                </a:solidFill>
                <a:latin typeface="Arial"/>
                <a:ea typeface="Arial"/>
                <a:cs typeface="Arial"/>
              </a:defRPr>
            </a:pPr>
            <a:r>
              <a:rPr sz="2025" b="0">
                <a:solidFill>
                  <a:srgbClr val="182934"/>
                </a:solidFill>
                <a:latin typeface="Arial"/>
                <a:ea typeface="Arial"/>
                <a:cs typeface="Arial"/>
              </a:rPr>
              <a:t>across cluster infall stages</a:t>
            </a:r>
            <a:endParaRPr sz="1875" b="0">
              <a:solidFill>
                <a:srgbClr val="182934"/>
              </a:solidFill>
              <a:latin typeface="Arial"/>
              <a:ea typeface="Arial"/>
              <a:cs typeface="Arial"/>
            </a:endParaRPr>
          </a:p>
          <a:p>
            <a:pPr algn="l">
              <a:buNone/>
              <a:defRPr sz="1875" b="0">
                <a:solidFill>
                  <a:srgbClr val="182934"/>
                </a:solidFill>
                <a:latin typeface="Arial"/>
                <a:ea typeface="Arial"/>
                <a:cs typeface="Arial"/>
              </a:defRPr>
            </a:pPr>
            <a:r>
              <a:rPr sz="1875" b="0">
                <a:solidFill>
                  <a:srgbClr val="182934"/>
                </a:solidFill>
                <a:latin typeface="Arial"/>
                <a:ea typeface="Arial"/>
                <a:cs typeface="Arial"/>
              </a:rPr>
              <a:t/>
            </a:r>
          </a:p>
          <a:p>
            <a:pPr>
              <a:buNone/>
              <a:defRPr sz="2025" b="0">
                <a:solidFill>
                  <a:srgbClr val="182934"/>
                </a:solidFill>
                <a:latin typeface="Arial"/>
                <a:ea typeface="Arial"/>
                <a:cs typeface="Arial"/>
              </a:defRPr>
            </a:pPr>
            <a:r>
              <a:rPr sz="2025" b="0">
                <a:solidFill>
                  <a:srgbClr val="182934"/>
                </a:solidFill>
                <a:latin typeface="Arial"/>
                <a:ea typeface="Arial"/>
                <a:cs typeface="Arial"/>
              </a:rPr>
              <a:t>Linking ionized gas and stars</a:t>
            </a:r>
            <a:endParaRPr sz="1875" b="0">
              <a:solidFill>
                <a:srgbClr val="182934"/>
              </a:solidFill>
              <a:latin typeface="Arial"/>
              <a:ea typeface="Arial"/>
              <a:cs typeface="Arial"/>
            </a:endParaRPr>
          </a:p>
          <a:p>
            <a:pPr algn="l">
              <a:buNone/>
              <a:defRPr sz="2025" b="0">
                <a:solidFill>
                  <a:srgbClr val="182934"/>
                </a:solidFill>
                <a:latin typeface="Arial"/>
                <a:ea typeface="Arial"/>
                <a:cs typeface="Arial"/>
              </a:defRPr>
            </a:pPr>
            <a:r>
              <a:rPr sz="2025" b="0">
                <a:solidFill>
                  <a:srgbClr val="182934"/>
                </a:solidFill>
                <a:latin typeface="Arial"/>
                <a:ea typeface="Arial"/>
                <a:cs typeface="Arial"/>
              </a:rPr>
              <a:t>to the molecular-gas reservoir</a:t>
            </a:r>
          </a:p>
        </p:txBody>
      </p:sp>
      <p:sp>
        <p:nvSpPr>
          <p:cNvPr id="18" name="Rectangle 17">
            <a:extLst>
              <a:ext uri="{FF2B5EF4-FFF2-40B4-BE49-F238E27FC236}">
                <a16:creationId xmlns:a16="http://schemas.microsoft.com/office/drawing/2014/main" id="{2413616D-802C-4D5A-8A06-2E7C0DB00F00}"/>
              </a:ext>
            </a:extLst>
          </p:cNvPr>
          <p:cNvSpPr>
            <a:spLocks noGrp="1"/>
          </p:cNvSpPr>
          <p:nvPr/>
        </p:nvSpPr>
        <p:spPr>
          <a:xfrm>
            <a:off x="533400" y="5095875"/>
            <a:ext cx="11125200" cy="1000125"/>
          </a:xfrm>
          <a:prstGeom prst="rect">
            <a:avLst/>
          </a:prstGeom>
          <a:solidFill>
            <a:srgbClr val="10222E"/>
          </a:solidFill>
          <a:ln w="0">
            <a:noFill/>
          </a:ln>
        </p:spPr>
        <p:txBody>
          <a:bodyPr/>
          <a:lstStyle/>
          <a:p>
            <a:endParaRPr lang="en-US"/>
          </a:p>
        </p:txBody>
      </p:sp>
      <p:sp>
        <p:nvSpPr>
          <p:cNvPr id="19" name="Rectangle 18">
            <a:extLst>
              <a:ext uri="{FF2B5EF4-FFF2-40B4-BE49-F238E27FC236}">
                <a16:creationId xmlns:a16="http://schemas.microsoft.com/office/drawing/2014/main" id="{3AC56BB8-CA77-4EF1-A6DF-1D4E4B56EB8A}"/>
              </a:ext>
            </a:extLst>
          </p:cNvPr>
          <p:cNvSpPr>
            <a:spLocks noGrp="1"/>
          </p:cNvSpPr>
          <p:nvPr/>
        </p:nvSpPr>
        <p:spPr>
          <a:xfrm>
            <a:off x="742950" y="5286375"/>
            <a:ext cx="2781300" cy="352425"/>
          </a:xfrm>
          <a:prstGeom prst="rect">
            <a:avLst/>
          </a:prstGeom>
          <a:noFill/>
          <a:ln w="0">
            <a:noFill/>
          </a:ln>
        </p:spPr>
        <p:txBody>
          <a:bodyPr lIns="0" tIns="0" rIns="0" bIns="0" anchor="t">
            <a:noAutofit/>
          </a:bodyPr>
          <a:lstStyle/>
          <a:p>
            <a:pPr algn="l">
              <a:buNone/>
              <a:defRPr sz="1950" b="1">
                <a:solidFill>
                  <a:srgbClr val="D7BDD5"/>
                </a:solidFill>
                <a:latin typeface="Arial"/>
                <a:ea typeface="Arial"/>
                <a:cs typeface="Arial"/>
              </a:defRPr>
            </a:pPr>
            <a:r>
              <a:rPr sz="1950" b="1">
                <a:solidFill>
                  <a:srgbClr val="D7BDD5"/>
                </a:solidFill>
                <a:latin typeface="Arial"/>
                <a:ea typeface="Arial"/>
                <a:cs typeface="Arial"/>
              </a:rPr>
              <a:t>VIRGO  ~16.5 Mpc</a:t>
            </a:r>
          </a:p>
        </p:txBody>
      </p:sp>
      <p:sp>
        <p:nvSpPr>
          <p:cNvPr id="20" name="Rectangle 19">
            <a:extLst>
              <a:ext uri="{FF2B5EF4-FFF2-40B4-BE49-F238E27FC236}">
                <a16:creationId xmlns:a16="http://schemas.microsoft.com/office/drawing/2014/main" id="{32642071-996F-45CD-B557-B8598DBFCF3B}"/>
              </a:ext>
            </a:extLst>
          </p:cNvPr>
          <p:cNvSpPr>
            <a:spLocks noGrp="1"/>
          </p:cNvSpPr>
          <p:nvPr/>
        </p:nvSpPr>
        <p:spPr>
          <a:xfrm>
            <a:off x="3762375" y="5286375"/>
            <a:ext cx="7620000" cy="352425"/>
          </a:xfrm>
          <a:prstGeom prst="rect">
            <a:avLst/>
          </a:prstGeom>
          <a:noFill/>
          <a:ln w="0">
            <a:noFill/>
          </a:ln>
        </p:spPr>
        <p:txBody>
          <a:bodyPr lIns="0" tIns="0" rIns="0" bIns="0" anchor="t">
            <a:noAutofit/>
          </a:bodyPr>
          <a:lstStyle/>
          <a:p>
            <a:pPr algn="l">
              <a:buNone/>
              <a:defRPr sz="2025" b="1">
                <a:solidFill>
                  <a:srgbClr val="FFFFFF"/>
                </a:solidFill>
                <a:latin typeface="Arial"/>
                <a:ea typeface="Arial"/>
                <a:cs typeface="Arial"/>
              </a:defRPr>
            </a:pPr>
            <a:r>
              <a:rPr sz="2025" b="1">
                <a:solidFill>
                  <a:srgbClr val="FFFFFF"/>
                </a:solidFill>
                <a:latin typeface="Arial"/>
                <a:ea typeface="Arial"/>
                <a:cs typeface="Arial"/>
              </a:rPr>
              <a:t>~100-200 pc across the gas disc</a:t>
            </a:r>
          </a:p>
        </p:txBody>
      </p:sp>
      <p:sp>
        <p:nvSpPr>
          <p:cNvPr id="21" name="Rectangle 20">
            <a:extLst>
              <a:ext uri="{FF2B5EF4-FFF2-40B4-BE49-F238E27FC236}">
                <a16:creationId xmlns:a16="http://schemas.microsoft.com/office/drawing/2014/main" id="{A653160F-25D6-4E77-B32C-B460C5C39DFE}"/>
              </a:ext>
            </a:extLst>
          </p:cNvPr>
          <p:cNvSpPr>
            <a:spLocks noGrp="1"/>
          </p:cNvSpPr>
          <p:nvPr/>
        </p:nvSpPr>
        <p:spPr>
          <a:xfrm>
            <a:off x="742950" y="5724525"/>
            <a:ext cx="10572750" cy="295275"/>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Virgo enables a resolved comparison across environmental stages</a:t>
            </a:r>
          </a:p>
        </p:txBody>
      </p:sp>
    </p:spTree>
    <p:extLst>
      <p:ext uri="{BB962C8B-B14F-4D97-AF65-F5344CB8AC3E}">
        <p14:creationId xmlns:p14="http://schemas.microsoft.com/office/powerpoint/2010/main" val="827415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AFD5708-1A4D-4FA8-816B-32A0CE49177A}"/>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SURVEY</a:t>
            </a:r>
          </a:p>
        </p:txBody>
      </p:sp>
      <p:sp>
        <p:nvSpPr>
          <p:cNvPr id="2" name="Rectangle 1">
            <a:extLst>
              <a:ext uri="{FF2B5EF4-FFF2-40B4-BE49-F238E27FC236}">
                <a16:creationId xmlns:a16="http://schemas.microsoft.com/office/drawing/2014/main" id="{E24F43FD-3ED8-4EB1-A180-256FE4AE7CCA}"/>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MAUVE resolves the Virgo environment</a:t>
            </a:r>
          </a:p>
        </p:txBody>
      </p:sp>
      <p:sp>
        <p:nvSpPr>
          <p:cNvPr id="3" name="Rectangle 2">
            <a:extLst>
              <a:ext uri="{FF2B5EF4-FFF2-40B4-BE49-F238E27FC236}">
                <a16:creationId xmlns:a16="http://schemas.microsoft.com/office/drawing/2014/main" id="{C3523FF6-82CE-430B-89E3-1421F7A8674B}"/>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6DB9CEFD-4E8F-4332-B7A8-7C7BEE70F67D}"/>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02EC1790-F663-4833-ABF0-C40EA0118879}"/>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6</a:t>
            </a:r>
          </a:p>
        </p:txBody>
      </p:sp>
      <p:sp>
        <p:nvSpPr>
          <p:cNvPr id="6" name="Rectangle 5">
            <a:extLst>
              <a:ext uri="{FF2B5EF4-FFF2-40B4-BE49-F238E27FC236}">
                <a16:creationId xmlns:a16="http://schemas.microsoft.com/office/drawing/2014/main" id="{C955A655-2AD7-4CE8-BD84-14EFCC1988E0}"/>
              </a:ext>
            </a:extLst>
          </p:cNvPr>
          <p:cNvSpPr>
            <a:spLocks noGrp="1"/>
          </p:cNvSpPr>
          <p:nvPr/>
        </p:nvSpPr>
        <p:spPr>
          <a:xfrm>
            <a:off x="533400" y="1514475"/>
            <a:ext cx="11125200" cy="419100"/>
          </a:xfrm>
          <a:prstGeom prst="rect">
            <a:avLst/>
          </a:prstGeom>
          <a:noFill/>
          <a:ln w="0">
            <a:noFill/>
          </a:ln>
        </p:spPr>
        <p:txBody>
          <a:bodyPr wrap="square" lIns="0" tIns="0" rIns="0" bIns="0" anchor="t">
            <a:noAutofit/>
          </a:bodyPr>
          <a:lstStyle/>
          <a:p>
            <a:pPr algn="l">
              <a:defRPr sz="2100" b="0">
                <a:solidFill>
                  <a:srgbClr val="85457F"/>
                </a:solidFill>
                <a:latin typeface="Arial"/>
                <a:ea typeface="Arial"/>
                <a:cs typeface="Arial"/>
              </a:defRPr>
            </a:pPr>
            <a:r>
              <a:rPr sz="2100" b="0">
                <a:solidFill>
                  <a:srgbClr val="85457F"/>
                </a:solidFill>
                <a:latin typeface="Arial"/>
                <a:ea typeface="Arial"/>
                <a:cs typeface="Arial"/>
              </a:rPr>
              <a:t>Multiphase Astrophysics to Unveil the Virgo Environment</a:t>
            </a:r>
          </a:p>
        </p:txBody>
      </p:sp>
      <p:pic>
        <p:nvPicPr>
          <p:cNvPr id="17" name="Picture 16"/>
          <p:cNvPicPr>
            <a:picLocks noChangeAspect="1"/>
          </p:cNvPicPr>
          <p:nvPr/>
        </p:nvPicPr>
        <p:blipFill>
          <a:blip r:embed="rId3"/>
          <a:stretch/>
        </p:blipFill>
        <p:spPr>
          <a:xfrm>
            <a:off x="533400" y="2417948"/>
            <a:ext cx="11125200" cy="2450729"/>
          </a:xfrm>
          <a:prstGeom prst="rect">
            <a:avLst/>
          </a:prstGeom>
        </p:spPr>
      </p:pic>
      <p:sp>
        <p:nvSpPr>
          <p:cNvPr id="8" name="Rectangle 7">
            <a:extLst>
              <a:ext uri="{FF2B5EF4-FFF2-40B4-BE49-F238E27FC236}">
                <a16:creationId xmlns:a16="http://schemas.microsoft.com/office/drawing/2014/main" id="{3E452B91-A4B0-4CB2-A0F0-81FA4462A8F4}"/>
              </a:ext>
            </a:extLst>
          </p:cNvPr>
          <p:cNvSpPr>
            <a:spLocks noGrp="1"/>
          </p:cNvSpPr>
          <p:nvPr/>
        </p:nvSpPr>
        <p:spPr>
          <a:xfrm>
            <a:off x="533400" y="5486400"/>
            <a:ext cx="2628900" cy="523875"/>
          </a:xfrm>
          <a:prstGeom prst="rect">
            <a:avLst/>
          </a:prstGeom>
          <a:noFill/>
          <a:ln w="0">
            <a:noFill/>
          </a:ln>
        </p:spPr>
        <p:txBody>
          <a:bodyPr wrap="square" lIns="0" tIns="0" rIns="0" bIns="0" anchor="t">
            <a:noAutofit/>
          </a:bodyPr>
          <a:lstStyle/>
          <a:p>
            <a:pPr algn="l">
              <a:defRPr sz="2775" b="1">
                <a:solidFill>
                  <a:srgbClr val="182934"/>
                </a:solidFill>
                <a:latin typeface="Arial"/>
                <a:ea typeface="Arial"/>
                <a:cs typeface="Arial"/>
              </a:defRPr>
            </a:pPr>
            <a:r>
              <a:rPr sz="2775" b="1">
                <a:solidFill>
                  <a:srgbClr val="182934"/>
                </a:solidFill>
                <a:latin typeface="Arial"/>
                <a:ea typeface="Arial"/>
                <a:cs typeface="Arial"/>
              </a:rPr>
              <a:t>40 galaxies</a:t>
            </a:r>
          </a:p>
        </p:txBody>
      </p:sp>
      <p:sp>
        <p:nvSpPr>
          <p:cNvPr id="9" name="Rectangle 8">
            <a:extLst>
              <a:ext uri="{FF2B5EF4-FFF2-40B4-BE49-F238E27FC236}">
                <a16:creationId xmlns:a16="http://schemas.microsoft.com/office/drawing/2014/main" id="{C56FB230-FD93-4EFD-AF66-965F2FA73B3D}"/>
              </a:ext>
            </a:extLst>
          </p:cNvPr>
          <p:cNvSpPr>
            <a:spLocks noGrp="1"/>
          </p:cNvSpPr>
          <p:nvPr/>
        </p:nvSpPr>
        <p:spPr>
          <a:xfrm>
            <a:off x="3352800" y="5505450"/>
            <a:ext cx="8191500" cy="619125"/>
          </a:xfrm>
          <a:prstGeom prst="rect">
            <a:avLst/>
          </a:prstGeom>
          <a:noFill/>
          <a:ln w="0">
            <a:noFill/>
          </a:ln>
        </p:spPr>
        <p:txBody>
          <a:bodyPr wrap="square" lIns="0" tIns="0" rIns="0" bIns="0" anchor="t">
            <a:noAutofit/>
          </a:bodyPr>
          <a:lstStyle/>
          <a:p>
            <a:pPr algn="l">
              <a:defRPr sz="1800" b="0">
                <a:solidFill>
                  <a:srgbClr val="182934"/>
                </a:solidFill>
                <a:latin typeface="Arial"/>
                <a:ea typeface="Arial"/>
                <a:cs typeface="Arial"/>
              </a:defRPr>
            </a:pPr>
            <a:r>
              <a:rPr sz="1800" b="0">
                <a:solidFill>
                  <a:srgbClr val="182934"/>
                </a:solidFill>
                <a:latin typeface="Arial"/>
                <a:ea typeface="Arial"/>
                <a:cs typeface="Arial"/>
              </a:rPr>
              <a:t>MUSE: stars + ionized gas   ·   ALMA: molecular gas   ·   HST: stellar structure</a:t>
            </a:r>
          </a:p>
        </p:txBody>
      </p:sp>
      <p:sp>
        <p:nvSpPr>
          <p:cNvPr id="10" name="Rectangle 9">
            <a:extLst>
              <a:ext uri="{FF2B5EF4-FFF2-40B4-BE49-F238E27FC236}">
                <a16:creationId xmlns:a16="http://schemas.microsoft.com/office/drawing/2014/main" id="{64D3C9E6-DFA0-4AD9-8C6F-5855AA35F5D2}"/>
              </a:ext>
            </a:extLst>
          </p:cNvPr>
          <p:cNvSpPr>
            <a:spLocks noGrp="1"/>
          </p:cNvSpPr>
          <p:nvPr/>
        </p:nvSpPr>
        <p:spPr>
          <a:xfrm>
            <a:off x="533400" y="61150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Catinella et al. 2025, Figure 3 (NGC4298 row). Programme and analysis samples are distinct.</a:t>
            </a:r>
          </a:p>
        </p:txBody>
      </p:sp>
    </p:spTree>
    <p:extLst>
      <p:ext uri="{BB962C8B-B14F-4D97-AF65-F5344CB8AC3E}">
        <p14:creationId xmlns:p14="http://schemas.microsoft.com/office/powerpoint/2010/main" val="759764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ECDAFE7-918C-4D72-BCFC-D2E83187B6FC}"/>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SELECTED COLLABORATION RESULTS</a:t>
            </a:r>
          </a:p>
        </p:txBody>
      </p:sp>
      <p:sp>
        <p:nvSpPr>
          <p:cNvPr id="2" name="Rectangle 1">
            <a:extLst>
              <a:ext uri="{FF2B5EF4-FFF2-40B4-BE49-F238E27FC236}">
                <a16:creationId xmlns:a16="http://schemas.microsoft.com/office/drawing/2014/main" id="{2FC53026-11CA-4E80-A201-7D871732B682}"/>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MAUVE early science connects feedback, gas phases and ionization</a:t>
            </a:r>
          </a:p>
        </p:txBody>
      </p:sp>
      <p:sp>
        <p:nvSpPr>
          <p:cNvPr id="3" name="Rectangle 2">
            <a:extLst>
              <a:ext uri="{FF2B5EF4-FFF2-40B4-BE49-F238E27FC236}">
                <a16:creationId xmlns:a16="http://schemas.microsoft.com/office/drawing/2014/main" id="{2415ADE4-E503-4D5B-B9C9-EC3C6B8A9C33}"/>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A2FDB251-A65F-4B36-A4F0-F4C682F4969F}"/>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055AA09B-F69F-426C-B5FE-3CD1098D58A0}"/>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7</a:t>
            </a:r>
          </a:p>
        </p:txBody>
      </p:sp>
      <p:sp>
        <p:nvSpPr>
          <p:cNvPr id="6" name="Rectangle 5">
            <a:extLst>
              <a:ext uri="{FF2B5EF4-FFF2-40B4-BE49-F238E27FC236}">
                <a16:creationId xmlns:a16="http://schemas.microsoft.com/office/drawing/2014/main" id="{E2EBE121-55F1-4BC9-9131-43014EB80615}"/>
              </a:ext>
            </a:extLst>
          </p:cNvPr>
          <p:cNvSpPr>
            <a:spLocks noGrp="1"/>
          </p:cNvSpPr>
          <p:nvPr/>
        </p:nvSpPr>
        <p:spPr>
          <a:xfrm>
            <a:off x="533400" y="1676400"/>
            <a:ext cx="3476625" cy="3486150"/>
          </a:xfrm>
          <a:prstGeom prst="rect">
            <a:avLst/>
          </a:prstGeom>
          <a:solidFill>
            <a:srgbClr val="F3F5F6"/>
          </a:solidFill>
          <a:ln w="0">
            <a:noFill/>
          </a:ln>
        </p:spPr>
        <p:txBody>
          <a:bodyPr/>
          <a:lstStyle/>
          <a:p>
            <a:endParaRPr lang="en-US"/>
          </a:p>
        </p:txBody>
      </p:sp>
      <p:pic>
        <p:nvPicPr>
          <p:cNvPr id="26" name="Picture 25"/>
          <p:cNvPicPr>
            <a:picLocks noChangeAspect="1"/>
          </p:cNvPicPr>
          <p:nvPr/>
        </p:nvPicPr>
        <p:blipFill>
          <a:blip r:embed="rId3"/>
          <a:stretch/>
        </p:blipFill>
        <p:spPr>
          <a:xfrm>
            <a:off x="1163903" y="1809750"/>
            <a:ext cx="2215619" cy="1962150"/>
          </a:xfrm>
          <a:prstGeom prst="rect">
            <a:avLst/>
          </a:prstGeom>
        </p:spPr>
      </p:pic>
      <p:sp>
        <p:nvSpPr>
          <p:cNvPr id="8" name="Rectangle 7">
            <a:extLst>
              <a:ext uri="{FF2B5EF4-FFF2-40B4-BE49-F238E27FC236}">
                <a16:creationId xmlns:a16="http://schemas.microsoft.com/office/drawing/2014/main" id="{CC1C4E75-FD88-4D8C-94EF-B16C50CD3901}"/>
              </a:ext>
            </a:extLst>
          </p:cNvPr>
          <p:cNvSpPr>
            <a:spLocks noGrp="1"/>
          </p:cNvSpPr>
          <p:nvPr/>
        </p:nvSpPr>
        <p:spPr>
          <a:xfrm>
            <a:off x="723900" y="4010025"/>
            <a:ext cx="3095625" cy="333375"/>
          </a:xfrm>
          <a:prstGeom prst="rect">
            <a:avLst/>
          </a:prstGeom>
          <a:noFill/>
          <a:ln w="0">
            <a:noFill/>
          </a:ln>
        </p:spPr>
        <p:txBody>
          <a:bodyPr wrap="square" lIns="0" tIns="0" rIns="0" bIns="0" anchor="t">
            <a:noAutofit/>
          </a:bodyPr>
          <a:lstStyle/>
          <a:p>
            <a:pPr algn="l">
              <a:defRPr sz="1800" b="1">
                <a:solidFill>
                  <a:srgbClr val="182934"/>
                </a:solidFill>
                <a:latin typeface="Arial"/>
                <a:ea typeface="Arial"/>
                <a:cs typeface="Arial"/>
              </a:defRPr>
            </a:pPr>
            <a:r>
              <a:rPr sz="1800" b="1">
                <a:solidFill>
                  <a:srgbClr val="182934"/>
                </a:solidFill>
                <a:latin typeface="Arial"/>
                <a:ea typeface="Arial"/>
                <a:cs typeface="Arial"/>
              </a:rPr>
              <a:t>NGC4383</a:t>
            </a:r>
          </a:p>
        </p:txBody>
      </p:sp>
      <p:sp>
        <p:nvSpPr>
          <p:cNvPr id="9" name="Rectangle 8">
            <a:extLst>
              <a:ext uri="{FF2B5EF4-FFF2-40B4-BE49-F238E27FC236}">
                <a16:creationId xmlns:a16="http://schemas.microsoft.com/office/drawing/2014/main" id="{5D43B9AA-7C83-4C41-B1E0-04E73C171871}"/>
              </a:ext>
            </a:extLst>
          </p:cNvPr>
          <p:cNvSpPr>
            <a:spLocks noGrp="1"/>
          </p:cNvSpPr>
          <p:nvPr/>
        </p:nvSpPr>
        <p:spPr>
          <a:xfrm>
            <a:off x="723900" y="4429125"/>
            <a:ext cx="3095625" cy="457200"/>
          </a:xfrm>
          <a:prstGeom prst="rect">
            <a:avLst/>
          </a:prstGeom>
          <a:noFill/>
          <a:ln w="0">
            <a:noFill/>
          </a:ln>
        </p:spPr>
        <p:txBody>
          <a:bodyPr wrap="square" lIns="0" tIns="0" rIns="0" bIns="0" anchor="t">
            <a:noAutofit/>
          </a:bodyPr>
          <a:lstStyle/>
          <a:p>
            <a:pPr algn="l">
              <a:defRPr sz="1650" b="1">
                <a:solidFill>
                  <a:srgbClr val="85457F"/>
                </a:solidFill>
                <a:latin typeface="Arial"/>
                <a:ea typeface="Arial"/>
                <a:cs typeface="Arial"/>
              </a:defRPr>
            </a:pPr>
            <a:r>
              <a:rPr sz="1650" b="1">
                <a:solidFill>
                  <a:srgbClr val="85457F"/>
                </a:solidFill>
                <a:latin typeface="Arial"/>
                <a:ea typeface="Arial"/>
                <a:cs typeface="Arial"/>
              </a:rPr>
              <a:t>Multiphase fountain</a:t>
            </a:r>
          </a:p>
        </p:txBody>
      </p:sp>
      <p:sp>
        <p:nvSpPr>
          <p:cNvPr id="10" name="Rectangle 9">
            <a:extLst>
              <a:ext uri="{FF2B5EF4-FFF2-40B4-BE49-F238E27FC236}">
                <a16:creationId xmlns:a16="http://schemas.microsoft.com/office/drawing/2014/main" id="{72B63E60-3B2E-405A-A2C2-E9A6CF538420}"/>
              </a:ext>
            </a:extLst>
          </p:cNvPr>
          <p:cNvSpPr>
            <a:spLocks noGrp="1"/>
          </p:cNvSpPr>
          <p:nvPr/>
        </p:nvSpPr>
        <p:spPr>
          <a:xfrm>
            <a:off x="4352925" y="1676400"/>
            <a:ext cx="3476625" cy="3486150"/>
          </a:xfrm>
          <a:prstGeom prst="rect">
            <a:avLst/>
          </a:prstGeom>
          <a:solidFill>
            <a:srgbClr val="F2EDF3"/>
          </a:solidFill>
          <a:ln w="0">
            <a:noFill/>
          </a:ln>
        </p:spPr>
        <p:txBody>
          <a:bodyPr/>
          <a:lstStyle/>
          <a:p>
            <a:endParaRPr lang="en-US"/>
          </a:p>
        </p:txBody>
      </p:sp>
      <p:pic>
        <p:nvPicPr>
          <p:cNvPr id="30" name="Picture 29"/>
          <p:cNvPicPr>
            <a:picLocks noChangeAspect="1"/>
          </p:cNvPicPr>
          <p:nvPr/>
        </p:nvPicPr>
        <p:blipFill>
          <a:blip r:embed="rId4"/>
          <a:stretch/>
        </p:blipFill>
        <p:spPr>
          <a:xfrm>
            <a:off x="5176370" y="1809750"/>
            <a:ext cx="1829735" cy="1962150"/>
          </a:xfrm>
          <a:prstGeom prst="rect">
            <a:avLst/>
          </a:prstGeom>
        </p:spPr>
      </p:pic>
      <p:sp>
        <p:nvSpPr>
          <p:cNvPr id="12" name="Rectangle 11">
            <a:extLst>
              <a:ext uri="{FF2B5EF4-FFF2-40B4-BE49-F238E27FC236}">
                <a16:creationId xmlns:a16="http://schemas.microsoft.com/office/drawing/2014/main" id="{6F544C6A-0376-4F66-A286-9940B6DAD32B}"/>
              </a:ext>
            </a:extLst>
          </p:cNvPr>
          <p:cNvSpPr>
            <a:spLocks noGrp="1"/>
          </p:cNvSpPr>
          <p:nvPr/>
        </p:nvSpPr>
        <p:spPr>
          <a:xfrm>
            <a:off x="4543425" y="4010025"/>
            <a:ext cx="3095625" cy="333375"/>
          </a:xfrm>
          <a:prstGeom prst="rect">
            <a:avLst/>
          </a:prstGeom>
          <a:noFill/>
          <a:ln w="0">
            <a:noFill/>
          </a:ln>
        </p:spPr>
        <p:txBody>
          <a:bodyPr wrap="square" lIns="0" tIns="0" rIns="0" bIns="0" anchor="t">
            <a:noAutofit/>
          </a:bodyPr>
          <a:lstStyle/>
          <a:p>
            <a:pPr algn="l">
              <a:defRPr sz="1800" b="1">
                <a:solidFill>
                  <a:srgbClr val="182934"/>
                </a:solidFill>
                <a:latin typeface="Arial"/>
                <a:ea typeface="Arial"/>
                <a:cs typeface="Arial"/>
              </a:defRPr>
            </a:pPr>
            <a:r>
              <a:rPr sz="1800" b="1">
                <a:solidFill>
                  <a:srgbClr val="182934"/>
                </a:solidFill>
                <a:latin typeface="Arial"/>
                <a:ea typeface="Arial"/>
                <a:cs typeface="Arial"/>
              </a:rPr>
              <a:t>NGC4064</a:t>
            </a:r>
          </a:p>
        </p:txBody>
      </p:sp>
      <p:sp>
        <p:nvSpPr>
          <p:cNvPr id="13" name="Rectangle 12">
            <a:extLst>
              <a:ext uri="{FF2B5EF4-FFF2-40B4-BE49-F238E27FC236}">
                <a16:creationId xmlns:a16="http://schemas.microsoft.com/office/drawing/2014/main" id="{2C0DFC66-9A13-422F-9AEC-C4DF22AF3362}"/>
              </a:ext>
            </a:extLst>
          </p:cNvPr>
          <p:cNvSpPr>
            <a:spLocks noGrp="1"/>
          </p:cNvSpPr>
          <p:nvPr/>
        </p:nvSpPr>
        <p:spPr>
          <a:xfrm>
            <a:off x="4543425" y="4429125"/>
            <a:ext cx="3095625" cy="457200"/>
          </a:xfrm>
          <a:prstGeom prst="rect">
            <a:avLst/>
          </a:prstGeom>
          <a:noFill/>
          <a:ln w="0">
            <a:noFill/>
          </a:ln>
        </p:spPr>
        <p:txBody>
          <a:bodyPr wrap="square" lIns="0" tIns="0" rIns="0" bIns="0" anchor="t">
            <a:noAutofit/>
          </a:bodyPr>
          <a:lstStyle/>
          <a:p>
            <a:pPr algn="l">
              <a:defRPr sz="1650" b="1">
                <a:solidFill>
                  <a:srgbClr val="85457F"/>
                </a:solidFill>
                <a:latin typeface="Arial"/>
                <a:ea typeface="Arial"/>
                <a:cs typeface="Arial"/>
              </a:defRPr>
            </a:pPr>
            <a:r>
              <a:rPr sz="1650" b="1">
                <a:solidFill>
                  <a:srgbClr val="85457F"/>
                </a:solidFill>
                <a:latin typeface="Arial"/>
                <a:ea typeface="Arial"/>
                <a:cs typeface="Arial"/>
              </a:rPr>
              <a:t>Feedback after stripping</a:t>
            </a:r>
          </a:p>
        </p:txBody>
      </p:sp>
      <p:sp>
        <p:nvSpPr>
          <p:cNvPr id="14" name="Rectangle 13">
            <a:extLst>
              <a:ext uri="{FF2B5EF4-FFF2-40B4-BE49-F238E27FC236}">
                <a16:creationId xmlns:a16="http://schemas.microsoft.com/office/drawing/2014/main" id="{53058121-00CE-4BDA-8CEE-3C6038575B32}"/>
              </a:ext>
            </a:extLst>
          </p:cNvPr>
          <p:cNvSpPr>
            <a:spLocks noGrp="1"/>
          </p:cNvSpPr>
          <p:nvPr/>
        </p:nvSpPr>
        <p:spPr>
          <a:xfrm>
            <a:off x="8172450" y="1676400"/>
            <a:ext cx="3476625" cy="3486150"/>
          </a:xfrm>
          <a:prstGeom prst="rect">
            <a:avLst/>
          </a:prstGeom>
          <a:solidFill>
            <a:srgbClr val="F3F5F6"/>
          </a:solidFill>
          <a:ln w="0">
            <a:noFill/>
          </a:ln>
        </p:spPr>
        <p:txBody>
          <a:bodyPr/>
          <a:lstStyle/>
          <a:p>
            <a:endParaRPr lang="en-US"/>
          </a:p>
        </p:txBody>
      </p:sp>
      <p:pic>
        <p:nvPicPr>
          <p:cNvPr id="34" name="Picture 33"/>
          <p:cNvPicPr>
            <a:picLocks noChangeAspect="1"/>
          </p:cNvPicPr>
          <p:nvPr/>
        </p:nvPicPr>
        <p:blipFill>
          <a:blip r:embed="rId5"/>
          <a:stretch/>
        </p:blipFill>
        <p:spPr>
          <a:xfrm>
            <a:off x="8922655" y="1809750"/>
            <a:ext cx="1976216" cy="1962150"/>
          </a:xfrm>
          <a:prstGeom prst="rect">
            <a:avLst/>
          </a:prstGeom>
        </p:spPr>
      </p:pic>
      <p:sp>
        <p:nvSpPr>
          <p:cNvPr id="16" name="Rectangle 15">
            <a:extLst>
              <a:ext uri="{FF2B5EF4-FFF2-40B4-BE49-F238E27FC236}">
                <a16:creationId xmlns:a16="http://schemas.microsoft.com/office/drawing/2014/main" id="{DE2E1DDD-357F-4C9D-92F2-9707994A78C8}"/>
              </a:ext>
            </a:extLst>
          </p:cNvPr>
          <p:cNvSpPr>
            <a:spLocks noGrp="1"/>
          </p:cNvSpPr>
          <p:nvPr/>
        </p:nvSpPr>
        <p:spPr>
          <a:xfrm>
            <a:off x="8362950" y="4010025"/>
            <a:ext cx="3095625" cy="333375"/>
          </a:xfrm>
          <a:prstGeom prst="rect">
            <a:avLst/>
          </a:prstGeom>
          <a:noFill/>
          <a:ln w="0">
            <a:noFill/>
          </a:ln>
        </p:spPr>
        <p:txBody>
          <a:bodyPr wrap="square" lIns="0" tIns="0" rIns="0" bIns="0" anchor="t">
            <a:noAutofit/>
          </a:bodyPr>
          <a:lstStyle/>
          <a:p>
            <a:pPr algn="l">
              <a:defRPr sz="1800" b="1">
                <a:solidFill>
                  <a:srgbClr val="182934"/>
                </a:solidFill>
                <a:latin typeface="Arial"/>
                <a:ea typeface="Arial"/>
                <a:cs typeface="Arial"/>
              </a:defRPr>
            </a:pPr>
            <a:r>
              <a:rPr sz="1800" b="1">
                <a:solidFill>
                  <a:srgbClr val="182934"/>
                </a:solidFill>
                <a:latin typeface="Arial"/>
                <a:ea typeface="Arial"/>
                <a:cs typeface="Arial"/>
              </a:rPr>
              <a:t>12-galaxy comparison</a:t>
            </a:r>
          </a:p>
        </p:txBody>
      </p:sp>
      <p:sp>
        <p:nvSpPr>
          <p:cNvPr id="17" name="Rectangle 16">
            <a:extLst>
              <a:ext uri="{FF2B5EF4-FFF2-40B4-BE49-F238E27FC236}">
                <a16:creationId xmlns:a16="http://schemas.microsoft.com/office/drawing/2014/main" id="{17D3F0FD-2F19-4624-8A28-47A2B6A993D3}"/>
              </a:ext>
            </a:extLst>
          </p:cNvPr>
          <p:cNvSpPr>
            <a:spLocks noGrp="1"/>
          </p:cNvSpPr>
          <p:nvPr/>
        </p:nvSpPr>
        <p:spPr>
          <a:xfrm>
            <a:off x="8362950" y="4429125"/>
            <a:ext cx="3095625" cy="457200"/>
          </a:xfrm>
          <a:prstGeom prst="rect">
            <a:avLst/>
          </a:prstGeom>
          <a:noFill/>
          <a:ln w="0">
            <a:noFill/>
          </a:ln>
        </p:spPr>
        <p:txBody>
          <a:bodyPr wrap="square" lIns="0" tIns="0" rIns="0" bIns="0" anchor="t">
            <a:noAutofit/>
          </a:bodyPr>
          <a:lstStyle/>
          <a:p>
            <a:pPr algn="l">
              <a:defRPr sz="1650" b="1">
                <a:solidFill>
                  <a:srgbClr val="007E87"/>
                </a:solidFill>
                <a:latin typeface="Arial"/>
                <a:ea typeface="Arial"/>
                <a:cs typeface="Arial"/>
              </a:defRPr>
            </a:pPr>
            <a:r>
              <a:rPr sz="1650" b="1">
                <a:solidFill>
                  <a:srgbClr val="007E87"/>
                </a:solidFill>
                <a:latin typeface="Arial"/>
                <a:ea typeface="Arial"/>
                <a:cs typeface="Arial"/>
              </a:rPr>
              <a:t>DIG as HII emission fades</a:t>
            </a:r>
          </a:p>
        </p:txBody>
      </p:sp>
      <p:sp>
        <p:nvSpPr>
          <p:cNvPr id="18" name="Rectangle 17">
            <a:extLst>
              <a:ext uri="{FF2B5EF4-FFF2-40B4-BE49-F238E27FC236}">
                <a16:creationId xmlns:a16="http://schemas.microsoft.com/office/drawing/2014/main" id="{4BE46052-ECA8-4FB6-9C5C-A9DC9141E47D}"/>
              </a:ext>
            </a:extLst>
          </p:cNvPr>
          <p:cNvSpPr>
            <a:spLocks noGrp="1"/>
          </p:cNvSpPr>
          <p:nvPr/>
        </p:nvSpPr>
        <p:spPr>
          <a:xfrm>
            <a:off x="533400" y="5429250"/>
            <a:ext cx="11125200" cy="542925"/>
          </a:xfrm>
          <a:prstGeom prst="rect">
            <a:avLst/>
          </a:prstGeom>
          <a:noFill/>
          <a:ln w="0">
            <a:noFill/>
          </a:ln>
        </p:spPr>
        <p:txBody>
          <a:bodyPr wrap="square" lIns="0" tIns="0" rIns="0" bIns="0" anchor="t">
            <a:noAutofit/>
          </a:bodyPr>
          <a:lstStyle/>
          <a:p>
            <a:pPr algn="l">
              <a:defRPr sz="2175" b="1">
                <a:solidFill>
                  <a:srgbClr val="182934"/>
                </a:solidFill>
                <a:latin typeface="Arial"/>
                <a:ea typeface="Arial"/>
                <a:cs typeface="Arial"/>
              </a:defRPr>
            </a:pPr>
            <a:r>
              <a:rPr sz="2175" b="1">
                <a:solidFill>
                  <a:srgbClr val="182934"/>
                </a:solidFill>
                <a:latin typeface="Arial"/>
                <a:ea typeface="Arial"/>
                <a:cs typeface="Arial"/>
              </a:rPr>
              <a:t>Environment changes the setting for feedback and recycling.</a:t>
            </a:r>
          </a:p>
        </p:txBody>
      </p:sp>
      <p:sp>
        <p:nvSpPr>
          <p:cNvPr id="19" name="Rectangle 18">
            <a:extLst>
              <a:ext uri="{FF2B5EF4-FFF2-40B4-BE49-F238E27FC236}">
                <a16:creationId xmlns:a16="http://schemas.microsoft.com/office/drawing/2014/main" id="{319A09EE-2637-441B-9E86-7E5A2640D30F}"/>
              </a:ext>
            </a:extLst>
          </p:cNvPr>
          <p:cNvSpPr>
            <a:spLocks noGrp="1"/>
          </p:cNvSpPr>
          <p:nvPr/>
        </p:nvSpPr>
        <p:spPr>
          <a:xfrm>
            <a:off x="533400" y="606742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Structure adapted from Cortese and Brown 2026 MAUVE overview talks; project claims checked against the papers.</a:t>
            </a:r>
          </a:p>
        </p:txBody>
      </p:sp>
    </p:spTree>
    <p:extLst>
      <p:ext uri="{BB962C8B-B14F-4D97-AF65-F5344CB8AC3E}">
        <p14:creationId xmlns:p14="http://schemas.microsoft.com/office/powerpoint/2010/main" val="882245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4D6C756-79DF-4C00-9B09-3EEA8844D5CE}"/>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SELECTED COLLABORATION RESULTS</a:t>
            </a:r>
          </a:p>
        </p:txBody>
      </p:sp>
      <p:sp>
        <p:nvSpPr>
          <p:cNvPr id="2" name="Rectangle 1">
            <a:extLst>
              <a:ext uri="{FF2B5EF4-FFF2-40B4-BE49-F238E27FC236}">
                <a16:creationId xmlns:a16="http://schemas.microsoft.com/office/drawing/2014/main" id="{ED135893-FC59-40F3-AA95-AC8EE02DF247}"/>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NGC4383: from ionized wind to a multiphase fountain</a:t>
            </a:r>
          </a:p>
        </p:txBody>
      </p:sp>
      <p:sp>
        <p:nvSpPr>
          <p:cNvPr id="3" name="Rectangle 2">
            <a:extLst>
              <a:ext uri="{FF2B5EF4-FFF2-40B4-BE49-F238E27FC236}">
                <a16:creationId xmlns:a16="http://schemas.microsoft.com/office/drawing/2014/main" id="{1CCE9DF1-7267-44D9-B952-2D0AE903B905}"/>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F4924A74-BC08-44C0-9613-350154C74917}"/>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DE42A98B-E66A-4C7E-B324-53F2854EAD18}"/>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8</a:t>
            </a:r>
          </a:p>
        </p:txBody>
      </p:sp>
      <p:pic>
        <p:nvPicPr>
          <p:cNvPr id="25" name="Picture 24"/>
          <p:cNvPicPr>
            <a:picLocks noChangeAspect="1"/>
          </p:cNvPicPr>
          <p:nvPr/>
        </p:nvPicPr>
        <p:blipFill>
          <a:blip r:embed="rId3"/>
          <a:stretch/>
        </p:blipFill>
        <p:spPr>
          <a:xfrm>
            <a:off x="1070050" y="1762125"/>
            <a:ext cx="4355950" cy="3857625"/>
          </a:xfrm>
          <a:prstGeom prst="rect">
            <a:avLst/>
          </a:prstGeom>
        </p:spPr>
      </p:pic>
      <p:sp>
        <p:nvSpPr>
          <p:cNvPr id="7" name="Rectangle 6">
            <a:extLst>
              <a:ext uri="{FF2B5EF4-FFF2-40B4-BE49-F238E27FC236}">
                <a16:creationId xmlns:a16="http://schemas.microsoft.com/office/drawing/2014/main" id="{C6CE5776-DFF7-4FB5-9B8F-A07F9FD70197}"/>
              </a:ext>
            </a:extLst>
          </p:cNvPr>
          <p:cNvSpPr>
            <a:spLocks noGrp="1"/>
          </p:cNvSpPr>
          <p:nvPr/>
        </p:nvSpPr>
        <p:spPr>
          <a:xfrm>
            <a:off x="6515100" y="1685925"/>
            <a:ext cx="5010150" cy="781050"/>
          </a:xfrm>
          <a:prstGeom prst="rect">
            <a:avLst/>
          </a:prstGeom>
          <a:solidFill>
            <a:srgbClr val="F2EDF3"/>
          </a:solidFill>
          <a:ln w="0">
            <a:noFill/>
          </a:ln>
        </p:spPr>
        <p:txBody>
          <a:bodyPr/>
          <a:lstStyle/>
          <a:p>
            <a:endParaRPr lang="en-US"/>
          </a:p>
        </p:txBody>
      </p:sp>
      <p:sp>
        <p:nvSpPr>
          <p:cNvPr id="8" name="Rectangle 7">
            <a:extLst>
              <a:ext uri="{FF2B5EF4-FFF2-40B4-BE49-F238E27FC236}">
                <a16:creationId xmlns:a16="http://schemas.microsoft.com/office/drawing/2014/main" id="{8253FE9B-277E-4994-87AA-F263A60905D7}"/>
              </a:ext>
            </a:extLst>
          </p:cNvPr>
          <p:cNvSpPr>
            <a:spLocks noGrp="1"/>
          </p:cNvSpPr>
          <p:nvPr/>
        </p:nvSpPr>
        <p:spPr>
          <a:xfrm>
            <a:off x="6724650" y="1809750"/>
            <a:ext cx="1123950" cy="247650"/>
          </a:xfrm>
          <a:prstGeom prst="rect">
            <a:avLst/>
          </a:prstGeom>
          <a:noFill/>
          <a:ln w="0">
            <a:noFill/>
          </a:ln>
        </p:spPr>
        <p:txBody>
          <a:bodyPr wrap="square" lIns="0" tIns="0" rIns="0" bIns="0" anchor="t">
            <a:noAutofit/>
          </a:bodyPr>
          <a:lstStyle/>
          <a:p>
            <a:pPr algn="l">
              <a:defRPr sz="1275" b="1">
                <a:solidFill>
                  <a:srgbClr val="85457F"/>
                </a:solidFill>
                <a:latin typeface="Arial"/>
                <a:ea typeface="Arial"/>
                <a:cs typeface="Arial"/>
              </a:defRPr>
            </a:pPr>
            <a:r>
              <a:rPr sz="1275" b="1">
                <a:solidFill>
                  <a:srgbClr val="85457F"/>
                </a:solidFill>
                <a:latin typeface="Arial"/>
                <a:ea typeface="Arial"/>
                <a:cs typeface="Arial"/>
              </a:rPr>
              <a:t>LAUNCH</a:t>
            </a:r>
          </a:p>
        </p:txBody>
      </p:sp>
      <p:sp>
        <p:nvSpPr>
          <p:cNvPr id="9" name="Rectangle 8">
            <a:extLst>
              <a:ext uri="{FF2B5EF4-FFF2-40B4-BE49-F238E27FC236}">
                <a16:creationId xmlns:a16="http://schemas.microsoft.com/office/drawing/2014/main" id="{F57AC880-4116-4B51-BDC0-B47AC0762685}"/>
              </a:ext>
            </a:extLst>
          </p:cNvPr>
          <p:cNvSpPr>
            <a:spLocks noGrp="1"/>
          </p:cNvSpPr>
          <p:nvPr/>
        </p:nvSpPr>
        <p:spPr>
          <a:xfrm>
            <a:off x="7867650" y="1809750"/>
            <a:ext cx="3476625" cy="514350"/>
          </a:xfrm>
          <a:prstGeom prst="rect">
            <a:avLst/>
          </a:prstGeom>
          <a:noFill/>
          <a:ln w="0">
            <a:noFill/>
          </a:ln>
        </p:spPr>
        <p:txBody>
          <a:bodyPr wrap="square" lIns="0" tIns="0" rIns="0" bIns="0" anchor="t">
            <a:noAutofit/>
          </a:bodyPr>
          <a:lstStyle/>
          <a:p>
            <a:pPr algn="l">
              <a:defRPr sz="1800" b="0">
                <a:solidFill>
                  <a:srgbClr val="182934"/>
                </a:solidFill>
                <a:latin typeface="Arial"/>
                <a:ea typeface="Arial"/>
                <a:cs typeface="Arial"/>
              </a:defRPr>
            </a:pPr>
            <a:r>
              <a:rPr sz="1800" b="0">
                <a:solidFill>
                  <a:srgbClr val="182934"/>
                </a:solidFill>
                <a:latin typeface="Arial"/>
                <a:ea typeface="Arial"/>
                <a:cs typeface="Arial"/>
              </a:rPr>
              <a:t>6 kpc ionized bicone</a:t>
            </a:r>
          </a:p>
        </p:txBody>
      </p:sp>
      <p:sp>
        <p:nvSpPr>
          <p:cNvPr id="10" name="Rectangle 9">
            <a:extLst>
              <a:ext uri="{FF2B5EF4-FFF2-40B4-BE49-F238E27FC236}">
                <a16:creationId xmlns:a16="http://schemas.microsoft.com/office/drawing/2014/main" id="{CEA033E1-F7E7-4ECC-9718-CA4F5C18E572}"/>
              </a:ext>
            </a:extLst>
          </p:cNvPr>
          <p:cNvSpPr>
            <a:spLocks noGrp="1"/>
          </p:cNvSpPr>
          <p:nvPr/>
        </p:nvSpPr>
        <p:spPr>
          <a:xfrm>
            <a:off x="6515100" y="2657475"/>
            <a:ext cx="5010150" cy="781050"/>
          </a:xfrm>
          <a:prstGeom prst="rect">
            <a:avLst/>
          </a:prstGeom>
          <a:solidFill>
            <a:srgbClr val="F3F5F6"/>
          </a:solidFill>
          <a:ln w="0">
            <a:noFill/>
          </a:ln>
        </p:spPr>
        <p:txBody>
          <a:bodyPr/>
          <a:lstStyle/>
          <a:p>
            <a:endParaRPr lang="en-US"/>
          </a:p>
        </p:txBody>
      </p:sp>
      <p:sp>
        <p:nvSpPr>
          <p:cNvPr id="11" name="Rectangle 10">
            <a:extLst>
              <a:ext uri="{FF2B5EF4-FFF2-40B4-BE49-F238E27FC236}">
                <a16:creationId xmlns:a16="http://schemas.microsoft.com/office/drawing/2014/main" id="{9D9FE428-4557-4CEE-830B-CB2918A4022D}"/>
              </a:ext>
            </a:extLst>
          </p:cNvPr>
          <p:cNvSpPr>
            <a:spLocks noGrp="1"/>
          </p:cNvSpPr>
          <p:nvPr/>
        </p:nvSpPr>
        <p:spPr>
          <a:xfrm>
            <a:off x="6724650" y="2781300"/>
            <a:ext cx="1123950" cy="247650"/>
          </a:xfrm>
          <a:prstGeom prst="rect">
            <a:avLst/>
          </a:prstGeom>
          <a:noFill/>
          <a:ln w="0">
            <a:noFill/>
          </a:ln>
        </p:spPr>
        <p:txBody>
          <a:bodyPr wrap="square" lIns="0" tIns="0" rIns="0" bIns="0" anchor="t">
            <a:noAutofit/>
          </a:bodyPr>
          <a:lstStyle/>
          <a:p>
            <a:pPr algn="l">
              <a:defRPr sz="1275" b="1">
                <a:solidFill>
                  <a:srgbClr val="85457F"/>
                </a:solidFill>
                <a:latin typeface="Arial"/>
                <a:ea typeface="Arial"/>
                <a:cs typeface="Arial"/>
              </a:defRPr>
            </a:pPr>
            <a:r>
              <a:rPr sz="1275" b="1">
                <a:solidFill>
                  <a:srgbClr val="85457F"/>
                </a:solidFill>
                <a:latin typeface="Arial"/>
                <a:ea typeface="Arial"/>
                <a:cs typeface="Arial"/>
              </a:rPr>
              <a:t>PHASE</a:t>
            </a:r>
          </a:p>
        </p:txBody>
      </p:sp>
      <p:sp>
        <p:nvSpPr>
          <p:cNvPr id="12" name="Rectangle 11">
            <a:extLst>
              <a:ext uri="{FF2B5EF4-FFF2-40B4-BE49-F238E27FC236}">
                <a16:creationId xmlns:a16="http://schemas.microsoft.com/office/drawing/2014/main" id="{9808B7E5-DD17-4D8A-8A02-D4661A116C6E}"/>
              </a:ext>
            </a:extLst>
          </p:cNvPr>
          <p:cNvSpPr>
            <a:spLocks noGrp="1"/>
          </p:cNvSpPr>
          <p:nvPr/>
        </p:nvSpPr>
        <p:spPr>
          <a:xfrm>
            <a:off x="7867650" y="2781300"/>
            <a:ext cx="3476625" cy="514350"/>
          </a:xfrm>
          <a:prstGeom prst="rect">
            <a:avLst/>
          </a:prstGeom>
          <a:noFill/>
          <a:ln w="0">
            <a:noFill/>
          </a:ln>
        </p:spPr>
        <p:txBody>
          <a:bodyPr wrap="square" lIns="0" tIns="0" rIns="0" bIns="0" anchor="t">
            <a:noAutofit/>
          </a:bodyPr>
          <a:lstStyle/>
          <a:p>
            <a:pPr algn="l">
              <a:defRPr sz="1800" b="0">
                <a:solidFill>
                  <a:srgbClr val="182934"/>
                </a:solidFill>
                <a:latin typeface="Arial"/>
                <a:ea typeface="Arial"/>
                <a:cs typeface="Arial"/>
              </a:defRPr>
            </a:pPr>
            <a:r>
              <a:rPr sz="1800" b="0">
                <a:solidFill>
                  <a:srgbClr val="182934"/>
                </a:solidFill>
                <a:latin typeface="Arial"/>
                <a:ea typeface="Arial"/>
                <a:cs typeface="Arial"/>
              </a:rPr>
              <a:t>Little molecular gas above ~1 kpc</a:t>
            </a:r>
          </a:p>
        </p:txBody>
      </p:sp>
      <p:sp>
        <p:nvSpPr>
          <p:cNvPr id="13" name="Rectangle 12">
            <a:extLst>
              <a:ext uri="{FF2B5EF4-FFF2-40B4-BE49-F238E27FC236}">
                <a16:creationId xmlns:a16="http://schemas.microsoft.com/office/drawing/2014/main" id="{52AEBAE8-E7D2-49BE-AA78-774F6D13C49C}"/>
              </a:ext>
            </a:extLst>
          </p:cNvPr>
          <p:cNvSpPr>
            <a:spLocks noGrp="1"/>
          </p:cNvSpPr>
          <p:nvPr/>
        </p:nvSpPr>
        <p:spPr>
          <a:xfrm>
            <a:off x="6515100" y="3629025"/>
            <a:ext cx="5010150" cy="781050"/>
          </a:xfrm>
          <a:prstGeom prst="rect">
            <a:avLst/>
          </a:prstGeom>
          <a:solidFill>
            <a:srgbClr val="F3F5F6"/>
          </a:solidFill>
          <a:ln w="0">
            <a:noFill/>
          </a:ln>
        </p:spPr>
        <p:txBody>
          <a:bodyPr/>
          <a:lstStyle/>
          <a:p>
            <a:endParaRPr lang="en-US"/>
          </a:p>
        </p:txBody>
      </p:sp>
      <p:sp>
        <p:nvSpPr>
          <p:cNvPr id="14" name="Rectangle 13">
            <a:extLst>
              <a:ext uri="{FF2B5EF4-FFF2-40B4-BE49-F238E27FC236}">
                <a16:creationId xmlns:a16="http://schemas.microsoft.com/office/drawing/2014/main" id="{11082723-0EA6-44A0-9C35-C6CCF3E99DA2}"/>
              </a:ext>
            </a:extLst>
          </p:cNvPr>
          <p:cNvSpPr>
            <a:spLocks noGrp="1"/>
          </p:cNvSpPr>
          <p:nvPr/>
        </p:nvSpPr>
        <p:spPr>
          <a:xfrm>
            <a:off x="6724650" y="3752850"/>
            <a:ext cx="1123950" cy="247650"/>
          </a:xfrm>
          <a:prstGeom prst="rect">
            <a:avLst/>
          </a:prstGeom>
          <a:noFill/>
          <a:ln w="0">
            <a:noFill/>
          </a:ln>
        </p:spPr>
        <p:txBody>
          <a:bodyPr wrap="square" lIns="0" tIns="0" rIns="0" bIns="0" anchor="t">
            <a:noAutofit/>
          </a:bodyPr>
          <a:lstStyle/>
          <a:p>
            <a:pPr algn="l">
              <a:defRPr sz="1275" b="1">
                <a:solidFill>
                  <a:srgbClr val="85457F"/>
                </a:solidFill>
                <a:latin typeface="Arial"/>
                <a:ea typeface="Arial"/>
                <a:cs typeface="Arial"/>
              </a:defRPr>
            </a:pPr>
            <a:r>
              <a:rPr sz="1275" b="1">
                <a:solidFill>
                  <a:srgbClr val="85457F"/>
                </a:solidFill>
                <a:latin typeface="Arial"/>
                <a:ea typeface="Arial"/>
                <a:cs typeface="Arial"/>
              </a:rPr>
              <a:t>MASS</a:t>
            </a:r>
          </a:p>
        </p:txBody>
      </p:sp>
      <p:sp>
        <p:nvSpPr>
          <p:cNvPr id="15" name="Rectangle 14">
            <a:extLst>
              <a:ext uri="{FF2B5EF4-FFF2-40B4-BE49-F238E27FC236}">
                <a16:creationId xmlns:a16="http://schemas.microsoft.com/office/drawing/2014/main" id="{462E6233-FEEF-4804-AFFF-DC39F44FC3A2}"/>
              </a:ext>
            </a:extLst>
          </p:cNvPr>
          <p:cNvSpPr>
            <a:spLocks noGrp="1"/>
          </p:cNvSpPr>
          <p:nvPr/>
        </p:nvSpPr>
        <p:spPr>
          <a:xfrm>
            <a:off x="7867650" y="3752850"/>
            <a:ext cx="3476625" cy="514350"/>
          </a:xfrm>
          <a:prstGeom prst="rect">
            <a:avLst/>
          </a:prstGeom>
          <a:noFill/>
          <a:ln w="0">
            <a:noFill/>
          </a:ln>
        </p:spPr>
        <p:txBody>
          <a:bodyPr wrap="square" lIns="0" tIns="0" rIns="0" bIns="0" anchor="t">
            <a:noAutofit/>
          </a:bodyPr>
          <a:lstStyle/>
          <a:p>
            <a:pPr algn="l">
              <a:defRPr sz="1800" b="0">
                <a:solidFill>
                  <a:srgbClr val="182934"/>
                </a:solidFill>
                <a:latin typeface="Arial"/>
                <a:ea typeface="Arial"/>
                <a:cs typeface="Arial"/>
              </a:defRPr>
            </a:pPr>
            <a:r>
              <a:rPr sz="1800" b="0">
                <a:solidFill>
                  <a:srgbClr val="182934"/>
                </a:solidFill>
                <a:latin typeface="Arial"/>
                <a:ea typeface="Arial"/>
                <a:cs typeface="Arial"/>
              </a:rPr>
              <a:t>HI likely dominates the cold component</a:t>
            </a:r>
          </a:p>
        </p:txBody>
      </p:sp>
      <p:sp>
        <p:nvSpPr>
          <p:cNvPr id="16" name="Rectangle 15">
            <a:extLst>
              <a:ext uri="{FF2B5EF4-FFF2-40B4-BE49-F238E27FC236}">
                <a16:creationId xmlns:a16="http://schemas.microsoft.com/office/drawing/2014/main" id="{627444CB-1E9F-4AFA-9AF9-DF98E249C560}"/>
              </a:ext>
            </a:extLst>
          </p:cNvPr>
          <p:cNvSpPr>
            <a:spLocks noGrp="1"/>
          </p:cNvSpPr>
          <p:nvPr/>
        </p:nvSpPr>
        <p:spPr>
          <a:xfrm>
            <a:off x="6515100" y="4600575"/>
            <a:ext cx="5010150" cy="781050"/>
          </a:xfrm>
          <a:prstGeom prst="rect">
            <a:avLst/>
          </a:prstGeom>
          <a:solidFill>
            <a:srgbClr val="EAF4F4"/>
          </a:solidFill>
          <a:ln w="0">
            <a:noFill/>
          </a:ln>
        </p:spPr>
        <p:txBody>
          <a:bodyPr/>
          <a:lstStyle/>
          <a:p>
            <a:endParaRPr lang="en-US"/>
          </a:p>
        </p:txBody>
      </p:sp>
      <p:sp>
        <p:nvSpPr>
          <p:cNvPr id="17" name="Rectangle 16">
            <a:extLst>
              <a:ext uri="{FF2B5EF4-FFF2-40B4-BE49-F238E27FC236}">
                <a16:creationId xmlns:a16="http://schemas.microsoft.com/office/drawing/2014/main" id="{0C749DFC-367E-4A19-9EE2-9A89E555FB79}"/>
              </a:ext>
            </a:extLst>
          </p:cNvPr>
          <p:cNvSpPr>
            <a:spLocks noGrp="1"/>
          </p:cNvSpPr>
          <p:nvPr/>
        </p:nvSpPr>
        <p:spPr>
          <a:xfrm>
            <a:off x="6724650" y="4724400"/>
            <a:ext cx="1123950" cy="247650"/>
          </a:xfrm>
          <a:prstGeom prst="rect">
            <a:avLst/>
          </a:prstGeom>
          <a:noFill/>
          <a:ln w="0">
            <a:noFill/>
          </a:ln>
        </p:spPr>
        <p:txBody>
          <a:bodyPr wrap="square" lIns="0" tIns="0" rIns="0" bIns="0" anchor="t">
            <a:noAutofit/>
          </a:bodyPr>
          <a:lstStyle/>
          <a:p>
            <a:pPr algn="l">
              <a:defRPr sz="1275" b="1">
                <a:solidFill>
                  <a:srgbClr val="007E87"/>
                </a:solidFill>
                <a:latin typeface="Arial"/>
                <a:ea typeface="Arial"/>
                <a:cs typeface="Arial"/>
              </a:defRPr>
            </a:pPr>
            <a:r>
              <a:rPr sz="1275" b="1">
                <a:solidFill>
                  <a:srgbClr val="007E87"/>
                </a:solidFill>
                <a:latin typeface="Arial"/>
                <a:ea typeface="Arial"/>
                <a:cs typeface="Arial"/>
              </a:rPr>
              <a:t>FATE</a:t>
            </a:r>
          </a:p>
        </p:txBody>
      </p:sp>
      <p:sp>
        <p:nvSpPr>
          <p:cNvPr id="18" name="Rectangle 17">
            <a:extLst>
              <a:ext uri="{FF2B5EF4-FFF2-40B4-BE49-F238E27FC236}">
                <a16:creationId xmlns:a16="http://schemas.microsoft.com/office/drawing/2014/main" id="{1C61C8E7-29E1-4F29-83F0-B188C785B75E}"/>
              </a:ext>
            </a:extLst>
          </p:cNvPr>
          <p:cNvSpPr>
            <a:spLocks noGrp="1"/>
          </p:cNvSpPr>
          <p:nvPr/>
        </p:nvSpPr>
        <p:spPr>
          <a:xfrm>
            <a:off x="7867650" y="4724400"/>
            <a:ext cx="3476625" cy="514350"/>
          </a:xfrm>
          <a:prstGeom prst="rect">
            <a:avLst/>
          </a:prstGeom>
          <a:noFill/>
          <a:ln w="0">
            <a:noFill/>
          </a:ln>
        </p:spPr>
        <p:txBody>
          <a:bodyPr wrap="square" lIns="0" tIns="0" rIns="0" bIns="0" anchor="t">
            <a:noAutofit/>
          </a:bodyPr>
          <a:lstStyle/>
          <a:p>
            <a:pPr algn="l">
              <a:defRPr sz="1800" b="1">
                <a:solidFill>
                  <a:srgbClr val="182934"/>
                </a:solidFill>
                <a:latin typeface="Arial"/>
                <a:ea typeface="Arial"/>
                <a:cs typeface="Arial"/>
              </a:defRPr>
            </a:pPr>
            <a:r>
              <a:rPr sz="1800" b="1">
                <a:solidFill>
                  <a:srgbClr val="182934"/>
                </a:solidFill>
                <a:latin typeface="Arial"/>
                <a:ea typeface="Arial"/>
                <a:cs typeface="Arial"/>
              </a:rPr>
              <a:t>Bound circulation / fountain</a:t>
            </a:r>
          </a:p>
        </p:txBody>
      </p:sp>
      <p:sp>
        <p:nvSpPr>
          <p:cNvPr id="19" name="Rectangle 18">
            <a:extLst>
              <a:ext uri="{FF2B5EF4-FFF2-40B4-BE49-F238E27FC236}">
                <a16:creationId xmlns:a16="http://schemas.microsoft.com/office/drawing/2014/main" id="{F0520B0D-F06F-49B5-86DE-6763EF114173}"/>
              </a:ext>
            </a:extLst>
          </p:cNvPr>
          <p:cNvSpPr>
            <a:spLocks noGrp="1"/>
          </p:cNvSpPr>
          <p:nvPr/>
        </p:nvSpPr>
        <p:spPr>
          <a:xfrm>
            <a:off x="533400" y="601980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Watts et al. 2024; Cortese et al. 2026. HI geometry limits a precise cold outflow rate.</a:t>
            </a:r>
          </a:p>
        </p:txBody>
      </p:sp>
    </p:spTree>
    <p:extLst>
      <p:ext uri="{BB962C8B-B14F-4D97-AF65-F5344CB8AC3E}">
        <p14:creationId xmlns:p14="http://schemas.microsoft.com/office/powerpoint/2010/main" val="650421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9B8FB6E-B81E-4809-81A1-0BB22633F323}"/>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SELECTED COLLABORATION RESULTS</a:t>
            </a:r>
          </a:p>
        </p:txBody>
      </p:sp>
      <p:sp>
        <p:nvSpPr>
          <p:cNvPr id="2" name="Rectangle 1">
            <a:extLst>
              <a:ext uri="{FF2B5EF4-FFF2-40B4-BE49-F238E27FC236}">
                <a16:creationId xmlns:a16="http://schemas.microsoft.com/office/drawing/2014/main" id="{4581EE55-1322-4050-84A3-926907D080B9}"/>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NGC4064: feedback may complete quenching after stripping</a:t>
            </a:r>
          </a:p>
        </p:txBody>
      </p:sp>
      <p:sp>
        <p:nvSpPr>
          <p:cNvPr id="3" name="Rectangle 2">
            <a:extLst>
              <a:ext uri="{FF2B5EF4-FFF2-40B4-BE49-F238E27FC236}">
                <a16:creationId xmlns:a16="http://schemas.microsoft.com/office/drawing/2014/main" id="{350BEE91-A122-41A6-BA97-7F818228CF12}"/>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CA288DF3-A39A-41D6-ADB1-5044E88ED6FA}"/>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7D2BB521-A65A-4975-A17A-4A4A19654FE7}"/>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9</a:t>
            </a:r>
          </a:p>
        </p:txBody>
      </p:sp>
      <p:pic>
        <p:nvPicPr>
          <p:cNvPr id="17" name="Picture 16"/>
          <p:cNvPicPr>
            <a:picLocks noChangeAspect="1"/>
          </p:cNvPicPr>
          <p:nvPr/>
        </p:nvPicPr>
        <p:blipFill>
          <a:blip r:embed="rId3"/>
          <a:stretch/>
        </p:blipFill>
        <p:spPr>
          <a:xfrm>
            <a:off x="889506" y="1619250"/>
            <a:ext cx="4050287" cy="4343400"/>
          </a:xfrm>
          <a:prstGeom prst="rect">
            <a:avLst/>
          </a:prstGeom>
        </p:spPr>
      </p:pic>
      <p:sp>
        <p:nvSpPr>
          <p:cNvPr id="7" name="Rectangle 6">
            <a:extLst>
              <a:ext uri="{FF2B5EF4-FFF2-40B4-BE49-F238E27FC236}">
                <a16:creationId xmlns:a16="http://schemas.microsoft.com/office/drawing/2014/main" id="{61434F86-A22E-4420-BFD0-7F0D626F34C4}"/>
              </a:ext>
            </a:extLst>
          </p:cNvPr>
          <p:cNvSpPr>
            <a:spLocks noGrp="1"/>
          </p:cNvSpPr>
          <p:nvPr/>
        </p:nvSpPr>
        <p:spPr>
          <a:xfrm>
            <a:off x="5905500" y="1685925"/>
            <a:ext cx="5143500" cy="276225"/>
          </a:xfrm>
          <a:prstGeom prst="rect">
            <a:avLst/>
          </a:prstGeom>
          <a:noFill/>
          <a:ln w="0">
            <a:noFill/>
          </a:ln>
        </p:spPr>
        <p:txBody>
          <a:bodyPr wrap="square" lIns="0" tIns="0" rIns="0" bIns="0" anchor="t">
            <a:noAutofit/>
          </a:bodyPr>
          <a:lstStyle/>
          <a:p>
            <a:pPr algn="l">
              <a:defRPr sz="1350" b="1">
                <a:solidFill>
                  <a:srgbClr val="85457F"/>
                </a:solidFill>
                <a:latin typeface="Arial"/>
                <a:ea typeface="Arial"/>
                <a:cs typeface="Arial"/>
              </a:defRPr>
            </a:pPr>
            <a:r>
              <a:rPr sz="1350" b="1">
                <a:solidFill>
                  <a:srgbClr val="85457F"/>
                </a:solidFill>
                <a:latin typeface="Arial"/>
                <a:ea typeface="Arial"/>
                <a:cs typeface="Arial"/>
              </a:rPr>
              <a:t>ALREADY STRIPPED</a:t>
            </a:r>
          </a:p>
        </p:txBody>
      </p:sp>
      <p:sp>
        <p:nvSpPr>
          <p:cNvPr id="8" name="Rectangle 7">
            <a:extLst>
              <a:ext uri="{FF2B5EF4-FFF2-40B4-BE49-F238E27FC236}">
                <a16:creationId xmlns:a16="http://schemas.microsoft.com/office/drawing/2014/main" id="{1E48BF30-EBA1-418D-8668-866BE6EAE4E0}"/>
              </a:ext>
            </a:extLst>
          </p:cNvPr>
          <p:cNvSpPr>
            <a:spLocks noGrp="1"/>
          </p:cNvSpPr>
          <p:nvPr/>
        </p:nvSpPr>
        <p:spPr>
          <a:xfrm>
            <a:off x="5905500" y="2076450"/>
            <a:ext cx="5334000" cy="523875"/>
          </a:xfrm>
          <a:prstGeom prst="rect">
            <a:avLst/>
          </a:prstGeom>
          <a:noFill/>
          <a:ln w="0">
            <a:noFill/>
          </a:ln>
        </p:spPr>
        <p:txBody>
          <a:bodyPr wrap="square" lIns="0" tIns="0" rIns="0" bIns="0" anchor="t">
            <a:noAutofit/>
          </a:bodyPr>
          <a:lstStyle/>
          <a:p>
            <a:pPr algn="l">
              <a:defRPr sz="2250" b="1">
                <a:solidFill>
                  <a:srgbClr val="182934"/>
                </a:solidFill>
                <a:latin typeface="Arial"/>
                <a:ea typeface="Arial"/>
                <a:cs typeface="Arial"/>
              </a:defRPr>
            </a:pPr>
            <a:r>
              <a:rPr sz="2250" b="1">
                <a:solidFill>
                  <a:srgbClr val="182934"/>
                </a:solidFill>
                <a:latin typeface="Arial"/>
                <a:ea typeface="Arial"/>
                <a:cs typeface="Arial"/>
              </a:rPr>
              <a:t>A ~2 kpc bipolar ionized outflow</a:t>
            </a:r>
          </a:p>
        </p:txBody>
      </p:sp>
      <p:graphicFrame>
        <p:nvGraphicFramePr>
          <p:cNvPr id="20" name="Table 19"/>
          <p:cNvGraphicFramePr/>
          <p:nvPr/>
        </p:nvGraphicFramePr>
        <p:xfrm>
          <a:off x="5905500" y="2886075"/>
          <a:ext cx="5486400" cy="2114552"/>
        </p:xfrm>
        <a:graphic>
          <a:graphicData uri="http://schemas.openxmlformats.org/drawingml/2006/table">
            <a:tbl>
              <a:tblPr/>
              <a:tblGrid>
                <a:gridCol w="3286125">
                  <a:extLst>
                    <a:ext uri="{9D8B030D-6E8A-4147-A177-3AD203B41FA5}">
                      <a16:colId xmlns:a16="http://schemas.microsoft.com/office/drawing/2014/main" val="20000"/>
                    </a:ext>
                  </a:extLst>
                </a:gridCol>
                <a:gridCol w="2200275">
                  <a:extLst>
                    <a:ext uri="{9D8B030D-6E8A-4147-A177-3AD203B41FA5}">
                      <a16:colId xmlns:a16="http://schemas.microsoft.com/office/drawing/2014/main" val="20001"/>
                    </a:ext>
                  </a:extLst>
                </a:gridCol>
              </a:tblGrid>
              <a:tr h="528638">
                <a:tc>
                  <a:txBody>
                    <a:bodyPr/>
                    <a:lstStyle/>
                    <a:p>
                      <a:r>
                        <a:rPr sz="1725" b="1">
                          <a:solidFill>
                            <a:srgbClr val="FFFFFF"/>
                          </a:solidFill>
                          <a:latin typeface="Arial"/>
                          <a:ea typeface="Arial"/>
                          <a:cs typeface="Arial"/>
                        </a:rPr>
                        <a:t>Ionized outflow rate</a:t>
                      </a:r>
                    </a:p>
                  </a:txBody>
                  <a:tcPr marL="142875" marR="142875" marT="114300" marB="114300" anchor="ctr">
                    <a:solidFill>
                      <a:srgbClr val="10222E"/>
                    </a:solidFill>
                  </a:tcPr>
                </a:tc>
                <a:tc>
                  <a:txBody>
                    <a:bodyPr/>
                    <a:lstStyle/>
                    <a:p>
                      <a:r>
                        <a:rPr sz="1725" b="1">
                          <a:solidFill>
                            <a:srgbClr val="FFFFFF"/>
                          </a:solidFill>
                          <a:latin typeface="Arial"/>
                          <a:ea typeface="Arial"/>
                          <a:cs typeface="Arial"/>
                        </a:rPr>
                        <a:t>0.53 M☉ yr⁻¹</a:t>
                      </a:r>
                    </a:p>
                  </a:txBody>
                  <a:tcPr marL="142875" marR="142875" marT="114300" marB="114300" anchor="ctr">
                    <a:solidFill>
                      <a:srgbClr val="10222E"/>
                    </a:solidFill>
                  </a:tcPr>
                </a:tc>
                <a:extLst>
                  <a:ext uri="{0D108BD9-81ED-4DB2-BD59-A6C34878D82A}">
                    <a16:rowId xmlns:a16="http://schemas.microsoft.com/office/drawing/2014/main" val="10000"/>
                  </a:ext>
                </a:extLst>
              </a:tr>
              <a:tr h="528638">
                <a:tc>
                  <a:txBody>
                    <a:bodyPr/>
                    <a:lstStyle/>
                    <a:p>
                      <a:r>
                        <a:rPr sz="1725" b="0">
                          <a:solidFill>
                            <a:srgbClr val="182934"/>
                          </a:solidFill>
                          <a:latin typeface="Arial"/>
                          <a:ea typeface="Arial"/>
                          <a:cs typeface="Arial"/>
                        </a:rPr>
                        <a:t>Integrated SFR</a:t>
                      </a:r>
                    </a:p>
                  </a:txBody>
                  <a:tcPr marL="142875" marR="142875" marT="114300" marB="114300" anchor="ctr">
                    <a:solidFill>
                      <a:srgbClr val="FFFFFF"/>
                    </a:solidFill>
                  </a:tcPr>
                </a:tc>
                <a:tc>
                  <a:txBody>
                    <a:bodyPr/>
                    <a:lstStyle/>
                    <a:p>
                      <a:r>
                        <a:rPr sz="1725" b="0">
                          <a:solidFill>
                            <a:srgbClr val="182934"/>
                          </a:solidFill>
                          <a:latin typeface="Arial"/>
                          <a:ea typeface="Arial"/>
                          <a:cs typeface="Arial"/>
                        </a:rPr>
                        <a:t>0.32 M☉ yr⁻¹</a:t>
                      </a:r>
                    </a:p>
                  </a:txBody>
                  <a:tcPr marL="142875" marR="142875" marT="114300" marB="114300" anchor="ctr">
                    <a:solidFill>
                      <a:srgbClr val="FFFFFF"/>
                    </a:solidFill>
                  </a:tcPr>
                </a:tc>
                <a:extLst>
                  <a:ext uri="{0D108BD9-81ED-4DB2-BD59-A6C34878D82A}">
                    <a16:rowId xmlns:a16="http://schemas.microsoft.com/office/drawing/2014/main" val="10001"/>
                  </a:ext>
                </a:extLst>
              </a:tr>
              <a:tr h="528638">
                <a:tc>
                  <a:txBody>
                    <a:bodyPr/>
                    <a:lstStyle/>
                    <a:p>
                      <a:r>
                        <a:rPr sz="1725" b="0">
                          <a:solidFill>
                            <a:srgbClr val="182934"/>
                          </a:solidFill>
                          <a:latin typeface="Arial"/>
                          <a:ea typeface="Arial"/>
                          <a:cs typeface="Arial"/>
                        </a:rPr>
                        <a:t>Mass loading η</a:t>
                      </a:r>
                    </a:p>
                  </a:txBody>
                  <a:tcPr marL="142875" marR="142875" marT="114300" marB="114300" anchor="ctr">
                    <a:solidFill>
                      <a:srgbClr val="F3F5F6"/>
                    </a:solidFill>
                  </a:tcPr>
                </a:tc>
                <a:tc>
                  <a:txBody>
                    <a:bodyPr/>
                    <a:lstStyle/>
                    <a:p>
                      <a:r>
                        <a:rPr sz="1725" b="0">
                          <a:solidFill>
                            <a:srgbClr val="182934"/>
                          </a:solidFill>
                          <a:latin typeface="Arial"/>
                          <a:ea typeface="Arial"/>
                          <a:cs typeface="Arial"/>
                        </a:rPr>
                        <a:t>1.66</a:t>
                      </a:r>
                    </a:p>
                  </a:txBody>
                  <a:tcPr marL="142875" marR="142875" marT="114300" marB="114300" anchor="ctr">
                    <a:solidFill>
                      <a:srgbClr val="F3F5F6"/>
                    </a:solidFill>
                  </a:tcPr>
                </a:tc>
                <a:extLst>
                  <a:ext uri="{0D108BD9-81ED-4DB2-BD59-A6C34878D82A}">
                    <a16:rowId xmlns:a16="http://schemas.microsoft.com/office/drawing/2014/main" val="10002"/>
                  </a:ext>
                </a:extLst>
              </a:tr>
              <a:tr h="528638">
                <a:tc>
                  <a:txBody>
                    <a:bodyPr/>
                    <a:lstStyle/>
                    <a:p>
                      <a:r>
                        <a:rPr sz="1725" b="0">
                          <a:solidFill>
                            <a:srgbClr val="182934"/>
                          </a:solidFill>
                          <a:latin typeface="Arial"/>
                          <a:ea typeface="Arial"/>
                          <a:cs typeface="Arial"/>
                        </a:rPr>
                        <a:t>Removal / SF depletion</a:t>
                      </a:r>
                    </a:p>
                  </a:txBody>
                  <a:tcPr marL="142875" marR="142875" marT="114300" marB="114300" anchor="ctr">
                    <a:solidFill>
                      <a:srgbClr val="FFFFFF"/>
                    </a:solidFill>
                  </a:tcPr>
                </a:tc>
                <a:tc>
                  <a:txBody>
                    <a:bodyPr/>
                    <a:lstStyle/>
                    <a:p>
                      <a:r>
                        <a:rPr sz="1725" b="0" dirty="0">
                          <a:solidFill>
                            <a:srgbClr val="182934"/>
                          </a:solidFill>
                          <a:latin typeface="Arial"/>
                          <a:ea typeface="Arial"/>
                          <a:cs typeface="Arial"/>
                        </a:rPr>
                        <a:t>0.58 / 0.97 Gyr</a:t>
                      </a:r>
                    </a:p>
                  </a:txBody>
                  <a:tcPr marL="142875" marR="142875"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5ACEC7C2-CB1F-4C2E-A702-C7A1196D632E}"/>
              </a:ext>
            </a:extLst>
          </p:cNvPr>
          <p:cNvSpPr>
            <a:spLocks noGrp="1"/>
          </p:cNvSpPr>
          <p:nvPr/>
        </p:nvSpPr>
        <p:spPr>
          <a:xfrm>
            <a:off x="5905500" y="5295900"/>
            <a:ext cx="5486400" cy="647700"/>
          </a:xfrm>
          <a:prstGeom prst="rect">
            <a:avLst/>
          </a:prstGeom>
          <a:noFill/>
          <a:ln w="0">
            <a:noFill/>
          </a:ln>
        </p:spPr>
        <p:txBody>
          <a:bodyPr wrap="square" lIns="0" tIns="0" rIns="0" bIns="0" anchor="t">
            <a:noAutofit/>
          </a:bodyPr>
          <a:lstStyle/>
          <a:p>
            <a:pPr algn="l">
              <a:defRPr sz="1875" b="0">
                <a:solidFill>
                  <a:srgbClr val="182934"/>
                </a:solidFill>
                <a:latin typeface="Arial"/>
                <a:ea typeface="Arial"/>
                <a:cs typeface="Arial"/>
              </a:defRPr>
            </a:pPr>
            <a:r>
              <a:rPr sz="1875" b="0">
                <a:solidFill>
                  <a:srgbClr val="182934"/>
                </a:solidFill>
                <a:latin typeface="Arial"/>
                <a:ea typeface="Arial"/>
                <a:cs typeface="Arial"/>
              </a:rPr>
              <a:t>Feedback can remove the remaining gas faster than star formation consumes it.</a:t>
            </a:r>
          </a:p>
        </p:txBody>
      </p:sp>
      <p:sp>
        <p:nvSpPr>
          <p:cNvPr id="11" name="Rectangle 10">
            <a:extLst>
              <a:ext uri="{FF2B5EF4-FFF2-40B4-BE49-F238E27FC236}">
                <a16:creationId xmlns:a16="http://schemas.microsoft.com/office/drawing/2014/main" id="{934451B8-BDE1-4A5F-AB33-E575DE7EACE9}"/>
              </a:ext>
            </a:extLst>
          </p:cNvPr>
          <p:cNvSpPr>
            <a:spLocks noGrp="1"/>
          </p:cNvSpPr>
          <p:nvPr/>
        </p:nvSpPr>
        <p:spPr>
          <a:xfrm>
            <a:off x="533400" y="609600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Attwater et al. 2026. Values depend on ionized-gas density, geometry and filling factor.</a:t>
            </a:r>
          </a:p>
        </p:txBody>
      </p:sp>
    </p:spTree>
    <p:extLst>
      <p:ext uri="{BB962C8B-B14F-4D97-AF65-F5344CB8AC3E}">
        <p14:creationId xmlns:p14="http://schemas.microsoft.com/office/powerpoint/2010/main" val="153909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A083886-1945-4A18-804C-B964059D24D3}"/>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SELECTED COLLABORATION RESULTS</a:t>
            </a:r>
          </a:p>
        </p:txBody>
      </p:sp>
      <p:sp>
        <p:nvSpPr>
          <p:cNvPr id="2" name="Rectangle 1">
            <a:extLst>
              <a:ext uri="{FF2B5EF4-FFF2-40B4-BE49-F238E27FC236}">
                <a16:creationId xmlns:a16="http://schemas.microsoft.com/office/drawing/2014/main" id="{0E5C8E63-5CC1-41E3-804D-83D7BDF121A7}"/>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As HII emission fades, diffuse ionized gas becomes visible</a:t>
            </a:r>
          </a:p>
        </p:txBody>
      </p:sp>
      <p:sp>
        <p:nvSpPr>
          <p:cNvPr id="3" name="Rectangle 2">
            <a:extLst>
              <a:ext uri="{FF2B5EF4-FFF2-40B4-BE49-F238E27FC236}">
                <a16:creationId xmlns:a16="http://schemas.microsoft.com/office/drawing/2014/main" id="{B47885A7-3186-4513-8D8F-8477A7BDF85B}"/>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2F085899-6A73-4F9A-BDF8-E3DE7DFDBB60}"/>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AB4CCD77-9B40-4644-97F8-4A88914FB71C}"/>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10</a:t>
            </a:r>
          </a:p>
        </p:txBody>
      </p:sp>
      <p:pic>
        <p:nvPicPr>
          <p:cNvPr id="23" name="Picture 22"/>
          <p:cNvPicPr>
            <a:picLocks noChangeAspect="1"/>
          </p:cNvPicPr>
          <p:nvPr/>
        </p:nvPicPr>
        <p:blipFill>
          <a:blip r:embed="rId3"/>
          <a:stretch/>
        </p:blipFill>
        <p:spPr>
          <a:xfrm>
            <a:off x="1275445" y="1685925"/>
            <a:ext cx="4269009" cy="4238625"/>
          </a:xfrm>
          <a:prstGeom prst="rect">
            <a:avLst/>
          </a:prstGeom>
        </p:spPr>
      </p:pic>
      <p:sp>
        <p:nvSpPr>
          <p:cNvPr id="7" name="Rectangle 6">
            <a:extLst>
              <a:ext uri="{FF2B5EF4-FFF2-40B4-BE49-F238E27FC236}">
                <a16:creationId xmlns:a16="http://schemas.microsoft.com/office/drawing/2014/main" id="{41906C62-98E4-4C0E-BEBD-EB2A13727BDC}"/>
              </a:ext>
            </a:extLst>
          </p:cNvPr>
          <p:cNvSpPr>
            <a:spLocks noGrp="1"/>
          </p:cNvSpPr>
          <p:nvPr/>
        </p:nvSpPr>
        <p:spPr>
          <a:xfrm>
            <a:off x="6838950" y="1714500"/>
            <a:ext cx="4667250" cy="342900"/>
          </a:xfrm>
          <a:prstGeom prst="rect">
            <a:avLst/>
          </a:prstGeom>
          <a:noFill/>
          <a:ln w="0">
            <a:noFill/>
          </a:ln>
        </p:spPr>
        <p:txBody>
          <a:bodyPr wrap="square" lIns="0" tIns="0" rIns="0" bIns="0" anchor="t">
            <a:noAutofit/>
          </a:bodyPr>
          <a:lstStyle/>
          <a:p>
            <a:pPr algn="l">
              <a:defRPr sz="1725" b="1">
                <a:solidFill>
                  <a:srgbClr val="85457F"/>
                </a:solidFill>
                <a:latin typeface="Arial"/>
                <a:ea typeface="Arial"/>
                <a:cs typeface="Arial"/>
              </a:defRPr>
            </a:pPr>
            <a:r>
              <a:rPr sz="1725" b="1" dirty="0">
                <a:solidFill>
                  <a:srgbClr val="85457F"/>
                </a:solidFill>
                <a:latin typeface="Arial"/>
                <a:ea typeface="Arial"/>
                <a:cs typeface="Arial"/>
              </a:rPr>
              <a:t>12 MAUVE  +  12 matched PHANGS</a:t>
            </a:r>
          </a:p>
        </p:txBody>
      </p:sp>
      <p:sp>
        <p:nvSpPr>
          <p:cNvPr id="8" name="Rectangle 7">
            <a:extLst>
              <a:ext uri="{FF2B5EF4-FFF2-40B4-BE49-F238E27FC236}">
                <a16:creationId xmlns:a16="http://schemas.microsoft.com/office/drawing/2014/main" id="{0A804D8C-FD45-4BBF-96F1-514E8C2DD425}"/>
              </a:ext>
            </a:extLst>
          </p:cNvPr>
          <p:cNvSpPr>
            <a:spLocks noGrp="1"/>
          </p:cNvSpPr>
          <p:nvPr/>
        </p:nvSpPr>
        <p:spPr>
          <a:xfrm>
            <a:off x="6838950" y="2295525"/>
            <a:ext cx="4667250" cy="866775"/>
          </a:xfrm>
          <a:prstGeom prst="rect">
            <a:avLst/>
          </a:prstGeom>
          <a:solidFill>
            <a:srgbClr val="F2EDF3"/>
          </a:solidFill>
          <a:ln w="0">
            <a:noFill/>
          </a:ln>
        </p:spPr>
        <p:txBody>
          <a:bodyPr/>
          <a:lstStyle/>
          <a:p>
            <a:endParaRPr lang="en-US"/>
          </a:p>
        </p:txBody>
      </p:sp>
      <p:sp>
        <p:nvSpPr>
          <p:cNvPr id="9" name="Rectangle 8">
            <a:extLst>
              <a:ext uri="{FF2B5EF4-FFF2-40B4-BE49-F238E27FC236}">
                <a16:creationId xmlns:a16="http://schemas.microsoft.com/office/drawing/2014/main" id="{9DA42B50-CBEB-47CB-9928-91129E545C7B}"/>
              </a:ext>
            </a:extLst>
          </p:cNvPr>
          <p:cNvSpPr>
            <a:spLocks noGrp="1"/>
          </p:cNvSpPr>
          <p:nvPr/>
        </p:nvSpPr>
        <p:spPr>
          <a:xfrm>
            <a:off x="7019925" y="2419350"/>
            <a:ext cx="1190625" cy="238125"/>
          </a:xfrm>
          <a:prstGeom prst="rect">
            <a:avLst/>
          </a:prstGeom>
          <a:noFill/>
          <a:ln w="0">
            <a:noFill/>
          </a:ln>
        </p:spPr>
        <p:txBody>
          <a:bodyPr wrap="square" lIns="0" tIns="0" rIns="0" bIns="0" anchor="t">
            <a:noAutofit/>
          </a:bodyPr>
          <a:lstStyle/>
          <a:p>
            <a:pPr algn="l">
              <a:defRPr sz="1425" b="1">
                <a:solidFill>
                  <a:srgbClr val="85457F"/>
                </a:solidFill>
                <a:latin typeface="Arial"/>
                <a:ea typeface="Arial"/>
                <a:cs typeface="Arial"/>
              </a:defRPr>
            </a:pPr>
            <a:r>
              <a:rPr sz="1425" b="1">
                <a:solidFill>
                  <a:srgbClr val="85457F"/>
                </a:solidFill>
                <a:latin typeface="Arial"/>
                <a:ea typeface="Arial"/>
                <a:cs typeface="Arial"/>
              </a:rPr>
              <a:t>HII fades</a:t>
            </a:r>
          </a:p>
        </p:txBody>
      </p:sp>
      <p:sp>
        <p:nvSpPr>
          <p:cNvPr id="10" name="Rectangle 9">
            <a:extLst>
              <a:ext uri="{FF2B5EF4-FFF2-40B4-BE49-F238E27FC236}">
                <a16:creationId xmlns:a16="http://schemas.microsoft.com/office/drawing/2014/main" id="{4FEB4E5E-30BF-48A6-B6AC-BB1E1C0AD431}"/>
              </a:ext>
            </a:extLst>
          </p:cNvPr>
          <p:cNvSpPr>
            <a:spLocks noGrp="1"/>
          </p:cNvSpPr>
          <p:nvPr/>
        </p:nvSpPr>
        <p:spPr>
          <a:xfrm>
            <a:off x="8239125" y="2409825"/>
            <a:ext cx="3076575" cy="619125"/>
          </a:xfrm>
          <a:prstGeom prst="rect">
            <a:avLst/>
          </a:prstGeom>
          <a:noFill/>
          <a:ln w="0">
            <a:noFill/>
          </a:ln>
        </p:spPr>
        <p:txBody>
          <a:bodyPr wrap="square" lIns="0" tIns="0" rIns="0" bIns="0" anchor="t">
            <a:noAutofit/>
          </a:bodyPr>
          <a:lstStyle/>
          <a:p>
            <a:pPr algn="l">
              <a:defRPr sz="1650" b="0">
                <a:solidFill>
                  <a:srgbClr val="182934"/>
                </a:solidFill>
                <a:latin typeface="Arial"/>
                <a:ea typeface="Arial"/>
                <a:cs typeface="Arial"/>
              </a:defRPr>
            </a:pPr>
            <a:r>
              <a:rPr sz="1650" b="0">
                <a:solidFill>
                  <a:srgbClr val="182934"/>
                </a:solidFill>
                <a:latin typeface="Arial"/>
                <a:ea typeface="Arial"/>
                <a:cs typeface="Arial"/>
              </a:rPr>
              <a:t>DIG becomes the dominant visible component</a:t>
            </a:r>
          </a:p>
        </p:txBody>
      </p:sp>
      <p:sp>
        <p:nvSpPr>
          <p:cNvPr id="11" name="Rectangle 10">
            <a:extLst>
              <a:ext uri="{FF2B5EF4-FFF2-40B4-BE49-F238E27FC236}">
                <a16:creationId xmlns:a16="http://schemas.microsoft.com/office/drawing/2014/main" id="{36535D31-E1BE-4A02-842B-6709255D683D}"/>
              </a:ext>
            </a:extLst>
          </p:cNvPr>
          <p:cNvSpPr>
            <a:spLocks noGrp="1"/>
          </p:cNvSpPr>
          <p:nvPr/>
        </p:nvSpPr>
        <p:spPr>
          <a:xfrm>
            <a:off x="6838950" y="3371850"/>
            <a:ext cx="4667250" cy="866775"/>
          </a:xfrm>
          <a:prstGeom prst="rect">
            <a:avLst/>
          </a:prstGeom>
          <a:solidFill>
            <a:srgbClr val="F3F5F6"/>
          </a:solidFill>
          <a:ln w="0">
            <a:noFill/>
          </a:ln>
        </p:spPr>
        <p:txBody>
          <a:bodyPr/>
          <a:lstStyle/>
          <a:p>
            <a:endParaRPr lang="en-US"/>
          </a:p>
        </p:txBody>
      </p:sp>
      <p:sp>
        <p:nvSpPr>
          <p:cNvPr id="12" name="Rectangle 11">
            <a:extLst>
              <a:ext uri="{FF2B5EF4-FFF2-40B4-BE49-F238E27FC236}">
                <a16:creationId xmlns:a16="http://schemas.microsoft.com/office/drawing/2014/main" id="{B2A4AEA4-1619-4945-BC4E-11B541B9E761}"/>
              </a:ext>
            </a:extLst>
          </p:cNvPr>
          <p:cNvSpPr>
            <a:spLocks noGrp="1"/>
          </p:cNvSpPr>
          <p:nvPr/>
        </p:nvSpPr>
        <p:spPr>
          <a:xfrm>
            <a:off x="7019925" y="3495675"/>
            <a:ext cx="1190625" cy="238125"/>
          </a:xfrm>
          <a:prstGeom prst="rect">
            <a:avLst/>
          </a:prstGeom>
          <a:noFill/>
          <a:ln w="0">
            <a:noFill/>
          </a:ln>
        </p:spPr>
        <p:txBody>
          <a:bodyPr wrap="square" lIns="0" tIns="0" rIns="0" bIns="0" anchor="t">
            <a:noAutofit/>
          </a:bodyPr>
          <a:lstStyle/>
          <a:p>
            <a:pPr algn="l">
              <a:defRPr sz="1425" b="1">
                <a:solidFill>
                  <a:srgbClr val="85457F"/>
                </a:solidFill>
                <a:latin typeface="Arial"/>
                <a:ea typeface="Arial"/>
                <a:cs typeface="Arial"/>
              </a:defRPr>
            </a:pPr>
            <a:r>
              <a:rPr sz="1425" b="1">
                <a:solidFill>
                  <a:srgbClr val="85457F"/>
                </a:solidFill>
                <a:latin typeface="Arial"/>
                <a:ea typeface="Arial"/>
                <a:cs typeface="Arial"/>
              </a:rPr>
              <a:t>SF regions</a:t>
            </a:r>
          </a:p>
        </p:txBody>
      </p:sp>
      <p:sp>
        <p:nvSpPr>
          <p:cNvPr id="13" name="Rectangle 12">
            <a:extLst>
              <a:ext uri="{FF2B5EF4-FFF2-40B4-BE49-F238E27FC236}">
                <a16:creationId xmlns:a16="http://schemas.microsoft.com/office/drawing/2014/main" id="{2DDA7042-B8FF-4611-9400-9A1EC7A77516}"/>
              </a:ext>
            </a:extLst>
          </p:cNvPr>
          <p:cNvSpPr>
            <a:spLocks noGrp="1"/>
          </p:cNvSpPr>
          <p:nvPr/>
        </p:nvSpPr>
        <p:spPr>
          <a:xfrm>
            <a:off x="8239125" y="3486150"/>
            <a:ext cx="3076575" cy="619125"/>
          </a:xfrm>
          <a:prstGeom prst="rect">
            <a:avLst/>
          </a:prstGeom>
          <a:noFill/>
          <a:ln w="0">
            <a:noFill/>
          </a:ln>
        </p:spPr>
        <p:txBody>
          <a:bodyPr wrap="square" lIns="0" tIns="0" rIns="0" bIns="0" anchor="t">
            <a:noAutofit/>
          </a:bodyPr>
          <a:lstStyle/>
          <a:p>
            <a:pPr algn="l">
              <a:defRPr sz="1650" b="0">
                <a:solidFill>
                  <a:srgbClr val="182934"/>
                </a:solidFill>
                <a:latin typeface="Arial"/>
                <a:ea typeface="Arial"/>
                <a:cs typeface="Arial"/>
              </a:defRPr>
            </a:pPr>
            <a:r>
              <a:rPr sz="1650" b="0">
                <a:solidFill>
                  <a:srgbClr val="182934"/>
                </a:solidFill>
                <a:latin typeface="Arial"/>
                <a:ea typeface="Arial"/>
                <a:cs typeface="Arial"/>
              </a:rPr>
              <a:t>Similar ionized-gas turbulence</a:t>
            </a:r>
          </a:p>
        </p:txBody>
      </p:sp>
      <p:sp>
        <p:nvSpPr>
          <p:cNvPr id="14" name="Rectangle 13">
            <a:extLst>
              <a:ext uri="{FF2B5EF4-FFF2-40B4-BE49-F238E27FC236}">
                <a16:creationId xmlns:a16="http://schemas.microsoft.com/office/drawing/2014/main" id="{ED84FB33-A768-4F80-8ACB-43AB8AF1180D}"/>
              </a:ext>
            </a:extLst>
          </p:cNvPr>
          <p:cNvSpPr>
            <a:spLocks noGrp="1"/>
          </p:cNvSpPr>
          <p:nvPr/>
        </p:nvSpPr>
        <p:spPr>
          <a:xfrm>
            <a:off x="6838950" y="4448175"/>
            <a:ext cx="4667250" cy="866775"/>
          </a:xfrm>
          <a:prstGeom prst="rect">
            <a:avLst/>
          </a:prstGeom>
          <a:solidFill>
            <a:srgbClr val="F3F5F6"/>
          </a:solidFill>
          <a:ln w="0">
            <a:noFill/>
          </a:ln>
        </p:spPr>
        <p:txBody>
          <a:bodyPr/>
          <a:lstStyle/>
          <a:p>
            <a:endParaRPr lang="en-US"/>
          </a:p>
        </p:txBody>
      </p:sp>
      <p:sp>
        <p:nvSpPr>
          <p:cNvPr id="15" name="Rectangle 14">
            <a:extLst>
              <a:ext uri="{FF2B5EF4-FFF2-40B4-BE49-F238E27FC236}">
                <a16:creationId xmlns:a16="http://schemas.microsoft.com/office/drawing/2014/main" id="{40DA7D0A-0F0B-4492-91C5-805A8ED0AB74}"/>
              </a:ext>
            </a:extLst>
          </p:cNvPr>
          <p:cNvSpPr>
            <a:spLocks noGrp="1"/>
          </p:cNvSpPr>
          <p:nvPr/>
        </p:nvSpPr>
        <p:spPr>
          <a:xfrm>
            <a:off x="7019925" y="4572000"/>
            <a:ext cx="1190625" cy="238125"/>
          </a:xfrm>
          <a:prstGeom prst="rect">
            <a:avLst/>
          </a:prstGeom>
          <a:noFill/>
          <a:ln w="0">
            <a:noFill/>
          </a:ln>
        </p:spPr>
        <p:txBody>
          <a:bodyPr wrap="square" lIns="0" tIns="0" rIns="0" bIns="0" anchor="t">
            <a:noAutofit/>
          </a:bodyPr>
          <a:lstStyle/>
          <a:p>
            <a:pPr algn="l">
              <a:defRPr sz="1425" b="1">
                <a:solidFill>
                  <a:srgbClr val="007E87"/>
                </a:solidFill>
                <a:latin typeface="Arial"/>
                <a:ea typeface="Arial"/>
                <a:cs typeface="Arial"/>
              </a:defRPr>
            </a:pPr>
            <a:r>
              <a:rPr sz="1425" b="1">
                <a:solidFill>
                  <a:srgbClr val="007E87"/>
                </a:solidFill>
                <a:latin typeface="Arial"/>
                <a:ea typeface="Arial"/>
                <a:cs typeface="Arial"/>
              </a:rPr>
              <a:t>High-σ tail</a:t>
            </a:r>
          </a:p>
        </p:txBody>
      </p:sp>
      <p:sp>
        <p:nvSpPr>
          <p:cNvPr id="16" name="Rectangle 15">
            <a:extLst>
              <a:ext uri="{FF2B5EF4-FFF2-40B4-BE49-F238E27FC236}">
                <a16:creationId xmlns:a16="http://schemas.microsoft.com/office/drawing/2014/main" id="{B431E025-CF65-4316-898E-132A202D2BB4}"/>
              </a:ext>
            </a:extLst>
          </p:cNvPr>
          <p:cNvSpPr>
            <a:spLocks noGrp="1"/>
          </p:cNvSpPr>
          <p:nvPr/>
        </p:nvSpPr>
        <p:spPr>
          <a:xfrm>
            <a:off x="8239125" y="4562475"/>
            <a:ext cx="3076575" cy="619125"/>
          </a:xfrm>
          <a:prstGeom prst="rect">
            <a:avLst/>
          </a:prstGeom>
          <a:noFill/>
          <a:ln w="0">
            <a:noFill/>
          </a:ln>
        </p:spPr>
        <p:txBody>
          <a:bodyPr wrap="square" lIns="0" tIns="0" rIns="0" bIns="0" anchor="t">
            <a:noAutofit/>
          </a:bodyPr>
          <a:lstStyle/>
          <a:p>
            <a:pPr algn="l">
              <a:defRPr sz="1650" b="0">
                <a:solidFill>
                  <a:srgbClr val="182934"/>
                </a:solidFill>
                <a:latin typeface="Arial"/>
                <a:ea typeface="Arial"/>
                <a:cs typeface="Arial"/>
              </a:defRPr>
            </a:pPr>
            <a:r>
              <a:rPr sz="1650" b="0">
                <a:solidFill>
                  <a:srgbClr val="182934"/>
                </a:solidFill>
                <a:latin typeface="Arial"/>
                <a:ea typeface="Arial"/>
                <a:cs typeface="Arial"/>
              </a:rPr>
              <a:t>5% vs 1% above 100 km s⁻¹; secondary shocks / mixing</a:t>
            </a:r>
          </a:p>
        </p:txBody>
      </p:sp>
      <p:sp>
        <p:nvSpPr>
          <p:cNvPr id="17" name="Rectangle 16">
            <a:extLst>
              <a:ext uri="{FF2B5EF4-FFF2-40B4-BE49-F238E27FC236}">
                <a16:creationId xmlns:a16="http://schemas.microsoft.com/office/drawing/2014/main" id="{CB7A4486-0753-4BEF-AA77-B0597D386984}"/>
              </a:ext>
            </a:extLst>
          </p:cNvPr>
          <p:cNvSpPr>
            <a:spLocks noGrp="1"/>
          </p:cNvSpPr>
          <p:nvPr/>
        </p:nvSpPr>
        <p:spPr>
          <a:xfrm>
            <a:off x="533400" y="610552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dirty="0">
                <a:solidFill>
                  <a:srgbClr val="52636C"/>
                </a:solidFill>
                <a:latin typeface="Arial"/>
                <a:ea typeface="Arial"/>
                <a:cs typeface="Arial"/>
              </a:rPr>
              <a:t>Brown et al. 2026. Figure 9 at left; velocity-dispersion result from Figure 11.</a:t>
            </a:r>
          </a:p>
        </p:txBody>
      </p:sp>
    </p:spTree>
    <p:extLst>
      <p:ext uri="{BB962C8B-B14F-4D97-AF65-F5344CB8AC3E}">
        <p14:creationId xmlns:p14="http://schemas.microsoft.com/office/powerpoint/2010/main" val="762954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FE9AC89-90EE-4338-9D9A-5E2C41D0E733}"/>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PAPER I / THE QUESTION</a:t>
            </a:r>
          </a:p>
        </p:txBody>
      </p:sp>
      <p:sp>
        <p:nvSpPr>
          <p:cNvPr id="2" name="Rectangle 1">
            <a:extLst>
              <a:ext uri="{FF2B5EF4-FFF2-40B4-BE49-F238E27FC236}">
                <a16:creationId xmlns:a16="http://schemas.microsoft.com/office/drawing/2014/main" id="{46D72CEA-DE5F-4981-8B94-DBD31A419241}"/>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The local link between stars, star formation and metals</a:t>
            </a:r>
          </a:p>
        </p:txBody>
      </p:sp>
      <p:sp>
        <p:nvSpPr>
          <p:cNvPr id="3" name="Rectangle 2">
            <a:extLst>
              <a:ext uri="{FF2B5EF4-FFF2-40B4-BE49-F238E27FC236}">
                <a16:creationId xmlns:a16="http://schemas.microsoft.com/office/drawing/2014/main" id="{121E9B1D-B11A-43B7-A2EE-27B9F89A999B}"/>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69253B6B-4016-4EF2-88EC-29AA1A2483A8}"/>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DE3BE12A-CEAE-41DF-9B84-9AD2ED844E55}"/>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11</a:t>
            </a:r>
          </a:p>
        </p:txBody>
      </p:sp>
      <p:pic>
        <p:nvPicPr>
          <p:cNvPr id="15" name="Picture 14"/>
          <p:cNvPicPr>
            <a:picLocks noChangeAspect="1"/>
          </p:cNvPicPr>
          <p:nvPr/>
        </p:nvPicPr>
        <p:blipFill>
          <a:blip r:embed="rId3"/>
          <a:stretch/>
        </p:blipFill>
        <p:spPr>
          <a:xfrm>
            <a:off x="533400" y="1557338"/>
            <a:ext cx="4333875" cy="4457700"/>
          </a:xfrm>
          <a:prstGeom prst="rect">
            <a:avLst/>
          </a:prstGeom>
        </p:spPr>
      </p:pic>
      <p:graphicFrame>
        <p:nvGraphicFramePr>
          <p:cNvPr id="16" name="Table 15"/>
          <p:cNvGraphicFramePr/>
          <p:nvPr/>
        </p:nvGraphicFramePr>
        <p:xfrm>
          <a:off x="5429250" y="1647825"/>
          <a:ext cx="6124575" cy="2695576"/>
        </p:xfrm>
        <a:graphic>
          <a:graphicData uri="http://schemas.openxmlformats.org/drawingml/2006/table">
            <a:tbl>
              <a:tblPr/>
              <a:tblGrid>
                <a:gridCol w="2238375">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673894">
                <a:tc>
                  <a:txBody>
                    <a:bodyPr/>
                    <a:lstStyle/>
                    <a:p>
                      <a:r>
                        <a:rPr sz="1950" b="1">
                          <a:solidFill>
                            <a:srgbClr val="FFFFFF"/>
                          </a:solidFill>
                          <a:latin typeface="Arial"/>
                          <a:ea typeface="Arial"/>
                          <a:cs typeface="Arial"/>
                        </a:rPr>
                        <a:t>Quantity</a:t>
                      </a:r>
                    </a:p>
                  </a:txBody>
                  <a:tcPr marL="142875" marR="142875" marT="114300" marB="114300" anchor="ctr">
                    <a:solidFill>
                      <a:srgbClr val="10222E"/>
                    </a:solidFill>
                  </a:tcPr>
                </a:tc>
                <a:tc>
                  <a:txBody>
                    <a:bodyPr/>
                    <a:lstStyle/>
                    <a:p>
                      <a:r>
                        <a:rPr sz="1950" b="1">
                          <a:solidFill>
                            <a:srgbClr val="FFFFFF"/>
                          </a:solidFill>
                          <a:latin typeface="Arial"/>
                          <a:ea typeface="Arial"/>
                          <a:cs typeface="Arial"/>
                        </a:rPr>
                        <a:t>Observable</a:t>
                      </a:r>
                    </a:p>
                  </a:txBody>
                  <a:tcPr marL="142875" marR="142875" marT="114300" marB="114300" anchor="ctr">
                    <a:solidFill>
                      <a:srgbClr val="10222E"/>
                    </a:solidFill>
                  </a:tcPr>
                </a:tc>
                <a:extLst>
                  <a:ext uri="{0D108BD9-81ED-4DB2-BD59-A6C34878D82A}">
                    <a16:rowId xmlns:a16="http://schemas.microsoft.com/office/drawing/2014/main" val="10000"/>
                  </a:ext>
                </a:extLst>
              </a:tr>
              <a:tr h="673894">
                <a:tc>
                  <a:txBody>
                    <a:bodyPr/>
                    <a:lstStyle/>
                    <a:p>
                      <a:r>
                        <a:rPr sz="1950" b="0">
                          <a:solidFill>
                            <a:srgbClr val="182934"/>
                          </a:solidFill>
                          <a:latin typeface="Arial"/>
                          <a:ea typeface="Arial"/>
                          <a:cs typeface="Arial"/>
                        </a:rPr>
                        <a:t>Σ∗</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Stellar mass per area</a:t>
                      </a:r>
                    </a:p>
                  </a:txBody>
                  <a:tcPr marL="142875" marR="142875" marT="114300" marB="114300" anchor="ctr">
                    <a:solidFill>
                      <a:srgbClr val="FFFFFF"/>
                    </a:solidFill>
                  </a:tcPr>
                </a:tc>
                <a:extLst>
                  <a:ext uri="{0D108BD9-81ED-4DB2-BD59-A6C34878D82A}">
                    <a16:rowId xmlns:a16="http://schemas.microsoft.com/office/drawing/2014/main" val="10001"/>
                  </a:ext>
                </a:extLst>
              </a:tr>
              <a:tr h="673894">
                <a:tc>
                  <a:txBody>
                    <a:bodyPr/>
                    <a:lstStyle/>
                    <a:p>
                      <a:r>
                        <a:rPr sz="1950" b="0">
                          <a:solidFill>
                            <a:srgbClr val="182934"/>
                          </a:solidFill>
                          <a:latin typeface="Arial"/>
                          <a:ea typeface="Arial"/>
                          <a:cs typeface="Arial"/>
                        </a:rPr>
                        <a:t>ΣSFR</a:t>
                      </a:r>
                    </a:p>
                  </a:txBody>
                  <a:tcPr marL="142875" marR="142875" marT="114300" marB="114300" anchor="ctr">
                    <a:solidFill>
                      <a:srgbClr val="F3F5F6"/>
                    </a:solidFill>
                  </a:tcPr>
                </a:tc>
                <a:tc>
                  <a:txBody>
                    <a:bodyPr/>
                    <a:lstStyle/>
                    <a:p>
                      <a:r>
                        <a:rPr sz="1950" b="0">
                          <a:solidFill>
                            <a:srgbClr val="182934"/>
                          </a:solidFill>
                          <a:latin typeface="Arial"/>
                          <a:ea typeface="Arial"/>
                          <a:cs typeface="Arial"/>
                        </a:rPr>
                        <a:t>Star formation per area</a:t>
                      </a:r>
                    </a:p>
                  </a:txBody>
                  <a:tcPr marL="142875" marR="142875" marT="114300" marB="114300" anchor="ctr">
                    <a:solidFill>
                      <a:srgbClr val="F3F5F6"/>
                    </a:solidFill>
                  </a:tcPr>
                </a:tc>
                <a:extLst>
                  <a:ext uri="{0D108BD9-81ED-4DB2-BD59-A6C34878D82A}">
                    <a16:rowId xmlns:a16="http://schemas.microsoft.com/office/drawing/2014/main" val="10002"/>
                  </a:ext>
                </a:extLst>
              </a:tr>
              <a:tr h="673894">
                <a:tc>
                  <a:txBody>
                    <a:bodyPr/>
                    <a:lstStyle/>
                    <a:p>
                      <a:r>
                        <a:rPr sz="1950" b="0">
                          <a:solidFill>
                            <a:srgbClr val="182934"/>
                          </a:solidFill>
                          <a:latin typeface="Arial"/>
                          <a:ea typeface="Arial"/>
                          <a:cs typeface="Arial"/>
                        </a:rPr>
                        <a:t>12 + log₁₀(O/H)</a:t>
                      </a:r>
                    </a:p>
                  </a:txBody>
                  <a:tcPr marL="142875" marR="142875" marT="114300" marB="114300" anchor="ctr">
                    <a:solidFill>
                      <a:srgbClr val="FFFFFF"/>
                    </a:solidFill>
                  </a:tcPr>
                </a:tc>
                <a:tc>
                  <a:txBody>
                    <a:bodyPr/>
                    <a:lstStyle/>
                    <a:p>
                      <a:r>
                        <a:rPr sz="1950" b="0" dirty="0">
                          <a:solidFill>
                            <a:srgbClr val="182934"/>
                          </a:solidFill>
                          <a:latin typeface="Arial"/>
                          <a:ea typeface="Arial"/>
                          <a:cs typeface="Arial"/>
                        </a:rPr>
                        <a:t>Gas-phase abundance</a:t>
                      </a:r>
                    </a:p>
                  </a:txBody>
                  <a:tcPr marL="142875" marR="142875"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8" name="Rectangle 7">
            <a:extLst>
              <a:ext uri="{FF2B5EF4-FFF2-40B4-BE49-F238E27FC236}">
                <a16:creationId xmlns:a16="http://schemas.microsoft.com/office/drawing/2014/main" id="{6DCC9EB2-E9F6-4B71-9218-FEA2E4A540AE}"/>
              </a:ext>
            </a:extLst>
          </p:cNvPr>
          <p:cNvSpPr>
            <a:spLocks noGrp="1"/>
          </p:cNvSpPr>
          <p:nvPr/>
        </p:nvSpPr>
        <p:spPr>
          <a:xfrm>
            <a:off x="5505450" y="4791075"/>
            <a:ext cx="5857875" cy="952500"/>
          </a:xfrm>
          <a:prstGeom prst="rect">
            <a:avLst/>
          </a:prstGeom>
          <a:noFill/>
          <a:ln w="0">
            <a:noFill/>
          </a:ln>
        </p:spPr>
        <p:txBody>
          <a:bodyPr wrap="square" lIns="0" tIns="0" rIns="0" bIns="0" anchor="t">
            <a:noAutofit/>
          </a:bodyPr>
          <a:lstStyle/>
          <a:p>
            <a:pPr algn="l">
              <a:defRPr sz="2475" b="1">
                <a:solidFill>
                  <a:srgbClr val="182934"/>
                </a:solidFill>
                <a:latin typeface="Arial"/>
                <a:ea typeface="Arial"/>
                <a:cs typeface="Arial"/>
              </a:defRPr>
            </a:pPr>
            <a:r>
              <a:rPr sz="2475" b="1">
                <a:solidFill>
                  <a:srgbClr val="182934"/>
                </a:solidFill>
                <a:latin typeface="Arial"/>
                <a:ea typeface="Arial"/>
                <a:cs typeface="Arial"/>
              </a:rPr>
              <a:t>At fixed Σ∗, does abundance</a:t>
            </a:r>
          </a:p>
          <a:p>
            <a:pPr algn="l">
              <a:defRPr sz="2475" b="1">
                <a:solidFill>
                  <a:srgbClr val="182934"/>
                </a:solidFill>
                <a:latin typeface="Arial"/>
                <a:ea typeface="Arial"/>
                <a:cs typeface="Arial"/>
              </a:defRPr>
            </a:pPr>
            <a:r>
              <a:rPr sz="2475" b="1">
                <a:solidFill>
                  <a:srgbClr val="182934"/>
                </a:solidFill>
                <a:latin typeface="Arial"/>
                <a:ea typeface="Arial"/>
                <a:cs typeface="Arial"/>
              </a:rPr>
              <a:t>follow or oppose ΣSFR?</a:t>
            </a:r>
          </a:p>
        </p:txBody>
      </p:sp>
      <p:sp>
        <p:nvSpPr>
          <p:cNvPr id="9" name="Rectangle 8">
            <a:extLst>
              <a:ext uri="{FF2B5EF4-FFF2-40B4-BE49-F238E27FC236}">
                <a16:creationId xmlns:a16="http://schemas.microsoft.com/office/drawing/2014/main" id="{2E2ED823-E856-40CE-A20D-B367A8995CDE}"/>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Context figure: Baker et al. 2023, as attributed in EAS2026. Main study: Huang et al. 2026.</a:t>
            </a:r>
          </a:p>
        </p:txBody>
      </p:sp>
    </p:spTree>
    <p:extLst>
      <p:ext uri="{BB962C8B-B14F-4D97-AF65-F5344CB8AC3E}">
        <p14:creationId xmlns:p14="http://schemas.microsoft.com/office/powerpoint/2010/main" val="117348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9CBA69-7EFD-47A1-BBC2-A8D8FE32EF9F}"/>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PAPER I / MEASUREMENTS</a:t>
            </a:r>
          </a:p>
        </p:txBody>
      </p:sp>
      <p:sp>
        <p:nvSpPr>
          <p:cNvPr id="2" name="Rectangle 1">
            <a:extLst>
              <a:ext uri="{FF2B5EF4-FFF2-40B4-BE49-F238E27FC236}">
                <a16:creationId xmlns:a16="http://schemas.microsoft.com/office/drawing/2014/main" id="{830CC6BC-CD9E-4024-A87D-11062DA264E9}"/>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Selecting star-forming emission</a:t>
            </a:r>
          </a:p>
        </p:txBody>
      </p:sp>
      <p:sp>
        <p:nvSpPr>
          <p:cNvPr id="3" name="Rectangle 2">
            <a:extLst>
              <a:ext uri="{FF2B5EF4-FFF2-40B4-BE49-F238E27FC236}">
                <a16:creationId xmlns:a16="http://schemas.microsoft.com/office/drawing/2014/main" id="{AA562F89-432C-4B5C-B255-E9554D9EBD46}"/>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5A1A47E0-AB7F-4125-AF74-29FB21F02F43}"/>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60D69E3C-0692-4208-B12A-2B470E295A15}"/>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12</a:t>
            </a:r>
          </a:p>
        </p:txBody>
      </p:sp>
      <p:pic>
        <p:nvPicPr>
          <p:cNvPr id="14" name="Picture 13"/>
          <p:cNvPicPr>
            <a:picLocks noChangeAspect="1"/>
          </p:cNvPicPr>
          <p:nvPr/>
        </p:nvPicPr>
        <p:blipFill>
          <a:blip r:embed="rId3"/>
          <a:stretch/>
        </p:blipFill>
        <p:spPr>
          <a:xfrm>
            <a:off x="3069903" y="1562100"/>
            <a:ext cx="6052194" cy="3190875"/>
          </a:xfrm>
          <a:prstGeom prst="rect">
            <a:avLst/>
          </a:prstGeom>
        </p:spPr>
      </p:pic>
      <p:graphicFrame>
        <p:nvGraphicFramePr>
          <p:cNvPr id="15" name="Table 14"/>
          <p:cNvGraphicFramePr/>
          <p:nvPr/>
        </p:nvGraphicFramePr>
        <p:xfrm>
          <a:off x="533400" y="4972050"/>
          <a:ext cx="11125200" cy="638175"/>
        </p:xfrm>
        <a:graphic>
          <a:graphicData uri="http://schemas.openxmlformats.org/drawingml/2006/table">
            <a:tbl>
              <a:tblPr/>
              <a:tblGrid>
                <a:gridCol w="37052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705225">
                  <a:extLst>
                    <a:ext uri="{9D8B030D-6E8A-4147-A177-3AD203B41FA5}">
                      <a16:colId xmlns:a16="http://schemas.microsoft.com/office/drawing/2014/main" val="20002"/>
                    </a:ext>
                  </a:extLst>
                </a:gridCol>
              </a:tblGrid>
              <a:tr h="638175">
                <a:tc>
                  <a:txBody>
                    <a:bodyPr/>
                    <a:lstStyle/>
                    <a:p>
                      <a:r>
                        <a:rPr sz="1950" b="1">
                          <a:solidFill>
                            <a:srgbClr val="FFFFFF"/>
                          </a:solidFill>
                          <a:latin typeface="Arial"/>
                          <a:ea typeface="Arial"/>
                          <a:cs typeface="Arial"/>
                        </a:rPr>
                        <a:t>HII in both BPT planes</a:t>
                      </a:r>
                    </a:p>
                  </a:txBody>
                  <a:tcPr marL="142875" marR="142875" marT="114300" marB="114300" anchor="ctr">
                    <a:solidFill>
                      <a:srgbClr val="10222E"/>
                    </a:solidFill>
                  </a:tcPr>
                </a:tc>
                <a:tc>
                  <a:txBody>
                    <a:bodyPr/>
                    <a:lstStyle/>
                    <a:p>
                      <a:r>
                        <a:rPr sz="1950" b="1">
                          <a:solidFill>
                            <a:srgbClr val="FFFFFF"/>
                          </a:solidFill>
                          <a:latin typeface="Arial"/>
                          <a:ea typeface="Arial"/>
                          <a:cs typeface="Arial"/>
                        </a:rPr>
                        <a:t>EW(Hα) &gt; 6 Å</a:t>
                      </a:r>
                    </a:p>
                  </a:txBody>
                  <a:tcPr marL="142875" marR="142875" marT="114300" marB="114300" anchor="ctr">
                    <a:solidFill>
                      <a:srgbClr val="10222E"/>
                    </a:solidFill>
                  </a:tcPr>
                </a:tc>
                <a:tc>
                  <a:txBody>
                    <a:bodyPr/>
                    <a:lstStyle/>
                    <a:p>
                      <a:r>
                        <a:rPr sz="1950" b="1">
                          <a:solidFill>
                            <a:srgbClr val="FFFFFF"/>
                          </a:solidFill>
                          <a:latin typeface="Arial"/>
                          <a:ea typeface="Arial"/>
                          <a:cs typeface="Arial"/>
                        </a:rPr>
                        <a:t>σint(Hα) &lt; 45 km s⁻¹</a:t>
                      </a:r>
                    </a:p>
                  </a:txBody>
                  <a:tcPr marL="142875" marR="142875" marT="114300" marB="114300" anchor="ctr">
                    <a:solidFill>
                      <a:srgbClr val="10222E"/>
                    </a:solidFill>
                  </a:tcPr>
                </a:tc>
                <a:extLst>
                  <a:ext uri="{0D108BD9-81ED-4DB2-BD59-A6C34878D82A}">
                    <a16:rowId xmlns:a16="http://schemas.microsoft.com/office/drawing/2014/main" val="10000"/>
                  </a:ext>
                </a:extLst>
              </a:tr>
            </a:tbl>
          </a:graphicData>
        </a:graphic>
      </p:graphicFrame>
      <p:sp>
        <p:nvSpPr>
          <p:cNvPr id="8" name="Rectangle 7">
            <a:extLst>
              <a:ext uri="{FF2B5EF4-FFF2-40B4-BE49-F238E27FC236}">
                <a16:creationId xmlns:a16="http://schemas.microsoft.com/office/drawing/2014/main" id="{09AAD17C-33CB-400F-A571-CFD853EC68D9}"/>
              </a:ext>
            </a:extLst>
          </p:cNvPr>
          <p:cNvSpPr>
            <a:spLocks noGrp="1"/>
          </p:cNvSpPr>
          <p:nvPr/>
        </p:nvSpPr>
        <p:spPr>
          <a:xfrm>
            <a:off x="533400" y="59626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14 galaxies in Paper I; 13 in the ensemble relation (NGC4383 excluded). Huang et al. 2026, Figure 1.</a:t>
            </a:r>
          </a:p>
        </p:txBody>
      </p:sp>
    </p:spTree>
    <p:extLst>
      <p:ext uri="{BB962C8B-B14F-4D97-AF65-F5344CB8AC3E}">
        <p14:creationId xmlns:p14="http://schemas.microsoft.com/office/powerpoint/2010/main" val="637003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2C0413-1429-4780-AA34-1ADF17B83FCA}"/>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PAPER I / PRIMARY RELATION</a:t>
            </a:r>
          </a:p>
        </p:txBody>
      </p:sp>
      <p:sp>
        <p:nvSpPr>
          <p:cNvPr id="2" name="Rectangle 1">
            <a:extLst>
              <a:ext uri="{FF2B5EF4-FFF2-40B4-BE49-F238E27FC236}">
                <a16:creationId xmlns:a16="http://schemas.microsoft.com/office/drawing/2014/main" id="{1C66D78B-7A9D-4734-B42E-1328730A4B26}"/>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The resolved mass-metallicity relation</a:t>
            </a:r>
          </a:p>
        </p:txBody>
      </p:sp>
      <p:sp>
        <p:nvSpPr>
          <p:cNvPr id="3" name="Rectangle 2">
            <a:extLst>
              <a:ext uri="{FF2B5EF4-FFF2-40B4-BE49-F238E27FC236}">
                <a16:creationId xmlns:a16="http://schemas.microsoft.com/office/drawing/2014/main" id="{E1117ECA-0C9E-4780-B48F-E30A1137167E}"/>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00AC1CBC-C4BF-435D-A982-76180F202B78}"/>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01EAD987-2C96-4B1E-9C95-F61AECF12EDB}"/>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13</a:t>
            </a:r>
          </a:p>
        </p:txBody>
      </p:sp>
      <p:pic>
        <p:nvPicPr>
          <p:cNvPr id="14" name="Picture 13"/>
          <p:cNvPicPr>
            <a:picLocks noChangeAspect="1"/>
          </p:cNvPicPr>
          <p:nvPr/>
        </p:nvPicPr>
        <p:blipFill>
          <a:blip r:embed="rId3"/>
          <a:stretch/>
        </p:blipFill>
        <p:spPr>
          <a:xfrm>
            <a:off x="1877870" y="1695450"/>
            <a:ext cx="8436260" cy="3895725"/>
          </a:xfrm>
          <a:prstGeom prst="rect">
            <a:avLst/>
          </a:prstGeom>
        </p:spPr>
      </p:pic>
      <p:sp>
        <p:nvSpPr>
          <p:cNvPr id="7" name="Rectangle 6">
            <a:extLst>
              <a:ext uri="{FF2B5EF4-FFF2-40B4-BE49-F238E27FC236}">
                <a16:creationId xmlns:a16="http://schemas.microsoft.com/office/drawing/2014/main" id="{353E9990-F4BF-43B4-976B-55DC22D92151}"/>
              </a:ext>
            </a:extLst>
          </p:cNvPr>
          <p:cNvSpPr>
            <a:spLocks noGrp="1"/>
          </p:cNvSpPr>
          <p:nvPr/>
        </p:nvSpPr>
        <p:spPr>
          <a:xfrm>
            <a:off x="533400" y="57721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Abundance rises with stellar surface density and flattens. O3N2-M13 and O3N2-C20 share an index.</a:t>
            </a:r>
          </a:p>
        </p:txBody>
      </p:sp>
      <p:sp>
        <p:nvSpPr>
          <p:cNvPr id="8" name="Rectangle 7">
            <a:extLst>
              <a:ext uri="{FF2B5EF4-FFF2-40B4-BE49-F238E27FC236}">
                <a16:creationId xmlns:a16="http://schemas.microsoft.com/office/drawing/2014/main" id="{322E979C-30A6-420F-B675-982C3805E3F2}"/>
              </a:ext>
            </a:extLst>
          </p:cNvPr>
          <p:cNvSpPr>
            <a:spLocks noGrp="1"/>
          </p:cNvSpPr>
          <p:nvPr/>
        </p:nvSpPr>
        <p:spPr>
          <a:xfrm>
            <a:off x="533400" y="610552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Huang et al. 2026, Figure 2. Stellar surface density is in M☉ kpc⁻².</a:t>
            </a:r>
          </a:p>
        </p:txBody>
      </p:sp>
    </p:spTree>
    <p:extLst>
      <p:ext uri="{BB962C8B-B14F-4D97-AF65-F5344CB8AC3E}">
        <p14:creationId xmlns:p14="http://schemas.microsoft.com/office/powerpoint/2010/main" val="193524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D151FE-DA14-4B05-AA3D-4B9B7082D5E1}"/>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PAPER I / CONDITIONAL ASSOCIATION</a:t>
            </a:r>
          </a:p>
        </p:txBody>
      </p:sp>
      <p:sp>
        <p:nvSpPr>
          <p:cNvPr id="2" name="Rectangle 1">
            <a:extLst>
              <a:ext uri="{FF2B5EF4-FFF2-40B4-BE49-F238E27FC236}">
                <a16:creationId xmlns:a16="http://schemas.microsoft.com/office/drawing/2014/main" id="{8F25F11F-9253-495E-B967-794E8E5BD5AD}"/>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At fixed stellar density, the SFR dependence changes</a:t>
            </a:r>
          </a:p>
        </p:txBody>
      </p:sp>
      <p:sp>
        <p:nvSpPr>
          <p:cNvPr id="3" name="Rectangle 2">
            <a:extLst>
              <a:ext uri="{FF2B5EF4-FFF2-40B4-BE49-F238E27FC236}">
                <a16:creationId xmlns:a16="http://schemas.microsoft.com/office/drawing/2014/main" id="{0F3AD45D-5FAF-48F1-82FD-CD6B07C9B8A7}"/>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FDA305C9-92C2-4753-A5C7-A172A187AE56}"/>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26F8118C-6B32-4C21-8E7D-C73175DAE2A3}"/>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14</a:t>
            </a:r>
          </a:p>
        </p:txBody>
      </p:sp>
      <p:pic>
        <p:nvPicPr>
          <p:cNvPr id="15" name="Picture 14"/>
          <p:cNvPicPr>
            <a:picLocks noChangeAspect="1"/>
          </p:cNvPicPr>
          <p:nvPr/>
        </p:nvPicPr>
        <p:blipFill>
          <a:blip r:embed="rId3"/>
          <a:stretch/>
        </p:blipFill>
        <p:spPr>
          <a:xfrm>
            <a:off x="1057659" y="1762125"/>
            <a:ext cx="10076682" cy="3914775"/>
          </a:xfrm>
          <a:prstGeom prst="rect">
            <a:avLst/>
          </a:prstGeom>
        </p:spPr>
      </p:pic>
      <p:sp>
        <p:nvSpPr>
          <p:cNvPr id="7" name="Rectangle 6">
            <a:extLst>
              <a:ext uri="{FF2B5EF4-FFF2-40B4-BE49-F238E27FC236}">
                <a16:creationId xmlns:a16="http://schemas.microsoft.com/office/drawing/2014/main" id="{335E052B-E884-4417-8731-791859C71CBC}"/>
              </a:ext>
            </a:extLst>
          </p:cNvPr>
          <p:cNvSpPr>
            <a:spLocks noGrp="1"/>
          </p:cNvSpPr>
          <p:nvPr/>
        </p:nvSpPr>
        <p:spPr>
          <a:xfrm>
            <a:off x="676275" y="5734050"/>
            <a:ext cx="5381625" cy="342900"/>
          </a:xfrm>
          <a:prstGeom prst="rect">
            <a:avLst/>
          </a:prstGeom>
          <a:noFill/>
          <a:ln w="0">
            <a:noFill/>
          </a:ln>
        </p:spPr>
        <p:txBody>
          <a:bodyPr wrap="square" lIns="0" tIns="0" rIns="0" bIns="0" anchor="t">
            <a:noAutofit/>
          </a:bodyPr>
          <a:lstStyle/>
          <a:p>
            <a:pPr algn="l">
              <a:defRPr sz="1950" b="1">
                <a:solidFill>
                  <a:srgbClr val="2166AC"/>
                </a:solidFill>
                <a:latin typeface="Arial"/>
                <a:ea typeface="Arial"/>
                <a:cs typeface="Arial"/>
              </a:defRPr>
            </a:pPr>
            <a:r>
              <a:rPr sz="1950" b="1">
                <a:solidFill>
                  <a:srgbClr val="2166AC"/>
                </a:solidFill>
                <a:latin typeface="Arial"/>
                <a:ea typeface="Arial"/>
                <a:cs typeface="Arial"/>
              </a:rPr>
              <a:t>Lower Σ∗: negative association</a:t>
            </a:r>
          </a:p>
        </p:txBody>
      </p:sp>
      <p:sp>
        <p:nvSpPr>
          <p:cNvPr id="8" name="Rectangle 7">
            <a:extLst>
              <a:ext uri="{FF2B5EF4-FFF2-40B4-BE49-F238E27FC236}">
                <a16:creationId xmlns:a16="http://schemas.microsoft.com/office/drawing/2014/main" id="{68A63DAD-BA1B-431E-B24A-22FBEF7C6DA8}"/>
              </a:ext>
            </a:extLst>
          </p:cNvPr>
          <p:cNvSpPr>
            <a:spLocks noGrp="1"/>
          </p:cNvSpPr>
          <p:nvPr/>
        </p:nvSpPr>
        <p:spPr>
          <a:xfrm>
            <a:off x="6410325" y="5734050"/>
            <a:ext cx="5286375" cy="342900"/>
          </a:xfrm>
          <a:prstGeom prst="rect">
            <a:avLst/>
          </a:prstGeom>
          <a:noFill/>
          <a:ln w="0">
            <a:noFill/>
          </a:ln>
        </p:spPr>
        <p:txBody>
          <a:bodyPr wrap="square" lIns="0" tIns="0" rIns="0" bIns="0" anchor="t">
            <a:noAutofit/>
          </a:bodyPr>
          <a:lstStyle/>
          <a:p>
            <a:pPr algn="l">
              <a:defRPr sz="1950" b="1">
                <a:solidFill>
                  <a:srgbClr val="B2182B"/>
                </a:solidFill>
                <a:latin typeface="Arial"/>
                <a:ea typeface="Arial"/>
                <a:cs typeface="Arial"/>
              </a:defRPr>
            </a:pPr>
            <a:r>
              <a:rPr sz="1950" b="1">
                <a:solidFill>
                  <a:srgbClr val="B2182B"/>
                </a:solidFill>
                <a:latin typeface="Arial"/>
                <a:ea typeface="Arial"/>
                <a:cs typeface="Arial"/>
              </a:rPr>
              <a:t>Higher Σ∗: positive association</a:t>
            </a:r>
          </a:p>
        </p:txBody>
      </p:sp>
      <p:sp>
        <p:nvSpPr>
          <p:cNvPr id="9" name="Rectangle 8">
            <a:extLst>
              <a:ext uri="{FF2B5EF4-FFF2-40B4-BE49-F238E27FC236}">
                <a16:creationId xmlns:a16="http://schemas.microsoft.com/office/drawing/2014/main" id="{7D9BB5DC-64C5-4DCC-AFA8-B609B8B122DF}"/>
              </a:ext>
            </a:extLst>
          </p:cNvPr>
          <p:cNvSpPr>
            <a:spLocks noGrp="1"/>
          </p:cNvSpPr>
          <p:nvPr/>
        </p:nvSpPr>
        <p:spPr>
          <a:xfrm>
            <a:off x="533400" y="61150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Huang et al. 2026, Figure 3 (lower panels); O3N2-M13.</a:t>
            </a:r>
          </a:p>
        </p:txBody>
      </p:sp>
    </p:spTree>
    <p:extLst>
      <p:ext uri="{BB962C8B-B14F-4D97-AF65-F5344CB8AC3E}">
        <p14:creationId xmlns:p14="http://schemas.microsoft.com/office/powerpoint/2010/main" val="997276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6A1E155-92D4-48B2-B713-4B652F5A5AFA}"/>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PAPER I / QUANTITATIVE EVIDENCE</a:t>
            </a:r>
          </a:p>
        </p:txBody>
      </p:sp>
      <p:sp>
        <p:nvSpPr>
          <p:cNvPr id="2" name="Rectangle 1">
            <a:extLst>
              <a:ext uri="{FF2B5EF4-FFF2-40B4-BE49-F238E27FC236}">
                <a16:creationId xmlns:a16="http://schemas.microsoft.com/office/drawing/2014/main" id="{D8C3D12B-2C18-43AE-961A-2745D4A04877}"/>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The sign changes near log Σ∗ ≈ 7.5–8.0</a:t>
            </a:r>
          </a:p>
        </p:txBody>
      </p:sp>
      <p:sp>
        <p:nvSpPr>
          <p:cNvPr id="3" name="Rectangle 2">
            <a:extLst>
              <a:ext uri="{FF2B5EF4-FFF2-40B4-BE49-F238E27FC236}">
                <a16:creationId xmlns:a16="http://schemas.microsoft.com/office/drawing/2014/main" id="{EB1888F1-93DF-4E89-A0FE-ABA2F2C114E9}"/>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DAAF271B-3AF7-41B2-ADB9-74F751A21DF0}"/>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E23A1279-8A4D-4E23-A577-D12B01C51214}"/>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15</a:t>
            </a:r>
          </a:p>
        </p:txBody>
      </p:sp>
      <p:pic>
        <p:nvPicPr>
          <p:cNvPr id="14" name="Picture 13"/>
          <p:cNvPicPr>
            <a:picLocks noChangeAspect="1"/>
          </p:cNvPicPr>
          <p:nvPr/>
        </p:nvPicPr>
        <p:blipFill>
          <a:blip r:embed="rId3"/>
          <a:stretch/>
        </p:blipFill>
        <p:spPr>
          <a:xfrm>
            <a:off x="2844775" y="1609725"/>
            <a:ext cx="6502450" cy="4229100"/>
          </a:xfrm>
          <a:prstGeom prst="rect">
            <a:avLst/>
          </a:prstGeom>
        </p:spPr>
      </p:pic>
      <p:sp>
        <p:nvSpPr>
          <p:cNvPr id="7" name="Rectangle 6">
            <a:extLst>
              <a:ext uri="{FF2B5EF4-FFF2-40B4-BE49-F238E27FC236}">
                <a16:creationId xmlns:a16="http://schemas.microsoft.com/office/drawing/2014/main" id="{E0B5151E-45D7-4198-A687-A1E23D74F5CF}"/>
              </a:ext>
            </a:extLst>
          </p:cNvPr>
          <p:cNvSpPr>
            <a:spLocks noGrp="1"/>
          </p:cNvSpPr>
          <p:nvPr/>
        </p:nvSpPr>
        <p:spPr>
          <a:xfrm>
            <a:off x="533400" y="58102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Original galaxy colours; black = ensemble. Approximate transition in log₁₀(Σ∗ / [M☉ kpc⁻²]).</a:t>
            </a:r>
          </a:p>
        </p:txBody>
      </p:sp>
      <p:sp>
        <p:nvSpPr>
          <p:cNvPr id="8" name="Rectangle 7">
            <a:extLst>
              <a:ext uri="{FF2B5EF4-FFF2-40B4-BE49-F238E27FC236}">
                <a16:creationId xmlns:a16="http://schemas.microsoft.com/office/drawing/2014/main" id="{9A38E1CA-8DE9-4612-A04B-282F1FFDA5B3}"/>
              </a:ext>
            </a:extLst>
          </p:cNvPr>
          <p:cNvSpPr>
            <a:spLocks noGrp="1"/>
          </p:cNvSpPr>
          <p:nvPr/>
        </p:nvSpPr>
        <p:spPr>
          <a:xfrm>
            <a:off x="533400" y="61150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Huang et al. 2026, Figure 5. Spearman ρ describes association, not causation.</a:t>
            </a:r>
          </a:p>
        </p:txBody>
      </p:sp>
    </p:spTree>
    <p:extLst>
      <p:ext uri="{BB962C8B-B14F-4D97-AF65-F5344CB8AC3E}">
        <p14:creationId xmlns:p14="http://schemas.microsoft.com/office/powerpoint/2010/main" val="1471514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F8FDC22-ACDE-45E5-9FF4-C43C6BB433E8}"/>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PAPER I / SPATIAL EVIDENCE</a:t>
            </a:r>
          </a:p>
        </p:txBody>
      </p:sp>
      <p:sp>
        <p:nvSpPr>
          <p:cNvPr id="2" name="Rectangle 1">
            <a:extLst>
              <a:ext uri="{FF2B5EF4-FFF2-40B4-BE49-F238E27FC236}">
                <a16:creationId xmlns:a16="http://schemas.microsoft.com/office/drawing/2014/main" id="{57A5D1AB-FE13-466A-AABC-A2D28E97D74E}"/>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Opposite local behaviours coexist in one disc</a:t>
            </a:r>
          </a:p>
        </p:txBody>
      </p:sp>
      <p:sp>
        <p:nvSpPr>
          <p:cNvPr id="3" name="Rectangle 2">
            <a:extLst>
              <a:ext uri="{FF2B5EF4-FFF2-40B4-BE49-F238E27FC236}">
                <a16:creationId xmlns:a16="http://schemas.microsoft.com/office/drawing/2014/main" id="{3FEC9D59-ECA4-4FCC-AFAA-EC7F4F6FBC54}"/>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F7BA2782-23CB-49DE-812E-5C3F5B914F04}"/>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0650244D-373C-4206-9D2A-9775E06BD8BE}"/>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16</a:t>
            </a:r>
          </a:p>
        </p:txBody>
      </p:sp>
      <p:pic>
        <p:nvPicPr>
          <p:cNvPr id="18" name="Picture 17"/>
          <p:cNvPicPr>
            <a:picLocks noChangeAspect="1"/>
          </p:cNvPicPr>
          <p:nvPr/>
        </p:nvPicPr>
        <p:blipFill>
          <a:blip r:embed="rId3"/>
          <a:stretch/>
        </p:blipFill>
        <p:spPr>
          <a:xfrm>
            <a:off x="457200" y="2090619"/>
            <a:ext cx="3743325" cy="3486387"/>
          </a:xfrm>
          <a:prstGeom prst="rect">
            <a:avLst/>
          </a:prstGeom>
        </p:spPr>
      </p:pic>
      <p:pic>
        <p:nvPicPr>
          <p:cNvPr id="19" name="Picture 18"/>
          <p:cNvPicPr>
            <a:picLocks noChangeAspect="1"/>
          </p:cNvPicPr>
          <p:nvPr/>
        </p:nvPicPr>
        <p:blipFill>
          <a:blip r:embed="rId4"/>
          <a:stretch/>
        </p:blipFill>
        <p:spPr>
          <a:xfrm>
            <a:off x="4286250" y="1944430"/>
            <a:ext cx="3743325" cy="3778765"/>
          </a:xfrm>
          <a:prstGeom prst="rect">
            <a:avLst/>
          </a:prstGeom>
        </p:spPr>
      </p:pic>
      <p:sp>
        <p:nvSpPr>
          <p:cNvPr id="8" name="Rectangle 7">
            <a:extLst>
              <a:ext uri="{FF2B5EF4-FFF2-40B4-BE49-F238E27FC236}">
                <a16:creationId xmlns:a16="http://schemas.microsoft.com/office/drawing/2014/main" id="{0C8C3E8B-CAA4-4BA9-B48E-C71996C6841E}"/>
              </a:ext>
            </a:extLst>
          </p:cNvPr>
          <p:cNvSpPr>
            <a:spLocks noGrp="1"/>
          </p:cNvSpPr>
          <p:nvPr/>
        </p:nvSpPr>
        <p:spPr>
          <a:xfrm>
            <a:off x="1238250" y="1543050"/>
            <a:ext cx="2476500" cy="352425"/>
          </a:xfrm>
          <a:prstGeom prst="rect">
            <a:avLst/>
          </a:prstGeom>
          <a:noFill/>
          <a:ln w="0">
            <a:noFill/>
          </a:ln>
        </p:spPr>
        <p:txBody>
          <a:bodyPr wrap="square" lIns="0" tIns="0" rIns="0" bIns="0" anchor="t">
            <a:noAutofit/>
          </a:bodyPr>
          <a:lstStyle/>
          <a:p>
            <a:pPr algn="l">
              <a:defRPr sz="1875" b="1">
                <a:solidFill>
                  <a:srgbClr val="182934"/>
                </a:solidFill>
                <a:latin typeface="Arial"/>
                <a:ea typeface="Arial"/>
                <a:cs typeface="Arial"/>
              </a:defRPr>
            </a:pPr>
            <a:r>
              <a:rPr sz="1875" b="1">
                <a:solidFill>
                  <a:srgbClr val="182934"/>
                </a:solidFill>
                <a:latin typeface="Arial"/>
                <a:ea typeface="Arial"/>
                <a:cs typeface="Arial"/>
              </a:rPr>
              <a:t>SFR offset</a:t>
            </a:r>
          </a:p>
        </p:txBody>
      </p:sp>
      <p:sp>
        <p:nvSpPr>
          <p:cNvPr id="9" name="Rectangle 8">
            <a:extLst>
              <a:ext uri="{FF2B5EF4-FFF2-40B4-BE49-F238E27FC236}">
                <a16:creationId xmlns:a16="http://schemas.microsoft.com/office/drawing/2014/main" id="{EE2DDB2B-21E3-4605-BF1E-8B9A224FEEF7}"/>
              </a:ext>
            </a:extLst>
          </p:cNvPr>
          <p:cNvSpPr>
            <a:spLocks noGrp="1"/>
          </p:cNvSpPr>
          <p:nvPr/>
        </p:nvSpPr>
        <p:spPr>
          <a:xfrm>
            <a:off x="4876800" y="1543050"/>
            <a:ext cx="3000375" cy="352425"/>
          </a:xfrm>
          <a:prstGeom prst="rect">
            <a:avLst/>
          </a:prstGeom>
          <a:noFill/>
          <a:ln w="0">
            <a:noFill/>
          </a:ln>
        </p:spPr>
        <p:txBody>
          <a:bodyPr wrap="square" lIns="0" tIns="0" rIns="0" bIns="0" anchor="t">
            <a:noAutofit/>
          </a:bodyPr>
          <a:lstStyle/>
          <a:p>
            <a:pPr algn="l">
              <a:defRPr sz="1875" b="1">
                <a:solidFill>
                  <a:srgbClr val="182934"/>
                </a:solidFill>
                <a:latin typeface="Arial"/>
                <a:ea typeface="Arial"/>
                <a:cs typeface="Arial"/>
              </a:defRPr>
            </a:pPr>
            <a:r>
              <a:rPr sz="1875" b="1">
                <a:solidFill>
                  <a:srgbClr val="182934"/>
                </a:solidFill>
                <a:latin typeface="Arial"/>
                <a:ea typeface="Arial"/>
                <a:cs typeface="Arial"/>
              </a:rPr>
              <a:t>Local association</a:t>
            </a:r>
          </a:p>
        </p:txBody>
      </p:sp>
      <p:sp>
        <p:nvSpPr>
          <p:cNvPr id="10" name="Rectangle 9">
            <a:extLst>
              <a:ext uri="{FF2B5EF4-FFF2-40B4-BE49-F238E27FC236}">
                <a16:creationId xmlns:a16="http://schemas.microsoft.com/office/drawing/2014/main" id="{034CE4D2-BFC2-49E8-BC3B-07090A157754}"/>
              </a:ext>
            </a:extLst>
          </p:cNvPr>
          <p:cNvSpPr>
            <a:spLocks noGrp="1"/>
          </p:cNvSpPr>
          <p:nvPr/>
        </p:nvSpPr>
        <p:spPr>
          <a:xfrm>
            <a:off x="8477250" y="2305050"/>
            <a:ext cx="2762250" cy="514350"/>
          </a:xfrm>
          <a:prstGeom prst="rect">
            <a:avLst/>
          </a:prstGeom>
          <a:noFill/>
          <a:ln w="0">
            <a:noFill/>
          </a:ln>
        </p:spPr>
        <p:txBody>
          <a:bodyPr wrap="square" lIns="0" tIns="0" rIns="0" bIns="0" anchor="t">
            <a:noAutofit/>
          </a:bodyPr>
          <a:lstStyle/>
          <a:p>
            <a:pPr algn="l">
              <a:defRPr sz="2550" b="1">
                <a:solidFill>
                  <a:srgbClr val="85457F"/>
                </a:solidFill>
                <a:latin typeface="Arial"/>
                <a:ea typeface="Arial"/>
                <a:cs typeface="Arial"/>
              </a:defRPr>
            </a:pPr>
            <a:r>
              <a:rPr sz="2550" b="1">
                <a:solidFill>
                  <a:srgbClr val="85457F"/>
                </a:solidFill>
                <a:latin typeface="Arial"/>
                <a:ea typeface="Arial"/>
                <a:cs typeface="Arial"/>
              </a:rPr>
              <a:t>NGC4192</a:t>
            </a:r>
          </a:p>
        </p:txBody>
      </p:sp>
      <p:sp>
        <p:nvSpPr>
          <p:cNvPr id="11" name="Rectangle 10">
            <a:extLst>
              <a:ext uri="{FF2B5EF4-FFF2-40B4-BE49-F238E27FC236}">
                <a16:creationId xmlns:a16="http://schemas.microsoft.com/office/drawing/2014/main" id="{DC769217-043F-4D63-BCC8-8624F52A372D}"/>
              </a:ext>
            </a:extLst>
          </p:cNvPr>
          <p:cNvSpPr>
            <a:spLocks noGrp="1"/>
          </p:cNvSpPr>
          <p:nvPr/>
        </p:nvSpPr>
        <p:spPr>
          <a:xfrm>
            <a:off x="8477250" y="3028950"/>
            <a:ext cx="2895600" cy="1619250"/>
          </a:xfrm>
          <a:prstGeom prst="rect">
            <a:avLst/>
          </a:prstGeom>
          <a:noFill/>
          <a:ln w="0">
            <a:noFill/>
          </a:ln>
        </p:spPr>
        <p:txBody>
          <a:bodyPr wrap="square" lIns="0" tIns="0" rIns="0" bIns="0" anchor="t">
            <a:noAutofit/>
          </a:bodyPr>
          <a:lstStyle/>
          <a:p>
            <a:pPr algn="l">
              <a:defRPr sz="2025" b="0">
                <a:solidFill>
                  <a:srgbClr val="182934"/>
                </a:solidFill>
                <a:latin typeface="Arial"/>
                <a:ea typeface="Arial"/>
                <a:cs typeface="Arial"/>
              </a:defRPr>
            </a:pPr>
            <a:r>
              <a:rPr sz="2025" b="0">
                <a:solidFill>
                  <a:srgbClr val="182934"/>
                </a:solidFill>
                <a:latin typeface="Arial"/>
                <a:ea typeface="Arial"/>
                <a:cs typeface="Arial"/>
              </a:rPr>
              <a:t>Correlated and anti-correlated regions occur within the same disc.</a:t>
            </a:r>
          </a:p>
        </p:txBody>
      </p:sp>
      <p:sp>
        <p:nvSpPr>
          <p:cNvPr id="12" name="Rectangle 11">
            <a:extLst>
              <a:ext uri="{FF2B5EF4-FFF2-40B4-BE49-F238E27FC236}">
                <a16:creationId xmlns:a16="http://schemas.microsoft.com/office/drawing/2014/main" id="{EA12A8B1-AEB6-4EF1-B8E1-82D2DAB47CE5}"/>
              </a:ext>
            </a:extLst>
          </p:cNvPr>
          <p:cNvSpPr>
            <a:spLocks noGrp="1"/>
          </p:cNvSpPr>
          <p:nvPr/>
        </p:nvSpPr>
        <p:spPr>
          <a:xfrm>
            <a:off x="533400" y="60769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Huang et al. 2026, Figure 4 (selected panels). The local index is not a significance map.</a:t>
            </a:r>
          </a:p>
        </p:txBody>
      </p:sp>
    </p:spTree>
    <p:extLst>
      <p:ext uri="{BB962C8B-B14F-4D97-AF65-F5344CB8AC3E}">
        <p14:creationId xmlns:p14="http://schemas.microsoft.com/office/powerpoint/2010/main" val="174273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6EC577-EF03-492F-903F-48B6D9B8C714}"/>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PAPER I / A CENTRAL CAVEAT</a:t>
            </a:r>
          </a:p>
        </p:txBody>
      </p:sp>
      <p:sp>
        <p:nvSpPr>
          <p:cNvPr id="2" name="Rectangle 1">
            <a:extLst>
              <a:ext uri="{FF2B5EF4-FFF2-40B4-BE49-F238E27FC236}">
                <a16:creationId xmlns:a16="http://schemas.microsoft.com/office/drawing/2014/main" id="{EDF4C174-0C4D-4469-9373-22099F478BF5}"/>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Metallicity calibration changes the inferred relation</a:t>
            </a:r>
          </a:p>
        </p:txBody>
      </p:sp>
      <p:sp>
        <p:nvSpPr>
          <p:cNvPr id="3" name="Rectangle 2">
            <a:extLst>
              <a:ext uri="{FF2B5EF4-FFF2-40B4-BE49-F238E27FC236}">
                <a16:creationId xmlns:a16="http://schemas.microsoft.com/office/drawing/2014/main" id="{F70ED652-5EB8-4EF3-A8AC-C24BC47F5BFF}"/>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8C586D9E-6019-4E0B-8A55-E76E2F0554BE}"/>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D1209C9F-E983-4714-9CE2-82C53F612A71}"/>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17</a:t>
            </a:r>
          </a:p>
        </p:txBody>
      </p:sp>
      <p:graphicFrame>
        <p:nvGraphicFramePr>
          <p:cNvPr id="14" name="Table 13"/>
          <p:cNvGraphicFramePr/>
          <p:nvPr/>
        </p:nvGraphicFramePr>
        <p:xfrm>
          <a:off x="533400" y="1685925"/>
          <a:ext cx="11125200" cy="3314700"/>
        </p:xfrm>
        <a:graphic>
          <a:graphicData uri="http://schemas.openxmlformats.org/drawingml/2006/table">
            <a:tbl>
              <a:tblPr/>
              <a:tblGrid>
                <a:gridCol w="3048000">
                  <a:extLst>
                    <a:ext uri="{9D8B030D-6E8A-4147-A177-3AD203B41FA5}">
                      <a16:colId xmlns:a16="http://schemas.microsoft.com/office/drawing/2014/main" val="20000"/>
                    </a:ext>
                  </a:extLst>
                </a:gridCol>
                <a:gridCol w="8077200">
                  <a:extLst>
                    <a:ext uri="{9D8B030D-6E8A-4147-A177-3AD203B41FA5}">
                      <a16:colId xmlns:a16="http://schemas.microsoft.com/office/drawing/2014/main" val="20001"/>
                    </a:ext>
                  </a:extLst>
                </a:gridCol>
              </a:tblGrid>
              <a:tr h="662940">
                <a:tc>
                  <a:txBody>
                    <a:bodyPr/>
                    <a:lstStyle/>
                    <a:p>
                      <a:r>
                        <a:rPr sz="2025" b="1">
                          <a:solidFill>
                            <a:srgbClr val="FFFFFF"/>
                          </a:solidFill>
                          <a:latin typeface="Arial"/>
                          <a:ea typeface="Arial"/>
                          <a:cs typeface="Arial"/>
                        </a:rPr>
                        <a:t>Diagnostic</a:t>
                      </a:r>
                    </a:p>
                  </a:txBody>
                  <a:tcPr marL="142875" marR="142875" marT="114300" marB="114300" anchor="ctr">
                    <a:solidFill>
                      <a:srgbClr val="10222E"/>
                    </a:solidFill>
                  </a:tcPr>
                </a:tc>
                <a:tc>
                  <a:txBody>
                    <a:bodyPr/>
                    <a:lstStyle/>
                    <a:p>
                      <a:r>
                        <a:rPr sz="2025" b="1">
                          <a:solidFill>
                            <a:srgbClr val="FFFFFF"/>
                          </a:solidFill>
                          <a:latin typeface="Arial"/>
                          <a:ea typeface="Arial"/>
                          <a:cs typeface="Arial"/>
                        </a:rPr>
                        <a:t>Metallicity–SFR behaviour</a:t>
                      </a:r>
                    </a:p>
                  </a:txBody>
                  <a:tcPr marL="142875" marR="142875" marT="114300" marB="114300" anchor="ctr">
                    <a:solidFill>
                      <a:srgbClr val="10222E"/>
                    </a:solidFill>
                  </a:tcPr>
                </a:tc>
                <a:extLst>
                  <a:ext uri="{0D108BD9-81ED-4DB2-BD59-A6C34878D82A}">
                    <a16:rowId xmlns:a16="http://schemas.microsoft.com/office/drawing/2014/main" val="10000"/>
                  </a:ext>
                </a:extLst>
              </a:tr>
              <a:tr h="662940">
                <a:tc>
                  <a:txBody>
                    <a:bodyPr/>
                    <a:lstStyle/>
                    <a:p>
                      <a:r>
                        <a:rPr sz="2025" b="0">
                          <a:solidFill>
                            <a:srgbClr val="182934"/>
                          </a:solidFill>
                          <a:latin typeface="Arial"/>
                          <a:ea typeface="Arial"/>
                          <a:cs typeface="Arial"/>
                        </a:rPr>
                        <a:t>O3N2-M13</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Coherent negative-to-positive inversion</a:t>
                      </a:r>
                    </a:p>
                  </a:txBody>
                  <a:tcPr marL="142875" marR="142875" marT="114300" marB="114300" anchor="ctr">
                    <a:solidFill>
                      <a:srgbClr val="FFFFFF"/>
                    </a:solidFill>
                  </a:tcPr>
                </a:tc>
                <a:extLst>
                  <a:ext uri="{0D108BD9-81ED-4DB2-BD59-A6C34878D82A}">
                    <a16:rowId xmlns:a16="http://schemas.microsoft.com/office/drawing/2014/main" val="10001"/>
                  </a:ext>
                </a:extLst>
              </a:tr>
              <a:tr h="662940">
                <a:tc>
                  <a:txBody>
                    <a:bodyPr/>
                    <a:lstStyle/>
                    <a:p>
                      <a:r>
                        <a:rPr sz="2025" b="0">
                          <a:solidFill>
                            <a:srgbClr val="182934"/>
                          </a:solidFill>
                          <a:latin typeface="Arial"/>
                          <a:ea typeface="Arial"/>
                          <a:cs typeface="Arial"/>
                        </a:rPr>
                        <a:t>O3N2-C20</a:t>
                      </a:r>
                    </a:p>
                  </a:txBody>
                  <a:tcPr marL="142875" marR="142875" marT="114300" marB="114300" anchor="ctr">
                    <a:solidFill>
                      <a:srgbClr val="F3F5F6"/>
                    </a:solidFill>
                  </a:tcPr>
                </a:tc>
                <a:tc>
                  <a:txBody>
                    <a:bodyPr/>
                    <a:lstStyle/>
                    <a:p>
                      <a:r>
                        <a:rPr sz="2025" b="0">
                          <a:solidFill>
                            <a:srgbClr val="182934"/>
                          </a:solidFill>
                          <a:latin typeface="Arial"/>
                          <a:ea typeface="Arial"/>
                          <a:cs typeface="Arial"/>
                        </a:rPr>
                        <a:t>Similar inversion; same underlying index</a:t>
                      </a:r>
                    </a:p>
                  </a:txBody>
                  <a:tcPr marL="142875" marR="142875" marT="114300" marB="114300" anchor="ctr">
                    <a:solidFill>
                      <a:srgbClr val="F3F5F6"/>
                    </a:solidFill>
                  </a:tcPr>
                </a:tc>
                <a:extLst>
                  <a:ext uri="{0D108BD9-81ED-4DB2-BD59-A6C34878D82A}">
                    <a16:rowId xmlns:a16="http://schemas.microsoft.com/office/drawing/2014/main" val="10002"/>
                  </a:ext>
                </a:extLst>
              </a:tr>
              <a:tr h="662940">
                <a:tc>
                  <a:txBody>
                    <a:bodyPr/>
                    <a:lstStyle/>
                    <a:p>
                      <a:r>
                        <a:rPr sz="2025" b="0">
                          <a:solidFill>
                            <a:srgbClr val="182934"/>
                          </a:solidFill>
                          <a:latin typeface="Arial"/>
                          <a:ea typeface="Arial"/>
                          <a:cs typeface="Arial"/>
                        </a:rPr>
                        <a:t>D16</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Mostly mildly positive over much of the range</a:t>
                      </a:r>
                    </a:p>
                  </a:txBody>
                  <a:tcPr marL="142875" marR="142875" marT="114300" marB="114300" anchor="ctr">
                    <a:solidFill>
                      <a:srgbClr val="FFFFFF"/>
                    </a:solidFill>
                  </a:tcPr>
                </a:tc>
                <a:extLst>
                  <a:ext uri="{0D108BD9-81ED-4DB2-BD59-A6C34878D82A}">
                    <a16:rowId xmlns:a16="http://schemas.microsoft.com/office/drawing/2014/main" val="10003"/>
                  </a:ext>
                </a:extLst>
              </a:tr>
              <a:tr h="662940">
                <a:tc>
                  <a:txBody>
                    <a:bodyPr/>
                    <a:lstStyle/>
                    <a:p>
                      <a:r>
                        <a:rPr sz="2025" b="0">
                          <a:solidFill>
                            <a:srgbClr val="182934"/>
                          </a:solidFill>
                          <a:latin typeface="Arial"/>
                          <a:ea typeface="Arial"/>
                          <a:cs typeface="Arial"/>
                        </a:rPr>
                        <a:t>S-calibration PG16</a:t>
                      </a:r>
                    </a:p>
                  </a:txBody>
                  <a:tcPr marL="142875" marR="142875" marT="114300" marB="114300" anchor="ctr">
                    <a:solidFill>
                      <a:srgbClr val="F3F5F6"/>
                    </a:solidFill>
                  </a:tcPr>
                </a:tc>
                <a:tc>
                  <a:txBody>
                    <a:bodyPr/>
                    <a:lstStyle/>
                    <a:p>
                      <a:r>
                        <a:rPr sz="2025" b="0">
                          <a:solidFill>
                            <a:srgbClr val="182934"/>
                          </a:solidFill>
                          <a:latin typeface="Arial"/>
                          <a:ea typeface="Arial"/>
                          <a:cs typeface="Arial"/>
                        </a:rPr>
                        <a:t>More heterogeneous; can reverse the ordering</a:t>
                      </a:r>
                    </a:p>
                  </a:txBody>
                  <a:tcPr marL="142875" marR="142875" marT="114300" marB="114300" anchor="ctr">
                    <a:solidFill>
                      <a:srgbClr val="F3F5F6"/>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AE6B4CCB-4EBA-41A1-9216-E645F270B3DC}"/>
              </a:ext>
            </a:extLst>
          </p:cNvPr>
          <p:cNvSpPr>
            <a:spLocks noGrp="1"/>
          </p:cNvSpPr>
          <p:nvPr/>
        </p:nvSpPr>
        <p:spPr>
          <a:xfrm>
            <a:off x="533400" y="5448300"/>
            <a:ext cx="10953750" cy="600075"/>
          </a:xfrm>
          <a:prstGeom prst="rect">
            <a:avLst/>
          </a:prstGeom>
          <a:noFill/>
          <a:ln w="0">
            <a:noFill/>
          </a:ln>
        </p:spPr>
        <p:txBody>
          <a:bodyPr wrap="square" lIns="0" tIns="0" rIns="0" bIns="0" anchor="t">
            <a:noAutofit/>
          </a:bodyPr>
          <a:lstStyle/>
          <a:p>
            <a:pPr algn="l">
              <a:defRPr sz="2400" b="1">
                <a:solidFill>
                  <a:srgbClr val="182934"/>
                </a:solidFill>
                <a:latin typeface="Arial"/>
                <a:ea typeface="Arial"/>
                <a:cs typeface="Arial"/>
              </a:defRPr>
            </a:pPr>
            <a:r>
              <a:rPr sz="2400" b="1">
                <a:solidFill>
                  <a:srgbClr val="182934"/>
                </a:solidFill>
                <a:latin typeface="Arial"/>
                <a:ea typeface="Arial"/>
                <a:cs typeface="Arial"/>
              </a:rPr>
              <a:t>Diagnostic dependence is part of the result.</a:t>
            </a:r>
          </a:p>
        </p:txBody>
      </p:sp>
      <p:sp>
        <p:nvSpPr>
          <p:cNvPr id="8" name="Rectangle 7">
            <a:extLst>
              <a:ext uri="{FF2B5EF4-FFF2-40B4-BE49-F238E27FC236}">
                <a16:creationId xmlns:a16="http://schemas.microsoft.com/office/drawing/2014/main" id="{B81118F4-3C2E-4F3F-A0A4-A5DE3C33EAC3}"/>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Huang et al. 2026, Section 5.1 and Figure 6 (full figure in backup B2).</a:t>
            </a:r>
          </a:p>
        </p:txBody>
      </p:sp>
    </p:spTree>
    <p:extLst>
      <p:ext uri="{BB962C8B-B14F-4D97-AF65-F5344CB8AC3E}">
        <p14:creationId xmlns:p14="http://schemas.microsoft.com/office/powerpoint/2010/main" val="1580311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22E"/>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EF0479-0752-43DD-8473-53EAB07D04D7}"/>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C8AAC6"/>
                </a:solidFill>
                <a:latin typeface="Arial"/>
                <a:ea typeface="Arial"/>
                <a:cs typeface="Arial"/>
              </a:defRPr>
            </a:pPr>
            <a:r>
              <a:rPr sz="1125" b="1">
                <a:solidFill>
                  <a:srgbClr val="C8AAC6"/>
                </a:solidFill>
                <a:latin typeface="Arial"/>
                <a:ea typeface="Arial"/>
                <a:cs typeface="Arial"/>
              </a:rPr>
              <a:t>PAPER I / SYNTHESIS</a:t>
            </a:r>
          </a:p>
        </p:txBody>
      </p:sp>
      <p:sp>
        <p:nvSpPr>
          <p:cNvPr id="2" name="Rectangle 1">
            <a:extLst>
              <a:ext uri="{FF2B5EF4-FFF2-40B4-BE49-F238E27FC236}">
                <a16:creationId xmlns:a16="http://schemas.microsoft.com/office/drawing/2014/main" id="{16D4FD68-FA0E-471B-8C98-6FB88E8F11A5}"/>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FFFFFF"/>
                </a:solidFill>
                <a:latin typeface="Arial"/>
                <a:ea typeface="Arial"/>
                <a:cs typeface="Arial"/>
              </a:defRPr>
            </a:pPr>
            <a:r>
              <a:rPr sz="2850" b="1" dirty="0">
                <a:solidFill>
                  <a:srgbClr val="FFFFFF"/>
                </a:solidFill>
                <a:latin typeface="Arial"/>
                <a:ea typeface="Arial"/>
                <a:cs typeface="Arial"/>
              </a:rPr>
              <a:t>What the observations establish</a:t>
            </a:r>
          </a:p>
        </p:txBody>
      </p:sp>
      <p:sp>
        <p:nvSpPr>
          <p:cNvPr id="3" name="Rectangle 2">
            <a:extLst>
              <a:ext uri="{FF2B5EF4-FFF2-40B4-BE49-F238E27FC236}">
                <a16:creationId xmlns:a16="http://schemas.microsoft.com/office/drawing/2014/main" id="{B6209BF3-C2C2-49C8-9A9A-7F4D40101AD7}"/>
              </a:ext>
            </a:extLst>
          </p:cNvPr>
          <p:cNvSpPr>
            <a:spLocks noGrp="1"/>
          </p:cNvSpPr>
          <p:nvPr/>
        </p:nvSpPr>
        <p:spPr>
          <a:xfrm>
            <a:off x="533400" y="6419850"/>
            <a:ext cx="11125200" cy="9525"/>
          </a:xfrm>
          <a:prstGeom prst="rect">
            <a:avLst/>
          </a:prstGeom>
          <a:solidFill>
            <a:srgbClr val="44606F"/>
          </a:solidFill>
          <a:ln w="0">
            <a:noFill/>
          </a:ln>
        </p:spPr>
        <p:txBody>
          <a:bodyPr/>
          <a:lstStyle/>
          <a:p>
            <a:endParaRPr lang="en-US"/>
          </a:p>
        </p:txBody>
      </p:sp>
      <p:sp>
        <p:nvSpPr>
          <p:cNvPr id="4" name="Rectangle 3">
            <a:extLst>
              <a:ext uri="{FF2B5EF4-FFF2-40B4-BE49-F238E27FC236}">
                <a16:creationId xmlns:a16="http://schemas.microsoft.com/office/drawing/2014/main" id="{596C0F91-5153-4955-928B-93D6F7E856AE}"/>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C8D3D8"/>
                </a:solidFill>
                <a:latin typeface="Arial"/>
                <a:ea typeface="Arial"/>
                <a:cs typeface="Arial"/>
              </a:defRPr>
            </a:pPr>
            <a:r>
              <a:rPr sz="975" b="0">
                <a:solidFill>
                  <a:srgbClr val="C8D3D8"/>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965A10E0-685F-47B4-A149-AE1A5A6B70ED}"/>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C8D3D8"/>
                </a:solidFill>
                <a:latin typeface="Arial"/>
                <a:ea typeface="Arial"/>
                <a:cs typeface="Arial"/>
              </a:defRPr>
            </a:pPr>
            <a:r>
              <a:rPr sz="1200" b="0">
                <a:solidFill>
                  <a:srgbClr val="C8D3D8"/>
                </a:solidFill>
                <a:latin typeface="Arial"/>
                <a:ea typeface="Arial"/>
                <a:cs typeface="Arial"/>
              </a:rPr>
              <a:t>18</a:t>
            </a:r>
          </a:p>
        </p:txBody>
      </p:sp>
      <p:sp>
        <p:nvSpPr>
          <p:cNvPr id="6" name="Rectangle 5">
            <a:extLst>
              <a:ext uri="{FF2B5EF4-FFF2-40B4-BE49-F238E27FC236}">
                <a16:creationId xmlns:a16="http://schemas.microsoft.com/office/drawing/2014/main" id="{C6A073D8-4771-4AA4-8874-00C27C1FB961}"/>
              </a:ext>
            </a:extLst>
          </p:cNvPr>
          <p:cNvSpPr>
            <a:spLocks noGrp="1"/>
          </p:cNvSpPr>
          <p:nvPr/>
        </p:nvSpPr>
        <p:spPr>
          <a:xfrm>
            <a:off x="533400" y="1819275"/>
            <a:ext cx="714375" cy="581025"/>
          </a:xfrm>
          <a:prstGeom prst="rect">
            <a:avLst/>
          </a:prstGeom>
          <a:noFill/>
          <a:ln w="0">
            <a:noFill/>
          </a:ln>
        </p:spPr>
        <p:txBody>
          <a:bodyPr wrap="square" lIns="0" tIns="0" rIns="0" bIns="0" anchor="t">
            <a:noAutofit/>
          </a:bodyPr>
          <a:lstStyle/>
          <a:p>
            <a:pPr algn="l">
              <a:defRPr sz="3075" b="1">
                <a:solidFill>
                  <a:srgbClr val="D8B7D4"/>
                </a:solidFill>
                <a:latin typeface="Arial"/>
                <a:ea typeface="Arial"/>
                <a:cs typeface="Arial"/>
              </a:defRPr>
            </a:pPr>
            <a:r>
              <a:rPr sz="3075" b="1" dirty="0">
                <a:solidFill>
                  <a:srgbClr val="D8B7D4"/>
                </a:solidFill>
                <a:latin typeface="Arial"/>
                <a:ea typeface="Arial"/>
                <a:cs typeface="Arial"/>
              </a:rPr>
              <a:t>01</a:t>
            </a:r>
          </a:p>
        </p:txBody>
      </p:sp>
      <p:sp>
        <p:nvSpPr>
          <p:cNvPr id="7" name="Rectangle 6">
            <a:extLst>
              <a:ext uri="{FF2B5EF4-FFF2-40B4-BE49-F238E27FC236}">
                <a16:creationId xmlns:a16="http://schemas.microsoft.com/office/drawing/2014/main" id="{12641BFA-8344-4570-AEA2-418970DCA144}"/>
              </a:ext>
            </a:extLst>
          </p:cNvPr>
          <p:cNvSpPr>
            <a:spLocks noGrp="1"/>
          </p:cNvSpPr>
          <p:nvPr/>
        </p:nvSpPr>
        <p:spPr>
          <a:xfrm>
            <a:off x="1514475" y="1876425"/>
            <a:ext cx="9715500" cy="904875"/>
          </a:xfrm>
          <a:prstGeom prst="rect">
            <a:avLst/>
          </a:prstGeom>
          <a:noFill/>
          <a:ln w="0">
            <a:noFill/>
          </a:ln>
        </p:spPr>
        <p:txBody>
          <a:bodyPr wrap="square" lIns="0" tIns="0" rIns="0" bIns="0" anchor="t">
            <a:noAutofit/>
          </a:bodyPr>
          <a:lstStyle/>
          <a:p>
            <a:pPr algn="l">
              <a:defRPr sz="2625" b="0">
                <a:solidFill>
                  <a:srgbClr val="FFFFFF"/>
                </a:solidFill>
                <a:latin typeface="Arial"/>
                <a:ea typeface="Arial"/>
                <a:cs typeface="Arial"/>
              </a:defRPr>
            </a:pPr>
            <a:r>
              <a:rPr sz="2625" b="0" dirty="0">
                <a:solidFill>
                  <a:srgbClr val="FFFFFF"/>
                </a:solidFill>
                <a:latin typeface="Arial"/>
                <a:ea typeface="Arial"/>
                <a:cs typeface="Arial"/>
              </a:rPr>
              <a:t>An O3N2-based sign reversal with local stellar density</a:t>
            </a:r>
          </a:p>
        </p:txBody>
      </p:sp>
      <p:sp>
        <p:nvSpPr>
          <p:cNvPr id="8" name="Rectangle 7">
            <a:extLst>
              <a:ext uri="{FF2B5EF4-FFF2-40B4-BE49-F238E27FC236}">
                <a16:creationId xmlns:a16="http://schemas.microsoft.com/office/drawing/2014/main" id="{D08ACF71-9B17-44D4-9428-403DA140A155}"/>
              </a:ext>
            </a:extLst>
          </p:cNvPr>
          <p:cNvSpPr>
            <a:spLocks noGrp="1"/>
          </p:cNvSpPr>
          <p:nvPr/>
        </p:nvSpPr>
        <p:spPr>
          <a:xfrm>
            <a:off x="533400" y="3152775"/>
            <a:ext cx="714375" cy="581025"/>
          </a:xfrm>
          <a:prstGeom prst="rect">
            <a:avLst/>
          </a:prstGeom>
          <a:noFill/>
          <a:ln w="0">
            <a:noFill/>
          </a:ln>
        </p:spPr>
        <p:txBody>
          <a:bodyPr wrap="square" lIns="0" tIns="0" rIns="0" bIns="0" anchor="t">
            <a:noAutofit/>
          </a:bodyPr>
          <a:lstStyle/>
          <a:p>
            <a:pPr algn="l">
              <a:defRPr sz="3075" b="1">
                <a:solidFill>
                  <a:srgbClr val="D8B7D4"/>
                </a:solidFill>
                <a:latin typeface="Arial"/>
                <a:ea typeface="Arial"/>
                <a:cs typeface="Arial"/>
              </a:defRPr>
            </a:pPr>
            <a:r>
              <a:rPr sz="3075" b="1">
                <a:solidFill>
                  <a:srgbClr val="D8B7D4"/>
                </a:solidFill>
                <a:latin typeface="Arial"/>
                <a:ea typeface="Arial"/>
                <a:cs typeface="Arial"/>
              </a:rPr>
              <a:t>02</a:t>
            </a:r>
          </a:p>
        </p:txBody>
      </p:sp>
      <p:sp>
        <p:nvSpPr>
          <p:cNvPr id="9" name="Rectangle 8">
            <a:extLst>
              <a:ext uri="{FF2B5EF4-FFF2-40B4-BE49-F238E27FC236}">
                <a16:creationId xmlns:a16="http://schemas.microsoft.com/office/drawing/2014/main" id="{4C6B9E7A-D1C3-47D6-935B-60AE2AAFA546}"/>
              </a:ext>
            </a:extLst>
          </p:cNvPr>
          <p:cNvSpPr>
            <a:spLocks noGrp="1"/>
          </p:cNvSpPr>
          <p:nvPr/>
        </p:nvSpPr>
        <p:spPr>
          <a:xfrm>
            <a:off x="1514475" y="3209925"/>
            <a:ext cx="9715500" cy="904875"/>
          </a:xfrm>
          <a:prstGeom prst="rect">
            <a:avLst/>
          </a:prstGeom>
          <a:noFill/>
          <a:ln w="0">
            <a:noFill/>
          </a:ln>
        </p:spPr>
        <p:txBody>
          <a:bodyPr wrap="square" lIns="0" tIns="0" rIns="0" bIns="0" anchor="t">
            <a:noAutofit/>
          </a:bodyPr>
          <a:lstStyle/>
          <a:p>
            <a:pPr algn="l">
              <a:defRPr sz="2625" b="0">
                <a:solidFill>
                  <a:srgbClr val="FFFFFF"/>
                </a:solidFill>
                <a:latin typeface="Arial"/>
                <a:ea typeface="Arial"/>
                <a:cs typeface="Arial"/>
              </a:defRPr>
            </a:pPr>
            <a:r>
              <a:rPr sz="2625" b="0">
                <a:solidFill>
                  <a:srgbClr val="FFFFFF"/>
                </a:solidFill>
                <a:latin typeface="Arial"/>
                <a:ea typeface="Arial"/>
                <a:cs typeface="Arial"/>
              </a:rPr>
              <a:t>Different local behaviours coexist within individual discs</a:t>
            </a:r>
          </a:p>
        </p:txBody>
      </p:sp>
      <p:sp>
        <p:nvSpPr>
          <p:cNvPr id="10" name="Rectangle 9">
            <a:extLst>
              <a:ext uri="{FF2B5EF4-FFF2-40B4-BE49-F238E27FC236}">
                <a16:creationId xmlns:a16="http://schemas.microsoft.com/office/drawing/2014/main" id="{024CEE10-D26F-41B8-B699-ABD06E8584D1}"/>
              </a:ext>
            </a:extLst>
          </p:cNvPr>
          <p:cNvSpPr>
            <a:spLocks noGrp="1"/>
          </p:cNvSpPr>
          <p:nvPr/>
        </p:nvSpPr>
        <p:spPr>
          <a:xfrm>
            <a:off x="533400" y="4486275"/>
            <a:ext cx="714375" cy="581025"/>
          </a:xfrm>
          <a:prstGeom prst="rect">
            <a:avLst/>
          </a:prstGeom>
          <a:noFill/>
          <a:ln w="0">
            <a:noFill/>
          </a:ln>
        </p:spPr>
        <p:txBody>
          <a:bodyPr wrap="square" lIns="0" tIns="0" rIns="0" bIns="0" anchor="t">
            <a:noAutofit/>
          </a:bodyPr>
          <a:lstStyle/>
          <a:p>
            <a:pPr algn="l">
              <a:defRPr sz="3075" b="1">
                <a:solidFill>
                  <a:srgbClr val="D8B7D4"/>
                </a:solidFill>
                <a:latin typeface="Arial"/>
                <a:ea typeface="Arial"/>
                <a:cs typeface="Arial"/>
              </a:defRPr>
            </a:pPr>
            <a:r>
              <a:rPr sz="3075" b="1">
                <a:solidFill>
                  <a:srgbClr val="D8B7D4"/>
                </a:solidFill>
                <a:latin typeface="Arial"/>
                <a:ea typeface="Arial"/>
                <a:cs typeface="Arial"/>
              </a:rPr>
              <a:t>03</a:t>
            </a:r>
          </a:p>
        </p:txBody>
      </p:sp>
      <p:sp>
        <p:nvSpPr>
          <p:cNvPr id="11" name="Rectangle 10">
            <a:extLst>
              <a:ext uri="{FF2B5EF4-FFF2-40B4-BE49-F238E27FC236}">
                <a16:creationId xmlns:a16="http://schemas.microsoft.com/office/drawing/2014/main" id="{D7C4BA06-ADD9-467C-8460-221FC50F5D24}"/>
              </a:ext>
            </a:extLst>
          </p:cNvPr>
          <p:cNvSpPr>
            <a:spLocks noGrp="1"/>
          </p:cNvSpPr>
          <p:nvPr/>
        </p:nvSpPr>
        <p:spPr>
          <a:xfrm>
            <a:off x="1514475" y="4543425"/>
            <a:ext cx="9715500" cy="904875"/>
          </a:xfrm>
          <a:prstGeom prst="rect">
            <a:avLst/>
          </a:prstGeom>
          <a:noFill/>
          <a:ln w="0">
            <a:noFill/>
          </a:ln>
        </p:spPr>
        <p:txBody>
          <a:bodyPr wrap="square" lIns="0" tIns="0" rIns="0" bIns="0" anchor="t">
            <a:noAutofit/>
          </a:bodyPr>
          <a:lstStyle/>
          <a:p>
            <a:pPr algn="l">
              <a:defRPr sz="2625" b="0">
                <a:solidFill>
                  <a:srgbClr val="FFFFFF"/>
                </a:solidFill>
                <a:latin typeface="Arial"/>
                <a:ea typeface="Arial"/>
                <a:cs typeface="Arial"/>
              </a:defRPr>
            </a:pPr>
            <a:r>
              <a:rPr sz="2625" b="0">
                <a:solidFill>
                  <a:srgbClr val="FFFFFF"/>
                </a:solidFill>
                <a:latin typeface="Arial"/>
                <a:ea typeface="Arial"/>
                <a:cs typeface="Arial"/>
              </a:rPr>
              <a:t>The driver must be tested beyond the observed association</a:t>
            </a:r>
          </a:p>
        </p:txBody>
      </p:sp>
      <p:sp>
        <p:nvSpPr>
          <p:cNvPr id="12" name="Rectangle 11">
            <a:extLst>
              <a:ext uri="{FF2B5EF4-FFF2-40B4-BE49-F238E27FC236}">
                <a16:creationId xmlns:a16="http://schemas.microsoft.com/office/drawing/2014/main" id="{66EA1F60-AA08-4139-8051-69F32EA0CF70}"/>
              </a:ext>
            </a:extLst>
          </p:cNvPr>
          <p:cNvSpPr>
            <a:spLocks noGrp="1"/>
          </p:cNvSpPr>
          <p:nvPr/>
        </p:nvSpPr>
        <p:spPr>
          <a:xfrm>
            <a:off x="533400" y="6067425"/>
            <a:ext cx="11125200" cy="295275"/>
          </a:xfrm>
          <a:prstGeom prst="rect">
            <a:avLst/>
          </a:prstGeom>
          <a:noFill/>
          <a:ln w="0">
            <a:noFill/>
          </a:ln>
        </p:spPr>
        <p:txBody>
          <a:bodyPr wrap="square" lIns="0" tIns="0" rIns="0" bIns="0" anchor="t">
            <a:noAutofit/>
          </a:bodyPr>
          <a:lstStyle/>
          <a:p>
            <a:pPr algn="l">
              <a:defRPr sz="1275" b="0">
                <a:solidFill>
                  <a:srgbClr val="C8D3D8"/>
                </a:solidFill>
                <a:latin typeface="Arial"/>
                <a:ea typeface="Arial"/>
                <a:cs typeface="Arial"/>
              </a:defRPr>
            </a:pPr>
            <a:r>
              <a:rPr sz="1275" b="0">
                <a:solidFill>
                  <a:srgbClr val="C8D3D8"/>
                </a:solidFill>
                <a:latin typeface="Arial"/>
                <a:ea typeface="Arial"/>
                <a:cs typeface="Arial"/>
              </a:rPr>
              <a:t>Next: a local gas regulator links replenishment, star formation and enrichment.</a:t>
            </a:r>
          </a:p>
        </p:txBody>
      </p:sp>
    </p:spTree>
    <p:extLst>
      <p:ext uri="{BB962C8B-B14F-4D97-AF65-F5344CB8AC3E}">
        <p14:creationId xmlns:p14="http://schemas.microsoft.com/office/powerpoint/2010/main" val="462782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CDADFF9-9929-4B91-8CB6-7052A75CCA3A}"/>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THE RESOLVED REGULATOR</a:t>
            </a:r>
          </a:p>
        </p:txBody>
      </p:sp>
      <p:sp>
        <p:nvSpPr>
          <p:cNvPr id="2" name="Rectangle 1">
            <a:extLst>
              <a:ext uri="{FF2B5EF4-FFF2-40B4-BE49-F238E27FC236}">
                <a16:creationId xmlns:a16="http://schemas.microsoft.com/office/drawing/2014/main" id="{CECC29D9-6E6A-475E-8CE5-2B721C9EE0A4}"/>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A local molecular reservoir</a:t>
            </a:r>
          </a:p>
        </p:txBody>
      </p:sp>
      <p:sp>
        <p:nvSpPr>
          <p:cNvPr id="3" name="Rectangle 2">
            <a:extLst>
              <a:ext uri="{FF2B5EF4-FFF2-40B4-BE49-F238E27FC236}">
                <a16:creationId xmlns:a16="http://schemas.microsoft.com/office/drawing/2014/main" id="{E9815424-DA79-42C1-ACB3-521BA8BB3D67}"/>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2FF91669-2706-402D-88FC-424BF5BAF987}"/>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188B58CE-4F5A-4ED7-BE81-F34661476CE8}"/>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19</a:t>
            </a:r>
          </a:p>
        </p:txBody>
      </p:sp>
      <p:pic>
        <p:nvPicPr>
          <p:cNvPr id="21" name="Picture 20"/>
          <p:cNvPicPr>
            <a:picLocks noChangeAspect="1"/>
          </p:cNvPicPr>
          <p:nvPr/>
        </p:nvPicPr>
        <p:blipFill>
          <a:blip r:embed="rId3"/>
          <a:stretch/>
        </p:blipFill>
        <p:spPr>
          <a:xfrm>
            <a:off x="828675" y="1657350"/>
            <a:ext cx="2933700" cy="4400550"/>
          </a:xfrm>
          <a:prstGeom prst="rect">
            <a:avLst/>
          </a:prstGeom>
        </p:spPr>
      </p:pic>
      <p:sp>
        <p:nvSpPr>
          <p:cNvPr id="7" name="Rectangle 6">
            <a:extLst>
              <a:ext uri="{FF2B5EF4-FFF2-40B4-BE49-F238E27FC236}">
                <a16:creationId xmlns:a16="http://schemas.microsoft.com/office/drawing/2014/main" id="{71720562-B919-4677-97A4-E670B29987DF}"/>
              </a:ext>
            </a:extLst>
          </p:cNvPr>
          <p:cNvSpPr>
            <a:spLocks noGrp="1"/>
          </p:cNvSpPr>
          <p:nvPr/>
        </p:nvSpPr>
        <p:spPr>
          <a:xfrm>
            <a:off x="6334125" y="2895600"/>
            <a:ext cx="3105150" cy="1104900"/>
          </a:xfrm>
          <a:prstGeom prst="rect">
            <a:avLst/>
          </a:prstGeom>
          <a:solidFill>
            <a:srgbClr val="F2EDF3"/>
          </a:solidFill>
          <a:ln w="0">
            <a:noFill/>
          </a:ln>
        </p:spPr>
        <p:txBody>
          <a:bodyPr/>
          <a:lstStyle/>
          <a:p>
            <a:endParaRPr lang="en-US"/>
          </a:p>
        </p:txBody>
      </p:sp>
      <p:sp>
        <p:nvSpPr>
          <p:cNvPr id="8" name="Rectangle 7">
            <a:extLst>
              <a:ext uri="{FF2B5EF4-FFF2-40B4-BE49-F238E27FC236}">
                <a16:creationId xmlns:a16="http://schemas.microsoft.com/office/drawing/2014/main" id="{D6C0FA74-0973-4B23-9C0A-75C693EE2DCB}"/>
              </a:ext>
            </a:extLst>
          </p:cNvPr>
          <p:cNvSpPr>
            <a:spLocks noGrp="1"/>
          </p:cNvSpPr>
          <p:nvPr/>
        </p:nvSpPr>
        <p:spPr>
          <a:xfrm>
            <a:off x="6543675" y="3114675"/>
            <a:ext cx="2724150" cy="714375"/>
          </a:xfrm>
          <a:prstGeom prst="rect">
            <a:avLst/>
          </a:prstGeom>
          <a:noFill/>
          <a:ln w="0">
            <a:noFill/>
          </a:ln>
        </p:spPr>
        <p:txBody>
          <a:bodyPr wrap="square" lIns="0" tIns="0" rIns="0" bIns="0" anchor="t">
            <a:noAutofit/>
          </a:bodyPr>
          <a:lstStyle/>
          <a:p>
            <a:pPr algn="ctr">
              <a:defRPr sz="2325" b="1">
                <a:solidFill>
                  <a:srgbClr val="182934"/>
                </a:solidFill>
                <a:latin typeface="Arial"/>
                <a:ea typeface="Arial"/>
                <a:cs typeface="Arial"/>
              </a:defRPr>
            </a:pPr>
            <a:r>
              <a:rPr sz="2325" b="1">
                <a:solidFill>
                  <a:srgbClr val="182934"/>
                </a:solidFill>
                <a:latin typeface="Arial"/>
                <a:ea typeface="Arial"/>
                <a:cs typeface="Arial"/>
              </a:rPr>
              <a:t>Local gas reservoir</a:t>
            </a:r>
          </a:p>
        </p:txBody>
      </p:sp>
      <p:sp>
        <p:nvSpPr>
          <p:cNvPr id="9" name="Rectangle 8">
            <a:extLst>
              <a:ext uri="{FF2B5EF4-FFF2-40B4-BE49-F238E27FC236}">
                <a16:creationId xmlns:a16="http://schemas.microsoft.com/office/drawing/2014/main" id="{A4DB47AA-BC54-4313-A8EE-6A8EBA7CC66F}"/>
              </a:ext>
            </a:extLst>
          </p:cNvPr>
          <p:cNvSpPr>
            <a:spLocks noGrp="1"/>
          </p:cNvSpPr>
          <p:nvPr/>
        </p:nvSpPr>
        <p:spPr>
          <a:xfrm>
            <a:off x="4552950" y="3152775"/>
            <a:ext cx="1295400" cy="419100"/>
          </a:xfrm>
          <a:prstGeom prst="rect">
            <a:avLst/>
          </a:prstGeom>
          <a:noFill/>
          <a:ln w="0">
            <a:noFill/>
          </a:ln>
        </p:spPr>
        <p:txBody>
          <a:bodyPr wrap="square" lIns="0" tIns="0" rIns="0" bIns="0" anchor="t">
            <a:noAutofit/>
          </a:bodyPr>
          <a:lstStyle/>
          <a:p>
            <a:pPr algn="l">
              <a:defRPr sz="2175" b="1">
                <a:solidFill>
                  <a:srgbClr val="007E87"/>
                </a:solidFill>
                <a:latin typeface="Arial"/>
                <a:ea typeface="Arial"/>
                <a:cs typeface="Arial"/>
              </a:defRPr>
            </a:pPr>
            <a:r>
              <a:rPr sz="2175" b="1">
                <a:solidFill>
                  <a:srgbClr val="007E87"/>
                </a:solidFill>
                <a:latin typeface="Arial"/>
                <a:ea typeface="Arial"/>
                <a:cs typeface="Arial"/>
              </a:rPr>
              <a:t>Supply</a:t>
            </a:r>
          </a:p>
        </p:txBody>
      </p:sp>
      <p:sp>
        <p:nvSpPr>
          <p:cNvPr id="10" name="Right Arrow 9">
            <a:extLst>
              <a:ext uri="{FF2B5EF4-FFF2-40B4-BE49-F238E27FC236}">
                <a16:creationId xmlns:a16="http://schemas.microsoft.com/office/drawing/2014/main" id="{3990F243-751D-40EE-8C59-433503D45113}"/>
              </a:ext>
            </a:extLst>
          </p:cNvPr>
          <p:cNvSpPr>
            <a:spLocks noGrp="1"/>
          </p:cNvSpPr>
          <p:nvPr/>
        </p:nvSpPr>
        <p:spPr>
          <a:xfrm>
            <a:off x="5695950" y="3248025"/>
            <a:ext cx="514350" cy="228600"/>
          </a:xfrm>
          <a:prstGeom prst="rightArrow">
            <a:avLst/>
          </a:prstGeom>
          <a:solidFill>
            <a:srgbClr val="007E87"/>
          </a:solidFill>
          <a:ln w="0">
            <a:noFill/>
          </a:ln>
        </p:spPr>
        <p:txBody>
          <a:bodyPr/>
          <a:lstStyle/>
          <a:p>
            <a:endParaRPr lang="en-US"/>
          </a:p>
        </p:txBody>
      </p:sp>
      <p:sp>
        <p:nvSpPr>
          <p:cNvPr id="11" name="Right Arrow 10">
            <a:extLst>
              <a:ext uri="{FF2B5EF4-FFF2-40B4-BE49-F238E27FC236}">
                <a16:creationId xmlns:a16="http://schemas.microsoft.com/office/drawing/2014/main" id="{2BF16DC8-243C-45D7-AA62-7868ECDEB1C5}"/>
              </a:ext>
            </a:extLst>
          </p:cNvPr>
          <p:cNvSpPr>
            <a:spLocks noGrp="1"/>
          </p:cNvSpPr>
          <p:nvPr/>
        </p:nvSpPr>
        <p:spPr>
          <a:xfrm>
            <a:off x="9572625" y="3248025"/>
            <a:ext cx="542925" cy="228600"/>
          </a:xfrm>
          <a:prstGeom prst="rightArrow">
            <a:avLst/>
          </a:prstGeom>
          <a:solidFill>
            <a:srgbClr val="85457F"/>
          </a:solidFill>
          <a:ln w="0">
            <a:noFill/>
          </a:ln>
        </p:spPr>
        <p:txBody>
          <a:bodyPr/>
          <a:lstStyle/>
          <a:p>
            <a:endParaRPr lang="en-US"/>
          </a:p>
        </p:txBody>
      </p:sp>
      <p:sp>
        <p:nvSpPr>
          <p:cNvPr id="12" name="Rectangle 11">
            <a:extLst>
              <a:ext uri="{FF2B5EF4-FFF2-40B4-BE49-F238E27FC236}">
                <a16:creationId xmlns:a16="http://schemas.microsoft.com/office/drawing/2014/main" id="{0CF0AD41-BB46-4E75-BE88-6887E1E6901B}"/>
              </a:ext>
            </a:extLst>
          </p:cNvPr>
          <p:cNvSpPr>
            <a:spLocks noGrp="1"/>
          </p:cNvSpPr>
          <p:nvPr/>
        </p:nvSpPr>
        <p:spPr>
          <a:xfrm>
            <a:off x="10287000" y="3124200"/>
            <a:ext cx="1362075" cy="457200"/>
          </a:xfrm>
          <a:prstGeom prst="rect">
            <a:avLst/>
          </a:prstGeom>
          <a:noFill/>
          <a:ln w="0">
            <a:noFill/>
          </a:ln>
        </p:spPr>
        <p:txBody>
          <a:bodyPr wrap="square" lIns="0" tIns="0" rIns="0" bIns="0" anchor="t">
            <a:noAutofit/>
          </a:bodyPr>
          <a:lstStyle/>
          <a:p>
            <a:pPr algn="l">
              <a:defRPr sz="2175" b="1">
                <a:solidFill>
                  <a:srgbClr val="85457F"/>
                </a:solidFill>
                <a:latin typeface="Arial"/>
                <a:ea typeface="Arial"/>
                <a:cs typeface="Arial"/>
              </a:defRPr>
            </a:pPr>
            <a:r>
              <a:rPr sz="2175" b="1">
                <a:solidFill>
                  <a:srgbClr val="85457F"/>
                </a:solidFill>
                <a:latin typeface="Arial"/>
                <a:ea typeface="Arial"/>
                <a:cs typeface="Arial"/>
              </a:rPr>
              <a:t>Stars</a:t>
            </a:r>
          </a:p>
        </p:txBody>
      </p:sp>
      <p:sp>
        <p:nvSpPr>
          <p:cNvPr id="13" name="Rectangle 12">
            <a:extLst>
              <a:ext uri="{FF2B5EF4-FFF2-40B4-BE49-F238E27FC236}">
                <a16:creationId xmlns:a16="http://schemas.microsoft.com/office/drawing/2014/main" id="{A0CE85B0-6956-4FF8-BBE7-ACDCB94FCAE5}"/>
              </a:ext>
            </a:extLst>
          </p:cNvPr>
          <p:cNvSpPr>
            <a:spLocks noGrp="1"/>
          </p:cNvSpPr>
          <p:nvPr/>
        </p:nvSpPr>
        <p:spPr>
          <a:xfrm>
            <a:off x="4743450" y="1981200"/>
            <a:ext cx="6667500" cy="523875"/>
          </a:xfrm>
          <a:prstGeom prst="rect">
            <a:avLst/>
          </a:prstGeom>
          <a:noFill/>
          <a:ln w="0">
            <a:noFill/>
          </a:ln>
        </p:spPr>
        <p:txBody>
          <a:bodyPr wrap="square" lIns="0" tIns="0" rIns="0" bIns="0" anchor="t">
            <a:noAutofit/>
          </a:bodyPr>
          <a:lstStyle/>
          <a:p>
            <a:pPr algn="l">
              <a:defRPr sz="2250" b="1">
                <a:solidFill>
                  <a:srgbClr val="182934"/>
                </a:solidFill>
                <a:latin typeface="Arial"/>
                <a:ea typeface="Arial"/>
                <a:cs typeface="Arial"/>
              </a:defRPr>
            </a:pPr>
            <a:r>
              <a:rPr sz="2250" b="1" dirty="0">
                <a:solidFill>
                  <a:srgbClr val="182934"/>
                </a:solidFill>
                <a:latin typeface="Arial"/>
                <a:ea typeface="Arial"/>
                <a:cs typeface="Arial"/>
              </a:rPr>
              <a:t>Replenishment ↔ surrounding ISM</a:t>
            </a:r>
          </a:p>
        </p:txBody>
      </p:sp>
      <p:sp>
        <p:nvSpPr>
          <p:cNvPr id="14" name="Rectangle 13">
            <a:extLst>
              <a:ext uri="{FF2B5EF4-FFF2-40B4-BE49-F238E27FC236}">
                <a16:creationId xmlns:a16="http://schemas.microsoft.com/office/drawing/2014/main" id="{4C4AF8E0-2A12-452A-97EA-6384DECC4BD7}"/>
              </a:ext>
            </a:extLst>
          </p:cNvPr>
          <p:cNvSpPr>
            <a:spLocks noGrp="1"/>
          </p:cNvSpPr>
          <p:nvPr/>
        </p:nvSpPr>
        <p:spPr>
          <a:xfrm>
            <a:off x="4705350" y="4533900"/>
            <a:ext cx="6858000" cy="1066800"/>
          </a:xfrm>
          <a:prstGeom prst="rect">
            <a:avLst/>
          </a:prstGeom>
          <a:noFill/>
          <a:ln w="0">
            <a:noFill/>
          </a:ln>
        </p:spPr>
        <p:txBody>
          <a:bodyPr wrap="square" lIns="0" tIns="0" rIns="0" bIns="0" anchor="t">
            <a:noAutofit/>
          </a:bodyPr>
          <a:lstStyle/>
          <a:p>
            <a:pPr algn="l">
              <a:defRPr sz="2100" b="0">
                <a:solidFill>
                  <a:srgbClr val="182934"/>
                </a:solidFill>
                <a:latin typeface="Arial"/>
                <a:ea typeface="Arial"/>
                <a:cs typeface="Arial"/>
              </a:defRPr>
            </a:pPr>
            <a:r>
              <a:rPr sz="2100" b="0" dirty="0">
                <a:solidFill>
                  <a:srgbClr val="182934"/>
                </a:solidFill>
                <a:latin typeface="Arial"/>
                <a:ea typeface="Arial"/>
                <a:cs typeface="Arial"/>
              </a:rPr>
              <a:t>Removal also changes the reservoir.</a:t>
            </a:r>
          </a:p>
          <a:p>
            <a:pPr algn="l">
              <a:defRPr sz="2100" b="0">
                <a:solidFill>
                  <a:srgbClr val="182934"/>
                </a:solidFill>
                <a:latin typeface="Arial"/>
                <a:ea typeface="Arial"/>
                <a:cs typeface="Arial"/>
              </a:defRPr>
            </a:pPr>
            <a:r>
              <a:rPr sz="2100" b="0" dirty="0">
                <a:solidFill>
                  <a:srgbClr val="182934"/>
                </a:solidFill>
                <a:latin typeface="Arial"/>
                <a:ea typeface="Arial"/>
                <a:cs typeface="Arial"/>
              </a:rPr>
              <a:t>Define the boundary before interpreting a rate.</a:t>
            </a:r>
          </a:p>
        </p:txBody>
      </p:sp>
      <p:sp>
        <p:nvSpPr>
          <p:cNvPr id="15" name="Rectangle 14">
            <a:extLst>
              <a:ext uri="{FF2B5EF4-FFF2-40B4-BE49-F238E27FC236}">
                <a16:creationId xmlns:a16="http://schemas.microsoft.com/office/drawing/2014/main" id="{1DA1DE78-8529-4D00-AFA0-D31161E01E4A}"/>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dirty="0">
                <a:solidFill>
                  <a:srgbClr val="52636C"/>
                </a:solidFill>
                <a:latin typeface="Arial"/>
                <a:ea typeface="Arial"/>
                <a:cs typeface="Arial"/>
              </a:rPr>
              <a:t>Existing EAS reservoir illustration (schematic). Model: Huang et al. 2026.</a:t>
            </a:r>
          </a:p>
        </p:txBody>
      </p:sp>
    </p:spTree>
    <p:extLst>
      <p:ext uri="{BB962C8B-B14F-4D97-AF65-F5344CB8AC3E}">
        <p14:creationId xmlns:p14="http://schemas.microsoft.com/office/powerpoint/2010/main" val="253899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F63F12-657F-4768-8981-94D1B02E8606}"/>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THE RESOLVED REGULATOR</a:t>
            </a:r>
          </a:p>
        </p:txBody>
      </p:sp>
      <p:sp>
        <p:nvSpPr>
          <p:cNvPr id="2" name="Rectangle 1">
            <a:extLst>
              <a:ext uri="{FF2B5EF4-FFF2-40B4-BE49-F238E27FC236}">
                <a16:creationId xmlns:a16="http://schemas.microsoft.com/office/drawing/2014/main" id="{DBFDF6C9-632D-465A-8B3C-48BB0907D5AC}"/>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Gas continuity</a:t>
            </a:r>
          </a:p>
        </p:txBody>
      </p:sp>
      <p:sp>
        <p:nvSpPr>
          <p:cNvPr id="3" name="Rectangle 2">
            <a:extLst>
              <a:ext uri="{FF2B5EF4-FFF2-40B4-BE49-F238E27FC236}">
                <a16:creationId xmlns:a16="http://schemas.microsoft.com/office/drawing/2014/main" id="{0DDD3DCA-614F-4E7C-B410-7681993EF3BC}"/>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97FBAB57-74B3-44D2-A8C1-FCF0261A7D82}"/>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AF636372-96FE-449B-88FE-C6CF2D0C4209}"/>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20</a:t>
            </a:r>
          </a:p>
        </p:txBody>
      </p:sp>
      <p:sp>
        <p:nvSpPr>
          <p:cNvPr id="6" name="Rectangle 5">
            <a:extLst>
              <a:ext uri="{FF2B5EF4-FFF2-40B4-BE49-F238E27FC236}">
                <a16:creationId xmlns:a16="http://schemas.microsoft.com/office/drawing/2014/main" id="{57A21277-AE73-4DF3-A28E-53B03DD57118}"/>
              </a:ext>
            </a:extLst>
          </p:cNvPr>
          <p:cNvSpPr>
            <a:spLocks noGrp="1"/>
          </p:cNvSpPr>
          <p:nvPr/>
        </p:nvSpPr>
        <p:spPr>
          <a:xfrm>
            <a:off x="4645057" y="1809750"/>
            <a:ext cx="320707" cy="731520"/>
          </a:xfrm>
          <a:prstGeom prst="rect">
            <a:avLst/>
          </a:prstGeom>
          <a:noFill/>
          <a:ln w="0">
            <a:noFill/>
          </a:ln>
        </p:spPr>
        <p:txBody>
          <a:bodyPr wrap="none" lIns="0" tIns="0" rIns="0" bIns="0" anchor="t">
            <a:noAutofit/>
          </a:bodyPr>
          <a:lstStyle/>
          <a:p>
            <a:pPr algn="l">
              <a:defRPr sz="3600" b="0">
                <a:solidFill>
                  <a:srgbClr val="182934"/>
                </a:solidFill>
                <a:latin typeface="Arial"/>
                <a:ea typeface="Arial"/>
                <a:cs typeface="Arial"/>
              </a:defRPr>
            </a:pPr>
            <a:r>
              <a:rPr sz="3600" b="0">
                <a:solidFill>
                  <a:srgbClr val="182934"/>
                </a:solidFill>
                <a:latin typeface="Arial"/>
                <a:ea typeface="Arial"/>
                <a:cs typeface="Arial"/>
              </a:rPr>
              <a:t>Σ</a:t>
            </a:r>
          </a:p>
        </p:txBody>
      </p:sp>
      <p:sp>
        <p:nvSpPr>
          <p:cNvPr id="7" name="Rectangle 6">
            <a:extLst>
              <a:ext uri="{FF2B5EF4-FFF2-40B4-BE49-F238E27FC236}">
                <a16:creationId xmlns:a16="http://schemas.microsoft.com/office/drawing/2014/main" id="{E4D9C7D0-DDE5-46CF-9711-48868EAE1883}"/>
              </a:ext>
            </a:extLst>
          </p:cNvPr>
          <p:cNvSpPr>
            <a:spLocks noGrp="1"/>
          </p:cNvSpPr>
          <p:nvPr/>
        </p:nvSpPr>
        <p:spPr>
          <a:xfrm>
            <a:off x="4927664" y="2001774"/>
            <a:ext cx="595598" cy="731520"/>
          </a:xfrm>
          <a:prstGeom prst="rect">
            <a:avLst/>
          </a:prstGeom>
          <a:noFill/>
          <a:ln w="0">
            <a:noFill/>
          </a:ln>
        </p:spPr>
        <p:txBody>
          <a:bodyPr wrap="none" lIns="0" tIns="0" rIns="0" bIns="0" anchor="t">
            <a:noAutofit/>
          </a:bodyPr>
          <a:lstStyle/>
          <a:p>
            <a:pPr algn="l">
              <a:defRPr sz="2196" b="0">
                <a:solidFill>
                  <a:srgbClr val="182934"/>
                </a:solidFill>
                <a:latin typeface="Arial"/>
                <a:ea typeface="Arial"/>
                <a:cs typeface="Arial"/>
              </a:defRPr>
            </a:pPr>
            <a:r>
              <a:rPr sz="2196" b="0">
                <a:solidFill>
                  <a:srgbClr val="182934"/>
                </a:solidFill>
                <a:latin typeface="Arial"/>
                <a:ea typeface="Arial"/>
                <a:cs typeface="Arial"/>
              </a:rPr>
              <a:t>SFR</a:t>
            </a:r>
          </a:p>
        </p:txBody>
      </p:sp>
      <p:sp>
        <p:nvSpPr>
          <p:cNvPr id="8" name="Rectangle 7">
            <a:extLst>
              <a:ext uri="{FF2B5EF4-FFF2-40B4-BE49-F238E27FC236}">
                <a16:creationId xmlns:a16="http://schemas.microsoft.com/office/drawing/2014/main" id="{E0E741B4-3682-48E9-AE67-5EE92E8FCCCB}"/>
              </a:ext>
            </a:extLst>
          </p:cNvPr>
          <p:cNvSpPr>
            <a:spLocks noGrp="1"/>
          </p:cNvSpPr>
          <p:nvPr/>
        </p:nvSpPr>
        <p:spPr>
          <a:xfrm>
            <a:off x="5612225" y="1809750"/>
            <a:ext cx="714756" cy="731520"/>
          </a:xfrm>
          <a:prstGeom prst="rect">
            <a:avLst/>
          </a:prstGeom>
          <a:noFill/>
          <a:ln w="0">
            <a:noFill/>
          </a:ln>
        </p:spPr>
        <p:txBody>
          <a:bodyPr wrap="none" lIns="0" tIns="0" rIns="0" bIns="0" anchor="t">
            <a:noAutofit/>
          </a:bodyPr>
          <a:lstStyle/>
          <a:p>
            <a:pPr algn="l">
              <a:defRPr sz="3600" b="0">
                <a:solidFill>
                  <a:srgbClr val="182934"/>
                </a:solidFill>
                <a:latin typeface="Arial"/>
                <a:ea typeface="Arial"/>
                <a:cs typeface="Arial"/>
              </a:defRPr>
            </a:pPr>
            <a:r>
              <a:rPr sz="3600" b="0">
                <a:solidFill>
                  <a:srgbClr val="182934"/>
                </a:solidFill>
                <a:latin typeface="Arial"/>
                <a:ea typeface="Arial"/>
                <a:cs typeface="Arial"/>
              </a:rPr>
              <a:t>= Σ</a:t>
            </a:r>
          </a:p>
        </p:txBody>
      </p:sp>
      <p:sp>
        <p:nvSpPr>
          <p:cNvPr id="9" name="Rectangle 8">
            <a:extLst>
              <a:ext uri="{FF2B5EF4-FFF2-40B4-BE49-F238E27FC236}">
                <a16:creationId xmlns:a16="http://schemas.microsoft.com/office/drawing/2014/main" id="{D5EC79FB-D3D5-47A6-AD59-BD27AB415EBA}"/>
              </a:ext>
            </a:extLst>
          </p:cNvPr>
          <p:cNvSpPr>
            <a:spLocks noGrp="1"/>
          </p:cNvSpPr>
          <p:nvPr/>
        </p:nvSpPr>
        <p:spPr>
          <a:xfrm>
            <a:off x="6288881" y="2001774"/>
            <a:ext cx="193167" cy="731520"/>
          </a:xfrm>
          <a:prstGeom prst="rect">
            <a:avLst/>
          </a:prstGeom>
          <a:noFill/>
          <a:ln w="0">
            <a:noFill/>
          </a:ln>
        </p:spPr>
        <p:txBody>
          <a:bodyPr wrap="none" lIns="0" tIns="0" rIns="0" bIns="0" anchor="t">
            <a:noAutofit/>
          </a:bodyPr>
          <a:lstStyle/>
          <a:p>
            <a:pPr algn="l">
              <a:defRPr sz="2196" b="0">
                <a:solidFill>
                  <a:srgbClr val="182934"/>
                </a:solidFill>
                <a:latin typeface="Arial"/>
                <a:ea typeface="Arial"/>
                <a:cs typeface="Arial"/>
              </a:defRPr>
            </a:pPr>
            <a:r>
              <a:rPr sz="2196" b="0">
                <a:solidFill>
                  <a:srgbClr val="182934"/>
                </a:solidFill>
                <a:latin typeface="Arial"/>
                <a:ea typeface="Arial"/>
                <a:cs typeface="Arial"/>
              </a:rPr>
              <a:t>g</a:t>
            </a:r>
          </a:p>
        </p:txBody>
      </p:sp>
      <p:sp>
        <p:nvSpPr>
          <p:cNvPr id="10" name="Rectangle 9">
            <a:extLst>
              <a:ext uri="{FF2B5EF4-FFF2-40B4-BE49-F238E27FC236}">
                <a16:creationId xmlns:a16="http://schemas.microsoft.com/office/drawing/2014/main" id="{979AC3CE-ED25-4DB4-B8B0-AEC1E791E6F3}"/>
              </a:ext>
            </a:extLst>
          </p:cNvPr>
          <p:cNvSpPr>
            <a:spLocks noGrp="1"/>
          </p:cNvSpPr>
          <p:nvPr/>
        </p:nvSpPr>
        <p:spPr>
          <a:xfrm>
            <a:off x="6571012" y="1809750"/>
            <a:ext cx="472726" cy="731520"/>
          </a:xfrm>
          <a:prstGeom prst="rect">
            <a:avLst/>
          </a:prstGeom>
          <a:noFill/>
          <a:ln w="0">
            <a:noFill/>
          </a:ln>
        </p:spPr>
        <p:txBody>
          <a:bodyPr wrap="none" lIns="0" tIns="0" rIns="0" bIns="0" anchor="t">
            <a:noAutofit/>
          </a:bodyPr>
          <a:lstStyle/>
          <a:p>
            <a:pPr algn="l">
              <a:defRPr sz="3600" b="0">
                <a:solidFill>
                  <a:srgbClr val="182934"/>
                </a:solidFill>
                <a:latin typeface="Arial"/>
                <a:ea typeface="Arial"/>
                <a:cs typeface="Arial"/>
              </a:defRPr>
            </a:pPr>
            <a:r>
              <a:rPr sz="3600" b="0">
                <a:solidFill>
                  <a:srgbClr val="182934"/>
                </a:solidFill>
                <a:latin typeface="Arial"/>
                <a:ea typeface="Arial"/>
                <a:cs typeface="Arial"/>
              </a:rPr>
              <a:t>/ τ</a:t>
            </a:r>
          </a:p>
        </p:txBody>
      </p:sp>
      <p:sp>
        <p:nvSpPr>
          <p:cNvPr id="11" name="Rectangle 10">
            <a:extLst>
              <a:ext uri="{FF2B5EF4-FFF2-40B4-BE49-F238E27FC236}">
                <a16:creationId xmlns:a16="http://schemas.microsoft.com/office/drawing/2014/main" id="{1B862913-80F8-425E-8A43-A7276CBC9129}"/>
              </a:ext>
            </a:extLst>
          </p:cNvPr>
          <p:cNvSpPr>
            <a:spLocks noGrp="1"/>
          </p:cNvSpPr>
          <p:nvPr/>
        </p:nvSpPr>
        <p:spPr>
          <a:xfrm>
            <a:off x="7005637" y="2001774"/>
            <a:ext cx="503206" cy="731520"/>
          </a:xfrm>
          <a:prstGeom prst="rect">
            <a:avLst/>
          </a:prstGeom>
          <a:noFill/>
          <a:ln w="0">
            <a:noFill/>
          </a:ln>
        </p:spPr>
        <p:txBody>
          <a:bodyPr wrap="none" lIns="0" tIns="0" rIns="0" bIns="0" anchor="t">
            <a:noAutofit/>
          </a:bodyPr>
          <a:lstStyle/>
          <a:p>
            <a:pPr algn="l">
              <a:defRPr sz="2196" b="0">
                <a:solidFill>
                  <a:srgbClr val="182934"/>
                </a:solidFill>
                <a:latin typeface="Arial"/>
                <a:ea typeface="Arial"/>
                <a:cs typeface="Arial"/>
              </a:defRPr>
            </a:pPr>
            <a:r>
              <a:rPr sz="2196" b="0">
                <a:solidFill>
                  <a:srgbClr val="182934"/>
                </a:solidFill>
                <a:latin typeface="Arial"/>
                <a:ea typeface="Arial"/>
                <a:cs typeface="Arial"/>
              </a:rPr>
              <a:t>dep</a:t>
            </a:r>
          </a:p>
        </p:txBody>
      </p:sp>
      <p:sp>
        <p:nvSpPr>
          <p:cNvPr id="12" name="Rectangle 11">
            <a:extLst>
              <a:ext uri="{FF2B5EF4-FFF2-40B4-BE49-F238E27FC236}">
                <a16:creationId xmlns:a16="http://schemas.microsoft.com/office/drawing/2014/main" id="{7CC350FC-9B76-46F0-A746-61D06C13B70F}"/>
              </a:ext>
            </a:extLst>
          </p:cNvPr>
          <p:cNvSpPr>
            <a:spLocks noGrp="1"/>
          </p:cNvSpPr>
          <p:nvPr/>
        </p:nvSpPr>
        <p:spPr>
          <a:xfrm>
            <a:off x="3028045" y="3048000"/>
            <a:ext cx="563785" cy="716280"/>
          </a:xfrm>
          <a:prstGeom prst="rect">
            <a:avLst/>
          </a:prstGeom>
          <a:noFill/>
          <a:ln w="0">
            <a:noFill/>
          </a:ln>
        </p:spPr>
        <p:txBody>
          <a:bodyPr wrap="none" lIns="0" tIns="0" rIns="0" bIns="0" anchor="t">
            <a:noAutofit/>
          </a:bodyPr>
          <a:lstStyle/>
          <a:p>
            <a:pPr algn="l">
              <a:defRPr sz="3525" b="0">
                <a:solidFill>
                  <a:srgbClr val="182934"/>
                </a:solidFill>
                <a:latin typeface="Arial"/>
                <a:ea typeface="Arial"/>
                <a:cs typeface="Arial"/>
              </a:defRPr>
            </a:pPr>
            <a:r>
              <a:rPr sz="3525" b="0">
                <a:solidFill>
                  <a:srgbClr val="182934"/>
                </a:solidFill>
                <a:latin typeface="Arial"/>
                <a:ea typeface="Arial"/>
                <a:cs typeface="Arial"/>
              </a:rPr>
              <a:t>dΣ</a:t>
            </a:r>
          </a:p>
        </p:txBody>
      </p:sp>
      <p:sp>
        <p:nvSpPr>
          <p:cNvPr id="13" name="Rectangle 12">
            <a:extLst>
              <a:ext uri="{FF2B5EF4-FFF2-40B4-BE49-F238E27FC236}">
                <a16:creationId xmlns:a16="http://schemas.microsoft.com/office/drawing/2014/main" id="{210BBB41-6CEE-4231-A5A9-09B868FD70A1}"/>
              </a:ext>
            </a:extLst>
          </p:cNvPr>
          <p:cNvSpPr>
            <a:spLocks noGrp="1"/>
          </p:cNvSpPr>
          <p:nvPr/>
        </p:nvSpPr>
        <p:spPr>
          <a:xfrm>
            <a:off x="3553730" y="3236024"/>
            <a:ext cx="189928" cy="716280"/>
          </a:xfrm>
          <a:prstGeom prst="rect">
            <a:avLst/>
          </a:prstGeom>
          <a:noFill/>
          <a:ln w="0">
            <a:noFill/>
          </a:ln>
        </p:spPr>
        <p:txBody>
          <a:bodyPr wrap="none" lIns="0" tIns="0" rIns="0" bIns="0" anchor="t">
            <a:noAutofit/>
          </a:bodyPr>
          <a:lstStyle/>
          <a:p>
            <a:pPr algn="l">
              <a:defRPr sz="2150" b="0">
                <a:solidFill>
                  <a:srgbClr val="182934"/>
                </a:solidFill>
                <a:latin typeface="Arial"/>
                <a:ea typeface="Arial"/>
                <a:cs typeface="Arial"/>
              </a:defRPr>
            </a:pPr>
            <a:r>
              <a:rPr sz="2150" b="0">
                <a:solidFill>
                  <a:srgbClr val="182934"/>
                </a:solidFill>
                <a:latin typeface="Arial"/>
                <a:ea typeface="Arial"/>
                <a:cs typeface="Arial"/>
              </a:rPr>
              <a:t>g</a:t>
            </a:r>
          </a:p>
        </p:txBody>
      </p:sp>
      <p:sp>
        <p:nvSpPr>
          <p:cNvPr id="14" name="Rectangle 13">
            <a:extLst>
              <a:ext uri="{FF2B5EF4-FFF2-40B4-BE49-F238E27FC236}">
                <a16:creationId xmlns:a16="http://schemas.microsoft.com/office/drawing/2014/main" id="{1D6EFA36-771D-4775-8FB5-BDCED86A7AB5}"/>
              </a:ext>
            </a:extLst>
          </p:cNvPr>
          <p:cNvSpPr>
            <a:spLocks noGrp="1"/>
          </p:cNvSpPr>
          <p:nvPr/>
        </p:nvSpPr>
        <p:spPr>
          <a:xfrm>
            <a:off x="3705558" y="3048000"/>
            <a:ext cx="1322737" cy="716280"/>
          </a:xfrm>
          <a:prstGeom prst="rect">
            <a:avLst/>
          </a:prstGeom>
          <a:noFill/>
          <a:ln w="0">
            <a:noFill/>
          </a:ln>
        </p:spPr>
        <p:txBody>
          <a:bodyPr wrap="none" lIns="0" tIns="0" rIns="0" bIns="0" anchor="t">
            <a:noAutofit/>
          </a:bodyPr>
          <a:lstStyle/>
          <a:p>
            <a:pPr algn="l">
              <a:defRPr sz="3525" b="0">
                <a:solidFill>
                  <a:srgbClr val="182934"/>
                </a:solidFill>
                <a:latin typeface="Arial"/>
                <a:ea typeface="Arial"/>
                <a:cs typeface="Arial"/>
              </a:defRPr>
            </a:pPr>
            <a:r>
              <a:rPr sz="3525" b="0">
                <a:solidFill>
                  <a:srgbClr val="182934"/>
                </a:solidFill>
                <a:latin typeface="Arial"/>
                <a:ea typeface="Arial"/>
                <a:cs typeface="Arial"/>
              </a:rPr>
              <a:t>/dt = Σ</a:t>
            </a:r>
          </a:p>
        </p:txBody>
      </p:sp>
      <p:sp>
        <p:nvSpPr>
          <p:cNvPr id="15" name="Rectangle 14">
            <a:extLst>
              <a:ext uri="{FF2B5EF4-FFF2-40B4-BE49-F238E27FC236}">
                <a16:creationId xmlns:a16="http://schemas.microsoft.com/office/drawing/2014/main" id="{DEF67B3F-527B-4D68-8F1C-6530A3C0E737}"/>
              </a:ext>
            </a:extLst>
          </p:cNvPr>
          <p:cNvSpPr>
            <a:spLocks noGrp="1"/>
          </p:cNvSpPr>
          <p:nvPr/>
        </p:nvSpPr>
        <p:spPr>
          <a:xfrm>
            <a:off x="4990195" y="3236024"/>
            <a:ext cx="255842" cy="716280"/>
          </a:xfrm>
          <a:prstGeom prst="rect">
            <a:avLst/>
          </a:prstGeom>
          <a:noFill/>
          <a:ln w="0">
            <a:noFill/>
          </a:ln>
        </p:spPr>
        <p:txBody>
          <a:bodyPr wrap="none" lIns="0" tIns="0" rIns="0" bIns="0" anchor="t">
            <a:noAutofit/>
          </a:bodyPr>
          <a:lstStyle/>
          <a:p>
            <a:pPr algn="l">
              <a:defRPr sz="2150" b="0">
                <a:solidFill>
                  <a:srgbClr val="182934"/>
                </a:solidFill>
                <a:latin typeface="Arial"/>
                <a:ea typeface="Arial"/>
                <a:cs typeface="Arial"/>
              </a:defRPr>
            </a:pPr>
            <a:r>
              <a:rPr sz="2150" b="0">
                <a:solidFill>
                  <a:srgbClr val="182934"/>
                </a:solidFill>
                <a:latin typeface="Arial"/>
                <a:ea typeface="Arial"/>
                <a:cs typeface="Arial"/>
              </a:rPr>
              <a:t>Φ</a:t>
            </a:r>
          </a:p>
        </p:txBody>
      </p:sp>
      <p:sp>
        <p:nvSpPr>
          <p:cNvPr id="16" name="Rectangle 15">
            <a:extLst>
              <a:ext uri="{FF2B5EF4-FFF2-40B4-BE49-F238E27FC236}">
                <a16:creationId xmlns:a16="http://schemas.microsoft.com/office/drawing/2014/main" id="{584033F5-808B-4698-B985-64FE6F0D48E0}"/>
              </a:ext>
            </a:extLst>
          </p:cNvPr>
          <p:cNvSpPr>
            <a:spLocks noGrp="1"/>
          </p:cNvSpPr>
          <p:nvPr/>
        </p:nvSpPr>
        <p:spPr>
          <a:xfrm>
            <a:off x="5332333" y="3048000"/>
            <a:ext cx="2081212" cy="716280"/>
          </a:xfrm>
          <a:prstGeom prst="rect">
            <a:avLst/>
          </a:prstGeom>
          <a:noFill/>
          <a:ln w="0">
            <a:noFill/>
          </a:ln>
        </p:spPr>
        <p:txBody>
          <a:bodyPr wrap="none" lIns="0" tIns="0" rIns="0" bIns="0" anchor="t">
            <a:noAutofit/>
          </a:bodyPr>
          <a:lstStyle/>
          <a:p>
            <a:pPr algn="l">
              <a:defRPr sz="3525" b="0">
                <a:solidFill>
                  <a:srgbClr val="182934"/>
                </a:solidFill>
                <a:latin typeface="Arial"/>
                <a:ea typeface="Arial"/>
                <a:cs typeface="Arial"/>
              </a:defRPr>
            </a:pPr>
            <a:r>
              <a:rPr sz="3525" b="0">
                <a:solidFill>
                  <a:srgbClr val="182934"/>
                </a:solidFill>
                <a:latin typeface="Arial"/>
                <a:ea typeface="Arial"/>
                <a:cs typeface="Arial"/>
              </a:rPr>
              <a:t>− (1 − R)Σ</a:t>
            </a:r>
          </a:p>
        </p:txBody>
      </p:sp>
      <p:sp>
        <p:nvSpPr>
          <p:cNvPr id="17" name="Rectangle 16">
            <a:extLst>
              <a:ext uri="{FF2B5EF4-FFF2-40B4-BE49-F238E27FC236}">
                <a16:creationId xmlns:a16="http://schemas.microsoft.com/office/drawing/2014/main" id="{8A9FA324-8EE6-405F-A1AA-0A5FECE435A7}"/>
              </a:ext>
            </a:extLst>
          </p:cNvPr>
          <p:cNvSpPr>
            <a:spLocks noGrp="1"/>
          </p:cNvSpPr>
          <p:nvPr/>
        </p:nvSpPr>
        <p:spPr>
          <a:xfrm>
            <a:off x="7375446" y="3236024"/>
            <a:ext cx="583978" cy="716280"/>
          </a:xfrm>
          <a:prstGeom prst="rect">
            <a:avLst/>
          </a:prstGeom>
          <a:noFill/>
          <a:ln w="0">
            <a:noFill/>
          </a:ln>
        </p:spPr>
        <p:txBody>
          <a:bodyPr wrap="none" lIns="0" tIns="0" rIns="0" bIns="0" anchor="t">
            <a:noAutofit/>
          </a:bodyPr>
          <a:lstStyle/>
          <a:p>
            <a:pPr algn="l">
              <a:defRPr sz="2150" b="0">
                <a:solidFill>
                  <a:srgbClr val="182934"/>
                </a:solidFill>
                <a:latin typeface="Arial"/>
                <a:ea typeface="Arial"/>
                <a:cs typeface="Arial"/>
              </a:defRPr>
            </a:pPr>
            <a:r>
              <a:rPr sz="2150" b="0">
                <a:solidFill>
                  <a:srgbClr val="182934"/>
                </a:solidFill>
                <a:latin typeface="Arial"/>
                <a:ea typeface="Arial"/>
                <a:cs typeface="Arial"/>
              </a:rPr>
              <a:t>SFR</a:t>
            </a:r>
          </a:p>
        </p:txBody>
      </p:sp>
      <p:sp>
        <p:nvSpPr>
          <p:cNvPr id="18" name="Rectangle 17">
            <a:extLst>
              <a:ext uri="{FF2B5EF4-FFF2-40B4-BE49-F238E27FC236}">
                <a16:creationId xmlns:a16="http://schemas.microsoft.com/office/drawing/2014/main" id="{4BC2F37E-7F5C-44F0-8E28-E4FB79E9BB47}"/>
              </a:ext>
            </a:extLst>
          </p:cNvPr>
          <p:cNvSpPr>
            <a:spLocks noGrp="1"/>
          </p:cNvSpPr>
          <p:nvPr/>
        </p:nvSpPr>
        <p:spPr>
          <a:xfrm>
            <a:off x="8045720" y="3048000"/>
            <a:ext cx="700659" cy="716280"/>
          </a:xfrm>
          <a:prstGeom prst="rect">
            <a:avLst/>
          </a:prstGeom>
          <a:noFill/>
          <a:ln w="0">
            <a:noFill/>
          </a:ln>
        </p:spPr>
        <p:txBody>
          <a:bodyPr wrap="none" lIns="0" tIns="0" rIns="0" bIns="0" anchor="t">
            <a:noAutofit/>
          </a:bodyPr>
          <a:lstStyle/>
          <a:p>
            <a:pPr algn="l">
              <a:defRPr sz="3525" b="0">
                <a:solidFill>
                  <a:srgbClr val="182934"/>
                </a:solidFill>
                <a:latin typeface="Arial"/>
                <a:ea typeface="Arial"/>
                <a:cs typeface="Arial"/>
              </a:defRPr>
            </a:pPr>
            <a:r>
              <a:rPr sz="3525" b="0">
                <a:solidFill>
                  <a:srgbClr val="182934"/>
                </a:solidFill>
                <a:latin typeface="Arial"/>
                <a:ea typeface="Arial"/>
                <a:cs typeface="Arial"/>
              </a:rPr>
              <a:t>− Σ</a:t>
            </a:r>
          </a:p>
        </p:txBody>
      </p:sp>
      <p:sp>
        <p:nvSpPr>
          <p:cNvPr id="19" name="Rectangle 18">
            <a:extLst>
              <a:ext uri="{FF2B5EF4-FFF2-40B4-BE49-F238E27FC236}">
                <a16:creationId xmlns:a16="http://schemas.microsoft.com/office/drawing/2014/main" id="{68ABFF88-9F75-47E4-A74B-4F20AAA58C69}"/>
              </a:ext>
            </a:extLst>
          </p:cNvPr>
          <p:cNvSpPr>
            <a:spLocks noGrp="1"/>
          </p:cNvSpPr>
          <p:nvPr/>
        </p:nvSpPr>
        <p:spPr>
          <a:xfrm>
            <a:off x="8708279" y="3236024"/>
            <a:ext cx="417576" cy="716280"/>
          </a:xfrm>
          <a:prstGeom prst="rect">
            <a:avLst/>
          </a:prstGeom>
          <a:noFill/>
          <a:ln w="0">
            <a:noFill/>
          </a:ln>
        </p:spPr>
        <p:txBody>
          <a:bodyPr wrap="none" lIns="0" tIns="0" rIns="0" bIns="0" anchor="t">
            <a:noAutofit/>
          </a:bodyPr>
          <a:lstStyle/>
          <a:p>
            <a:pPr algn="l">
              <a:defRPr sz="2150" b="0">
                <a:solidFill>
                  <a:srgbClr val="182934"/>
                </a:solidFill>
                <a:latin typeface="Arial"/>
                <a:ea typeface="Arial"/>
                <a:cs typeface="Arial"/>
              </a:defRPr>
            </a:pPr>
            <a:r>
              <a:rPr sz="2150" b="0">
                <a:solidFill>
                  <a:srgbClr val="182934"/>
                </a:solidFill>
                <a:latin typeface="Arial"/>
                <a:ea typeface="Arial"/>
                <a:cs typeface="Arial"/>
              </a:rPr>
              <a:t>out</a:t>
            </a:r>
          </a:p>
        </p:txBody>
      </p:sp>
      <p:graphicFrame>
        <p:nvGraphicFramePr>
          <p:cNvPr id="41" name="Table 40"/>
          <p:cNvGraphicFramePr/>
          <p:nvPr/>
        </p:nvGraphicFramePr>
        <p:xfrm>
          <a:off x="533400" y="4457700"/>
          <a:ext cx="11125200" cy="1123950"/>
        </p:xfrm>
        <a:graphic>
          <a:graphicData uri="http://schemas.openxmlformats.org/drawingml/2006/table">
            <a:tbl>
              <a:tblPr/>
              <a:tblGrid>
                <a:gridCol w="37052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705225">
                  <a:extLst>
                    <a:ext uri="{9D8B030D-6E8A-4147-A177-3AD203B41FA5}">
                      <a16:colId xmlns:a16="http://schemas.microsoft.com/office/drawing/2014/main" val="20002"/>
                    </a:ext>
                  </a:extLst>
                </a:gridCol>
              </a:tblGrid>
              <a:tr h="561975">
                <a:tc>
                  <a:txBody>
                    <a:bodyPr/>
                    <a:lstStyle/>
                    <a:p>
                      <a:r>
                        <a:rPr sz="1875" b="1">
                          <a:solidFill>
                            <a:srgbClr val="FFFFFF"/>
                          </a:solidFill>
                          <a:latin typeface="Arial"/>
                          <a:ea typeface="Arial"/>
                          <a:cs typeface="Arial"/>
                        </a:rPr>
                        <a:t>ΣΦ</a:t>
                      </a:r>
                    </a:p>
                  </a:txBody>
                  <a:tcPr marL="142875" marR="142875" marT="114300" marB="114300" anchor="ctr">
                    <a:solidFill>
                      <a:srgbClr val="10222E"/>
                    </a:solidFill>
                  </a:tcPr>
                </a:tc>
                <a:tc>
                  <a:txBody>
                    <a:bodyPr/>
                    <a:lstStyle/>
                    <a:p>
                      <a:r>
                        <a:rPr sz="1875" b="1">
                          <a:solidFill>
                            <a:srgbClr val="FFFFFF"/>
                          </a:solidFill>
                          <a:latin typeface="Arial"/>
                          <a:ea typeface="Arial"/>
                          <a:cs typeface="Arial"/>
                        </a:rPr>
                        <a:t>(1 − R)ΣSFR</a:t>
                      </a:r>
                    </a:p>
                  </a:txBody>
                  <a:tcPr marL="142875" marR="142875" marT="114300" marB="114300" anchor="ctr">
                    <a:solidFill>
                      <a:srgbClr val="10222E"/>
                    </a:solidFill>
                  </a:tcPr>
                </a:tc>
                <a:tc>
                  <a:txBody>
                    <a:bodyPr/>
                    <a:lstStyle/>
                    <a:p>
                      <a:r>
                        <a:rPr sz="1875" b="1">
                          <a:solidFill>
                            <a:srgbClr val="FFFFFF"/>
                          </a:solidFill>
                          <a:latin typeface="Arial"/>
                          <a:ea typeface="Arial"/>
                          <a:cs typeface="Arial"/>
                        </a:rPr>
                        <a:t>Σout</a:t>
                      </a:r>
                    </a:p>
                  </a:txBody>
                  <a:tcPr marL="142875" marR="142875" marT="114300" marB="114300" anchor="ctr">
                    <a:solidFill>
                      <a:srgbClr val="10222E"/>
                    </a:solidFill>
                  </a:tcPr>
                </a:tc>
                <a:extLst>
                  <a:ext uri="{0D108BD9-81ED-4DB2-BD59-A6C34878D82A}">
                    <a16:rowId xmlns:a16="http://schemas.microsoft.com/office/drawing/2014/main" val="10000"/>
                  </a:ext>
                </a:extLst>
              </a:tr>
              <a:tr h="561975">
                <a:tc>
                  <a:txBody>
                    <a:bodyPr/>
                    <a:lstStyle/>
                    <a:p>
                      <a:r>
                        <a:rPr sz="1875" b="0">
                          <a:solidFill>
                            <a:srgbClr val="182934"/>
                          </a:solidFill>
                          <a:latin typeface="Arial"/>
                          <a:ea typeface="Arial"/>
                          <a:cs typeface="Arial"/>
                        </a:rPr>
                        <a:t>Supply</a:t>
                      </a:r>
                    </a:p>
                  </a:txBody>
                  <a:tcPr marL="142875" marR="142875" marT="114300" marB="114300" anchor="ctr">
                    <a:solidFill>
                      <a:srgbClr val="FFFFFF"/>
                    </a:solidFill>
                  </a:tcPr>
                </a:tc>
                <a:tc>
                  <a:txBody>
                    <a:bodyPr/>
                    <a:lstStyle/>
                    <a:p>
                      <a:r>
                        <a:rPr sz="1875" b="0">
                          <a:solidFill>
                            <a:srgbClr val="182934"/>
                          </a:solidFill>
                          <a:latin typeface="Arial"/>
                          <a:ea typeface="Arial"/>
                          <a:cs typeface="Arial"/>
                        </a:rPr>
                        <a:t>Long-lived stellar locking</a:t>
                      </a:r>
                    </a:p>
                  </a:txBody>
                  <a:tcPr marL="142875" marR="142875" marT="114300" marB="114300" anchor="ctr">
                    <a:solidFill>
                      <a:srgbClr val="FFFFFF"/>
                    </a:solidFill>
                  </a:tcPr>
                </a:tc>
                <a:tc>
                  <a:txBody>
                    <a:bodyPr/>
                    <a:lstStyle/>
                    <a:p>
                      <a:r>
                        <a:rPr sz="1875" b="0">
                          <a:solidFill>
                            <a:srgbClr val="182934"/>
                          </a:solidFill>
                          <a:latin typeface="Arial"/>
                          <a:ea typeface="Arial"/>
                          <a:cs typeface="Arial"/>
                        </a:rPr>
                        <a:t>Removal</a:t>
                      </a:r>
                    </a:p>
                  </a:txBody>
                  <a:tcPr marL="142875" marR="142875" marT="114300" marB="114300" anchor="ctr">
                    <a:solidFill>
                      <a:srgbClr val="FFFFFF"/>
                    </a:solidFill>
                  </a:tcPr>
                </a:tc>
                <a:extLst>
                  <a:ext uri="{0D108BD9-81ED-4DB2-BD59-A6C34878D82A}">
                    <a16:rowId xmlns:a16="http://schemas.microsoft.com/office/drawing/2014/main" val="10001"/>
                  </a:ext>
                </a:extLst>
              </a:tr>
            </a:tbl>
          </a:graphicData>
        </a:graphic>
      </p:graphicFrame>
      <p:sp>
        <p:nvSpPr>
          <p:cNvPr id="21" name="Rectangle 20">
            <a:extLst>
              <a:ext uri="{FF2B5EF4-FFF2-40B4-BE49-F238E27FC236}">
                <a16:creationId xmlns:a16="http://schemas.microsoft.com/office/drawing/2014/main" id="{2C5929D9-3333-4867-90F7-7ED14F3F164B}"/>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Surface-density rates; R is the recycled fraction. Single reservoir + instantaneous recycling assumptions.</a:t>
            </a:r>
          </a:p>
        </p:txBody>
      </p:sp>
    </p:spTree>
    <p:extLst>
      <p:ext uri="{BB962C8B-B14F-4D97-AF65-F5344CB8AC3E}">
        <p14:creationId xmlns:p14="http://schemas.microsoft.com/office/powerpoint/2010/main" val="1443618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85E84BD-5348-4DC8-BF0B-FA692416B6B4}"/>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THE RESOLVED REGULATOR</a:t>
            </a:r>
          </a:p>
        </p:txBody>
      </p:sp>
      <p:sp>
        <p:nvSpPr>
          <p:cNvPr id="2" name="Rectangle 1">
            <a:extLst>
              <a:ext uri="{FF2B5EF4-FFF2-40B4-BE49-F238E27FC236}">
                <a16:creationId xmlns:a16="http://schemas.microsoft.com/office/drawing/2014/main" id="{C8B8DA4E-1F05-4699-853C-BC959B0643D3}"/>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Metal enrichment competes with dilution</a:t>
            </a:r>
          </a:p>
        </p:txBody>
      </p:sp>
      <p:sp>
        <p:nvSpPr>
          <p:cNvPr id="3" name="Rectangle 2">
            <a:extLst>
              <a:ext uri="{FF2B5EF4-FFF2-40B4-BE49-F238E27FC236}">
                <a16:creationId xmlns:a16="http://schemas.microsoft.com/office/drawing/2014/main" id="{6652EB96-E0F4-4754-A15A-7928B2BAA3F3}"/>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3005A811-96DF-4BB6-A25D-D2B290335784}"/>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AF954ECE-813E-4E4D-AA06-F3BF118196E8}"/>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21</a:t>
            </a:r>
          </a:p>
        </p:txBody>
      </p:sp>
      <p:sp>
        <p:nvSpPr>
          <p:cNvPr id="6" name="Rectangle 5">
            <a:extLst>
              <a:ext uri="{FF2B5EF4-FFF2-40B4-BE49-F238E27FC236}">
                <a16:creationId xmlns:a16="http://schemas.microsoft.com/office/drawing/2014/main" id="{EFCBC2D5-9410-4BFE-9754-77AAEDE1D545}"/>
              </a:ext>
            </a:extLst>
          </p:cNvPr>
          <p:cNvSpPr>
            <a:spLocks noGrp="1"/>
          </p:cNvSpPr>
          <p:nvPr/>
        </p:nvSpPr>
        <p:spPr>
          <a:xfrm>
            <a:off x="2595515" y="1990725"/>
            <a:ext cx="3308985" cy="640080"/>
          </a:xfrm>
          <a:prstGeom prst="rect">
            <a:avLst/>
          </a:prstGeom>
          <a:noFill/>
          <a:ln w="0">
            <a:noFill/>
          </a:ln>
        </p:spPr>
        <p:txBody>
          <a:bodyPr wrap="none" lIns="0" tIns="0" rIns="0" bIns="0" anchor="t">
            <a:noAutofit/>
          </a:bodyPr>
          <a:lstStyle/>
          <a:p>
            <a:pPr algn="l">
              <a:defRPr sz="3150" b="0">
                <a:solidFill>
                  <a:srgbClr val="182934"/>
                </a:solidFill>
                <a:latin typeface="Arial"/>
                <a:ea typeface="Arial"/>
                <a:cs typeface="Arial"/>
              </a:defRPr>
            </a:pPr>
            <a:r>
              <a:rPr sz="3150" b="0">
                <a:solidFill>
                  <a:srgbClr val="182934"/>
                </a:solidFill>
                <a:latin typeface="Arial"/>
                <a:ea typeface="Arial"/>
                <a:cs typeface="Arial"/>
              </a:rPr>
              <a:t>dZ/dt = [ y(1 − R)Σ</a:t>
            </a:r>
          </a:p>
        </p:txBody>
      </p:sp>
      <p:sp>
        <p:nvSpPr>
          <p:cNvPr id="7" name="Rectangle 6">
            <a:extLst>
              <a:ext uri="{FF2B5EF4-FFF2-40B4-BE49-F238E27FC236}">
                <a16:creationId xmlns:a16="http://schemas.microsoft.com/office/drawing/2014/main" id="{A3EAA1F5-1E06-44CD-BF6E-AE3B9846CA21}"/>
              </a:ext>
            </a:extLst>
          </p:cNvPr>
          <p:cNvSpPr>
            <a:spLocks noGrp="1"/>
          </p:cNvSpPr>
          <p:nvPr/>
        </p:nvSpPr>
        <p:spPr>
          <a:xfrm>
            <a:off x="5866400" y="2158746"/>
            <a:ext cx="525971" cy="640080"/>
          </a:xfrm>
          <a:prstGeom prst="rect">
            <a:avLst/>
          </a:prstGeom>
          <a:noFill/>
          <a:ln w="0">
            <a:noFill/>
          </a:ln>
        </p:spPr>
        <p:txBody>
          <a:bodyPr wrap="none" lIns="0" tIns="0" rIns="0" bIns="0" anchor="t">
            <a:noAutofit/>
          </a:bodyPr>
          <a:lstStyle/>
          <a:p>
            <a:pPr algn="l">
              <a:defRPr sz="1922" b="0">
                <a:solidFill>
                  <a:srgbClr val="182934"/>
                </a:solidFill>
                <a:latin typeface="Arial"/>
                <a:ea typeface="Arial"/>
                <a:cs typeface="Arial"/>
              </a:defRPr>
            </a:pPr>
            <a:r>
              <a:rPr sz="1922" b="0">
                <a:solidFill>
                  <a:srgbClr val="182934"/>
                </a:solidFill>
                <a:latin typeface="Arial"/>
                <a:ea typeface="Arial"/>
                <a:cs typeface="Arial"/>
              </a:rPr>
              <a:t>SFR</a:t>
            </a:r>
          </a:p>
        </p:txBody>
      </p:sp>
      <p:sp>
        <p:nvSpPr>
          <p:cNvPr id="8" name="Rectangle 7">
            <a:extLst>
              <a:ext uri="{FF2B5EF4-FFF2-40B4-BE49-F238E27FC236}">
                <a16:creationId xmlns:a16="http://schemas.microsoft.com/office/drawing/2014/main" id="{8C7338A9-D1A2-44CC-B816-732B2B5A0386}"/>
              </a:ext>
            </a:extLst>
          </p:cNvPr>
          <p:cNvSpPr>
            <a:spLocks noGrp="1"/>
          </p:cNvSpPr>
          <p:nvPr/>
        </p:nvSpPr>
        <p:spPr>
          <a:xfrm>
            <a:off x="6465427" y="1990725"/>
            <a:ext cx="760476" cy="640080"/>
          </a:xfrm>
          <a:prstGeom prst="rect">
            <a:avLst/>
          </a:prstGeom>
          <a:noFill/>
          <a:ln w="0">
            <a:noFill/>
          </a:ln>
        </p:spPr>
        <p:txBody>
          <a:bodyPr wrap="none" lIns="0" tIns="0" rIns="0" bIns="0" anchor="t">
            <a:noAutofit/>
          </a:bodyPr>
          <a:lstStyle/>
          <a:p>
            <a:pPr algn="l">
              <a:defRPr sz="3150" b="0">
                <a:solidFill>
                  <a:srgbClr val="182934"/>
                </a:solidFill>
                <a:latin typeface="Arial"/>
                <a:ea typeface="Arial"/>
                <a:cs typeface="Arial"/>
              </a:defRPr>
            </a:pPr>
            <a:r>
              <a:rPr sz="3150" b="0">
                <a:solidFill>
                  <a:srgbClr val="182934"/>
                </a:solidFill>
                <a:latin typeface="Arial"/>
                <a:ea typeface="Arial"/>
                <a:cs typeface="Arial"/>
              </a:rPr>
              <a:t>+ (Z</a:t>
            </a:r>
          </a:p>
        </p:txBody>
      </p:sp>
      <p:sp>
        <p:nvSpPr>
          <p:cNvPr id="9" name="Rectangle 8">
            <a:extLst>
              <a:ext uri="{FF2B5EF4-FFF2-40B4-BE49-F238E27FC236}">
                <a16:creationId xmlns:a16="http://schemas.microsoft.com/office/drawing/2014/main" id="{5CD7C619-20DB-48CA-B7BB-73F49AEE7451}"/>
              </a:ext>
            </a:extLst>
          </p:cNvPr>
          <p:cNvSpPr>
            <a:spLocks noGrp="1"/>
          </p:cNvSpPr>
          <p:nvPr/>
        </p:nvSpPr>
        <p:spPr>
          <a:xfrm>
            <a:off x="7187803" y="2158746"/>
            <a:ext cx="232696" cy="640080"/>
          </a:xfrm>
          <a:prstGeom prst="rect">
            <a:avLst/>
          </a:prstGeom>
          <a:noFill/>
          <a:ln w="0">
            <a:noFill/>
          </a:ln>
        </p:spPr>
        <p:txBody>
          <a:bodyPr wrap="none" lIns="0" tIns="0" rIns="0" bIns="0" anchor="t">
            <a:noAutofit/>
          </a:bodyPr>
          <a:lstStyle/>
          <a:p>
            <a:pPr algn="l">
              <a:defRPr sz="1922" b="0">
                <a:solidFill>
                  <a:srgbClr val="182934"/>
                </a:solidFill>
                <a:latin typeface="Arial"/>
                <a:ea typeface="Arial"/>
                <a:cs typeface="Arial"/>
              </a:defRPr>
            </a:pPr>
            <a:r>
              <a:rPr sz="1922" b="0">
                <a:solidFill>
                  <a:srgbClr val="182934"/>
                </a:solidFill>
                <a:latin typeface="Arial"/>
                <a:ea typeface="Arial"/>
                <a:cs typeface="Arial"/>
              </a:rPr>
              <a:t>Φ</a:t>
            </a:r>
          </a:p>
        </p:txBody>
      </p:sp>
      <p:sp>
        <p:nvSpPr>
          <p:cNvPr id="10" name="Rectangle 9">
            <a:extLst>
              <a:ext uri="{FF2B5EF4-FFF2-40B4-BE49-F238E27FC236}">
                <a16:creationId xmlns:a16="http://schemas.microsoft.com/office/drawing/2014/main" id="{0FD59A13-9A4F-468D-ADC4-B2C2A6BF53EB}"/>
              </a:ext>
            </a:extLst>
          </p:cNvPr>
          <p:cNvSpPr>
            <a:spLocks noGrp="1"/>
          </p:cNvSpPr>
          <p:nvPr/>
        </p:nvSpPr>
        <p:spPr>
          <a:xfrm>
            <a:off x="7493556" y="1990725"/>
            <a:ext cx="1007745" cy="640080"/>
          </a:xfrm>
          <a:prstGeom prst="rect">
            <a:avLst/>
          </a:prstGeom>
          <a:noFill/>
          <a:ln w="0">
            <a:noFill/>
          </a:ln>
        </p:spPr>
        <p:txBody>
          <a:bodyPr wrap="none" lIns="0" tIns="0" rIns="0" bIns="0" anchor="t">
            <a:noAutofit/>
          </a:bodyPr>
          <a:lstStyle/>
          <a:p>
            <a:pPr algn="l">
              <a:defRPr sz="3150" b="0">
                <a:solidFill>
                  <a:srgbClr val="182934"/>
                </a:solidFill>
                <a:latin typeface="Arial"/>
                <a:ea typeface="Arial"/>
                <a:cs typeface="Arial"/>
              </a:defRPr>
            </a:pPr>
            <a:r>
              <a:rPr sz="3150" b="0">
                <a:solidFill>
                  <a:srgbClr val="182934"/>
                </a:solidFill>
                <a:latin typeface="Arial"/>
                <a:ea typeface="Arial"/>
                <a:cs typeface="Arial"/>
              </a:rPr>
              <a:t>− Z)Σ</a:t>
            </a:r>
          </a:p>
        </p:txBody>
      </p:sp>
      <p:sp>
        <p:nvSpPr>
          <p:cNvPr id="11" name="Rectangle 10">
            <a:extLst>
              <a:ext uri="{FF2B5EF4-FFF2-40B4-BE49-F238E27FC236}">
                <a16:creationId xmlns:a16="http://schemas.microsoft.com/office/drawing/2014/main" id="{44F15C1B-9974-451E-B245-9D1F17B256F5}"/>
              </a:ext>
            </a:extLst>
          </p:cNvPr>
          <p:cNvSpPr>
            <a:spLocks noGrp="1"/>
          </p:cNvSpPr>
          <p:nvPr/>
        </p:nvSpPr>
        <p:spPr>
          <a:xfrm>
            <a:off x="8463201" y="2158746"/>
            <a:ext cx="232696" cy="640080"/>
          </a:xfrm>
          <a:prstGeom prst="rect">
            <a:avLst/>
          </a:prstGeom>
          <a:noFill/>
          <a:ln w="0">
            <a:noFill/>
          </a:ln>
        </p:spPr>
        <p:txBody>
          <a:bodyPr wrap="none" lIns="0" tIns="0" rIns="0" bIns="0" anchor="t">
            <a:noAutofit/>
          </a:bodyPr>
          <a:lstStyle/>
          <a:p>
            <a:pPr algn="l">
              <a:defRPr sz="1922" b="0">
                <a:solidFill>
                  <a:srgbClr val="182934"/>
                </a:solidFill>
                <a:latin typeface="Arial"/>
                <a:ea typeface="Arial"/>
                <a:cs typeface="Arial"/>
              </a:defRPr>
            </a:pPr>
            <a:r>
              <a:rPr sz="1922" b="0">
                <a:solidFill>
                  <a:srgbClr val="182934"/>
                </a:solidFill>
                <a:latin typeface="Arial"/>
                <a:ea typeface="Arial"/>
                <a:cs typeface="Arial"/>
              </a:rPr>
              <a:t>Φ</a:t>
            </a:r>
          </a:p>
        </p:txBody>
      </p:sp>
      <p:sp>
        <p:nvSpPr>
          <p:cNvPr id="12" name="Rectangle 11">
            <a:extLst>
              <a:ext uri="{FF2B5EF4-FFF2-40B4-BE49-F238E27FC236}">
                <a16:creationId xmlns:a16="http://schemas.microsoft.com/office/drawing/2014/main" id="{307AACBB-5C69-420F-8AC3-2F727DB83193}"/>
              </a:ext>
            </a:extLst>
          </p:cNvPr>
          <p:cNvSpPr>
            <a:spLocks noGrp="1"/>
          </p:cNvSpPr>
          <p:nvPr/>
        </p:nvSpPr>
        <p:spPr>
          <a:xfrm>
            <a:off x="8768953" y="1990725"/>
            <a:ext cx="729996" cy="640080"/>
          </a:xfrm>
          <a:prstGeom prst="rect">
            <a:avLst/>
          </a:prstGeom>
          <a:noFill/>
          <a:ln w="0">
            <a:noFill/>
          </a:ln>
        </p:spPr>
        <p:txBody>
          <a:bodyPr wrap="none" lIns="0" tIns="0" rIns="0" bIns="0" anchor="t">
            <a:noAutofit/>
          </a:bodyPr>
          <a:lstStyle/>
          <a:p>
            <a:pPr algn="l">
              <a:defRPr sz="3150" b="0">
                <a:solidFill>
                  <a:srgbClr val="182934"/>
                </a:solidFill>
                <a:latin typeface="Arial"/>
                <a:ea typeface="Arial"/>
                <a:cs typeface="Arial"/>
              </a:defRPr>
            </a:pPr>
            <a:r>
              <a:rPr sz="3150" b="0">
                <a:solidFill>
                  <a:srgbClr val="182934"/>
                </a:solidFill>
                <a:latin typeface="Arial"/>
                <a:ea typeface="Arial"/>
                <a:cs typeface="Arial"/>
              </a:rPr>
              <a:t>] / Σ</a:t>
            </a:r>
          </a:p>
        </p:txBody>
      </p:sp>
      <p:sp>
        <p:nvSpPr>
          <p:cNvPr id="13" name="Rectangle 12">
            <a:extLst>
              <a:ext uri="{FF2B5EF4-FFF2-40B4-BE49-F238E27FC236}">
                <a16:creationId xmlns:a16="http://schemas.microsoft.com/office/drawing/2014/main" id="{569FC1DC-753A-4EBB-A601-5B2F98EF8498}"/>
              </a:ext>
            </a:extLst>
          </p:cNvPr>
          <p:cNvSpPr>
            <a:spLocks noGrp="1"/>
          </p:cNvSpPr>
          <p:nvPr/>
        </p:nvSpPr>
        <p:spPr>
          <a:xfrm>
            <a:off x="9460849" y="2158746"/>
            <a:ext cx="173736" cy="640080"/>
          </a:xfrm>
          <a:prstGeom prst="rect">
            <a:avLst/>
          </a:prstGeom>
          <a:noFill/>
          <a:ln w="0">
            <a:noFill/>
          </a:ln>
        </p:spPr>
        <p:txBody>
          <a:bodyPr wrap="none" lIns="0" tIns="0" rIns="0" bIns="0" anchor="t">
            <a:noAutofit/>
          </a:bodyPr>
          <a:lstStyle/>
          <a:p>
            <a:pPr algn="l">
              <a:defRPr sz="1922" b="0">
                <a:solidFill>
                  <a:srgbClr val="182934"/>
                </a:solidFill>
                <a:latin typeface="Arial"/>
                <a:ea typeface="Arial"/>
                <a:cs typeface="Arial"/>
              </a:defRPr>
            </a:pPr>
            <a:r>
              <a:rPr sz="1922" b="0">
                <a:solidFill>
                  <a:srgbClr val="182934"/>
                </a:solidFill>
                <a:latin typeface="Arial"/>
                <a:ea typeface="Arial"/>
                <a:cs typeface="Arial"/>
              </a:rPr>
              <a:t>g</a:t>
            </a:r>
          </a:p>
        </p:txBody>
      </p:sp>
      <p:sp>
        <p:nvSpPr>
          <p:cNvPr id="14" name="Rectangle 13">
            <a:extLst>
              <a:ext uri="{FF2B5EF4-FFF2-40B4-BE49-F238E27FC236}">
                <a16:creationId xmlns:a16="http://schemas.microsoft.com/office/drawing/2014/main" id="{85EB14FF-5A68-4053-B457-CE519FC5C6B3}"/>
              </a:ext>
            </a:extLst>
          </p:cNvPr>
          <p:cNvSpPr>
            <a:spLocks noGrp="1"/>
          </p:cNvSpPr>
          <p:nvPr/>
        </p:nvSpPr>
        <p:spPr>
          <a:xfrm>
            <a:off x="533400" y="3381375"/>
            <a:ext cx="5248275" cy="1600200"/>
          </a:xfrm>
          <a:prstGeom prst="rect">
            <a:avLst/>
          </a:prstGeom>
          <a:solidFill>
            <a:srgbClr val="F2EDF3"/>
          </a:solidFill>
          <a:ln w="0">
            <a:noFill/>
          </a:ln>
        </p:spPr>
        <p:txBody>
          <a:bodyPr/>
          <a:lstStyle/>
          <a:p>
            <a:endParaRPr lang="en-US"/>
          </a:p>
        </p:txBody>
      </p:sp>
      <p:sp>
        <p:nvSpPr>
          <p:cNvPr id="15" name="Rectangle 14">
            <a:extLst>
              <a:ext uri="{FF2B5EF4-FFF2-40B4-BE49-F238E27FC236}">
                <a16:creationId xmlns:a16="http://schemas.microsoft.com/office/drawing/2014/main" id="{95CBBB1D-0723-444E-B057-DCD102DA68A8}"/>
              </a:ext>
            </a:extLst>
          </p:cNvPr>
          <p:cNvSpPr>
            <a:spLocks noGrp="1"/>
          </p:cNvSpPr>
          <p:nvPr/>
        </p:nvSpPr>
        <p:spPr>
          <a:xfrm>
            <a:off x="762000" y="3581400"/>
            <a:ext cx="4762500" cy="419100"/>
          </a:xfrm>
          <a:prstGeom prst="rect">
            <a:avLst/>
          </a:prstGeom>
          <a:noFill/>
          <a:ln w="0">
            <a:noFill/>
          </a:ln>
        </p:spPr>
        <p:txBody>
          <a:bodyPr wrap="square" lIns="0" tIns="0" rIns="0" bIns="0" anchor="t">
            <a:noAutofit/>
          </a:bodyPr>
          <a:lstStyle/>
          <a:p>
            <a:pPr algn="l">
              <a:defRPr sz="2325" b="1">
                <a:solidFill>
                  <a:srgbClr val="85457F"/>
                </a:solidFill>
                <a:latin typeface="Arial"/>
                <a:ea typeface="Arial"/>
                <a:cs typeface="Arial"/>
              </a:defRPr>
            </a:pPr>
            <a:r>
              <a:rPr sz="2325" b="1">
                <a:solidFill>
                  <a:srgbClr val="85457F"/>
                </a:solidFill>
                <a:latin typeface="Arial"/>
                <a:ea typeface="Arial"/>
                <a:cs typeface="Arial"/>
              </a:rPr>
              <a:t>Enrichment</a:t>
            </a:r>
          </a:p>
        </p:txBody>
      </p:sp>
      <p:sp>
        <p:nvSpPr>
          <p:cNvPr id="16" name="Rectangle 15">
            <a:extLst>
              <a:ext uri="{FF2B5EF4-FFF2-40B4-BE49-F238E27FC236}">
                <a16:creationId xmlns:a16="http://schemas.microsoft.com/office/drawing/2014/main" id="{D92A39BF-85B8-4BFB-9929-E7FEC896DB35}"/>
              </a:ext>
            </a:extLst>
          </p:cNvPr>
          <p:cNvSpPr>
            <a:spLocks noGrp="1"/>
          </p:cNvSpPr>
          <p:nvPr/>
        </p:nvSpPr>
        <p:spPr>
          <a:xfrm>
            <a:off x="762000" y="4133850"/>
            <a:ext cx="4686300" cy="723900"/>
          </a:xfrm>
          <a:prstGeom prst="rect">
            <a:avLst/>
          </a:prstGeom>
          <a:noFill/>
          <a:ln w="0">
            <a:noFill/>
          </a:ln>
        </p:spPr>
        <p:txBody>
          <a:bodyPr wrap="square" lIns="0" tIns="0" rIns="0" bIns="0" anchor="t">
            <a:noAutofit/>
          </a:bodyPr>
          <a:lstStyle/>
          <a:p>
            <a:pPr algn="l">
              <a:defRPr sz="2025" b="0">
                <a:solidFill>
                  <a:srgbClr val="182934"/>
                </a:solidFill>
                <a:latin typeface="Arial"/>
                <a:ea typeface="Arial"/>
                <a:cs typeface="Arial"/>
              </a:defRPr>
            </a:pPr>
            <a:r>
              <a:rPr sz="2025" b="0">
                <a:solidFill>
                  <a:srgbClr val="182934"/>
                </a:solidFill>
                <a:latin typeface="Arial"/>
                <a:ea typeface="Arial"/>
                <a:cs typeface="Arial"/>
              </a:rPr>
              <a:t>Newly synthesized metals</a:t>
            </a:r>
          </a:p>
          <a:p>
            <a:pPr algn="l">
              <a:defRPr sz="2025" b="0">
                <a:solidFill>
                  <a:srgbClr val="182934"/>
                </a:solidFill>
                <a:latin typeface="Arial"/>
                <a:ea typeface="Arial"/>
                <a:cs typeface="Arial"/>
              </a:defRPr>
            </a:pPr>
            <a:r>
              <a:rPr sz="2025" b="0">
                <a:solidFill>
                  <a:srgbClr val="182934"/>
                </a:solidFill>
                <a:latin typeface="Arial"/>
                <a:ea typeface="Arial"/>
                <a:cs typeface="Arial"/>
              </a:rPr>
              <a:t>from star formation</a:t>
            </a:r>
          </a:p>
        </p:txBody>
      </p:sp>
      <p:sp>
        <p:nvSpPr>
          <p:cNvPr id="17" name="Rectangle 16">
            <a:extLst>
              <a:ext uri="{FF2B5EF4-FFF2-40B4-BE49-F238E27FC236}">
                <a16:creationId xmlns:a16="http://schemas.microsoft.com/office/drawing/2014/main" id="{B556B7AA-2FFA-4C97-A721-8E617B37EACB}"/>
              </a:ext>
            </a:extLst>
          </p:cNvPr>
          <p:cNvSpPr>
            <a:spLocks noGrp="1"/>
          </p:cNvSpPr>
          <p:nvPr/>
        </p:nvSpPr>
        <p:spPr>
          <a:xfrm>
            <a:off x="6410325" y="3381375"/>
            <a:ext cx="5248275" cy="1600200"/>
          </a:xfrm>
          <a:prstGeom prst="rect">
            <a:avLst/>
          </a:prstGeom>
          <a:solidFill>
            <a:srgbClr val="EAF4F4"/>
          </a:solidFill>
          <a:ln w="0">
            <a:noFill/>
          </a:ln>
        </p:spPr>
        <p:txBody>
          <a:bodyPr/>
          <a:lstStyle/>
          <a:p>
            <a:endParaRPr lang="en-US"/>
          </a:p>
        </p:txBody>
      </p:sp>
      <p:sp>
        <p:nvSpPr>
          <p:cNvPr id="18" name="Rectangle 17">
            <a:extLst>
              <a:ext uri="{FF2B5EF4-FFF2-40B4-BE49-F238E27FC236}">
                <a16:creationId xmlns:a16="http://schemas.microsoft.com/office/drawing/2014/main" id="{ADA5392E-B707-4745-A086-D04F0DF548A6}"/>
              </a:ext>
            </a:extLst>
          </p:cNvPr>
          <p:cNvSpPr>
            <a:spLocks noGrp="1"/>
          </p:cNvSpPr>
          <p:nvPr/>
        </p:nvSpPr>
        <p:spPr>
          <a:xfrm>
            <a:off x="6638925" y="3581400"/>
            <a:ext cx="4762500" cy="419100"/>
          </a:xfrm>
          <a:prstGeom prst="rect">
            <a:avLst/>
          </a:prstGeom>
          <a:noFill/>
          <a:ln w="0">
            <a:noFill/>
          </a:ln>
        </p:spPr>
        <p:txBody>
          <a:bodyPr wrap="square" lIns="0" tIns="0" rIns="0" bIns="0" anchor="t">
            <a:noAutofit/>
          </a:bodyPr>
          <a:lstStyle/>
          <a:p>
            <a:pPr algn="l">
              <a:defRPr sz="2325" b="1">
                <a:solidFill>
                  <a:srgbClr val="007E87"/>
                </a:solidFill>
                <a:latin typeface="Arial"/>
                <a:ea typeface="Arial"/>
                <a:cs typeface="Arial"/>
              </a:defRPr>
            </a:pPr>
            <a:r>
              <a:rPr sz="2325" b="1">
                <a:solidFill>
                  <a:srgbClr val="007E87"/>
                </a:solidFill>
                <a:latin typeface="Arial"/>
                <a:ea typeface="Arial"/>
                <a:cs typeface="Arial"/>
              </a:rPr>
              <a:t>Dilution when ZΦ &lt; Z</a:t>
            </a:r>
          </a:p>
        </p:txBody>
      </p:sp>
      <p:sp>
        <p:nvSpPr>
          <p:cNvPr id="19" name="Rectangle 18">
            <a:extLst>
              <a:ext uri="{FF2B5EF4-FFF2-40B4-BE49-F238E27FC236}">
                <a16:creationId xmlns:a16="http://schemas.microsoft.com/office/drawing/2014/main" id="{28CD679B-71B3-406D-882A-0598795A8289}"/>
              </a:ext>
            </a:extLst>
          </p:cNvPr>
          <p:cNvSpPr>
            <a:spLocks noGrp="1"/>
          </p:cNvSpPr>
          <p:nvPr/>
        </p:nvSpPr>
        <p:spPr>
          <a:xfrm>
            <a:off x="6638925" y="4133850"/>
            <a:ext cx="4686300" cy="723900"/>
          </a:xfrm>
          <a:prstGeom prst="rect">
            <a:avLst/>
          </a:prstGeom>
          <a:noFill/>
          <a:ln w="0">
            <a:noFill/>
          </a:ln>
        </p:spPr>
        <p:txBody>
          <a:bodyPr wrap="square" lIns="0" tIns="0" rIns="0" bIns="0" anchor="t">
            <a:noAutofit/>
          </a:bodyPr>
          <a:lstStyle/>
          <a:p>
            <a:pPr algn="l">
              <a:defRPr sz="2025" b="0">
                <a:solidFill>
                  <a:srgbClr val="182934"/>
                </a:solidFill>
                <a:latin typeface="Arial"/>
                <a:ea typeface="Arial"/>
                <a:cs typeface="Arial"/>
              </a:defRPr>
            </a:pPr>
            <a:r>
              <a:rPr sz="2025" b="0">
                <a:solidFill>
                  <a:srgbClr val="182934"/>
                </a:solidFill>
                <a:latin typeface="Arial"/>
                <a:ea typeface="Arial"/>
                <a:cs typeface="Arial"/>
              </a:rPr>
              <a:t>Supply changes abundance</a:t>
            </a:r>
          </a:p>
          <a:p>
            <a:pPr algn="l">
              <a:defRPr sz="2025" b="0">
                <a:solidFill>
                  <a:srgbClr val="182934"/>
                </a:solidFill>
                <a:latin typeface="Arial"/>
                <a:ea typeface="Arial"/>
                <a:cs typeface="Arial"/>
              </a:defRPr>
            </a:pPr>
            <a:r>
              <a:rPr sz="2025" b="0">
                <a:solidFill>
                  <a:srgbClr val="182934"/>
                </a:solidFill>
                <a:latin typeface="Arial"/>
                <a:ea typeface="Arial"/>
                <a:cs typeface="Arial"/>
              </a:rPr>
              <a:t>as well as reservoir mass</a:t>
            </a:r>
          </a:p>
        </p:txBody>
      </p:sp>
      <p:sp>
        <p:nvSpPr>
          <p:cNvPr id="20" name="Rectangle 19">
            <a:extLst>
              <a:ext uri="{FF2B5EF4-FFF2-40B4-BE49-F238E27FC236}">
                <a16:creationId xmlns:a16="http://schemas.microsoft.com/office/drawing/2014/main" id="{5463B143-75AA-4817-9CF5-4A77A97CA75E}"/>
              </a:ext>
            </a:extLst>
          </p:cNvPr>
          <p:cNvSpPr>
            <a:spLocks noGrp="1"/>
          </p:cNvSpPr>
          <p:nvPr/>
        </p:nvSpPr>
        <p:spPr>
          <a:xfrm>
            <a:off x="533400" y="58197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Z is a linear abundance. Well-mixed removal cancels explicitly, but still changes the reservoir.</a:t>
            </a:r>
          </a:p>
        </p:txBody>
      </p:sp>
    </p:spTree>
    <p:extLst>
      <p:ext uri="{BB962C8B-B14F-4D97-AF65-F5344CB8AC3E}">
        <p14:creationId xmlns:p14="http://schemas.microsoft.com/office/powerpoint/2010/main" val="824421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21528DF5-EFA9-44A7-BD74-5EBE3ED13B25}"/>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THE RESOLVED REGULATOR</a:t>
            </a:r>
          </a:p>
        </p:txBody>
      </p:sp>
      <p:sp>
        <p:nvSpPr>
          <p:cNvPr id="2" name="Rectangle 1">
            <a:extLst>
              <a:ext uri="{FF2B5EF4-FFF2-40B4-BE49-F238E27FC236}">
                <a16:creationId xmlns:a16="http://schemas.microsoft.com/office/drawing/2014/main" id="{A38C6AAE-2AB3-4FFB-AFD2-0921CE497D96}"/>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The instantaneous target abundance</a:t>
            </a:r>
          </a:p>
        </p:txBody>
      </p:sp>
      <p:sp>
        <p:nvSpPr>
          <p:cNvPr id="3" name="Rectangle 2">
            <a:extLst>
              <a:ext uri="{FF2B5EF4-FFF2-40B4-BE49-F238E27FC236}">
                <a16:creationId xmlns:a16="http://schemas.microsoft.com/office/drawing/2014/main" id="{6E6015E0-B988-4474-B271-DFAC80696C0A}"/>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47F01EE9-E294-46D3-84BF-DA0D2CC26345}"/>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ABCE4B63-359E-4547-9581-CB58D1FDB82E}"/>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22</a:t>
            </a:r>
          </a:p>
        </p:txBody>
      </p:sp>
      <p:sp>
        <p:nvSpPr>
          <p:cNvPr id="6" name="Rectangle 5">
            <a:extLst>
              <a:ext uri="{FF2B5EF4-FFF2-40B4-BE49-F238E27FC236}">
                <a16:creationId xmlns:a16="http://schemas.microsoft.com/office/drawing/2014/main" id="{74CCC48A-0E21-42FB-A348-91673DD4BC50}"/>
              </a:ext>
            </a:extLst>
          </p:cNvPr>
          <p:cNvSpPr>
            <a:spLocks noGrp="1"/>
          </p:cNvSpPr>
          <p:nvPr/>
        </p:nvSpPr>
        <p:spPr>
          <a:xfrm>
            <a:off x="3588972" y="1704975"/>
            <a:ext cx="294132" cy="670560"/>
          </a:xfrm>
          <a:prstGeom prst="rect">
            <a:avLst/>
          </a:prstGeom>
          <a:noFill/>
          <a:ln w="0">
            <a:noFill/>
          </a:ln>
        </p:spPr>
        <p:txBody>
          <a:bodyPr wrap="none" lIns="0" tIns="0" rIns="0" bIns="0" anchor="t">
            <a:noAutofit/>
          </a:bodyPr>
          <a:lstStyle/>
          <a:p>
            <a:pPr algn="l">
              <a:defRPr sz="3300" b="0">
                <a:solidFill>
                  <a:srgbClr val="182934"/>
                </a:solidFill>
                <a:latin typeface="Arial"/>
                <a:ea typeface="Arial"/>
                <a:cs typeface="Arial"/>
              </a:defRPr>
            </a:pPr>
            <a:r>
              <a:rPr sz="3300" b="0">
                <a:solidFill>
                  <a:srgbClr val="182934"/>
                </a:solidFill>
                <a:latin typeface="Arial"/>
                <a:ea typeface="Arial"/>
                <a:cs typeface="Arial"/>
              </a:rPr>
              <a:t>Z</a:t>
            </a:r>
          </a:p>
        </p:txBody>
      </p:sp>
      <p:sp>
        <p:nvSpPr>
          <p:cNvPr id="7" name="Rectangle 6">
            <a:extLst>
              <a:ext uri="{FF2B5EF4-FFF2-40B4-BE49-F238E27FC236}">
                <a16:creationId xmlns:a16="http://schemas.microsoft.com/office/drawing/2014/main" id="{149EE2B7-CC0B-47D0-8971-A2D16199A44B}"/>
              </a:ext>
            </a:extLst>
          </p:cNvPr>
          <p:cNvSpPr>
            <a:spLocks noGrp="1"/>
          </p:cNvSpPr>
          <p:nvPr/>
        </p:nvSpPr>
        <p:spPr>
          <a:xfrm>
            <a:off x="3845004" y="1642110"/>
            <a:ext cx="180213" cy="670560"/>
          </a:xfrm>
          <a:prstGeom prst="rect">
            <a:avLst/>
          </a:prstGeom>
          <a:noFill/>
          <a:ln w="0">
            <a:noFill/>
          </a:ln>
        </p:spPr>
        <p:txBody>
          <a:bodyPr wrap="none" lIns="0" tIns="0" rIns="0" bIns="0" anchor="t">
            <a:noAutofit/>
          </a:bodyPr>
          <a:lstStyle/>
          <a:p>
            <a:pPr algn="l">
              <a:defRPr sz="2013" b="0">
                <a:solidFill>
                  <a:srgbClr val="182934"/>
                </a:solidFill>
                <a:latin typeface="Arial"/>
                <a:ea typeface="Arial"/>
                <a:cs typeface="Arial"/>
              </a:defRPr>
            </a:pPr>
            <a:r>
              <a:rPr sz="2013" b="0">
                <a:solidFill>
                  <a:srgbClr val="182934"/>
                </a:solidFill>
                <a:latin typeface="Arial"/>
                <a:ea typeface="Arial"/>
                <a:cs typeface="Arial"/>
              </a:rPr>
              <a:t>†</a:t>
            </a:r>
          </a:p>
        </p:txBody>
      </p:sp>
      <p:sp>
        <p:nvSpPr>
          <p:cNvPr id="8" name="Rectangle 7">
            <a:extLst>
              <a:ext uri="{FF2B5EF4-FFF2-40B4-BE49-F238E27FC236}">
                <a16:creationId xmlns:a16="http://schemas.microsoft.com/office/drawing/2014/main" id="{8368B96C-DF1E-47C7-982A-C50EE8C694A0}"/>
              </a:ext>
            </a:extLst>
          </p:cNvPr>
          <p:cNvSpPr>
            <a:spLocks noGrp="1"/>
          </p:cNvSpPr>
          <p:nvPr/>
        </p:nvSpPr>
        <p:spPr>
          <a:xfrm>
            <a:off x="4103513" y="1704975"/>
            <a:ext cx="655320" cy="670560"/>
          </a:xfrm>
          <a:prstGeom prst="rect">
            <a:avLst/>
          </a:prstGeom>
          <a:noFill/>
          <a:ln w="0">
            <a:noFill/>
          </a:ln>
        </p:spPr>
        <p:txBody>
          <a:bodyPr wrap="none" lIns="0" tIns="0" rIns="0" bIns="0" anchor="t">
            <a:noAutofit/>
          </a:bodyPr>
          <a:lstStyle/>
          <a:p>
            <a:pPr algn="l">
              <a:defRPr sz="3300" b="0">
                <a:solidFill>
                  <a:srgbClr val="182934"/>
                </a:solidFill>
                <a:latin typeface="Arial"/>
                <a:ea typeface="Arial"/>
                <a:cs typeface="Arial"/>
              </a:defRPr>
            </a:pPr>
            <a:r>
              <a:rPr sz="3300" b="0">
                <a:solidFill>
                  <a:srgbClr val="182934"/>
                </a:solidFill>
                <a:latin typeface="Arial"/>
                <a:ea typeface="Arial"/>
                <a:cs typeface="Arial"/>
              </a:rPr>
              <a:t>= Z</a:t>
            </a:r>
          </a:p>
        </p:txBody>
      </p:sp>
      <p:sp>
        <p:nvSpPr>
          <p:cNvPr id="9" name="Rectangle 8">
            <a:extLst>
              <a:ext uri="{FF2B5EF4-FFF2-40B4-BE49-F238E27FC236}">
                <a16:creationId xmlns:a16="http://schemas.microsoft.com/office/drawing/2014/main" id="{A6CB15D0-E7F1-4BD1-888D-6123D28A8F01}"/>
              </a:ext>
            </a:extLst>
          </p:cNvPr>
          <p:cNvSpPr>
            <a:spLocks noGrp="1"/>
          </p:cNvSpPr>
          <p:nvPr/>
        </p:nvSpPr>
        <p:spPr>
          <a:xfrm>
            <a:off x="4720733" y="1880997"/>
            <a:ext cx="241935" cy="670560"/>
          </a:xfrm>
          <a:prstGeom prst="rect">
            <a:avLst/>
          </a:prstGeom>
          <a:noFill/>
          <a:ln w="0">
            <a:noFill/>
          </a:ln>
        </p:spPr>
        <p:txBody>
          <a:bodyPr wrap="none" lIns="0" tIns="0" rIns="0" bIns="0" anchor="t">
            <a:noAutofit/>
          </a:bodyPr>
          <a:lstStyle/>
          <a:p>
            <a:pPr algn="l">
              <a:defRPr sz="2013" b="0">
                <a:solidFill>
                  <a:srgbClr val="182934"/>
                </a:solidFill>
                <a:latin typeface="Arial"/>
                <a:ea typeface="Arial"/>
                <a:cs typeface="Arial"/>
              </a:defRPr>
            </a:pPr>
            <a:r>
              <a:rPr sz="2013" b="0">
                <a:solidFill>
                  <a:srgbClr val="182934"/>
                </a:solidFill>
                <a:latin typeface="Arial"/>
                <a:ea typeface="Arial"/>
                <a:cs typeface="Arial"/>
              </a:rPr>
              <a:t>Φ</a:t>
            </a:r>
          </a:p>
        </p:txBody>
      </p:sp>
      <p:sp>
        <p:nvSpPr>
          <p:cNvPr id="10" name="Rectangle 9">
            <a:extLst>
              <a:ext uri="{FF2B5EF4-FFF2-40B4-BE49-F238E27FC236}">
                <a16:creationId xmlns:a16="http://schemas.microsoft.com/office/drawing/2014/main" id="{0221F82D-7E26-483F-BBC2-754B2B3D88AA}"/>
              </a:ext>
            </a:extLst>
          </p:cNvPr>
          <p:cNvSpPr>
            <a:spLocks noGrp="1"/>
          </p:cNvSpPr>
          <p:nvPr/>
        </p:nvSpPr>
        <p:spPr>
          <a:xfrm>
            <a:off x="5040963" y="1704975"/>
            <a:ext cx="2276856" cy="670560"/>
          </a:xfrm>
          <a:prstGeom prst="rect">
            <a:avLst/>
          </a:prstGeom>
          <a:noFill/>
          <a:ln w="0">
            <a:noFill/>
          </a:ln>
        </p:spPr>
        <p:txBody>
          <a:bodyPr wrap="none" lIns="0" tIns="0" rIns="0" bIns="0" anchor="t">
            <a:noAutofit/>
          </a:bodyPr>
          <a:lstStyle/>
          <a:p>
            <a:pPr algn="l">
              <a:defRPr sz="3300" b="0">
                <a:solidFill>
                  <a:srgbClr val="182934"/>
                </a:solidFill>
                <a:latin typeface="Arial"/>
                <a:ea typeface="Arial"/>
                <a:cs typeface="Arial"/>
              </a:defRPr>
            </a:pPr>
            <a:r>
              <a:rPr sz="3300" b="0">
                <a:solidFill>
                  <a:srgbClr val="182934"/>
                </a:solidFill>
                <a:latin typeface="Arial"/>
                <a:ea typeface="Arial"/>
                <a:cs typeface="Arial"/>
              </a:rPr>
              <a:t>+ y(1 − R) Σ</a:t>
            </a:r>
          </a:p>
        </p:txBody>
      </p:sp>
      <p:sp>
        <p:nvSpPr>
          <p:cNvPr id="11" name="Rectangle 10">
            <a:extLst>
              <a:ext uri="{FF2B5EF4-FFF2-40B4-BE49-F238E27FC236}">
                <a16:creationId xmlns:a16="http://schemas.microsoft.com/office/drawing/2014/main" id="{9D030970-D928-4F56-91D3-6201FA0EB344}"/>
              </a:ext>
            </a:extLst>
          </p:cNvPr>
          <p:cNvSpPr>
            <a:spLocks noGrp="1"/>
          </p:cNvSpPr>
          <p:nvPr/>
        </p:nvSpPr>
        <p:spPr>
          <a:xfrm>
            <a:off x="7279719" y="1880997"/>
            <a:ext cx="549211" cy="670560"/>
          </a:xfrm>
          <a:prstGeom prst="rect">
            <a:avLst/>
          </a:prstGeom>
          <a:noFill/>
          <a:ln w="0">
            <a:noFill/>
          </a:ln>
        </p:spPr>
        <p:txBody>
          <a:bodyPr wrap="none" lIns="0" tIns="0" rIns="0" bIns="0" anchor="t">
            <a:noAutofit/>
          </a:bodyPr>
          <a:lstStyle/>
          <a:p>
            <a:pPr algn="l">
              <a:defRPr sz="2013" b="0">
                <a:solidFill>
                  <a:srgbClr val="182934"/>
                </a:solidFill>
                <a:latin typeface="Arial"/>
                <a:ea typeface="Arial"/>
                <a:cs typeface="Arial"/>
              </a:defRPr>
            </a:pPr>
            <a:r>
              <a:rPr sz="2013" b="0">
                <a:solidFill>
                  <a:srgbClr val="182934"/>
                </a:solidFill>
                <a:latin typeface="Arial"/>
                <a:ea typeface="Arial"/>
                <a:cs typeface="Arial"/>
              </a:rPr>
              <a:t>SFR</a:t>
            </a:r>
          </a:p>
        </p:txBody>
      </p:sp>
      <p:sp>
        <p:nvSpPr>
          <p:cNvPr id="12" name="Rectangle 11">
            <a:extLst>
              <a:ext uri="{FF2B5EF4-FFF2-40B4-BE49-F238E27FC236}">
                <a16:creationId xmlns:a16="http://schemas.microsoft.com/office/drawing/2014/main" id="{0B0DF574-ED6C-4868-A5C5-129029B560B9}"/>
              </a:ext>
            </a:extLst>
          </p:cNvPr>
          <p:cNvSpPr>
            <a:spLocks noGrp="1"/>
          </p:cNvSpPr>
          <p:nvPr/>
        </p:nvSpPr>
        <p:spPr>
          <a:xfrm>
            <a:off x="7907226" y="1704975"/>
            <a:ext cx="530066" cy="670560"/>
          </a:xfrm>
          <a:prstGeom prst="rect">
            <a:avLst/>
          </a:prstGeom>
          <a:noFill/>
          <a:ln w="0">
            <a:noFill/>
          </a:ln>
        </p:spPr>
        <p:txBody>
          <a:bodyPr wrap="none" lIns="0" tIns="0" rIns="0" bIns="0" anchor="t">
            <a:noAutofit/>
          </a:bodyPr>
          <a:lstStyle/>
          <a:p>
            <a:pPr algn="l">
              <a:defRPr sz="3300" b="0">
                <a:solidFill>
                  <a:srgbClr val="182934"/>
                </a:solidFill>
                <a:latin typeface="Arial"/>
                <a:ea typeface="Arial"/>
                <a:cs typeface="Arial"/>
              </a:defRPr>
            </a:pPr>
            <a:r>
              <a:rPr sz="3300" b="0">
                <a:solidFill>
                  <a:srgbClr val="182934"/>
                </a:solidFill>
                <a:latin typeface="Arial"/>
                <a:ea typeface="Arial"/>
                <a:cs typeface="Arial"/>
              </a:rPr>
              <a:t>/ Σ</a:t>
            </a:r>
          </a:p>
        </p:txBody>
      </p:sp>
      <p:sp>
        <p:nvSpPr>
          <p:cNvPr id="13" name="Rectangle 12">
            <a:extLst>
              <a:ext uri="{FF2B5EF4-FFF2-40B4-BE49-F238E27FC236}">
                <a16:creationId xmlns:a16="http://schemas.microsoft.com/office/drawing/2014/main" id="{FAE2795E-2E2F-41C6-B179-0F2E621EA699}"/>
              </a:ext>
            </a:extLst>
          </p:cNvPr>
          <p:cNvSpPr>
            <a:spLocks noGrp="1"/>
          </p:cNvSpPr>
          <p:nvPr/>
        </p:nvSpPr>
        <p:spPr>
          <a:xfrm>
            <a:off x="8399193" y="1880997"/>
            <a:ext cx="241935" cy="670560"/>
          </a:xfrm>
          <a:prstGeom prst="rect">
            <a:avLst/>
          </a:prstGeom>
          <a:noFill/>
          <a:ln w="0">
            <a:noFill/>
          </a:ln>
        </p:spPr>
        <p:txBody>
          <a:bodyPr wrap="none" lIns="0" tIns="0" rIns="0" bIns="0" anchor="t">
            <a:noAutofit/>
          </a:bodyPr>
          <a:lstStyle/>
          <a:p>
            <a:pPr algn="l">
              <a:defRPr sz="2013" b="0">
                <a:solidFill>
                  <a:srgbClr val="182934"/>
                </a:solidFill>
                <a:latin typeface="Arial"/>
                <a:ea typeface="Arial"/>
                <a:cs typeface="Arial"/>
              </a:defRPr>
            </a:pPr>
            <a:r>
              <a:rPr sz="2013" b="0">
                <a:solidFill>
                  <a:srgbClr val="182934"/>
                </a:solidFill>
                <a:latin typeface="Arial"/>
                <a:ea typeface="Arial"/>
                <a:cs typeface="Arial"/>
              </a:rPr>
              <a:t>Φ</a:t>
            </a:r>
          </a:p>
        </p:txBody>
      </p:sp>
      <p:sp>
        <p:nvSpPr>
          <p:cNvPr id="14" name="Rectangle 13">
            <a:extLst>
              <a:ext uri="{FF2B5EF4-FFF2-40B4-BE49-F238E27FC236}">
                <a16:creationId xmlns:a16="http://schemas.microsoft.com/office/drawing/2014/main" id="{BC513A6B-664A-461C-873A-8F56C5249F0F}"/>
              </a:ext>
            </a:extLst>
          </p:cNvPr>
          <p:cNvSpPr>
            <a:spLocks noGrp="1"/>
          </p:cNvSpPr>
          <p:nvPr/>
        </p:nvSpPr>
        <p:spPr>
          <a:xfrm>
            <a:off x="2933700" y="2695575"/>
            <a:ext cx="192405" cy="624840"/>
          </a:xfrm>
          <a:prstGeom prst="rect">
            <a:avLst/>
          </a:prstGeom>
          <a:noFill/>
          <a:ln w="0">
            <a:noFill/>
          </a:ln>
        </p:spPr>
        <p:txBody>
          <a:bodyPr wrap="none" lIns="0" tIns="0" rIns="0" bIns="0" anchor="t">
            <a:noAutofit/>
          </a:bodyPr>
          <a:lstStyle/>
          <a:p>
            <a:pPr algn="l">
              <a:defRPr sz="3075" b="0">
                <a:solidFill>
                  <a:srgbClr val="182934"/>
                </a:solidFill>
                <a:latin typeface="Arial"/>
                <a:ea typeface="Arial"/>
                <a:cs typeface="Arial"/>
              </a:defRPr>
            </a:pPr>
            <a:r>
              <a:rPr sz="3075" b="0">
                <a:solidFill>
                  <a:srgbClr val="182934"/>
                </a:solidFill>
                <a:latin typeface="Arial"/>
                <a:ea typeface="Arial"/>
                <a:cs typeface="Arial"/>
              </a:rPr>
              <a:t>τ</a:t>
            </a:r>
          </a:p>
        </p:txBody>
      </p:sp>
      <p:sp>
        <p:nvSpPr>
          <p:cNvPr id="15" name="Rectangle 14">
            <a:extLst>
              <a:ext uri="{FF2B5EF4-FFF2-40B4-BE49-F238E27FC236}">
                <a16:creationId xmlns:a16="http://schemas.microsoft.com/office/drawing/2014/main" id="{6DD562C8-1D19-4627-AC01-EC690522A528}"/>
              </a:ext>
            </a:extLst>
          </p:cNvPr>
          <p:cNvSpPr>
            <a:spLocks noGrp="1"/>
          </p:cNvSpPr>
          <p:nvPr/>
        </p:nvSpPr>
        <p:spPr>
          <a:xfrm>
            <a:off x="3088005" y="2859596"/>
            <a:ext cx="228124" cy="624840"/>
          </a:xfrm>
          <a:prstGeom prst="rect">
            <a:avLst/>
          </a:prstGeom>
          <a:noFill/>
          <a:ln w="0">
            <a:noFill/>
          </a:ln>
        </p:spPr>
        <p:txBody>
          <a:bodyPr wrap="none" lIns="0" tIns="0" rIns="0" bIns="0" anchor="t">
            <a:noAutofit/>
          </a:bodyPr>
          <a:lstStyle/>
          <a:p>
            <a:pPr algn="l">
              <a:defRPr sz="1876" b="0">
                <a:solidFill>
                  <a:srgbClr val="182934"/>
                </a:solidFill>
                <a:latin typeface="Arial"/>
                <a:ea typeface="Arial"/>
                <a:cs typeface="Arial"/>
              </a:defRPr>
            </a:pPr>
            <a:r>
              <a:rPr sz="1876" b="0">
                <a:solidFill>
                  <a:srgbClr val="182934"/>
                </a:solidFill>
                <a:latin typeface="Arial"/>
                <a:ea typeface="Arial"/>
                <a:cs typeface="Arial"/>
              </a:rPr>
              <a:t>Φ</a:t>
            </a:r>
          </a:p>
        </p:txBody>
      </p:sp>
      <p:sp>
        <p:nvSpPr>
          <p:cNvPr id="16" name="Rectangle 15">
            <a:extLst>
              <a:ext uri="{FF2B5EF4-FFF2-40B4-BE49-F238E27FC236}">
                <a16:creationId xmlns:a16="http://schemas.microsoft.com/office/drawing/2014/main" id="{9F4A8F15-76A2-4389-A881-0A299AFF4692}"/>
              </a:ext>
            </a:extLst>
          </p:cNvPr>
          <p:cNvSpPr>
            <a:spLocks noGrp="1"/>
          </p:cNvSpPr>
          <p:nvPr/>
        </p:nvSpPr>
        <p:spPr>
          <a:xfrm>
            <a:off x="3386519" y="2695575"/>
            <a:ext cx="616077" cy="624840"/>
          </a:xfrm>
          <a:prstGeom prst="rect">
            <a:avLst/>
          </a:prstGeom>
          <a:noFill/>
          <a:ln w="0">
            <a:noFill/>
          </a:ln>
        </p:spPr>
        <p:txBody>
          <a:bodyPr wrap="none" lIns="0" tIns="0" rIns="0" bIns="0" anchor="t">
            <a:noAutofit/>
          </a:bodyPr>
          <a:lstStyle/>
          <a:p>
            <a:pPr algn="l">
              <a:defRPr sz="3075" b="0">
                <a:solidFill>
                  <a:srgbClr val="182934"/>
                </a:solidFill>
                <a:latin typeface="Arial"/>
                <a:ea typeface="Arial"/>
                <a:cs typeface="Arial"/>
              </a:defRPr>
            </a:pPr>
            <a:r>
              <a:rPr sz="3075" b="0">
                <a:solidFill>
                  <a:srgbClr val="182934"/>
                </a:solidFill>
                <a:latin typeface="Arial"/>
                <a:ea typeface="Arial"/>
                <a:cs typeface="Arial"/>
              </a:rPr>
              <a:t>= Σ</a:t>
            </a:r>
          </a:p>
        </p:txBody>
      </p:sp>
      <p:sp>
        <p:nvSpPr>
          <p:cNvPr id="17" name="Rectangle 16">
            <a:extLst>
              <a:ext uri="{FF2B5EF4-FFF2-40B4-BE49-F238E27FC236}">
                <a16:creationId xmlns:a16="http://schemas.microsoft.com/office/drawing/2014/main" id="{9BC6F7E1-83C3-4114-88EA-5ABF145279F1}"/>
              </a:ext>
            </a:extLst>
          </p:cNvPr>
          <p:cNvSpPr>
            <a:spLocks noGrp="1"/>
          </p:cNvSpPr>
          <p:nvPr/>
        </p:nvSpPr>
        <p:spPr>
          <a:xfrm>
            <a:off x="3964496" y="2859596"/>
            <a:ext cx="170497" cy="624840"/>
          </a:xfrm>
          <a:prstGeom prst="rect">
            <a:avLst/>
          </a:prstGeom>
          <a:noFill/>
          <a:ln w="0">
            <a:noFill/>
          </a:ln>
        </p:spPr>
        <p:txBody>
          <a:bodyPr wrap="none" lIns="0" tIns="0" rIns="0" bIns="0" anchor="t">
            <a:noAutofit/>
          </a:bodyPr>
          <a:lstStyle/>
          <a:p>
            <a:pPr algn="l">
              <a:defRPr sz="1876" b="0">
                <a:solidFill>
                  <a:srgbClr val="182934"/>
                </a:solidFill>
                <a:latin typeface="Arial"/>
                <a:ea typeface="Arial"/>
                <a:cs typeface="Arial"/>
              </a:defRPr>
            </a:pPr>
            <a:r>
              <a:rPr sz="1876" b="0">
                <a:solidFill>
                  <a:srgbClr val="182934"/>
                </a:solidFill>
                <a:latin typeface="Arial"/>
                <a:ea typeface="Arial"/>
                <a:cs typeface="Arial"/>
              </a:rPr>
              <a:t>g</a:t>
            </a:r>
          </a:p>
        </p:txBody>
      </p:sp>
      <p:sp>
        <p:nvSpPr>
          <p:cNvPr id="18" name="Rectangle 17">
            <a:extLst>
              <a:ext uri="{FF2B5EF4-FFF2-40B4-BE49-F238E27FC236}">
                <a16:creationId xmlns:a16="http://schemas.microsoft.com/office/drawing/2014/main" id="{4A133966-FD0B-4EB1-B253-08DA108D954B}"/>
              </a:ext>
            </a:extLst>
          </p:cNvPr>
          <p:cNvSpPr>
            <a:spLocks noGrp="1"/>
          </p:cNvSpPr>
          <p:nvPr/>
        </p:nvSpPr>
        <p:spPr>
          <a:xfrm>
            <a:off x="4205383" y="2695575"/>
            <a:ext cx="496538" cy="624840"/>
          </a:xfrm>
          <a:prstGeom prst="rect">
            <a:avLst/>
          </a:prstGeom>
          <a:noFill/>
          <a:ln w="0">
            <a:noFill/>
          </a:ln>
        </p:spPr>
        <p:txBody>
          <a:bodyPr wrap="none" lIns="0" tIns="0" rIns="0" bIns="0" anchor="t">
            <a:noAutofit/>
          </a:bodyPr>
          <a:lstStyle/>
          <a:p>
            <a:pPr algn="l">
              <a:defRPr sz="3075" b="0">
                <a:solidFill>
                  <a:srgbClr val="182934"/>
                </a:solidFill>
                <a:latin typeface="Arial"/>
                <a:ea typeface="Arial"/>
                <a:cs typeface="Arial"/>
              </a:defRPr>
            </a:pPr>
            <a:r>
              <a:rPr sz="3075" b="0">
                <a:solidFill>
                  <a:srgbClr val="182934"/>
                </a:solidFill>
                <a:latin typeface="Arial"/>
                <a:ea typeface="Arial"/>
                <a:cs typeface="Arial"/>
              </a:rPr>
              <a:t>/ Σ</a:t>
            </a:r>
          </a:p>
        </p:txBody>
      </p:sp>
      <p:sp>
        <p:nvSpPr>
          <p:cNvPr id="19" name="Rectangle 18">
            <a:extLst>
              <a:ext uri="{FF2B5EF4-FFF2-40B4-BE49-F238E27FC236}">
                <a16:creationId xmlns:a16="http://schemas.microsoft.com/office/drawing/2014/main" id="{76DD3386-22A8-454E-BBFC-93207675CF3E}"/>
              </a:ext>
            </a:extLst>
          </p:cNvPr>
          <p:cNvSpPr>
            <a:spLocks noGrp="1"/>
          </p:cNvSpPr>
          <p:nvPr/>
        </p:nvSpPr>
        <p:spPr>
          <a:xfrm>
            <a:off x="4663821" y="2859596"/>
            <a:ext cx="228124" cy="624840"/>
          </a:xfrm>
          <a:prstGeom prst="rect">
            <a:avLst/>
          </a:prstGeom>
          <a:noFill/>
          <a:ln w="0">
            <a:noFill/>
          </a:ln>
        </p:spPr>
        <p:txBody>
          <a:bodyPr wrap="none" lIns="0" tIns="0" rIns="0" bIns="0" anchor="t">
            <a:noAutofit/>
          </a:bodyPr>
          <a:lstStyle/>
          <a:p>
            <a:pPr algn="l">
              <a:defRPr sz="1876" b="0">
                <a:solidFill>
                  <a:srgbClr val="182934"/>
                </a:solidFill>
                <a:latin typeface="Arial"/>
                <a:ea typeface="Arial"/>
                <a:cs typeface="Arial"/>
              </a:defRPr>
            </a:pPr>
            <a:r>
              <a:rPr sz="1876" b="0">
                <a:solidFill>
                  <a:srgbClr val="182934"/>
                </a:solidFill>
                <a:latin typeface="Arial"/>
                <a:ea typeface="Arial"/>
                <a:cs typeface="Arial"/>
              </a:rPr>
              <a:t>Φ</a:t>
            </a:r>
          </a:p>
        </p:txBody>
      </p:sp>
      <p:sp>
        <p:nvSpPr>
          <p:cNvPr id="20" name="Rectangle 19">
            <a:extLst>
              <a:ext uri="{FF2B5EF4-FFF2-40B4-BE49-F238E27FC236}">
                <a16:creationId xmlns:a16="http://schemas.microsoft.com/office/drawing/2014/main" id="{BDBE0A37-1FF3-474E-8957-1D6E1989C817}"/>
              </a:ext>
            </a:extLst>
          </p:cNvPr>
          <p:cNvSpPr>
            <a:spLocks noGrp="1"/>
          </p:cNvSpPr>
          <p:nvPr/>
        </p:nvSpPr>
        <p:spPr>
          <a:xfrm>
            <a:off x="5938838" y="2695575"/>
            <a:ext cx="1741741" cy="624840"/>
          </a:xfrm>
          <a:prstGeom prst="rect">
            <a:avLst/>
          </a:prstGeom>
          <a:noFill/>
          <a:ln w="0">
            <a:noFill/>
          </a:ln>
        </p:spPr>
        <p:txBody>
          <a:bodyPr wrap="none" lIns="0" tIns="0" rIns="0" bIns="0" anchor="t">
            <a:noAutofit/>
          </a:bodyPr>
          <a:lstStyle/>
          <a:p>
            <a:pPr algn="l">
              <a:defRPr sz="3075" b="0">
                <a:solidFill>
                  <a:srgbClr val="182934"/>
                </a:solidFill>
                <a:latin typeface="Arial"/>
                <a:ea typeface="Arial"/>
                <a:cs typeface="Arial"/>
              </a:defRPr>
            </a:pPr>
            <a:r>
              <a:rPr sz="3075" b="0">
                <a:solidFill>
                  <a:srgbClr val="182934"/>
                </a:solidFill>
                <a:latin typeface="Arial"/>
                <a:ea typeface="Arial"/>
                <a:cs typeface="Arial"/>
              </a:rPr>
              <a:t>dZ/dt = (Z</a:t>
            </a:r>
          </a:p>
        </p:txBody>
      </p:sp>
      <p:sp>
        <p:nvSpPr>
          <p:cNvPr id="21" name="Rectangle 20">
            <a:extLst>
              <a:ext uri="{FF2B5EF4-FFF2-40B4-BE49-F238E27FC236}">
                <a16:creationId xmlns:a16="http://schemas.microsoft.com/office/drawing/2014/main" id="{6361FB7B-BC2A-4D39-9B5D-B2BE350F86CB}"/>
              </a:ext>
            </a:extLst>
          </p:cNvPr>
          <p:cNvSpPr>
            <a:spLocks noGrp="1"/>
          </p:cNvSpPr>
          <p:nvPr/>
        </p:nvSpPr>
        <p:spPr>
          <a:xfrm>
            <a:off x="7642479" y="2636996"/>
            <a:ext cx="170497" cy="624840"/>
          </a:xfrm>
          <a:prstGeom prst="rect">
            <a:avLst/>
          </a:prstGeom>
          <a:noFill/>
          <a:ln w="0">
            <a:noFill/>
          </a:ln>
        </p:spPr>
        <p:txBody>
          <a:bodyPr wrap="none" lIns="0" tIns="0" rIns="0" bIns="0" anchor="t">
            <a:noAutofit/>
          </a:bodyPr>
          <a:lstStyle/>
          <a:p>
            <a:pPr algn="l">
              <a:defRPr sz="1876" b="0">
                <a:solidFill>
                  <a:srgbClr val="182934"/>
                </a:solidFill>
                <a:latin typeface="Arial"/>
                <a:ea typeface="Arial"/>
                <a:cs typeface="Arial"/>
              </a:defRPr>
            </a:pPr>
            <a:r>
              <a:rPr sz="1876" b="0">
                <a:solidFill>
                  <a:srgbClr val="182934"/>
                </a:solidFill>
                <a:latin typeface="Arial"/>
                <a:ea typeface="Arial"/>
                <a:cs typeface="Arial"/>
              </a:rPr>
              <a:t>†</a:t>
            </a:r>
          </a:p>
        </p:txBody>
      </p:sp>
      <p:sp>
        <p:nvSpPr>
          <p:cNvPr id="22" name="Rectangle 21">
            <a:extLst>
              <a:ext uri="{FF2B5EF4-FFF2-40B4-BE49-F238E27FC236}">
                <a16:creationId xmlns:a16="http://schemas.microsoft.com/office/drawing/2014/main" id="{486FD616-C014-4C2F-95F7-0E0015290125}"/>
              </a:ext>
            </a:extLst>
          </p:cNvPr>
          <p:cNvSpPr>
            <a:spLocks noGrp="1"/>
          </p:cNvSpPr>
          <p:nvPr/>
        </p:nvSpPr>
        <p:spPr>
          <a:xfrm>
            <a:off x="7883366" y="2695575"/>
            <a:ext cx="1223010" cy="624840"/>
          </a:xfrm>
          <a:prstGeom prst="rect">
            <a:avLst/>
          </a:prstGeom>
          <a:noFill/>
          <a:ln w="0">
            <a:noFill/>
          </a:ln>
        </p:spPr>
        <p:txBody>
          <a:bodyPr wrap="none" lIns="0" tIns="0" rIns="0" bIns="0" anchor="t">
            <a:noAutofit/>
          </a:bodyPr>
          <a:lstStyle/>
          <a:p>
            <a:pPr algn="l">
              <a:defRPr sz="3075" b="0">
                <a:solidFill>
                  <a:srgbClr val="182934"/>
                </a:solidFill>
                <a:latin typeface="Arial"/>
                <a:ea typeface="Arial"/>
                <a:cs typeface="Arial"/>
              </a:defRPr>
            </a:pPr>
            <a:r>
              <a:rPr sz="3075" b="0">
                <a:solidFill>
                  <a:srgbClr val="182934"/>
                </a:solidFill>
                <a:latin typeface="Arial"/>
                <a:ea typeface="Arial"/>
                <a:cs typeface="Arial"/>
              </a:rPr>
              <a:t>− Z) / τ</a:t>
            </a:r>
          </a:p>
        </p:txBody>
      </p:sp>
      <p:sp>
        <p:nvSpPr>
          <p:cNvPr id="23" name="Rectangle 22">
            <a:extLst>
              <a:ext uri="{FF2B5EF4-FFF2-40B4-BE49-F238E27FC236}">
                <a16:creationId xmlns:a16="http://schemas.microsoft.com/office/drawing/2014/main" id="{C588C550-56A9-4F8E-B29F-F0D968B51459}"/>
              </a:ext>
            </a:extLst>
          </p:cNvPr>
          <p:cNvSpPr>
            <a:spLocks noGrp="1"/>
          </p:cNvSpPr>
          <p:nvPr/>
        </p:nvSpPr>
        <p:spPr>
          <a:xfrm>
            <a:off x="9068276" y="2859596"/>
            <a:ext cx="228124" cy="624840"/>
          </a:xfrm>
          <a:prstGeom prst="rect">
            <a:avLst/>
          </a:prstGeom>
          <a:noFill/>
          <a:ln w="0">
            <a:noFill/>
          </a:ln>
        </p:spPr>
        <p:txBody>
          <a:bodyPr wrap="none" lIns="0" tIns="0" rIns="0" bIns="0" anchor="t">
            <a:noAutofit/>
          </a:bodyPr>
          <a:lstStyle/>
          <a:p>
            <a:pPr algn="l">
              <a:defRPr sz="1876" b="0">
                <a:solidFill>
                  <a:srgbClr val="182934"/>
                </a:solidFill>
                <a:latin typeface="Arial"/>
                <a:ea typeface="Arial"/>
                <a:cs typeface="Arial"/>
              </a:defRPr>
            </a:pPr>
            <a:r>
              <a:rPr sz="1876" b="0">
                <a:solidFill>
                  <a:srgbClr val="182934"/>
                </a:solidFill>
                <a:latin typeface="Arial"/>
                <a:ea typeface="Arial"/>
                <a:cs typeface="Arial"/>
              </a:rPr>
              <a:t>Φ</a:t>
            </a:r>
          </a:p>
        </p:txBody>
      </p:sp>
      <p:sp>
        <p:nvSpPr>
          <p:cNvPr id="24" name="Rectangle 23">
            <a:extLst>
              <a:ext uri="{FF2B5EF4-FFF2-40B4-BE49-F238E27FC236}">
                <a16:creationId xmlns:a16="http://schemas.microsoft.com/office/drawing/2014/main" id="{63056E1C-D92B-40DF-8513-71003560E340}"/>
              </a:ext>
            </a:extLst>
          </p:cNvPr>
          <p:cNvSpPr>
            <a:spLocks noGrp="1"/>
          </p:cNvSpPr>
          <p:nvPr/>
        </p:nvSpPr>
        <p:spPr>
          <a:xfrm>
            <a:off x="533400" y="3762375"/>
            <a:ext cx="11125200" cy="1028700"/>
          </a:xfrm>
          <a:prstGeom prst="rect">
            <a:avLst/>
          </a:prstGeom>
          <a:solidFill>
            <a:srgbClr val="F2EDF3"/>
          </a:solidFill>
          <a:ln w="0">
            <a:noFill/>
          </a:ln>
        </p:spPr>
        <p:txBody>
          <a:bodyPr/>
          <a:lstStyle/>
          <a:p>
            <a:endParaRPr lang="en-US"/>
          </a:p>
        </p:txBody>
      </p:sp>
      <p:sp>
        <p:nvSpPr>
          <p:cNvPr id="25" name="Rectangle 24">
            <a:extLst>
              <a:ext uri="{FF2B5EF4-FFF2-40B4-BE49-F238E27FC236}">
                <a16:creationId xmlns:a16="http://schemas.microsoft.com/office/drawing/2014/main" id="{3C45DBBB-427D-48AE-8373-76E97C085864}"/>
              </a:ext>
            </a:extLst>
          </p:cNvPr>
          <p:cNvSpPr>
            <a:spLocks noGrp="1"/>
          </p:cNvSpPr>
          <p:nvPr/>
        </p:nvSpPr>
        <p:spPr>
          <a:xfrm>
            <a:off x="3273552" y="4057650"/>
            <a:ext cx="471773"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δZ</a:t>
            </a:r>
          </a:p>
        </p:txBody>
      </p:sp>
      <p:sp>
        <p:nvSpPr>
          <p:cNvPr id="26" name="Rectangle 25">
            <a:extLst>
              <a:ext uri="{FF2B5EF4-FFF2-40B4-BE49-F238E27FC236}">
                <a16:creationId xmlns:a16="http://schemas.microsoft.com/office/drawing/2014/main" id="{5FF7A44D-F37F-4BBC-9734-5AE8A75DCAF4}"/>
              </a:ext>
            </a:extLst>
          </p:cNvPr>
          <p:cNvSpPr>
            <a:spLocks noGrp="1"/>
          </p:cNvSpPr>
          <p:nvPr/>
        </p:nvSpPr>
        <p:spPr>
          <a:xfrm>
            <a:off x="3707225" y="4001929"/>
            <a:ext cx="164116"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a:t>
            </a:r>
          </a:p>
        </p:txBody>
      </p:sp>
      <p:sp>
        <p:nvSpPr>
          <p:cNvPr id="27" name="Rectangle 26">
            <a:extLst>
              <a:ext uri="{FF2B5EF4-FFF2-40B4-BE49-F238E27FC236}">
                <a16:creationId xmlns:a16="http://schemas.microsoft.com/office/drawing/2014/main" id="{482D34BD-52AF-41CC-B1D3-65F3D7C9B591}"/>
              </a:ext>
            </a:extLst>
          </p:cNvPr>
          <p:cNvSpPr>
            <a:spLocks noGrp="1"/>
          </p:cNvSpPr>
          <p:nvPr/>
        </p:nvSpPr>
        <p:spPr>
          <a:xfrm>
            <a:off x="3936492" y="4057650"/>
            <a:ext cx="708851"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 (Z</a:t>
            </a:r>
          </a:p>
        </p:txBody>
      </p:sp>
      <p:sp>
        <p:nvSpPr>
          <p:cNvPr id="28" name="Rectangle 27">
            <a:extLst>
              <a:ext uri="{FF2B5EF4-FFF2-40B4-BE49-F238E27FC236}">
                <a16:creationId xmlns:a16="http://schemas.microsoft.com/office/drawing/2014/main" id="{A9A866BE-E6B0-4468-A922-C02A1D8CE112}"/>
              </a:ext>
            </a:extLst>
          </p:cNvPr>
          <p:cNvSpPr>
            <a:spLocks noGrp="1"/>
          </p:cNvSpPr>
          <p:nvPr/>
        </p:nvSpPr>
        <p:spPr>
          <a:xfrm>
            <a:off x="4607243" y="4001929"/>
            <a:ext cx="164116"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a:t>
            </a:r>
          </a:p>
        </p:txBody>
      </p:sp>
      <p:sp>
        <p:nvSpPr>
          <p:cNvPr id="29" name="Rectangle 28">
            <a:extLst>
              <a:ext uri="{FF2B5EF4-FFF2-40B4-BE49-F238E27FC236}">
                <a16:creationId xmlns:a16="http://schemas.microsoft.com/office/drawing/2014/main" id="{74B6BF22-975B-4522-9E61-F8CCC147FC5B}"/>
              </a:ext>
            </a:extLst>
          </p:cNvPr>
          <p:cNvSpPr>
            <a:spLocks noGrp="1"/>
          </p:cNvSpPr>
          <p:nvPr/>
        </p:nvSpPr>
        <p:spPr>
          <a:xfrm>
            <a:off x="4836509" y="4057650"/>
            <a:ext cx="585121"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 Z</a:t>
            </a:r>
          </a:p>
        </p:txBody>
      </p:sp>
      <p:sp>
        <p:nvSpPr>
          <p:cNvPr id="30" name="Rectangle 29">
            <a:extLst>
              <a:ext uri="{FF2B5EF4-FFF2-40B4-BE49-F238E27FC236}">
                <a16:creationId xmlns:a16="http://schemas.microsoft.com/office/drawing/2014/main" id="{E218EA33-D5FB-40CA-8491-43D5F5FAF589}"/>
              </a:ext>
            </a:extLst>
          </p:cNvPr>
          <p:cNvSpPr>
            <a:spLocks noGrp="1"/>
          </p:cNvSpPr>
          <p:nvPr/>
        </p:nvSpPr>
        <p:spPr>
          <a:xfrm>
            <a:off x="5383530" y="4213670"/>
            <a:ext cx="218789"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Φ</a:t>
            </a:r>
          </a:p>
        </p:txBody>
      </p:sp>
      <p:sp>
        <p:nvSpPr>
          <p:cNvPr id="31" name="Rectangle 30">
            <a:extLst>
              <a:ext uri="{FF2B5EF4-FFF2-40B4-BE49-F238E27FC236}">
                <a16:creationId xmlns:a16="http://schemas.microsoft.com/office/drawing/2014/main" id="{22D3AA4C-9B0F-4890-A319-57EC9C5854E9}"/>
              </a:ext>
            </a:extLst>
          </p:cNvPr>
          <p:cNvSpPr>
            <a:spLocks noGrp="1"/>
          </p:cNvSpPr>
          <p:nvPr/>
        </p:nvSpPr>
        <p:spPr>
          <a:xfrm>
            <a:off x="5564219" y="4057650"/>
            <a:ext cx="1300163"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dirty="0">
                <a:solidFill>
                  <a:srgbClr val="85457F"/>
                </a:solidFill>
                <a:latin typeface="Arial"/>
                <a:ea typeface="Arial"/>
                <a:cs typeface="Arial"/>
              </a:rPr>
              <a:t>) [ </a:t>
            </a:r>
            <a:r>
              <a:rPr sz="2925" b="0" dirty="0" err="1">
                <a:solidFill>
                  <a:srgbClr val="85457F"/>
                </a:solidFill>
                <a:latin typeface="Arial"/>
                <a:ea typeface="Arial"/>
                <a:cs typeface="Arial"/>
              </a:rPr>
              <a:t>δln</a:t>
            </a:r>
            <a:r>
              <a:rPr sz="2925" b="0" dirty="0">
                <a:solidFill>
                  <a:srgbClr val="85457F"/>
                </a:solidFill>
                <a:latin typeface="Arial"/>
                <a:ea typeface="Arial"/>
                <a:cs typeface="Arial"/>
              </a:rPr>
              <a:t> </a:t>
            </a:r>
            <a:r>
              <a:rPr sz="2925" b="0" dirty="0" err="1">
                <a:solidFill>
                  <a:srgbClr val="85457F"/>
                </a:solidFill>
                <a:latin typeface="Arial"/>
                <a:ea typeface="Arial"/>
                <a:cs typeface="Arial"/>
              </a:rPr>
              <a:t>Σ</a:t>
            </a:r>
            <a:endParaRPr sz="2925" b="0" dirty="0">
              <a:solidFill>
                <a:srgbClr val="85457F"/>
              </a:solidFill>
              <a:latin typeface="Arial"/>
              <a:ea typeface="Arial"/>
              <a:cs typeface="Arial"/>
            </a:endParaRPr>
          </a:p>
        </p:txBody>
      </p:sp>
      <p:sp>
        <p:nvSpPr>
          <p:cNvPr id="32" name="Rectangle 31">
            <a:extLst>
              <a:ext uri="{FF2B5EF4-FFF2-40B4-BE49-F238E27FC236}">
                <a16:creationId xmlns:a16="http://schemas.microsoft.com/office/drawing/2014/main" id="{13EB5200-D7E3-4FE6-92F7-26771A5DF84B}"/>
              </a:ext>
            </a:extLst>
          </p:cNvPr>
          <p:cNvSpPr>
            <a:spLocks noGrp="1"/>
          </p:cNvSpPr>
          <p:nvPr/>
        </p:nvSpPr>
        <p:spPr>
          <a:xfrm>
            <a:off x="6826282" y="4213670"/>
            <a:ext cx="491109"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SFR</a:t>
            </a:r>
          </a:p>
        </p:txBody>
      </p:sp>
      <p:sp>
        <p:nvSpPr>
          <p:cNvPr id="33" name="Rectangle 32">
            <a:extLst>
              <a:ext uri="{FF2B5EF4-FFF2-40B4-BE49-F238E27FC236}">
                <a16:creationId xmlns:a16="http://schemas.microsoft.com/office/drawing/2014/main" id="{94CC1B5E-4D00-40F4-81AE-784FD211EBFB}"/>
              </a:ext>
            </a:extLst>
          </p:cNvPr>
          <p:cNvSpPr>
            <a:spLocks noGrp="1"/>
          </p:cNvSpPr>
          <p:nvPr/>
        </p:nvSpPr>
        <p:spPr>
          <a:xfrm>
            <a:off x="7382542" y="4057650"/>
            <a:ext cx="1186910"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 δln Σ</a:t>
            </a:r>
          </a:p>
        </p:txBody>
      </p:sp>
      <p:sp>
        <p:nvSpPr>
          <p:cNvPr id="34" name="Rectangle 33">
            <a:extLst>
              <a:ext uri="{FF2B5EF4-FFF2-40B4-BE49-F238E27FC236}">
                <a16:creationId xmlns:a16="http://schemas.microsoft.com/office/drawing/2014/main" id="{5D1E8212-F1C5-4BD2-A993-0019253DD4F1}"/>
              </a:ext>
            </a:extLst>
          </p:cNvPr>
          <p:cNvSpPr>
            <a:spLocks noGrp="1"/>
          </p:cNvSpPr>
          <p:nvPr/>
        </p:nvSpPr>
        <p:spPr>
          <a:xfrm>
            <a:off x="8531352" y="4213670"/>
            <a:ext cx="218789"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Φ</a:t>
            </a:r>
          </a:p>
        </p:txBody>
      </p:sp>
      <p:sp>
        <p:nvSpPr>
          <p:cNvPr id="35" name="Rectangle 34">
            <a:extLst>
              <a:ext uri="{FF2B5EF4-FFF2-40B4-BE49-F238E27FC236}">
                <a16:creationId xmlns:a16="http://schemas.microsoft.com/office/drawing/2014/main" id="{9F0822AA-9287-445F-B521-748E4C19D191}"/>
              </a:ext>
            </a:extLst>
          </p:cNvPr>
          <p:cNvSpPr>
            <a:spLocks noGrp="1"/>
          </p:cNvSpPr>
          <p:nvPr/>
        </p:nvSpPr>
        <p:spPr>
          <a:xfrm>
            <a:off x="8815292" y="4057650"/>
            <a:ext cx="141256"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a:t>
            </a:r>
          </a:p>
        </p:txBody>
      </p:sp>
      <p:sp>
        <p:nvSpPr>
          <p:cNvPr id="36" name="Rectangle 35">
            <a:extLst>
              <a:ext uri="{FF2B5EF4-FFF2-40B4-BE49-F238E27FC236}">
                <a16:creationId xmlns:a16="http://schemas.microsoft.com/office/drawing/2014/main" id="{04AB99E0-D529-4DCA-BF74-24455268BA71}"/>
              </a:ext>
            </a:extLst>
          </p:cNvPr>
          <p:cNvSpPr>
            <a:spLocks noGrp="1"/>
          </p:cNvSpPr>
          <p:nvPr/>
        </p:nvSpPr>
        <p:spPr>
          <a:xfrm>
            <a:off x="1866900" y="5133975"/>
            <a:ext cx="9525000" cy="790575"/>
          </a:xfrm>
          <a:prstGeom prst="rect">
            <a:avLst/>
          </a:prstGeom>
          <a:noFill/>
          <a:ln w="0">
            <a:noFill/>
          </a:ln>
        </p:spPr>
        <p:txBody>
          <a:bodyPr wrap="square" lIns="0" tIns="0" rIns="0" bIns="0" anchor="t">
            <a:noAutofit/>
          </a:bodyPr>
          <a:lstStyle/>
          <a:p>
            <a:pPr algn="l">
              <a:defRPr sz="2100" b="0">
                <a:solidFill>
                  <a:srgbClr val="182934"/>
                </a:solidFill>
                <a:latin typeface="Arial"/>
                <a:ea typeface="Arial"/>
                <a:cs typeface="Arial"/>
              </a:defRPr>
            </a:pPr>
            <a:r>
              <a:rPr sz="2100" b="0">
                <a:solidFill>
                  <a:srgbClr val="182934"/>
                </a:solidFill>
                <a:latin typeface="Arial"/>
                <a:ea typeface="Arial"/>
                <a:cs typeface="Arial"/>
              </a:rPr>
              <a:t>Supply rises proportionally more → lower target</a:t>
            </a:r>
          </a:p>
          <a:p>
            <a:pPr algn="l">
              <a:defRPr sz="2100" b="0">
                <a:solidFill>
                  <a:srgbClr val="182934"/>
                </a:solidFill>
                <a:latin typeface="Arial"/>
                <a:ea typeface="Arial"/>
                <a:cs typeface="Arial"/>
              </a:defRPr>
            </a:pPr>
            <a:r>
              <a:rPr sz="2100" b="0">
                <a:solidFill>
                  <a:srgbClr val="182934"/>
                </a:solidFill>
                <a:latin typeface="Arial"/>
                <a:ea typeface="Arial"/>
                <a:cs typeface="Arial"/>
              </a:rPr>
              <a:t>SFR rises proportionally more → higher target</a:t>
            </a:r>
          </a:p>
        </p:txBody>
      </p:sp>
      <p:sp>
        <p:nvSpPr>
          <p:cNvPr id="37" name="Rectangle 36">
            <a:extLst>
              <a:ext uri="{FF2B5EF4-FFF2-40B4-BE49-F238E27FC236}">
                <a16:creationId xmlns:a16="http://schemas.microsoft.com/office/drawing/2014/main" id="{2E2D871E-57AB-434C-8B3A-17DAD2624D7C}"/>
              </a:ext>
            </a:extLst>
          </p:cNvPr>
          <p:cNvSpPr>
            <a:spLocks noGrp="1"/>
          </p:cNvSpPr>
          <p:nvPr/>
        </p:nvSpPr>
        <p:spPr>
          <a:xfrm>
            <a:off x="533400" y="61150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Fixed y, R and ZΦ; natural logarithms. The target need not equal the current abundance.</a:t>
            </a:r>
          </a:p>
        </p:txBody>
      </p:sp>
    </p:spTree>
    <p:extLst>
      <p:ext uri="{BB962C8B-B14F-4D97-AF65-F5344CB8AC3E}">
        <p14:creationId xmlns:p14="http://schemas.microsoft.com/office/powerpoint/2010/main" val="1442058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81850FD-7FFA-4793-80FC-640FF53D0FCA}"/>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THE RESOLVED REGULATOR</a:t>
            </a:r>
          </a:p>
        </p:txBody>
      </p:sp>
      <p:sp>
        <p:nvSpPr>
          <p:cNvPr id="2" name="Rectangle 1">
            <a:extLst>
              <a:ext uri="{FF2B5EF4-FFF2-40B4-BE49-F238E27FC236}">
                <a16:creationId xmlns:a16="http://schemas.microsoft.com/office/drawing/2014/main" id="{ECB6DEC1-D840-4290-8D0F-F23C793D0D06}"/>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The response has a finite timescale</a:t>
            </a:r>
          </a:p>
        </p:txBody>
      </p:sp>
      <p:sp>
        <p:nvSpPr>
          <p:cNvPr id="3" name="Rectangle 2">
            <a:extLst>
              <a:ext uri="{FF2B5EF4-FFF2-40B4-BE49-F238E27FC236}">
                <a16:creationId xmlns:a16="http://schemas.microsoft.com/office/drawing/2014/main" id="{9BCACE6C-FED0-4335-BC5D-55C063CB5603}"/>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163BEBFE-5976-4616-9EE3-CF14DA5CCF25}"/>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1F9C2EDC-6898-4970-A6B8-3796FE054A3F}"/>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23</a:t>
            </a:r>
          </a:p>
        </p:txBody>
      </p:sp>
      <p:graphicFrame>
        <p:nvGraphicFramePr>
          <p:cNvPr id="17" name="Chart"/>
          <p:cNvGraphicFramePr/>
          <p:nvPr/>
        </p:nvGraphicFramePr>
        <p:xfrm>
          <a:off x="523875" y="1743075"/>
          <a:ext cx="6915150" cy="40576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48369C11-B2DB-4C87-B543-8BC1907E7C00}"/>
              </a:ext>
            </a:extLst>
          </p:cNvPr>
          <p:cNvSpPr>
            <a:spLocks noGrp="1"/>
          </p:cNvSpPr>
          <p:nvPr/>
        </p:nvSpPr>
        <p:spPr>
          <a:xfrm>
            <a:off x="8649462" y="2105025"/>
            <a:ext cx="1763554" cy="533400"/>
          </a:xfrm>
          <a:prstGeom prst="rect">
            <a:avLst/>
          </a:prstGeom>
          <a:noFill/>
          <a:ln w="0">
            <a:noFill/>
          </a:ln>
        </p:spPr>
        <p:txBody>
          <a:bodyPr wrap="none" lIns="0" tIns="0" rIns="0" bIns="0" anchor="t">
            <a:noAutofit/>
          </a:bodyPr>
          <a:lstStyle/>
          <a:p>
            <a:pPr algn="l">
              <a:defRPr sz="2625" b="0">
                <a:solidFill>
                  <a:srgbClr val="85457F"/>
                </a:solidFill>
                <a:latin typeface="Arial"/>
                <a:ea typeface="Arial"/>
                <a:cs typeface="Arial"/>
              </a:defRPr>
            </a:pPr>
            <a:r>
              <a:rPr sz="2625" b="0">
                <a:solidFill>
                  <a:srgbClr val="85457F"/>
                </a:solidFill>
                <a:latin typeface="Arial"/>
                <a:ea typeface="Arial"/>
                <a:cs typeface="Arial"/>
              </a:rPr>
              <a:t>1 − exp(−t/τ</a:t>
            </a:r>
          </a:p>
        </p:txBody>
      </p:sp>
      <p:sp>
        <p:nvSpPr>
          <p:cNvPr id="8" name="Rectangle 7">
            <a:extLst>
              <a:ext uri="{FF2B5EF4-FFF2-40B4-BE49-F238E27FC236}">
                <a16:creationId xmlns:a16="http://schemas.microsoft.com/office/drawing/2014/main" id="{AECFE033-7CA3-4752-BBB6-74A7AC92ED4A}"/>
              </a:ext>
            </a:extLst>
          </p:cNvPr>
          <p:cNvSpPr>
            <a:spLocks noGrp="1"/>
          </p:cNvSpPr>
          <p:nvPr/>
        </p:nvSpPr>
        <p:spPr>
          <a:xfrm>
            <a:off x="10374916" y="2245043"/>
            <a:ext cx="200311" cy="533400"/>
          </a:xfrm>
          <a:prstGeom prst="rect">
            <a:avLst/>
          </a:prstGeom>
          <a:noFill/>
          <a:ln w="0">
            <a:noFill/>
          </a:ln>
        </p:spPr>
        <p:txBody>
          <a:bodyPr wrap="none" lIns="0" tIns="0" rIns="0" bIns="0" anchor="t">
            <a:noAutofit/>
          </a:bodyPr>
          <a:lstStyle/>
          <a:p>
            <a:pPr algn="l">
              <a:defRPr sz="1601" b="0">
                <a:solidFill>
                  <a:srgbClr val="85457F"/>
                </a:solidFill>
                <a:latin typeface="Arial"/>
                <a:ea typeface="Arial"/>
                <a:cs typeface="Arial"/>
              </a:defRPr>
            </a:pPr>
            <a:r>
              <a:rPr sz="1601" b="0">
                <a:solidFill>
                  <a:srgbClr val="85457F"/>
                </a:solidFill>
                <a:latin typeface="Arial"/>
                <a:ea typeface="Arial"/>
                <a:cs typeface="Arial"/>
              </a:rPr>
              <a:t>Φ</a:t>
            </a:r>
          </a:p>
        </p:txBody>
      </p:sp>
      <p:sp>
        <p:nvSpPr>
          <p:cNvPr id="9" name="Rectangle 8">
            <a:extLst>
              <a:ext uri="{FF2B5EF4-FFF2-40B4-BE49-F238E27FC236}">
                <a16:creationId xmlns:a16="http://schemas.microsoft.com/office/drawing/2014/main" id="{8D26495D-35F5-4073-8761-23AE02C73A22}"/>
              </a:ext>
            </a:extLst>
          </p:cNvPr>
          <p:cNvSpPr>
            <a:spLocks noGrp="1"/>
          </p:cNvSpPr>
          <p:nvPr/>
        </p:nvSpPr>
        <p:spPr>
          <a:xfrm>
            <a:off x="10537126" y="2105025"/>
            <a:ext cx="149161" cy="533400"/>
          </a:xfrm>
          <a:prstGeom prst="rect">
            <a:avLst/>
          </a:prstGeom>
          <a:noFill/>
          <a:ln w="0">
            <a:noFill/>
          </a:ln>
        </p:spPr>
        <p:txBody>
          <a:bodyPr wrap="none" lIns="0" tIns="0" rIns="0" bIns="0" anchor="t">
            <a:noAutofit/>
          </a:bodyPr>
          <a:lstStyle/>
          <a:p>
            <a:pPr algn="l">
              <a:defRPr sz="2625" b="0">
                <a:solidFill>
                  <a:srgbClr val="85457F"/>
                </a:solidFill>
                <a:latin typeface="Arial"/>
                <a:ea typeface="Arial"/>
                <a:cs typeface="Arial"/>
              </a:defRPr>
            </a:pPr>
            <a:r>
              <a:rPr sz="2625" b="0">
                <a:solidFill>
                  <a:srgbClr val="85457F"/>
                </a:solidFill>
                <a:latin typeface="Arial"/>
                <a:ea typeface="Arial"/>
                <a:cs typeface="Arial"/>
              </a:rPr>
              <a:t>)</a:t>
            </a:r>
          </a:p>
        </p:txBody>
      </p:sp>
      <p:sp>
        <p:nvSpPr>
          <p:cNvPr id="10" name="Rectangle 9">
            <a:extLst>
              <a:ext uri="{FF2B5EF4-FFF2-40B4-BE49-F238E27FC236}">
                <a16:creationId xmlns:a16="http://schemas.microsoft.com/office/drawing/2014/main" id="{781BFA4F-E122-4934-8E1F-0ED487008D4E}"/>
              </a:ext>
            </a:extLst>
          </p:cNvPr>
          <p:cNvSpPr>
            <a:spLocks noGrp="1"/>
          </p:cNvSpPr>
          <p:nvPr/>
        </p:nvSpPr>
        <p:spPr>
          <a:xfrm>
            <a:off x="7886700" y="3057525"/>
            <a:ext cx="3524250" cy="2286000"/>
          </a:xfrm>
          <a:prstGeom prst="rect">
            <a:avLst/>
          </a:prstGeom>
          <a:noFill/>
          <a:ln w="0">
            <a:noFill/>
          </a:ln>
        </p:spPr>
        <p:txBody>
          <a:bodyPr wrap="square" lIns="0" tIns="0" rIns="0" bIns="0" anchor="t">
            <a:noAutofit/>
          </a:bodyPr>
          <a:lstStyle/>
          <a:p>
            <a:pPr algn="l">
              <a:defRPr sz="2025" b="0">
                <a:solidFill>
                  <a:srgbClr val="182934"/>
                </a:solidFill>
                <a:latin typeface="Arial"/>
                <a:ea typeface="Arial"/>
                <a:cs typeface="Arial"/>
              </a:defRPr>
            </a:pPr>
            <a:r>
              <a:rPr sz="2025" b="0">
                <a:solidFill>
                  <a:srgbClr val="182934"/>
                </a:solidFill>
                <a:latin typeface="Arial"/>
                <a:ea typeface="Arial"/>
                <a:cs typeface="Arial"/>
              </a:rPr>
              <a:t>Abundance lags and smooths</a:t>
            </a:r>
          </a:p>
          <a:p>
            <a:pPr algn="l">
              <a:defRPr sz="2025" b="0">
                <a:solidFill>
                  <a:srgbClr val="182934"/>
                </a:solidFill>
                <a:latin typeface="Arial"/>
                <a:ea typeface="Arial"/>
                <a:cs typeface="Arial"/>
              </a:defRPr>
            </a:pPr>
            <a:r>
              <a:rPr sz="2025" b="0">
                <a:solidFill>
                  <a:srgbClr val="182934"/>
                </a:solidFill>
                <a:latin typeface="Arial"/>
                <a:ea typeface="Arial"/>
                <a:cs typeface="Arial"/>
              </a:rPr>
              <a:t>a changing target.</a:t>
            </a:r>
          </a:p>
          <a:p>
            <a:endParaRPr sz="2025" b="0">
              <a:solidFill>
                <a:srgbClr val="182934"/>
              </a:solidFill>
              <a:latin typeface="Arial"/>
              <a:ea typeface="Arial"/>
              <a:cs typeface="Arial"/>
            </a:endParaRPr>
          </a:p>
          <a:p>
            <a:pPr algn="l">
              <a:defRPr sz="2025" b="0">
                <a:solidFill>
                  <a:srgbClr val="182934"/>
                </a:solidFill>
                <a:latin typeface="Arial"/>
                <a:ea typeface="Arial"/>
                <a:cs typeface="Arial"/>
              </a:defRPr>
            </a:pPr>
            <a:r>
              <a:rPr sz="2025" b="0">
                <a:solidFill>
                  <a:srgbClr val="182934"/>
                </a:solidFill>
                <a:latin typeface="Arial"/>
                <a:ea typeface="Arial"/>
                <a:cs typeface="Arial"/>
              </a:rPr>
              <a:t>Driver covariance, timescales</a:t>
            </a:r>
          </a:p>
          <a:p>
            <a:pPr algn="l">
              <a:defRPr sz="2025" b="0">
                <a:solidFill>
                  <a:srgbClr val="182934"/>
                </a:solidFill>
                <a:latin typeface="Arial"/>
                <a:ea typeface="Arial"/>
                <a:cs typeface="Arial"/>
              </a:defRPr>
            </a:pPr>
            <a:r>
              <a:rPr sz="2025" b="0">
                <a:solidFill>
                  <a:srgbClr val="182934"/>
                </a:solidFill>
                <a:latin typeface="Arial"/>
                <a:ea typeface="Arial"/>
                <a:cs typeface="Arial"/>
              </a:rPr>
              <a:t>and phase all matter.</a:t>
            </a:r>
          </a:p>
        </p:txBody>
      </p:sp>
      <p:sp>
        <p:nvSpPr>
          <p:cNvPr id="11" name="Rectangle 10">
            <a:extLst>
              <a:ext uri="{FF2B5EF4-FFF2-40B4-BE49-F238E27FC236}">
                <a16:creationId xmlns:a16="http://schemas.microsoft.com/office/drawing/2014/main" id="{B5425D2A-F875-4594-BA4C-456441317F0C}"/>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Analytic fixed-target illustration; not fitted to the data. Maps do not measure time derivatives.</a:t>
            </a:r>
          </a:p>
        </p:txBody>
      </p:sp>
    </p:spTree>
    <p:extLst>
      <p:ext uri="{BB962C8B-B14F-4D97-AF65-F5344CB8AC3E}">
        <p14:creationId xmlns:p14="http://schemas.microsoft.com/office/powerpoint/2010/main" val="293307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E345E38-6216-4540-B433-34D1B9E24575}"/>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THE RESOLVED REGULATOR</a:t>
            </a:r>
          </a:p>
        </p:txBody>
      </p:sp>
      <p:sp>
        <p:nvSpPr>
          <p:cNvPr id="2" name="Rectangle 1">
            <a:extLst>
              <a:ext uri="{FF2B5EF4-FFF2-40B4-BE49-F238E27FC236}">
                <a16:creationId xmlns:a16="http://schemas.microsoft.com/office/drawing/2014/main" id="{B8D294A5-365F-479B-B489-0FD249B5A088}"/>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One equation produces both correlation signs</a:t>
            </a:r>
          </a:p>
        </p:txBody>
      </p:sp>
      <p:sp>
        <p:nvSpPr>
          <p:cNvPr id="3" name="Rectangle 2">
            <a:extLst>
              <a:ext uri="{FF2B5EF4-FFF2-40B4-BE49-F238E27FC236}">
                <a16:creationId xmlns:a16="http://schemas.microsoft.com/office/drawing/2014/main" id="{3F030E37-7AEE-4F23-9318-B893E7A7974A}"/>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F45DFBC0-AC0D-4120-9237-C9855B4E2A9D}"/>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95449A10-32F1-42E4-9483-C0D5FA442575}"/>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24</a:t>
            </a:r>
          </a:p>
        </p:txBody>
      </p:sp>
      <p:graphicFrame>
        <p:nvGraphicFramePr>
          <p:cNvPr id="17" name="Table 16"/>
          <p:cNvGraphicFramePr/>
          <p:nvPr/>
        </p:nvGraphicFramePr>
        <p:xfrm>
          <a:off x="533400" y="1714500"/>
          <a:ext cx="11125200" cy="2952752"/>
        </p:xfrm>
        <a:graphic>
          <a:graphicData uri="http://schemas.openxmlformats.org/drawingml/2006/table">
            <a:tbl>
              <a:tblPr/>
              <a:tblGrid>
                <a:gridCol w="53340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738188">
                <a:tc>
                  <a:txBody>
                    <a:bodyPr/>
                    <a:lstStyle/>
                    <a:p>
                      <a:r>
                        <a:rPr sz="2025" b="1">
                          <a:solidFill>
                            <a:srgbClr val="FFFFFF"/>
                          </a:solidFill>
                          <a:latin typeface="Arial"/>
                          <a:ea typeface="Arial"/>
                          <a:cs typeface="Arial"/>
                        </a:rPr>
                        <a:t>Dominant fractional variability</a:t>
                      </a:r>
                    </a:p>
                  </a:txBody>
                  <a:tcPr marL="142875" marR="142875" marT="114300" marB="114300" anchor="ctr">
                    <a:solidFill>
                      <a:srgbClr val="10222E"/>
                    </a:solidFill>
                  </a:tcPr>
                </a:tc>
                <a:tc>
                  <a:txBody>
                    <a:bodyPr/>
                    <a:lstStyle/>
                    <a:p>
                      <a:r>
                        <a:rPr sz="2025" b="1">
                          <a:solidFill>
                            <a:srgbClr val="FFFFFF"/>
                          </a:solidFill>
                          <a:latin typeface="Arial"/>
                          <a:ea typeface="Arial"/>
                          <a:cs typeface="Arial"/>
                        </a:rPr>
                        <a:t>Expected residual relation</a:t>
                      </a:r>
                    </a:p>
                  </a:txBody>
                  <a:tcPr marL="142875" marR="142875" marT="114300" marB="114300" anchor="ctr">
                    <a:solidFill>
                      <a:srgbClr val="10222E"/>
                    </a:solidFill>
                  </a:tcPr>
                </a:tc>
                <a:extLst>
                  <a:ext uri="{0D108BD9-81ED-4DB2-BD59-A6C34878D82A}">
                    <a16:rowId xmlns:a16="http://schemas.microsoft.com/office/drawing/2014/main" val="10000"/>
                  </a:ext>
                </a:extLst>
              </a:tr>
              <a:tr h="738188">
                <a:tc>
                  <a:txBody>
                    <a:bodyPr/>
                    <a:lstStyle/>
                    <a:p>
                      <a:r>
                        <a:rPr sz="2025" b="0">
                          <a:solidFill>
                            <a:srgbClr val="182934"/>
                          </a:solidFill>
                          <a:latin typeface="Arial"/>
                          <a:ea typeface="Arial"/>
                          <a:cs typeface="Arial"/>
                        </a:rPr>
                        <a:t>SFR / SFE  (shorter τdep)</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Higher SFR ↔ higher Z</a:t>
                      </a:r>
                    </a:p>
                  </a:txBody>
                  <a:tcPr marL="142875" marR="142875" marT="114300" marB="114300" anchor="ctr">
                    <a:solidFill>
                      <a:srgbClr val="FFFFFF"/>
                    </a:solidFill>
                  </a:tcPr>
                </a:tc>
                <a:extLst>
                  <a:ext uri="{0D108BD9-81ED-4DB2-BD59-A6C34878D82A}">
                    <a16:rowId xmlns:a16="http://schemas.microsoft.com/office/drawing/2014/main" val="10001"/>
                  </a:ext>
                </a:extLst>
              </a:tr>
              <a:tr h="738188">
                <a:tc>
                  <a:txBody>
                    <a:bodyPr/>
                    <a:lstStyle/>
                    <a:p>
                      <a:r>
                        <a:rPr sz="2025" b="0">
                          <a:solidFill>
                            <a:srgbClr val="182934"/>
                          </a:solidFill>
                          <a:latin typeface="Arial"/>
                          <a:ea typeface="Arial"/>
                          <a:cs typeface="Arial"/>
                        </a:rPr>
                        <a:t>Gas supply  (shorter τΦ)</a:t>
                      </a:r>
                    </a:p>
                  </a:txBody>
                  <a:tcPr marL="142875" marR="142875" marT="114300" marB="114300" anchor="ctr">
                    <a:solidFill>
                      <a:srgbClr val="F3F5F6"/>
                    </a:solidFill>
                  </a:tcPr>
                </a:tc>
                <a:tc>
                  <a:txBody>
                    <a:bodyPr/>
                    <a:lstStyle/>
                    <a:p>
                      <a:r>
                        <a:rPr sz="2025" b="0">
                          <a:solidFill>
                            <a:srgbClr val="182934"/>
                          </a:solidFill>
                          <a:latin typeface="Arial"/>
                          <a:ea typeface="Arial"/>
                          <a:cs typeface="Arial"/>
                        </a:rPr>
                        <a:t>Higher SFR ↔ lower Z</a:t>
                      </a:r>
                    </a:p>
                  </a:txBody>
                  <a:tcPr marL="142875" marR="142875" marT="114300" marB="114300" anchor="ctr">
                    <a:solidFill>
                      <a:srgbClr val="F3F5F6"/>
                    </a:solidFill>
                  </a:tcPr>
                </a:tc>
                <a:extLst>
                  <a:ext uri="{0D108BD9-81ED-4DB2-BD59-A6C34878D82A}">
                    <a16:rowId xmlns:a16="http://schemas.microsoft.com/office/drawing/2014/main" val="10002"/>
                  </a:ext>
                </a:extLst>
              </a:tr>
              <a:tr h="738188">
                <a:tc>
                  <a:txBody>
                    <a:bodyPr/>
                    <a:lstStyle/>
                    <a:p>
                      <a:r>
                        <a:rPr sz="2025" b="0">
                          <a:solidFill>
                            <a:srgbClr val="182934"/>
                          </a:solidFill>
                          <a:latin typeface="Arial"/>
                          <a:ea typeface="Arial"/>
                          <a:cs typeface="Arial"/>
                        </a:rPr>
                        <a:t>Comparable amplitudes</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Weak or flat relation</a:t>
                      </a:r>
                    </a:p>
                  </a:txBody>
                  <a:tcPr marL="142875" marR="142875"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DEDF620C-C1D6-4101-BB0D-37824E116F9E}"/>
              </a:ext>
            </a:extLst>
          </p:cNvPr>
          <p:cNvSpPr>
            <a:spLocks noGrp="1"/>
          </p:cNvSpPr>
          <p:nvPr/>
        </p:nvSpPr>
        <p:spPr>
          <a:xfrm>
            <a:off x="4269343" y="5105400"/>
            <a:ext cx="1830705" cy="640080"/>
          </a:xfrm>
          <a:prstGeom prst="rect">
            <a:avLst/>
          </a:prstGeom>
          <a:noFill/>
          <a:ln w="0">
            <a:noFill/>
          </a:ln>
        </p:spPr>
        <p:txBody>
          <a:bodyPr wrap="none" lIns="0" tIns="0" rIns="0" bIns="0" anchor="t">
            <a:noAutofit/>
          </a:bodyPr>
          <a:lstStyle/>
          <a:p>
            <a:pPr algn="l">
              <a:defRPr sz="3150" b="0">
                <a:solidFill>
                  <a:srgbClr val="85457F"/>
                </a:solidFill>
                <a:latin typeface="Arial"/>
                <a:ea typeface="Arial"/>
                <a:cs typeface="Arial"/>
              </a:defRPr>
            </a:pPr>
            <a:r>
              <a:rPr sz="3150" b="0">
                <a:solidFill>
                  <a:srgbClr val="85457F"/>
                </a:solidFill>
                <a:latin typeface="Arial"/>
                <a:ea typeface="Arial"/>
                <a:cs typeface="Arial"/>
              </a:rPr>
              <a:t>δZ ∝ δln τ</a:t>
            </a:r>
          </a:p>
        </p:txBody>
      </p:sp>
      <p:sp>
        <p:nvSpPr>
          <p:cNvPr id="8" name="Rectangle 7">
            <a:extLst>
              <a:ext uri="{FF2B5EF4-FFF2-40B4-BE49-F238E27FC236}">
                <a16:creationId xmlns:a16="http://schemas.microsoft.com/office/drawing/2014/main" id="{BE38A414-E015-4C20-82F1-006E791D6F44}"/>
              </a:ext>
            </a:extLst>
          </p:cNvPr>
          <p:cNvSpPr>
            <a:spLocks noGrp="1"/>
          </p:cNvSpPr>
          <p:nvPr/>
        </p:nvSpPr>
        <p:spPr>
          <a:xfrm>
            <a:off x="6061948" y="5273421"/>
            <a:ext cx="232696" cy="640080"/>
          </a:xfrm>
          <a:prstGeom prst="rect">
            <a:avLst/>
          </a:prstGeom>
          <a:noFill/>
          <a:ln w="0">
            <a:noFill/>
          </a:ln>
        </p:spPr>
        <p:txBody>
          <a:bodyPr wrap="none" lIns="0" tIns="0" rIns="0" bIns="0" anchor="t">
            <a:noAutofit/>
          </a:bodyPr>
          <a:lstStyle/>
          <a:p>
            <a:pPr algn="l">
              <a:defRPr sz="1922" b="0">
                <a:solidFill>
                  <a:srgbClr val="85457F"/>
                </a:solidFill>
                <a:latin typeface="Arial"/>
                <a:ea typeface="Arial"/>
                <a:cs typeface="Arial"/>
              </a:defRPr>
            </a:pPr>
            <a:r>
              <a:rPr sz="1922" b="0">
                <a:solidFill>
                  <a:srgbClr val="85457F"/>
                </a:solidFill>
                <a:latin typeface="Arial"/>
                <a:ea typeface="Arial"/>
                <a:cs typeface="Arial"/>
              </a:rPr>
              <a:t>Φ</a:t>
            </a:r>
          </a:p>
        </p:txBody>
      </p:sp>
      <p:sp>
        <p:nvSpPr>
          <p:cNvPr id="9" name="Rectangle 8">
            <a:extLst>
              <a:ext uri="{FF2B5EF4-FFF2-40B4-BE49-F238E27FC236}">
                <a16:creationId xmlns:a16="http://schemas.microsoft.com/office/drawing/2014/main" id="{9BFFF0B9-3A10-4951-AB08-7D9354676ECC}"/>
              </a:ext>
            </a:extLst>
          </p:cNvPr>
          <p:cNvSpPr>
            <a:spLocks noGrp="1"/>
          </p:cNvSpPr>
          <p:nvPr/>
        </p:nvSpPr>
        <p:spPr>
          <a:xfrm>
            <a:off x="6367701" y="5105400"/>
            <a:ext cx="1186053" cy="640080"/>
          </a:xfrm>
          <a:prstGeom prst="rect">
            <a:avLst/>
          </a:prstGeom>
          <a:noFill/>
          <a:ln w="0">
            <a:noFill/>
          </a:ln>
        </p:spPr>
        <p:txBody>
          <a:bodyPr wrap="none" lIns="0" tIns="0" rIns="0" bIns="0" anchor="t">
            <a:noAutofit/>
          </a:bodyPr>
          <a:lstStyle/>
          <a:p>
            <a:pPr algn="l">
              <a:defRPr sz="3150" b="0">
                <a:solidFill>
                  <a:srgbClr val="85457F"/>
                </a:solidFill>
                <a:latin typeface="Arial"/>
                <a:ea typeface="Arial"/>
                <a:cs typeface="Arial"/>
              </a:defRPr>
            </a:pPr>
            <a:r>
              <a:rPr sz="3150" b="0">
                <a:solidFill>
                  <a:srgbClr val="85457F"/>
                </a:solidFill>
                <a:latin typeface="Arial"/>
                <a:ea typeface="Arial"/>
                <a:cs typeface="Arial"/>
              </a:rPr>
              <a:t>− δln τ</a:t>
            </a:r>
          </a:p>
        </p:txBody>
      </p:sp>
      <p:sp>
        <p:nvSpPr>
          <p:cNvPr id="10" name="Rectangle 9">
            <a:extLst>
              <a:ext uri="{FF2B5EF4-FFF2-40B4-BE49-F238E27FC236}">
                <a16:creationId xmlns:a16="http://schemas.microsoft.com/office/drawing/2014/main" id="{35CADF9C-20D8-43BF-9D4D-FD21A2ECE6B8}"/>
              </a:ext>
            </a:extLst>
          </p:cNvPr>
          <p:cNvSpPr>
            <a:spLocks noGrp="1"/>
          </p:cNvSpPr>
          <p:nvPr/>
        </p:nvSpPr>
        <p:spPr>
          <a:xfrm>
            <a:off x="7515654" y="5273421"/>
            <a:ext cx="445103" cy="640080"/>
          </a:xfrm>
          <a:prstGeom prst="rect">
            <a:avLst/>
          </a:prstGeom>
          <a:noFill/>
          <a:ln w="0">
            <a:noFill/>
          </a:ln>
        </p:spPr>
        <p:txBody>
          <a:bodyPr wrap="none" lIns="0" tIns="0" rIns="0" bIns="0" anchor="t">
            <a:noAutofit/>
          </a:bodyPr>
          <a:lstStyle/>
          <a:p>
            <a:pPr algn="l">
              <a:defRPr sz="1922" b="0">
                <a:solidFill>
                  <a:srgbClr val="85457F"/>
                </a:solidFill>
                <a:latin typeface="Arial"/>
                <a:ea typeface="Arial"/>
                <a:cs typeface="Arial"/>
              </a:defRPr>
            </a:pPr>
            <a:r>
              <a:rPr sz="1922" b="0">
                <a:solidFill>
                  <a:srgbClr val="85457F"/>
                </a:solidFill>
                <a:latin typeface="Arial"/>
                <a:ea typeface="Arial"/>
                <a:cs typeface="Arial"/>
              </a:rPr>
              <a:t>dep</a:t>
            </a:r>
          </a:p>
        </p:txBody>
      </p:sp>
      <p:sp>
        <p:nvSpPr>
          <p:cNvPr id="11" name="Rectangle 10">
            <a:extLst>
              <a:ext uri="{FF2B5EF4-FFF2-40B4-BE49-F238E27FC236}">
                <a16:creationId xmlns:a16="http://schemas.microsoft.com/office/drawing/2014/main" id="{4902FF54-E96A-4783-9935-188E3A9C0840}"/>
              </a:ext>
            </a:extLst>
          </p:cNvPr>
          <p:cNvSpPr>
            <a:spLocks noGrp="1"/>
          </p:cNvSpPr>
          <p:nvPr/>
        </p:nvSpPr>
        <p:spPr>
          <a:xfrm>
            <a:off x="533400" y="59721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Analytic driver competition; the observed sign remains conditional on covariance and response phase.</a:t>
            </a:r>
          </a:p>
        </p:txBody>
      </p:sp>
    </p:spTree>
    <p:extLst>
      <p:ext uri="{BB962C8B-B14F-4D97-AF65-F5344CB8AC3E}">
        <p14:creationId xmlns:p14="http://schemas.microsoft.com/office/powerpoint/2010/main" val="72813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DF39BE1-1D1A-414C-A49C-5E13C3E82091}"/>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FROM RESOLVED TO INTEGRATED</a:t>
            </a:r>
          </a:p>
        </p:txBody>
      </p:sp>
      <p:sp>
        <p:nvSpPr>
          <p:cNvPr id="2" name="Rectangle 1">
            <a:extLst>
              <a:ext uri="{FF2B5EF4-FFF2-40B4-BE49-F238E27FC236}">
                <a16:creationId xmlns:a16="http://schemas.microsoft.com/office/drawing/2014/main" id="{E93049CE-607B-485A-9A3C-F922DCD2C16A}"/>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The regulator is scale-free</a:t>
            </a:r>
          </a:p>
        </p:txBody>
      </p:sp>
      <p:sp>
        <p:nvSpPr>
          <p:cNvPr id="3" name="Rectangle 2">
            <a:extLst>
              <a:ext uri="{FF2B5EF4-FFF2-40B4-BE49-F238E27FC236}">
                <a16:creationId xmlns:a16="http://schemas.microsoft.com/office/drawing/2014/main" id="{1069F3DA-5943-40AF-B481-646F14BEACAB}"/>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A0F88341-01B5-4B99-8BD2-F6EEC3FBEF8E}"/>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1AB18DFF-C566-42F9-80A2-09B2D8A19BE2}"/>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25</a:t>
            </a:r>
          </a:p>
        </p:txBody>
      </p:sp>
      <p:sp>
        <p:nvSpPr>
          <p:cNvPr id="6" name="Rectangle 5">
            <a:extLst>
              <a:ext uri="{FF2B5EF4-FFF2-40B4-BE49-F238E27FC236}">
                <a16:creationId xmlns:a16="http://schemas.microsoft.com/office/drawing/2014/main" id="{E808F06D-6880-4251-BFC9-4279CBEBA2B8}"/>
              </a:ext>
            </a:extLst>
          </p:cNvPr>
          <p:cNvSpPr>
            <a:spLocks noGrp="1"/>
          </p:cNvSpPr>
          <p:nvPr/>
        </p:nvSpPr>
        <p:spPr>
          <a:xfrm>
            <a:off x="533400" y="1781175"/>
            <a:ext cx="2381250" cy="323850"/>
          </a:xfrm>
          <a:prstGeom prst="rect">
            <a:avLst/>
          </a:prstGeom>
          <a:noFill/>
          <a:ln w="0">
            <a:noFill/>
          </a:ln>
        </p:spPr>
        <p:txBody>
          <a:bodyPr wrap="square" lIns="0" tIns="0" rIns="0" bIns="0" anchor="t">
            <a:noAutofit/>
          </a:bodyPr>
          <a:lstStyle/>
          <a:p>
            <a:pPr algn="l">
              <a:defRPr sz="1575" b="1">
                <a:solidFill>
                  <a:srgbClr val="85457F"/>
                </a:solidFill>
                <a:latin typeface="Arial"/>
                <a:ea typeface="Arial"/>
                <a:cs typeface="Arial"/>
              </a:defRPr>
            </a:pPr>
            <a:r>
              <a:rPr sz="1575" b="1">
                <a:solidFill>
                  <a:srgbClr val="85457F"/>
                </a:solidFill>
                <a:latin typeface="Arial"/>
                <a:ea typeface="Arial"/>
                <a:cs typeface="Arial"/>
              </a:rPr>
              <a:t>RESOLVED</a:t>
            </a:r>
          </a:p>
        </p:txBody>
      </p:sp>
      <p:sp>
        <p:nvSpPr>
          <p:cNvPr id="7" name="Rectangle 6">
            <a:extLst>
              <a:ext uri="{FF2B5EF4-FFF2-40B4-BE49-F238E27FC236}">
                <a16:creationId xmlns:a16="http://schemas.microsoft.com/office/drawing/2014/main" id="{4D35F400-0610-484D-A03E-AB646FFB9D35}"/>
              </a:ext>
            </a:extLst>
          </p:cNvPr>
          <p:cNvSpPr>
            <a:spLocks noGrp="1"/>
          </p:cNvSpPr>
          <p:nvPr/>
        </p:nvSpPr>
        <p:spPr>
          <a:xfrm>
            <a:off x="1655635" y="2324100"/>
            <a:ext cx="382333"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(Σ</a:t>
            </a:r>
          </a:p>
        </p:txBody>
      </p:sp>
      <p:sp>
        <p:nvSpPr>
          <p:cNvPr id="8" name="Rectangle 7">
            <a:extLst>
              <a:ext uri="{FF2B5EF4-FFF2-40B4-BE49-F238E27FC236}">
                <a16:creationId xmlns:a16="http://schemas.microsoft.com/office/drawing/2014/main" id="{676B6E3D-2F06-4131-AA34-B4D1C1BD36D7}"/>
              </a:ext>
            </a:extLst>
          </p:cNvPr>
          <p:cNvSpPr>
            <a:spLocks noGrp="1"/>
          </p:cNvSpPr>
          <p:nvPr/>
        </p:nvSpPr>
        <p:spPr>
          <a:xfrm>
            <a:off x="1999869" y="2476119"/>
            <a:ext cx="160877"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g</a:t>
            </a:r>
          </a:p>
        </p:txBody>
      </p:sp>
      <p:sp>
        <p:nvSpPr>
          <p:cNvPr id="9" name="Rectangle 8">
            <a:extLst>
              <a:ext uri="{FF2B5EF4-FFF2-40B4-BE49-F238E27FC236}">
                <a16:creationId xmlns:a16="http://schemas.microsoft.com/office/drawing/2014/main" id="{9D24F46B-659F-4EFD-906E-6415960AEB1D}"/>
              </a:ext>
            </a:extLst>
          </p:cNvPr>
          <p:cNvSpPr>
            <a:spLocks noGrp="1"/>
          </p:cNvSpPr>
          <p:nvPr/>
        </p:nvSpPr>
        <p:spPr>
          <a:xfrm>
            <a:off x="2122646" y="2324100"/>
            <a:ext cx="463010"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Σ</a:t>
            </a:r>
          </a:p>
        </p:txBody>
      </p:sp>
      <p:sp>
        <p:nvSpPr>
          <p:cNvPr id="10" name="Rectangle 9">
            <a:extLst>
              <a:ext uri="{FF2B5EF4-FFF2-40B4-BE49-F238E27FC236}">
                <a16:creationId xmlns:a16="http://schemas.microsoft.com/office/drawing/2014/main" id="{DAF5C2B2-909E-4FB1-8A62-D5ABA0D3543C}"/>
              </a:ext>
            </a:extLst>
          </p:cNvPr>
          <p:cNvSpPr>
            <a:spLocks noGrp="1"/>
          </p:cNvSpPr>
          <p:nvPr/>
        </p:nvSpPr>
        <p:spPr>
          <a:xfrm>
            <a:off x="2547556" y="2476119"/>
            <a:ext cx="124016"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a:t>
            </a:r>
          </a:p>
        </p:txBody>
      </p:sp>
      <p:sp>
        <p:nvSpPr>
          <p:cNvPr id="11" name="Rectangle 10">
            <a:extLst>
              <a:ext uri="{FF2B5EF4-FFF2-40B4-BE49-F238E27FC236}">
                <a16:creationId xmlns:a16="http://schemas.microsoft.com/office/drawing/2014/main" id="{4987C94A-CDF5-4D19-9393-EE4D1EA7B6D5}"/>
              </a:ext>
            </a:extLst>
          </p:cNvPr>
          <p:cNvSpPr>
            <a:spLocks noGrp="1"/>
          </p:cNvSpPr>
          <p:nvPr/>
        </p:nvSpPr>
        <p:spPr>
          <a:xfrm>
            <a:off x="2633472" y="2324100"/>
            <a:ext cx="463010"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Σ</a:t>
            </a:r>
          </a:p>
        </p:txBody>
      </p:sp>
      <p:sp>
        <p:nvSpPr>
          <p:cNvPr id="12" name="Rectangle 11">
            <a:extLst>
              <a:ext uri="{FF2B5EF4-FFF2-40B4-BE49-F238E27FC236}">
                <a16:creationId xmlns:a16="http://schemas.microsoft.com/office/drawing/2014/main" id="{59C468F6-854E-4BCC-ACB2-C2C2C298A69B}"/>
              </a:ext>
            </a:extLst>
          </p:cNvPr>
          <p:cNvSpPr>
            <a:spLocks noGrp="1"/>
          </p:cNvSpPr>
          <p:nvPr/>
        </p:nvSpPr>
        <p:spPr>
          <a:xfrm>
            <a:off x="3058382" y="2476119"/>
            <a:ext cx="479489"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SFR</a:t>
            </a:r>
          </a:p>
        </p:txBody>
      </p:sp>
      <p:sp>
        <p:nvSpPr>
          <p:cNvPr id="13" name="Rectangle 12">
            <a:extLst>
              <a:ext uri="{FF2B5EF4-FFF2-40B4-BE49-F238E27FC236}">
                <a16:creationId xmlns:a16="http://schemas.microsoft.com/office/drawing/2014/main" id="{13557B24-3894-4B4F-A88B-7353A9787431}"/>
              </a:ext>
            </a:extLst>
          </p:cNvPr>
          <p:cNvSpPr>
            <a:spLocks noGrp="1"/>
          </p:cNvSpPr>
          <p:nvPr/>
        </p:nvSpPr>
        <p:spPr>
          <a:xfrm>
            <a:off x="3499771" y="2324100"/>
            <a:ext cx="463010"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Σ</a:t>
            </a:r>
          </a:p>
        </p:txBody>
      </p:sp>
      <p:sp>
        <p:nvSpPr>
          <p:cNvPr id="14" name="Rectangle 13">
            <a:extLst>
              <a:ext uri="{FF2B5EF4-FFF2-40B4-BE49-F238E27FC236}">
                <a16:creationId xmlns:a16="http://schemas.microsoft.com/office/drawing/2014/main" id="{3BACDAFB-C96B-4FB8-AD75-C3F43A1B106A}"/>
              </a:ext>
            </a:extLst>
          </p:cNvPr>
          <p:cNvSpPr>
            <a:spLocks noGrp="1"/>
          </p:cNvSpPr>
          <p:nvPr/>
        </p:nvSpPr>
        <p:spPr>
          <a:xfrm>
            <a:off x="3924681" y="2476119"/>
            <a:ext cx="214217"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Φ</a:t>
            </a:r>
          </a:p>
        </p:txBody>
      </p:sp>
      <p:sp>
        <p:nvSpPr>
          <p:cNvPr id="15" name="Rectangle 14">
            <a:extLst>
              <a:ext uri="{FF2B5EF4-FFF2-40B4-BE49-F238E27FC236}">
                <a16:creationId xmlns:a16="http://schemas.microsoft.com/office/drawing/2014/main" id="{219480EA-4276-4111-B939-09BFD2FB2D4C}"/>
              </a:ext>
            </a:extLst>
          </p:cNvPr>
          <p:cNvSpPr>
            <a:spLocks noGrp="1"/>
          </p:cNvSpPr>
          <p:nvPr/>
        </p:nvSpPr>
        <p:spPr>
          <a:xfrm>
            <a:off x="4100798" y="2324100"/>
            <a:ext cx="158591"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a:t>
            </a:r>
          </a:p>
        </p:txBody>
      </p:sp>
      <p:sp>
        <p:nvSpPr>
          <p:cNvPr id="16" name="Right Arrow 15">
            <a:extLst>
              <a:ext uri="{FF2B5EF4-FFF2-40B4-BE49-F238E27FC236}">
                <a16:creationId xmlns:a16="http://schemas.microsoft.com/office/drawing/2014/main" id="{3327FCC0-BDC1-46FC-A918-4B3101F6CDEE}"/>
              </a:ext>
            </a:extLst>
          </p:cNvPr>
          <p:cNvSpPr>
            <a:spLocks noGrp="1"/>
          </p:cNvSpPr>
          <p:nvPr/>
        </p:nvSpPr>
        <p:spPr>
          <a:xfrm>
            <a:off x="5619750" y="2400300"/>
            <a:ext cx="904875" cy="228600"/>
          </a:xfrm>
          <a:prstGeom prst="rightArrow">
            <a:avLst/>
          </a:prstGeom>
          <a:solidFill>
            <a:srgbClr val="007E87"/>
          </a:solidFill>
          <a:ln w="0">
            <a:noFill/>
          </a:ln>
        </p:spPr>
        <p:txBody>
          <a:bodyPr/>
          <a:lstStyle/>
          <a:p>
            <a:endParaRPr lang="en-US"/>
          </a:p>
        </p:txBody>
      </p:sp>
      <p:sp>
        <p:nvSpPr>
          <p:cNvPr id="17" name="Rectangle 16">
            <a:extLst>
              <a:ext uri="{FF2B5EF4-FFF2-40B4-BE49-F238E27FC236}">
                <a16:creationId xmlns:a16="http://schemas.microsoft.com/office/drawing/2014/main" id="{2E91AC54-E687-4E1C-9C47-5DA4EB70E548}"/>
              </a:ext>
            </a:extLst>
          </p:cNvPr>
          <p:cNvSpPr>
            <a:spLocks noGrp="1"/>
          </p:cNvSpPr>
          <p:nvPr/>
        </p:nvSpPr>
        <p:spPr>
          <a:xfrm>
            <a:off x="6886575" y="1781175"/>
            <a:ext cx="2857500" cy="323850"/>
          </a:xfrm>
          <a:prstGeom prst="rect">
            <a:avLst/>
          </a:prstGeom>
          <a:noFill/>
          <a:ln w="0">
            <a:noFill/>
          </a:ln>
        </p:spPr>
        <p:txBody>
          <a:bodyPr wrap="square" lIns="0" tIns="0" rIns="0" bIns="0" anchor="t">
            <a:noAutofit/>
          </a:bodyPr>
          <a:lstStyle/>
          <a:p>
            <a:pPr algn="l">
              <a:defRPr sz="1575" b="1">
                <a:solidFill>
                  <a:srgbClr val="007E87"/>
                </a:solidFill>
                <a:latin typeface="Arial"/>
                <a:ea typeface="Arial"/>
                <a:cs typeface="Arial"/>
              </a:defRPr>
            </a:pPr>
            <a:r>
              <a:rPr sz="1575" b="1">
                <a:solidFill>
                  <a:srgbClr val="007E87"/>
                </a:solidFill>
                <a:latin typeface="Arial"/>
                <a:ea typeface="Arial"/>
                <a:cs typeface="Arial"/>
              </a:rPr>
              <a:t>INTEGRATED</a:t>
            </a:r>
          </a:p>
        </p:txBody>
      </p:sp>
      <p:sp>
        <p:nvSpPr>
          <p:cNvPr id="18" name="Rectangle 17">
            <a:extLst>
              <a:ext uri="{FF2B5EF4-FFF2-40B4-BE49-F238E27FC236}">
                <a16:creationId xmlns:a16="http://schemas.microsoft.com/office/drawing/2014/main" id="{8ED6A3F8-1064-4A85-89E9-93CA612EC8DF}"/>
              </a:ext>
            </a:extLst>
          </p:cNvPr>
          <p:cNvSpPr>
            <a:spLocks noGrp="1"/>
          </p:cNvSpPr>
          <p:nvPr/>
        </p:nvSpPr>
        <p:spPr>
          <a:xfrm>
            <a:off x="7761970" y="2324100"/>
            <a:ext cx="460153"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(M</a:t>
            </a:r>
          </a:p>
        </p:txBody>
      </p:sp>
      <p:sp>
        <p:nvSpPr>
          <p:cNvPr id="19" name="Rectangle 18">
            <a:extLst>
              <a:ext uri="{FF2B5EF4-FFF2-40B4-BE49-F238E27FC236}">
                <a16:creationId xmlns:a16="http://schemas.microsoft.com/office/drawing/2014/main" id="{80FEDA75-F3F3-48CD-BEBF-930C1FCAB81F}"/>
              </a:ext>
            </a:extLst>
          </p:cNvPr>
          <p:cNvSpPr>
            <a:spLocks noGrp="1"/>
          </p:cNvSpPr>
          <p:nvPr/>
        </p:nvSpPr>
        <p:spPr>
          <a:xfrm>
            <a:off x="8184023" y="2476119"/>
            <a:ext cx="160877"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g</a:t>
            </a:r>
          </a:p>
        </p:txBody>
      </p:sp>
      <p:sp>
        <p:nvSpPr>
          <p:cNvPr id="20" name="Rectangle 19">
            <a:extLst>
              <a:ext uri="{FF2B5EF4-FFF2-40B4-BE49-F238E27FC236}">
                <a16:creationId xmlns:a16="http://schemas.microsoft.com/office/drawing/2014/main" id="{6854F223-A285-4D29-9B6F-842DEBCC112F}"/>
              </a:ext>
            </a:extLst>
          </p:cNvPr>
          <p:cNvSpPr>
            <a:spLocks noGrp="1"/>
          </p:cNvSpPr>
          <p:nvPr/>
        </p:nvSpPr>
        <p:spPr>
          <a:xfrm>
            <a:off x="8306800" y="2324100"/>
            <a:ext cx="540734"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M</a:t>
            </a:r>
          </a:p>
        </p:txBody>
      </p:sp>
      <p:sp>
        <p:nvSpPr>
          <p:cNvPr id="21" name="Rectangle 20">
            <a:extLst>
              <a:ext uri="{FF2B5EF4-FFF2-40B4-BE49-F238E27FC236}">
                <a16:creationId xmlns:a16="http://schemas.microsoft.com/office/drawing/2014/main" id="{C71C21B5-14AD-4AC6-8454-CD75C54EC580}"/>
              </a:ext>
            </a:extLst>
          </p:cNvPr>
          <p:cNvSpPr>
            <a:spLocks noGrp="1"/>
          </p:cNvSpPr>
          <p:nvPr/>
        </p:nvSpPr>
        <p:spPr>
          <a:xfrm>
            <a:off x="8809434" y="2476119"/>
            <a:ext cx="124016"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a:t>
            </a:r>
          </a:p>
        </p:txBody>
      </p:sp>
      <p:sp>
        <p:nvSpPr>
          <p:cNvPr id="22" name="Rectangle 21">
            <a:extLst>
              <a:ext uri="{FF2B5EF4-FFF2-40B4-BE49-F238E27FC236}">
                <a16:creationId xmlns:a16="http://schemas.microsoft.com/office/drawing/2014/main" id="{18A580FC-1A2F-4021-A809-6E225F38ABEE}"/>
              </a:ext>
            </a:extLst>
          </p:cNvPr>
          <p:cNvSpPr>
            <a:spLocks noGrp="1"/>
          </p:cNvSpPr>
          <p:nvPr/>
        </p:nvSpPr>
        <p:spPr>
          <a:xfrm>
            <a:off x="8895350" y="2324100"/>
            <a:ext cx="1573530"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SFR, Φ)</a:t>
            </a:r>
          </a:p>
        </p:txBody>
      </p:sp>
      <p:sp>
        <p:nvSpPr>
          <p:cNvPr id="23" name="Rectangle 22">
            <a:extLst>
              <a:ext uri="{FF2B5EF4-FFF2-40B4-BE49-F238E27FC236}">
                <a16:creationId xmlns:a16="http://schemas.microsoft.com/office/drawing/2014/main" id="{30EF1D80-88C5-4975-8809-DF3B600D2D58}"/>
              </a:ext>
            </a:extLst>
          </p:cNvPr>
          <p:cNvSpPr>
            <a:spLocks noGrp="1"/>
          </p:cNvSpPr>
          <p:nvPr/>
        </p:nvSpPr>
        <p:spPr>
          <a:xfrm>
            <a:off x="533400" y="3371850"/>
            <a:ext cx="11125200" cy="1438275"/>
          </a:xfrm>
          <a:prstGeom prst="rect">
            <a:avLst/>
          </a:prstGeom>
          <a:solidFill>
            <a:srgbClr val="F2EDF3"/>
          </a:solidFill>
          <a:ln w="0">
            <a:noFill/>
          </a:ln>
        </p:spPr>
        <p:txBody>
          <a:bodyPr/>
          <a:lstStyle/>
          <a:p>
            <a:endParaRPr lang="en-US"/>
          </a:p>
        </p:txBody>
      </p:sp>
      <p:sp>
        <p:nvSpPr>
          <p:cNvPr id="24" name="Rectangle 23">
            <a:extLst>
              <a:ext uri="{FF2B5EF4-FFF2-40B4-BE49-F238E27FC236}">
                <a16:creationId xmlns:a16="http://schemas.microsoft.com/office/drawing/2014/main" id="{CC3DB4AB-A30A-493F-8AD5-B3551819ECA2}"/>
              </a:ext>
            </a:extLst>
          </p:cNvPr>
          <p:cNvSpPr>
            <a:spLocks noGrp="1"/>
          </p:cNvSpPr>
          <p:nvPr/>
        </p:nvSpPr>
        <p:spPr>
          <a:xfrm>
            <a:off x="2723626" y="3733800"/>
            <a:ext cx="5055013"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δZ ∝ δln SFR − δln Φ  ∝  δln τ</a:t>
            </a:r>
          </a:p>
        </p:txBody>
      </p:sp>
      <p:sp>
        <p:nvSpPr>
          <p:cNvPr id="25" name="Rectangle 24">
            <a:extLst>
              <a:ext uri="{FF2B5EF4-FFF2-40B4-BE49-F238E27FC236}">
                <a16:creationId xmlns:a16="http://schemas.microsoft.com/office/drawing/2014/main" id="{D8AA5B8D-2CC9-405E-BC13-855B00E2C969}"/>
              </a:ext>
            </a:extLst>
          </p:cNvPr>
          <p:cNvSpPr>
            <a:spLocks noGrp="1"/>
          </p:cNvSpPr>
          <p:nvPr/>
        </p:nvSpPr>
        <p:spPr>
          <a:xfrm>
            <a:off x="7740539" y="3889820"/>
            <a:ext cx="218789"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Φ</a:t>
            </a:r>
          </a:p>
        </p:txBody>
      </p:sp>
      <p:sp>
        <p:nvSpPr>
          <p:cNvPr id="26" name="Rectangle 25">
            <a:extLst>
              <a:ext uri="{FF2B5EF4-FFF2-40B4-BE49-F238E27FC236}">
                <a16:creationId xmlns:a16="http://schemas.microsoft.com/office/drawing/2014/main" id="{C4EC8A87-C4CA-4023-91C9-2407BE8EF2DE}"/>
              </a:ext>
            </a:extLst>
          </p:cNvPr>
          <p:cNvSpPr>
            <a:spLocks noGrp="1"/>
          </p:cNvSpPr>
          <p:nvPr/>
        </p:nvSpPr>
        <p:spPr>
          <a:xfrm>
            <a:off x="8024479" y="3733800"/>
            <a:ext cx="1104043"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 δln τ</a:t>
            </a:r>
          </a:p>
        </p:txBody>
      </p:sp>
      <p:sp>
        <p:nvSpPr>
          <p:cNvPr id="27" name="Rectangle 26">
            <a:extLst>
              <a:ext uri="{FF2B5EF4-FFF2-40B4-BE49-F238E27FC236}">
                <a16:creationId xmlns:a16="http://schemas.microsoft.com/office/drawing/2014/main" id="{9ACCA1A5-C4DD-4703-A4D4-7B484B643CC4}"/>
              </a:ext>
            </a:extLst>
          </p:cNvPr>
          <p:cNvSpPr>
            <a:spLocks noGrp="1"/>
          </p:cNvSpPr>
          <p:nvPr/>
        </p:nvSpPr>
        <p:spPr>
          <a:xfrm>
            <a:off x="9090422" y="3889820"/>
            <a:ext cx="416052"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dep</a:t>
            </a:r>
          </a:p>
        </p:txBody>
      </p:sp>
      <p:sp>
        <p:nvSpPr>
          <p:cNvPr id="28" name="Rectangle 27">
            <a:extLst>
              <a:ext uri="{FF2B5EF4-FFF2-40B4-BE49-F238E27FC236}">
                <a16:creationId xmlns:a16="http://schemas.microsoft.com/office/drawing/2014/main" id="{C96910BD-EAEE-4546-BDA2-DB9945381360}"/>
              </a:ext>
            </a:extLst>
          </p:cNvPr>
          <p:cNvSpPr>
            <a:spLocks noGrp="1"/>
          </p:cNvSpPr>
          <p:nvPr/>
        </p:nvSpPr>
        <p:spPr>
          <a:xfrm>
            <a:off x="1438275" y="5172075"/>
            <a:ext cx="9334500" cy="514350"/>
          </a:xfrm>
          <a:prstGeom prst="rect">
            <a:avLst/>
          </a:prstGeom>
          <a:noFill/>
          <a:ln w="0">
            <a:noFill/>
          </a:ln>
        </p:spPr>
        <p:txBody>
          <a:bodyPr wrap="square" lIns="0" tIns="0" rIns="0" bIns="0" anchor="t">
            <a:noAutofit/>
          </a:bodyPr>
          <a:lstStyle/>
          <a:p>
            <a:pPr algn="l">
              <a:defRPr sz="2100" b="0">
                <a:solidFill>
                  <a:srgbClr val="182934"/>
                </a:solidFill>
                <a:latin typeface="Arial"/>
                <a:ea typeface="Arial"/>
                <a:cs typeface="Arial"/>
              </a:defRPr>
            </a:pPr>
            <a:r>
              <a:rPr sz="2100" b="0">
                <a:solidFill>
                  <a:srgbClr val="182934"/>
                </a:solidFill>
                <a:latin typeface="Arial"/>
                <a:ea typeface="Arial"/>
                <a:cs typeface="Arial"/>
              </a:rPr>
              <a:t>Same functional form  ·  same two drivers  ·  local or global residuals</a:t>
            </a:r>
          </a:p>
        </p:txBody>
      </p:sp>
      <p:sp>
        <p:nvSpPr>
          <p:cNvPr id="29" name="Rectangle 28">
            <a:extLst>
              <a:ext uri="{FF2B5EF4-FFF2-40B4-BE49-F238E27FC236}">
                <a16:creationId xmlns:a16="http://schemas.microsoft.com/office/drawing/2014/main" id="{E6972784-FBEA-4E5C-A340-DABB4378F5B9}"/>
              </a:ext>
            </a:extLst>
          </p:cNvPr>
          <p:cNvSpPr>
            <a:spLocks noGrp="1"/>
          </p:cNvSpPr>
          <p:nvPr/>
        </p:nvSpPr>
        <p:spPr>
          <a:xfrm>
            <a:off x="533400" y="598170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Scale-free algebra does not imply identical timescales, covariance or spatial averaging.</a:t>
            </a:r>
          </a:p>
        </p:txBody>
      </p:sp>
    </p:spTree>
    <p:extLst>
      <p:ext uri="{BB962C8B-B14F-4D97-AF65-F5344CB8AC3E}">
        <p14:creationId xmlns:p14="http://schemas.microsoft.com/office/powerpoint/2010/main" val="839903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4919AB-2F38-4FD6-A1D4-33990C1488B0}"/>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ANALYTIC CONTRIBUTION</a:t>
            </a:r>
          </a:p>
        </p:txBody>
      </p:sp>
      <p:sp>
        <p:nvSpPr>
          <p:cNvPr id="2" name="Rectangle 1">
            <a:extLst>
              <a:ext uri="{FF2B5EF4-FFF2-40B4-BE49-F238E27FC236}">
                <a16:creationId xmlns:a16="http://schemas.microsoft.com/office/drawing/2014/main" id="{BD6DEFBF-1993-4CDA-8924-8D8ADA152594}"/>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What this adds to earlier regulator models</a:t>
            </a:r>
          </a:p>
        </p:txBody>
      </p:sp>
      <p:sp>
        <p:nvSpPr>
          <p:cNvPr id="3" name="Rectangle 2">
            <a:extLst>
              <a:ext uri="{FF2B5EF4-FFF2-40B4-BE49-F238E27FC236}">
                <a16:creationId xmlns:a16="http://schemas.microsoft.com/office/drawing/2014/main" id="{A7C6A84A-34C0-42A4-89B6-356373FBD7BC}"/>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9AE5312A-CDEC-45C3-A927-CB68E20AAF51}"/>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74F49B8E-6631-42B6-A192-6785E57638B7}"/>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26</a:t>
            </a:r>
          </a:p>
        </p:txBody>
      </p:sp>
      <p:graphicFrame>
        <p:nvGraphicFramePr>
          <p:cNvPr id="14" name="Table 13"/>
          <p:cNvGraphicFramePr/>
          <p:nvPr/>
        </p:nvGraphicFramePr>
        <p:xfrm>
          <a:off x="419100" y="1619250"/>
          <a:ext cx="11353800" cy="3577590"/>
        </p:xfrm>
        <a:graphic>
          <a:graphicData uri="http://schemas.openxmlformats.org/drawingml/2006/table">
            <a:tbl>
              <a:tblPr/>
              <a:tblGrid>
                <a:gridCol w="2476500">
                  <a:extLst>
                    <a:ext uri="{9D8B030D-6E8A-4147-A177-3AD203B41FA5}">
                      <a16:colId xmlns:a16="http://schemas.microsoft.com/office/drawing/2014/main" val="20000"/>
                    </a:ext>
                  </a:extLst>
                </a:gridCol>
                <a:gridCol w="4552950">
                  <a:extLst>
                    <a:ext uri="{9D8B030D-6E8A-4147-A177-3AD203B41FA5}">
                      <a16:colId xmlns:a16="http://schemas.microsoft.com/office/drawing/2014/main" val="20001"/>
                    </a:ext>
                  </a:extLst>
                </a:gridCol>
                <a:gridCol w="4324350">
                  <a:extLst>
                    <a:ext uri="{9D8B030D-6E8A-4147-A177-3AD203B41FA5}">
                      <a16:colId xmlns:a16="http://schemas.microsoft.com/office/drawing/2014/main" val="20002"/>
                    </a:ext>
                  </a:extLst>
                </a:gridCol>
              </a:tblGrid>
              <a:tr h="704850">
                <a:tc>
                  <a:txBody>
                    <a:bodyPr/>
                    <a:lstStyle/>
                    <a:p>
                      <a:r>
                        <a:rPr sz="1650" b="1">
                          <a:solidFill>
                            <a:srgbClr val="FFFFFF"/>
                          </a:solidFill>
                          <a:latin typeface="Arial"/>
                          <a:ea typeface="Arial"/>
                          <a:cs typeface="Arial"/>
                        </a:rPr>
                        <a:t>Study / model</a:t>
                      </a:r>
                    </a:p>
                  </a:txBody>
                  <a:tcPr marL="142875" marR="142875" marT="114300" marB="114300" anchor="ctr">
                    <a:solidFill>
                      <a:srgbClr val="10222E"/>
                    </a:solidFill>
                  </a:tcPr>
                </a:tc>
                <a:tc>
                  <a:txBody>
                    <a:bodyPr/>
                    <a:lstStyle/>
                    <a:p>
                      <a:r>
                        <a:rPr sz="1650" b="1">
                          <a:solidFill>
                            <a:srgbClr val="FFFFFF"/>
                          </a:solidFill>
                          <a:latin typeface="Arial"/>
                          <a:ea typeface="Arial"/>
                          <a:cs typeface="Arial"/>
                        </a:rPr>
                        <a:t>Route to the sign</a:t>
                      </a:r>
                    </a:p>
                  </a:txBody>
                  <a:tcPr marL="142875" marR="142875" marT="114300" marB="114300" anchor="ctr">
                    <a:solidFill>
                      <a:srgbClr val="10222E"/>
                    </a:solidFill>
                  </a:tcPr>
                </a:tc>
                <a:tc>
                  <a:txBody>
                    <a:bodyPr/>
                    <a:lstStyle/>
                    <a:p>
                      <a:r>
                        <a:rPr sz="1650" b="1">
                          <a:solidFill>
                            <a:srgbClr val="FFFFFF"/>
                          </a:solidFill>
                          <a:latin typeface="Arial"/>
                          <a:ea typeface="Arial"/>
                          <a:cs typeface="Arial"/>
                        </a:rPr>
                        <a:t>Scope or limitation</a:t>
                      </a:r>
                    </a:p>
                  </a:txBody>
                  <a:tcPr marL="142875" marR="142875" marT="114300" marB="114300" anchor="ctr">
                    <a:solidFill>
                      <a:srgbClr val="10222E"/>
                    </a:solidFill>
                  </a:tcPr>
                </a:tc>
                <a:extLst>
                  <a:ext uri="{0D108BD9-81ED-4DB2-BD59-A6C34878D82A}">
                    <a16:rowId xmlns:a16="http://schemas.microsoft.com/office/drawing/2014/main" val="10000"/>
                  </a:ext>
                </a:extLst>
              </a:tr>
              <a:tr h="704850">
                <a:tc>
                  <a:txBody>
                    <a:bodyPr/>
                    <a:lstStyle/>
                    <a:p>
                      <a:r>
                        <a:rPr sz="1650" b="0">
                          <a:solidFill>
                            <a:srgbClr val="182934"/>
                          </a:solidFill>
                          <a:latin typeface="Arial"/>
                          <a:ea typeface="Arial"/>
                          <a:cs typeface="Arial"/>
                        </a:rPr>
                        <a:t>Common bathtub use</a:t>
                      </a:r>
                    </a:p>
                  </a:txBody>
                  <a:tcPr marL="142875" marR="142875" marT="114300" marB="114300" anchor="ctr">
                    <a:solidFill>
                      <a:srgbClr val="FFFFFF"/>
                    </a:solidFill>
                  </a:tcPr>
                </a:tc>
                <a:tc>
                  <a:txBody>
                    <a:bodyPr/>
                    <a:lstStyle/>
                    <a:p>
                      <a:r>
                        <a:rPr sz="1650" b="0">
                          <a:solidFill>
                            <a:srgbClr val="182934"/>
                          </a:solidFill>
                          <a:latin typeface="Arial"/>
                          <a:ea typeface="Arial"/>
                          <a:cs typeface="Arial"/>
                        </a:rPr>
                        <a:t>Inflow variability → negative</a:t>
                      </a:r>
                    </a:p>
                  </a:txBody>
                  <a:tcPr marL="142875" marR="142875" marT="114300" marB="114300" anchor="ctr">
                    <a:solidFill>
                      <a:srgbClr val="FFFFFF"/>
                    </a:solidFill>
                  </a:tcPr>
                </a:tc>
                <a:tc>
                  <a:txBody>
                    <a:bodyPr/>
                    <a:lstStyle/>
                    <a:p>
                      <a:r>
                        <a:rPr sz="1650" b="0">
                          <a:solidFill>
                            <a:srgbClr val="182934"/>
                          </a:solidFill>
                          <a:latin typeface="Arial"/>
                          <a:ea typeface="Arial"/>
                          <a:cs typeface="Arial"/>
                        </a:rPr>
                        <a:t>Usually foregrounds dilution</a:t>
                      </a:r>
                    </a:p>
                  </a:txBody>
                  <a:tcPr marL="142875" marR="142875" marT="114300" marB="114300" anchor="ctr">
                    <a:solidFill>
                      <a:srgbClr val="FFFFFF"/>
                    </a:solidFill>
                  </a:tcPr>
                </a:tc>
                <a:extLst>
                  <a:ext uri="{0D108BD9-81ED-4DB2-BD59-A6C34878D82A}">
                    <a16:rowId xmlns:a16="http://schemas.microsoft.com/office/drawing/2014/main" val="10001"/>
                  </a:ext>
                </a:extLst>
              </a:tr>
              <a:tr h="704850">
                <a:tc>
                  <a:txBody>
                    <a:bodyPr/>
                    <a:lstStyle/>
                    <a:p>
                      <a:r>
                        <a:rPr sz="1650" b="0">
                          <a:solidFill>
                            <a:srgbClr val="182934"/>
                          </a:solidFill>
                          <a:latin typeface="Arial"/>
                          <a:ea typeface="Arial"/>
                          <a:cs typeface="Arial"/>
                        </a:rPr>
                        <a:t>Forbes et al. 2014</a:t>
                      </a:r>
                    </a:p>
                  </a:txBody>
                  <a:tcPr marL="142875" marR="142875" marT="114300" marB="114300" anchor="ctr">
                    <a:solidFill>
                      <a:srgbClr val="F3F5F6"/>
                    </a:solidFill>
                  </a:tcPr>
                </a:tc>
                <a:tc>
                  <a:txBody>
                    <a:bodyPr/>
                    <a:lstStyle/>
                    <a:p>
                      <a:r>
                        <a:rPr sz="1650" b="0">
                          <a:solidFill>
                            <a:srgbClr val="182934"/>
                          </a:solidFill>
                          <a:latin typeface="Arial"/>
                          <a:ea typeface="Arial"/>
                          <a:cs typeface="Arial"/>
                        </a:rPr>
                        <a:t>Stochastic accretion; parameter scatter can alter covariance</a:t>
                      </a:r>
                    </a:p>
                  </a:txBody>
                  <a:tcPr marL="142875" marR="142875" marT="114300" marB="114300" anchor="ctr">
                    <a:solidFill>
                      <a:srgbClr val="F3F5F6"/>
                    </a:solidFill>
                  </a:tcPr>
                </a:tc>
                <a:tc>
                  <a:txBody>
                    <a:bodyPr/>
                    <a:lstStyle/>
                    <a:p>
                      <a:r>
                        <a:rPr sz="1650" b="0">
                          <a:solidFill>
                            <a:srgbClr val="182934"/>
                          </a:solidFill>
                          <a:latin typeface="Arial"/>
                          <a:ea typeface="Arial"/>
                          <a:cs typeface="Arial"/>
                        </a:rPr>
                        <a:t>Mass-loading route is feedback-sensitive</a:t>
                      </a:r>
                    </a:p>
                  </a:txBody>
                  <a:tcPr marL="142875" marR="142875" marT="114300" marB="114300" anchor="ctr">
                    <a:solidFill>
                      <a:srgbClr val="F3F5F6"/>
                    </a:solidFill>
                  </a:tcPr>
                </a:tc>
                <a:extLst>
                  <a:ext uri="{0D108BD9-81ED-4DB2-BD59-A6C34878D82A}">
                    <a16:rowId xmlns:a16="http://schemas.microsoft.com/office/drawing/2014/main" val="10002"/>
                  </a:ext>
                </a:extLst>
              </a:tr>
              <a:tr h="704850">
                <a:tc>
                  <a:txBody>
                    <a:bodyPr/>
                    <a:lstStyle/>
                    <a:p>
                      <a:r>
                        <a:rPr sz="1650" b="0">
                          <a:solidFill>
                            <a:srgbClr val="182934"/>
                          </a:solidFill>
                          <a:latin typeface="Arial"/>
                          <a:ea typeface="Arial"/>
                          <a:cs typeface="Arial"/>
                        </a:rPr>
                        <a:t>Wang &amp; Lilly 2021</a:t>
                      </a:r>
                    </a:p>
                  </a:txBody>
                  <a:tcPr marL="142875" marR="142875" marT="114300" marB="114300" anchor="ctr">
                    <a:solidFill>
                      <a:srgbClr val="FFFFFF"/>
                    </a:solidFill>
                  </a:tcPr>
                </a:tc>
                <a:tc>
                  <a:txBody>
                    <a:bodyPr/>
                    <a:lstStyle/>
                    <a:p>
                      <a:r>
                        <a:rPr sz="1650" b="0" dirty="0">
                          <a:solidFill>
                            <a:srgbClr val="182934"/>
                          </a:solidFill>
                          <a:latin typeface="Arial"/>
                          <a:ea typeface="Arial"/>
                          <a:cs typeface="Arial"/>
                        </a:rPr>
                        <a:t>SFE variability → positive; inflow → negative</a:t>
                      </a:r>
                    </a:p>
                  </a:txBody>
                  <a:tcPr marL="142875" marR="142875" marT="114300" marB="114300" anchor="ctr">
                    <a:solidFill>
                      <a:srgbClr val="FFFFFF"/>
                    </a:solidFill>
                  </a:tcPr>
                </a:tc>
                <a:tc>
                  <a:txBody>
                    <a:bodyPr/>
                    <a:lstStyle/>
                    <a:p>
                      <a:r>
                        <a:rPr sz="1650" b="0" dirty="0">
                          <a:solidFill>
                            <a:srgbClr val="182934"/>
                          </a:solidFill>
                          <a:latin typeface="Arial"/>
                          <a:ea typeface="Arial"/>
                          <a:cs typeface="Arial"/>
                        </a:rPr>
                        <a:t>Approximate analytic + numerical responses</a:t>
                      </a:r>
                    </a:p>
                  </a:txBody>
                  <a:tcPr marL="142875" marR="142875" marT="114300" marB="114300" anchor="ctr">
                    <a:solidFill>
                      <a:srgbClr val="FFFFFF"/>
                    </a:solidFill>
                  </a:tcPr>
                </a:tc>
                <a:extLst>
                  <a:ext uri="{0D108BD9-81ED-4DB2-BD59-A6C34878D82A}">
                    <a16:rowId xmlns:a16="http://schemas.microsoft.com/office/drawing/2014/main" val="10003"/>
                  </a:ext>
                </a:extLst>
              </a:tr>
              <a:tr h="704850">
                <a:tc>
                  <a:txBody>
                    <a:bodyPr/>
                    <a:lstStyle/>
                    <a:p>
                      <a:r>
                        <a:rPr sz="1650" b="0">
                          <a:solidFill>
                            <a:srgbClr val="182934"/>
                          </a:solidFill>
                          <a:latin typeface="Arial"/>
                          <a:ea typeface="Arial"/>
                          <a:cs typeface="Arial"/>
                        </a:rPr>
                        <a:t>This work</a:t>
                      </a:r>
                    </a:p>
                  </a:txBody>
                  <a:tcPr marL="142875" marR="142875" marT="114300" marB="114300" anchor="ctr">
                    <a:solidFill>
                      <a:srgbClr val="F3F5F6"/>
                    </a:solidFill>
                  </a:tcPr>
                </a:tc>
                <a:tc>
                  <a:txBody>
                    <a:bodyPr/>
                    <a:lstStyle/>
                    <a:p>
                      <a:r>
                        <a:rPr sz="1650" b="0">
                          <a:solidFill>
                            <a:srgbClr val="182934"/>
                          </a:solidFill>
                          <a:latin typeface="Arial"/>
                          <a:ea typeface="Arial"/>
                          <a:cs typeface="Arial"/>
                        </a:rPr>
                        <a:t>Relative SFR/SFE versus supply variability</a:t>
                      </a:r>
                    </a:p>
                  </a:txBody>
                  <a:tcPr marL="142875" marR="142875" marT="114300" marB="114300" anchor="ctr">
                    <a:solidFill>
                      <a:srgbClr val="F3F5F6"/>
                    </a:solidFill>
                  </a:tcPr>
                </a:tc>
                <a:tc>
                  <a:txBody>
                    <a:bodyPr/>
                    <a:lstStyle/>
                    <a:p>
                      <a:r>
                        <a:rPr sz="1650" b="0" dirty="0">
                          <a:solidFill>
                            <a:srgbClr val="182934"/>
                          </a:solidFill>
                          <a:latin typeface="Arial"/>
                          <a:ea typeface="Arial"/>
                          <a:cs typeface="Arial"/>
                        </a:rPr>
                        <a:t>One analytic rule; resolved → integrated</a:t>
                      </a:r>
                    </a:p>
                  </a:txBody>
                  <a:tcPr marL="142875" marR="142875" marT="114300" marB="114300" anchor="ctr">
                    <a:solidFill>
                      <a:srgbClr val="F3F5F6"/>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8309E0DE-0845-47EC-9D5A-B86E1ACCC00A}"/>
              </a:ext>
            </a:extLst>
          </p:cNvPr>
          <p:cNvSpPr>
            <a:spLocks noGrp="1"/>
          </p:cNvSpPr>
          <p:nvPr/>
        </p:nvSpPr>
        <p:spPr>
          <a:xfrm>
            <a:off x="533400" y="5429250"/>
            <a:ext cx="11125200" cy="533400"/>
          </a:xfrm>
          <a:prstGeom prst="rect">
            <a:avLst/>
          </a:prstGeom>
          <a:noFill/>
          <a:ln w="0">
            <a:noFill/>
          </a:ln>
        </p:spPr>
        <p:txBody>
          <a:bodyPr wrap="square" lIns="0" tIns="0" rIns="0" bIns="0" anchor="t">
            <a:noAutofit/>
          </a:bodyPr>
          <a:lstStyle/>
          <a:p>
            <a:pPr algn="l">
              <a:defRPr sz="2175" b="1">
                <a:solidFill>
                  <a:srgbClr val="182934"/>
                </a:solidFill>
                <a:latin typeface="Arial"/>
                <a:ea typeface="Arial"/>
                <a:cs typeface="Arial"/>
              </a:defRPr>
            </a:pPr>
            <a:r>
              <a:rPr sz="2175" b="1" dirty="0">
                <a:solidFill>
                  <a:srgbClr val="182934"/>
                </a:solidFill>
                <a:latin typeface="Arial"/>
                <a:ea typeface="Arial"/>
                <a:cs typeface="Arial"/>
              </a:rPr>
              <a:t>Con</a:t>
            </a:r>
            <a:r>
              <a:rPr lang="en-AU" sz="2175" b="1" dirty="0" err="1">
                <a:solidFill>
                  <a:srgbClr val="182934"/>
                </a:solidFill>
                <a:latin typeface="Arial"/>
                <a:ea typeface="Arial"/>
                <a:cs typeface="Arial"/>
              </a:rPr>
              <a:t>clus</a:t>
            </a:r>
            <a:r>
              <a:rPr sz="2175" b="1" dirty="0">
                <a:solidFill>
                  <a:srgbClr val="182934"/>
                </a:solidFill>
                <a:latin typeface="Arial"/>
                <a:ea typeface="Arial"/>
                <a:cs typeface="Arial"/>
              </a:rPr>
              <a:t>ion: the sign is a competition of relative driver </a:t>
            </a:r>
            <a:r>
              <a:rPr lang="en-AU" sz="2175" b="1" dirty="0" err="1">
                <a:solidFill>
                  <a:srgbClr val="182934"/>
                </a:solidFill>
                <a:latin typeface="Arial"/>
                <a:ea typeface="Arial"/>
                <a:cs typeface="Arial"/>
              </a:rPr>
              <a:t>variabilitie</a:t>
            </a:r>
            <a:r>
              <a:rPr sz="2175" b="1" dirty="0">
                <a:solidFill>
                  <a:srgbClr val="182934"/>
                </a:solidFill>
                <a:latin typeface="Arial"/>
                <a:ea typeface="Arial"/>
                <a:cs typeface="Arial"/>
              </a:rPr>
              <a:t>s.</a:t>
            </a:r>
          </a:p>
        </p:txBody>
      </p:sp>
      <p:sp>
        <p:nvSpPr>
          <p:cNvPr id="8" name="Rectangle 7">
            <a:extLst>
              <a:ext uri="{FF2B5EF4-FFF2-40B4-BE49-F238E27FC236}">
                <a16:creationId xmlns:a16="http://schemas.microsoft.com/office/drawing/2014/main" id="{8CC4F5E9-AB03-460A-BBFD-706058BB0EBF}"/>
              </a:ext>
            </a:extLst>
          </p:cNvPr>
          <p:cNvSpPr>
            <a:spLocks noGrp="1"/>
          </p:cNvSpPr>
          <p:nvPr/>
        </p:nvSpPr>
        <p:spPr>
          <a:xfrm>
            <a:off x="533400" y="60007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Literature positioning is mechanism-specific; prior positive routes are acknowledged.</a:t>
            </a:r>
          </a:p>
        </p:txBody>
      </p:sp>
    </p:spTree>
    <p:extLst>
      <p:ext uri="{BB962C8B-B14F-4D97-AF65-F5344CB8AC3E}">
        <p14:creationId xmlns:p14="http://schemas.microsoft.com/office/powerpoint/2010/main" val="2079025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0222E"/>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1BDA6D5-C0EE-4431-8D1B-E064F662B304}"/>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C8AAC6"/>
                </a:solidFill>
                <a:latin typeface="Arial"/>
                <a:ea typeface="Arial"/>
                <a:cs typeface="Arial"/>
              </a:defRPr>
            </a:pPr>
            <a:r>
              <a:rPr sz="1125" b="1">
                <a:solidFill>
                  <a:srgbClr val="C8AAC6"/>
                </a:solidFill>
                <a:latin typeface="Arial"/>
                <a:ea typeface="Arial"/>
                <a:cs typeface="Arial"/>
              </a:rPr>
              <a:t>ONGOING WORK / PRELIMINARY</a:t>
            </a:r>
          </a:p>
        </p:txBody>
      </p:sp>
      <p:sp>
        <p:nvSpPr>
          <p:cNvPr id="2" name="Rectangle 1">
            <a:extLst>
              <a:ext uri="{FF2B5EF4-FFF2-40B4-BE49-F238E27FC236}">
                <a16:creationId xmlns:a16="http://schemas.microsoft.com/office/drawing/2014/main" id="{6BEC93F2-DBFA-4FF6-B85C-B31CF7C77950}"/>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FFFFFF"/>
                </a:solidFill>
                <a:latin typeface="Arial"/>
                <a:ea typeface="Arial"/>
                <a:cs typeface="Arial"/>
              </a:defRPr>
            </a:pPr>
            <a:r>
              <a:rPr sz="2850" b="1" dirty="0">
                <a:solidFill>
                  <a:srgbClr val="FFFFFF"/>
                </a:solidFill>
                <a:latin typeface="Arial"/>
                <a:ea typeface="Arial"/>
                <a:cs typeface="Arial"/>
              </a:rPr>
              <a:t>Where star formation remains along the RPS sequence</a:t>
            </a:r>
          </a:p>
        </p:txBody>
      </p:sp>
      <p:sp>
        <p:nvSpPr>
          <p:cNvPr id="3" name="Rectangle 2">
            <a:extLst>
              <a:ext uri="{FF2B5EF4-FFF2-40B4-BE49-F238E27FC236}">
                <a16:creationId xmlns:a16="http://schemas.microsoft.com/office/drawing/2014/main" id="{29A65BEA-C967-4B46-B0BA-F32BA9162B58}"/>
              </a:ext>
            </a:extLst>
          </p:cNvPr>
          <p:cNvSpPr>
            <a:spLocks noGrp="1"/>
          </p:cNvSpPr>
          <p:nvPr/>
        </p:nvSpPr>
        <p:spPr>
          <a:xfrm>
            <a:off x="533400" y="6419850"/>
            <a:ext cx="11125200" cy="9525"/>
          </a:xfrm>
          <a:prstGeom prst="rect">
            <a:avLst/>
          </a:prstGeom>
          <a:solidFill>
            <a:srgbClr val="44606F"/>
          </a:solidFill>
          <a:ln w="0">
            <a:noFill/>
          </a:ln>
        </p:spPr>
        <p:txBody>
          <a:bodyPr/>
          <a:lstStyle/>
          <a:p>
            <a:endParaRPr lang="en-US"/>
          </a:p>
        </p:txBody>
      </p:sp>
      <p:sp>
        <p:nvSpPr>
          <p:cNvPr id="4" name="Rectangle 3">
            <a:extLst>
              <a:ext uri="{FF2B5EF4-FFF2-40B4-BE49-F238E27FC236}">
                <a16:creationId xmlns:a16="http://schemas.microsoft.com/office/drawing/2014/main" id="{BC7D745C-9EF3-46BC-832B-8D9150F77365}"/>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C8D3D8"/>
                </a:solidFill>
                <a:latin typeface="Arial"/>
                <a:ea typeface="Arial"/>
                <a:cs typeface="Arial"/>
              </a:defRPr>
            </a:pPr>
            <a:r>
              <a:rPr sz="975" b="0">
                <a:solidFill>
                  <a:srgbClr val="C8D3D8"/>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E1254F3B-69A5-468C-A3CC-ECB4F014C49C}"/>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C8D3D8"/>
                </a:solidFill>
                <a:latin typeface="Arial"/>
                <a:ea typeface="Arial"/>
                <a:cs typeface="Arial"/>
              </a:defRPr>
            </a:pPr>
            <a:r>
              <a:rPr sz="1200" b="0">
                <a:solidFill>
                  <a:srgbClr val="C8D3D8"/>
                </a:solidFill>
                <a:latin typeface="Arial"/>
                <a:ea typeface="Arial"/>
                <a:cs typeface="Arial"/>
              </a:rPr>
              <a:t>27</a:t>
            </a:r>
          </a:p>
        </p:txBody>
      </p:sp>
      <p:sp>
        <p:nvSpPr>
          <p:cNvPr id="6" name="Rectangle 5">
            <a:extLst>
              <a:ext uri="{FF2B5EF4-FFF2-40B4-BE49-F238E27FC236}">
                <a16:creationId xmlns:a16="http://schemas.microsoft.com/office/drawing/2014/main" id="{33763ECD-A9C2-4F30-89BC-15E8D22DCB0E}"/>
              </a:ext>
            </a:extLst>
          </p:cNvPr>
          <p:cNvSpPr>
            <a:spLocks noGrp="1"/>
          </p:cNvSpPr>
          <p:nvPr/>
        </p:nvSpPr>
        <p:spPr>
          <a:xfrm>
            <a:off x="581025" y="2095500"/>
            <a:ext cx="3219450" cy="1190625"/>
          </a:xfrm>
          <a:prstGeom prst="rect">
            <a:avLst/>
          </a:prstGeom>
          <a:noFill/>
          <a:ln w="0">
            <a:noFill/>
          </a:ln>
        </p:spPr>
        <p:txBody>
          <a:bodyPr wrap="square" lIns="0" tIns="0" rIns="0" bIns="0" anchor="t">
            <a:noAutofit/>
          </a:bodyPr>
          <a:lstStyle/>
          <a:p>
            <a:pPr algn="ctr">
              <a:defRPr sz="6825" b="1">
                <a:solidFill>
                  <a:srgbClr val="FFFFFF"/>
                </a:solidFill>
                <a:latin typeface="Arial"/>
                <a:ea typeface="Arial"/>
                <a:cs typeface="Arial"/>
              </a:defRPr>
            </a:pPr>
            <a:r>
              <a:rPr sz="6825" b="1">
                <a:solidFill>
                  <a:srgbClr val="FFFFFF"/>
                </a:solidFill>
                <a:latin typeface="Arial"/>
                <a:ea typeface="Arial"/>
                <a:cs typeface="Arial"/>
              </a:rPr>
              <a:t>8</a:t>
            </a:r>
          </a:p>
        </p:txBody>
      </p:sp>
      <p:sp>
        <p:nvSpPr>
          <p:cNvPr id="7" name="Rectangle 6">
            <a:extLst>
              <a:ext uri="{FF2B5EF4-FFF2-40B4-BE49-F238E27FC236}">
                <a16:creationId xmlns:a16="http://schemas.microsoft.com/office/drawing/2014/main" id="{31002EED-3747-4DD0-A94E-5DE9174C176B}"/>
              </a:ext>
            </a:extLst>
          </p:cNvPr>
          <p:cNvSpPr>
            <a:spLocks noGrp="1"/>
          </p:cNvSpPr>
          <p:nvPr/>
        </p:nvSpPr>
        <p:spPr>
          <a:xfrm>
            <a:off x="581025" y="3486150"/>
            <a:ext cx="3219450" cy="590550"/>
          </a:xfrm>
          <a:prstGeom prst="rect">
            <a:avLst/>
          </a:prstGeom>
          <a:noFill/>
          <a:ln w="0">
            <a:noFill/>
          </a:ln>
        </p:spPr>
        <p:txBody>
          <a:bodyPr wrap="square" lIns="0" tIns="0" rIns="0" bIns="0" anchor="t">
            <a:noAutofit/>
          </a:bodyPr>
          <a:lstStyle/>
          <a:p>
            <a:pPr algn="ctr">
              <a:defRPr sz="2325" b="1">
                <a:solidFill>
                  <a:srgbClr val="D7BDD5"/>
                </a:solidFill>
                <a:latin typeface="Arial"/>
                <a:ea typeface="Arial"/>
                <a:cs typeface="Arial"/>
              </a:defRPr>
            </a:pPr>
            <a:r>
              <a:rPr sz="2325" b="1">
                <a:solidFill>
                  <a:srgbClr val="D7BDD5"/>
                </a:solidFill>
                <a:latin typeface="Arial"/>
                <a:ea typeface="Arial"/>
                <a:cs typeface="Arial"/>
              </a:rPr>
              <a:t>Pre-peak</a:t>
            </a:r>
          </a:p>
        </p:txBody>
      </p:sp>
      <p:sp>
        <p:nvSpPr>
          <p:cNvPr id="8" name="Rectangle 7">
            <a:extLst>
              <a:ext uri="{FF2B5EF4-FFF2-40B4-BE49-F238E27FC236}">
                <a16:creationId xmlns:a16="http://schemas.microsoft.com/office/drawing/2014/main" id="{D37A5C69-4C76-4E68-8967-F9E1963C8BF8}"/>
              </a:ext>
            </a:extLst>
          </p:cNvPr>
          <p:cNvSpPr>
            <a:spLocks noGrp="1"/>
          </p:cNvSpPr>
          <p:nvPr/>
        </p:nvSpPr>
        <p:spPr>
          <a:xfrm>
            <a:off x="4467225" y="2095500"/>
            <a:ext cx="3219450" cy="1190625"/>
          </a:xfrm>
          <a:prstGeom prst="rect">
            <a:avLst/>
          </a:prstGeom>
          <a:noFill/>
          <a:ln w="0">
            <a:noFill/>
          </a:ln>
        </p:spPr>
        <p:txBody>
          <a:bodyPr wrap="square" lIns="0" tIns="0" rIns="0" bIns="0" anchor="t">
            <a:noAutofit/>
          </a:bodyPr>
          <a:lstStyle/>
          <a:p>
            <a:pPr algn="ctr">
              <a:defRPr sz="6825" b="1">
                <a:solidFill>
                  <a:srgbClr val="FFFFFF"/>
                </a:solidFill>
                <a:latin typeface="Arial"/>
                <a:ea typeface="Arial"/>
                <a:cs typeface="Arial"/>
              </a:defRPr>
            </a:pPr>
            <a:r>
              <a:rPr sz="6825" b="1">
                <a:solidFill>
                  <a:srgbClr val="FFFFFF"/>
                </a:solidFill>
                <a:latin typeface="Arial"/>
                <a:ea typeface="Arial"/>
                <a:cs typeface="Arial"/>
              </a:rPr>
              <a:t>5</a:t>
            </a:r>
          </a:p>
        </p:txBody>
      </p:sp>
      <p:sp>
        <p:nvSpPr>
          <p:cNvPr id="9" name="Rectangle 8">
            <a:extLst>
              <a:ext uri="{FF2B5EF4-FFF2-40B4-BE49-F238E27FC236}">
                <a16:creationId xmlns:a16="http://schemas.microsoft.com/office/drawing/2014/main" id="{FFB5D363-CFE4-436E-ACBB-DBBF4CB44A18}"/>
              </a:ext>
            </a:extLst>
          </p:cNvPr>
          <p:cNvSpPr>
            <a:spLocks noGrp="1"/>
          </p:cNvSpPr>
          <p:nvPr/>
        </p:nvSpPr>
        <p:spPr>
          <a:xfrm>
            <a:off x="4467225" y="3486150"/>
            <a:ext cx="3219450" cy="590550"/>
          </a:xfrm>
          <a:prstGeom prst="rect">
            <a:avLst/>
          </a:prstGeom>
          <a:noFill/>
          <a:ln w="0">
            <a:noFill/>
          </a:ln>
        </p:spPr>
        <p:txBody>
          <a:bodyPr wrap="square" lIns="0" tIns="0" rIns="0" bIns="0" anchor="t">
            <a:noAutofit/>
          </a:bodyPr>
          <a:lstStyle/>
          <a:p>
            <a:pPr algn="ctr">
              <a:defRPr sz="2325" b="1">
                <a:solidFill>
                  <a:srgbClr val="D7BDD5"/>
                </a:solidFill>
                <a:latin typeface="Arial"/>
                <a:ea typeface="Arial"/>
                <a:cs typeface="Arial"/>
              </a:defRPr>
            </a:pPr>
            <a:r>
              <a:rPr sz="2325" b="1">
                <a:solidFill>
                  <a:srgbClr val="D7BDD5"/>
                </a:solidFill>
                <a:latin typeface="Arial"/>
                <a:ea typeface="Arial"/>
                <a:cs typeface="Arial"/>
              </a:rPr>
              <a:t>Close-to-peak</a:t>
            </a:r>
          </a:p>
        </p:txBody>
      </p:sp>
      <p:sp>
        <p:nvSpPr>
          <p:cNvPr id="10" name="Rectangle 9">
            <a:extLst>
              <a:ext uri="{FF2B5EF4-FFF2-40B4-BE49-F238E27FC236}">
                <a16:creationId xmlns:a16="http://schemas.microsoft.com/office/drawing/2014/main" id="{241C0C02-FB64-4E10-8A02-7AD55D2082DE}"/>
              </a:ext>
            </a:extLst>
          </p:cNvPr>
          <p:cNvSpPr>
            <a:spLocks noGrp="1"/>
          </p:cNvSpPr>
          <p:nvPr/>
        </p:nvSpPr>
        <p:spPr>
          <a:xfrm>
            <a:off x="8353425" y="2095500"/>
            <a:ext cx="3219450" cy="1190625"/>
          </a:xfrm>
          <a:prstGeom prst="rect">
            <a:avLst/>
          </a:prstGeom>
          <a:noFill/>
          <a:ln w="0">
            <a:noFill/>
          </a:ln>
        </p:spPr>
        <p:txBody>
          <a:bodyPr wrap="square" lIns="0" tIns="0" rIns="0" bIns="0" anchor="t">
            <a:noAutofit/>
          </a:bodyPr>
          <a:lstStyle/>
          <a:p>
            <a:pPr algn="ctr">
              <a:defRPr sz="6825" b="1">
                <a:solidFill>
                  <a:srgbClr val="FFFFFF"/>
                </a:solidFill>
                <a:latin typeface="Arial"/>
                <a:ea typeface="Arial"/>
                <a:cs typeface="Arial"/>
              </a:defRPr>
            </a:pPr>
            <a:r>
              <a:rPr sz="6825" b="1">
                <a:solidFill>
                  <a:srgbClr val="FFFFFF"/>
                </a:solidFill>
                <a:latin typeface="Arial"/>
                <a:ea typeface="Arial"/>
                <a:cs typeface="Arial"/>
              </a:rPr>
              <a:t>13</a:t>
            </a:r>
          </a:p>
        </p:txBody>
      </p:sp>
      <p:sp>
        <p:nvSpPr>
          <p:cNvPr id="11" name="Rectangle 10">
            <a:extLst>
              <a:ext uri="{FF2B5EF4-FFF2-40B4-BE49-F238E27FC236}">
                <a16:creationId xmlns:a16="http://schemas.microsoft.com/office/drawing/2014/main" id="{CFA445E5-3125-4E30-8B9A-A7DB580449A1}"/>
              </a:ext>
            </a:extLst>
          </p:cNvPr>
          <p:cNvSpPr>
            <a:spLocks noGrp="1"/>
          </p:cNvSpPr>
          <p:nvPr/>
        </p:nvSpPr>
        <p:spPr>
          <a:xfrm>
            <a:off x="8353425" y="3486150"/>
            <a:ext cx="3219450" cy="590550"/>
          </a:xfrm>
          <a:prstGeom prst="rect">
            <a:avLst/>
          </a:prstGeom>
          <a:noFill/>
          <a:ln w="0">
            <a:noFill/>
          </a:ln>
        </p:spPr>
        <p:txBody>
          <a:bodyPr wrap="square" lIns="0" tIns="0" rIns="0" bIns="0" anchor="t">
            <a:noAutofit/>
          </a:bodyPr>
          <a:lstStyle/>
          <a:p>
            <a:pPr algn="ctr">
              <a:defRPr sz="2325" b="1">
                <a:solidFill>
                  <a:srgbClr val="D7BDD5"/>
                </a:solidFill>
                <a:latin typeface="Arial"/>
                <a:ea typeface="Arial"/>
                <a:cs typeface="Arial"/>
              </a:defRPr>
            </a:pPr>
            <a:r>
              <a:rPr sz="2325" b="1">
                <a:solidFill>
                  <a:srgbClr val="D7BDD5"/>
                </a:solidFill>
                <a:latin typeface="Arial"/>
                <a:ea typeface="Arial"/>
                <a:cs typeface="Arial"/>
              </a:rPr>
              <a:t>Post-peak</a:t>
            </a:r>
          </a:p>
        </p:txBody>
      </p:sp>
      <p:sp>
        <p:nvSpPr>
          <p:cNvPr id="12" name="Rectangle 11">
            <a:extLst>
              <a:ext uri="{FF2B5EF4-FFF2-40B4-BE49-F238E27FC236}">
                <a16:creationId xmlns:a16="http://schemas.microsoft.com/office/drawing/2014/main" id="{9F34C52B-A547-4EF2-9334-1B37DB36C585}"/>
              </a:ext>
            </a:extLst>
          </p:cNvPr>
          <p:cNvSpPr>
            <a:spLocks noGrp="1"/>
          </p:cNvSpPr>
          <p:nvPr/>
        </p:nvSpPr>
        <p:spPr>
          <a:xfrm>
            <a:off x="1323975" y="4752975"/>
            <a:ext cx="9525000" cy="1019175"/>
          </a:xfrm>
          <a:prstGeom prst="rect">
            <a:avLst/>
          </a:prstGeom>
          <a:noFill/>
          <a:ln w="0">
            <a:noFill/>
          </a:ln>
        </p:spPr>
        <p:txBody>
          <a:bodyPr wrap="square" lIns="0" tIns="0" rIns="0" bIns="0" anchor="t">
            <a:noAutofit/>
          </a:bodyPr>
          <a:lstStyle/>
          <a:p>
            <a:pPr algn="l">
              <a:defRPr sz="2400" b="0">
                <a:solidFill>
                  <a:srgbClr val="FFFFFF"/>
                </a:solidFill>
                <a:latin typeface="Arial"/>
                <a:ea typeface="Arial"/>
                <a:cs typeface="Arial"/>
              </a:defRPr>
            </a:pPr>
            <a:r>
              <a:rPr sz="2400" b="0" dirty="0">
                <a:solidFill>
                  <a:srgbClr val="FFFFFF"/>
                </a:solidFill>
                <a:latin typeface="Arial"/>
                <a:ea typeface="Arial"/>
                <a:cs typeface="Arial"/>
              </a:rPr>
              <a:t>26 product systems in this analysis snapshot</a:t>
            </a:r>
          </a:p>
          <a:p>
            <a:pPr algn="l">
              <a:defRPr sz="2400" b="0">
                <a:solidFill>
                  <a:srgbClr val="FFFFFF"/>
                </a:solidFill>
                <a:latin typeface="Arial"/>
                <a:ea typeface="Arial"/>
                <a:cs typeface="Arial"/>
              </a:defRPr>
            </a:pPr>
            <a:r>
              <a:rPr sz="2400" b="0" dirty="0">
                <a:solidFill>
                  <a:srgbClr val="FFFFFF"/>
                </a:solidFill>
                <a:latin typeface="Arial"/>
                <a:ea typeface="Arial"/>
                <a:cs typeface="Arial"/>
              </a:rPr>
              <a:t>Where is the selected SF population still present?</a:t>
            </a:r>
          </a:p>
        </p:txBody>
      </p:sp>
      <p:sp>
        <p:nvSpPr>
          <p:cNvPr id="13" name="Rectangle 12">
            <a:extLst>
              <a:ext uri="{FF2B5EF4-FFF2-40B4-BE49-F238E27FC236}">
                <a16:creationId xmlns:a16="http://schemas.microsoft.com/office/drawing/2014/main" id="{C20DD307-D6B7-478E-B651-0AC2B3A11C44}"/>
              </a:ext>
            </a:extLst>
          </p:cNvPr>
          <p:cNvSpPr>
            <a:spLocks noGrp="1"/>
          </p:cNvSpPr>
          <p:nvPr/>
        </p:nvSpPr>
        <p:spPr>
          <a:xfrm>
            <a:off x="533400" y="6096000"/>
            <a:ext cx="11125200" cy="295275"/>
          </a:xfrm>
          <a:prstGeom prst="rect">
            <a:avLst/>
          </a:prstGeom>
          <a:noFill/>
          <a:ln w="0">
            <a:noFill/>
          </a:ln>
        </p:spPr>
        <p:txBody>
          <a:bodyPr wrap="square" lIns="0" tIns="0" rIns="0" bIns="0" anchor="t">
            <a:noAutofit/>
          </a:bodyPr>
          <a:lstStyle/>
          <a:p>
            <a:pPr algn="l">
              <a:defRPr sz="1275" b="0">
                <a:solidFill>
                  <a:srgbClr val="C8D3D8"/>
                </a:solidFill>
                <a:latin typeface="Arial"/>
                <a:ea typeface="Arial"/>
                <a:cs typeface="Arial"/>
              </a:defRPr>
            </a:pPr>
            <a:r>
              <a:rPr sz="1275" b="0">
                <a:solidFill>
                  <a:srgbClr val="C8D3D8"/>
                </a:solidFill>
                <a:latin typeface="Arial"/>
                <a:ea typeface="Arial"/>
                <a:cs typeface="Arial"/>
              </a:rPr>
              <a:t>Existing September analysis; NGC4567_8 is one product for two physical components.</a:t>
            </a:r>
          </a:p>
        </p:txBody>
      </p:sp>
    </p:spTree>
    <p:extLst>
      <p:ext uri="{BB962C8B-B14F-4D97-AF65-F5344CB8AC3E}">
        <p14:creationId xmlns:p14="http://schemas.microsoft.com/office/powerpoint/2010/main" val="240793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CF3AE3-11DD-46ED-B8AA-ECFB69459C2E}"/>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ONGOING WORK / PRELIMINARY</a:t>
            </a:r>
          </a:p>
        </p:txBody>
      </p:sp>
      <p:sp>
        <p:nvSpPr>
          <p:cNvPr id="2" name="Rectangle 1">
            <a:extLst>
              <a:ext uri="{FF2B5EF4-FFF2-40B4-BE49-F238E27FC236}">
                <a16:creationId xmlns:a16="http://schemas.microsoft.com/office/drawing/2014/main" id="{6C50EC85-5095-4182-B479-CE93C5FBA613}"/>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SF, ND and NSF measure different outcomes</a:t>
            </a:r>
          </a:p>
        </p:txBody>
      </p:sp>
      <p:sp>
        <p:nvSpPr>
          <p:cNvPr id="3" name="Rectangle 2">
            <a:extLst>
              <a:ext uri="{FF2B5EF4-FFF2-40B4-BE49-F238E27FC236}">
                <a16:creationId xmlns:a16="http://schemas.microsoft.com/office/drawing/2014/main" id="{8E2881D6-B4DF-4C0F-9C9F-979EF263B8AA}"/>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DC40C5A7-46E8-4A1F-9687-A9DB1528B3FD}"/>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67275166-0ABD-40AF-9C5E-9BEAC77E7853}"/>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28</a:t>
            </a:r>
          </a:p>
        </p:txBody>
      </p:sp>
      <p:graphicFrame>
        <p:nvGraphicFramePr>
          <p:cNvPr id="14" name="Table 13"/>
          <p:cNvGraphicFramePr/>
          <p:nvPr/>
        </p:nvGraphicFramePr>
        <p:xfrm>
          <a:off x="533400" y="1771650"/>
          <a:ext cx="11125200" cy="2943224"/>
        </p:xfrm>
        <a:graphic>
          <a:graphicData uri="http://schemas.openxmlformats.org/drawingml/2006/table">
            <a:tbl>
              <a:tblPr/>
              <a:tblGrid>
                <a:gridCol w="1628775">
                  <a:extLst>
                    <a:ext uri="{9D8B030D-6E8A-4147-A177-3AD203B41FA5}">
                      <a16:colId xmlns:a16="http://schemas.microsoft.com/office/drawing/2014/main" val="20000"/>
                    </a:ext>
                  </a:extLst>
                </a:gridCol>
                <a:gridCol w="5419725">
                  <a:extLst>
                    <a:ext uri="{9D8B030D-6E8A-4147-A177-3AD203B41FA5}">
                      <a16:colId xmlns:a16="http://schemas.microsoft.com/office/drawing/2014/main" val="20001"/>
                    </a:ext>
                  </a:extLst>
                </a:gridCol>
                <a:gridCol w="4076700">
                  <a:extLst>
                    <a:ext uri="{9D8B030D-6E8A-4147-A177-3AD203B41FA5}">
                      <a16:colId xmlns:a16="http://schemas.microsoft.com/office/drawing/2014/main" val="20002"/>
                    </a:ext>
                  </a:extLst>
                </a:gridCol>
              </a:tblGrid>
              <a:tr h="735806">
                <a:tc>
                  <a:txBody>
                    <a:bodyPr/>
                    <a:lstStyle/>
                    <a:p>
                      <a:r>
                        <a:rPr sz="1950" b="1">
                          <a:solidFill>
                            <a:srgbClr val="FFFFFF"/>
                          </a:solidFill>
                          <a:latin typeface="Arial"/>
                          <a:ea typeface="Arial"/>
                          <a:cs typeface="Arial"/>
                        </a:rPr>
                        <a:t>Category</a:t>
                      </a:r>
                    </a:p>
                  </a:txBody>
                  <a:tcPr marL="142875" marR="142875" marT="114300" marB="114300" anchor="ctr">
                    <a:solidFill>
                      <a:srgbClr val="10222E"/>
                    </a:solidFill>
                  </a:tcPr>
                </a:tc>
                <a:tc>
                  <a:txBody>
                    <a:bodyPr/>
                    <a:lstStyle/>
                    <a:p>
                      <a:r>
                        <a:rPr sz="1950" b="1">
                          <a:solidFill>
                            <a:srgbClr val="FFFFFF"/>
                          </a:solidFill>
                          <a:latin typeface="Arial"/>
                          <a:ea typeface="Arial"/>
                          <a:cs typeface="Arial"/>
                        </a:rPr>
                        <a:t>Operational definition</a:t>
                      </a:r>
                    </a:p>
                  </a:txBody>
                  <a:tcPr marL="142875" marR="142875" marT="114300" marB="114300" anchor="ctr">
                    <a:solidFill>
                      <a:srgbClr val="10222E"/>
                    </a:solidFill>
                  </a:tcPr>
                </a:tc>
                <a:tc>
                  <a:txBody>
                    <a:bodyPr/>
                    <a:lstStyle/>
                    <a:p>
                      <a:r>
                        <a:rPr sz="1950" b="1">
                          <a:solidFill>
                            <a:srgbClr val="FFFFFF"/>
                          </a:solidFill>
                          <a:latin typeface="Arial"/>
                          <a:ea typeface="Arial"/>
                          <a:cs typeface="Arial"/>
                        </a:rPr>
                        <a:t>Interpretive limit</a:t>
                      </a:r>
                    </a:p>
                  </a:txBody>
                  <a:tcPr marL="142875" marR="142875" marT="114300" marB="114300" anchor="ctr">
                    <a:solidFill>
                      <a:srgbClr val="10222E"/>
                    </a:solidFill>
                  </a:tcPr>
                </a:tc>
                <a:extLst>
                  <a:ext uri="{0D108BD9-81ED-4DB2-BD59-A6C34878D82A}">
                    <a16:rowId xmlns:a16="http://schemas.microsoft.com/office/drawing/2014/main" val="10000"/>
                  </a:ext>
                </a:extLst>
              </a:tr>
              <a:tr h="735806">
                <a:tc>
                  <a:txBody>
                    <a:bodyPr/>
                    <a:lstStyle/>
                    <a:p>
                      <a:r>
                        <a:rPr sz="1950" b="0">
                          <a:solidFill>
                            <a:srgbClr val="182934"/>
                          </a:solidFill>
                          <a:latin typeface="Arial"/>
                          <a:ea typeface="Arial"/>
                          <a:cs typeface="Arial"/>
                        </a:rPr>
                        <a:t>SF</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Selected HII + EW + dispersion</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A selected SF population</a:t>
                      </a:r>
                    </a:p>
                  </a:txBody>
                  <a:tcPr marL="142875" marR="142875" marT="114300" marB="114300" anchor="ctr">
                    <a:solidFill>
                      <a:srgbClr val="FFFFFF"/>
                    </a:solidFill>
                  </a:tcPr>
                </a:tc>
                <a:extLst>
                  <a:ext uri="{0D108BD9-81ED-4DB2-BD59-A6C34878D82A}">
                    <a16:rowId xmlns:a16="http://schemas.microsoft.com/office/drawing/2014/main" val="10001"/>
                  </a:ext>
                </a:extLst>
              </a:tr>
              <a:tr h="735806">
                <a:tc>
                  <a:txBody>
                    <a:bodyPr/>
                    <a:lstStyle/>
                    <a:p>
                      <a:r>
                        <a:rPr sz="1950" b="0">
                          <a:solidFill>
                            <a:srgbClr val="182934"/>
                          </a:solidFill>
                          <a:latin typeface="Arial"/>
                          <a:ea typeface="Arial"/>
                          <a:cs typeface="Arial"/>
                        </a:rPr>
                        <a:t>ND</a:t>
                      </a:r>
                    </a:p>
                  </a:txBody>
                  <a:tcPr marL="142875" marR="142875" marT="114300" marB="114300" anchor="ctr">
                    <a:solidFill>
                      <a:srgbClr val="F3F5F6"/>
                    </a:solidFill>
                  </a:tcPr>
                </a:tc>
                <a:tc>
                  <a:txBody>
                    <a:bodyPr/>
                    <a:lstStyle/>
                    <a:p>
                      <a:r>
                        <a:rPr sz="1950" b="0">
                          <a:solidFill>
                            <a:srgbClr val="182934"/>
                          </a:solidFill>
                          <a:latin typeface="Arial"/>
                          <a:ea typeface="Arial"/>
                          <a:cs typeface="Arial"/>
                        </a:rPr>
                        <a:t>Required Balmer detection fails</a:t>
                      </a:r>
                    </a:p>
                  </a:txBody>
                  <a:tcPr marL="142875" marR="142875" marT="114300" marB="114300" anchor="ctr">
                    <a:solidFill>
                      <a:srgbClr val="F3F5F6"/>
                    </a:solidFill>
                  </a:tcPr>
                </a:tc>
                <a:tc>
                  <a:txBody>
                    <a:bodyPr/>
                    <a:lstStyle/>
                    <a:p>
                      <a:r>
                        <a:rPr sz="1950" b="0">
                          <a:solidFill>
                            <a:srgbClr val="182934"/>
                          </a:solidFill>
                          <a:latin typeface="Arial"/>
                          <a:ea typeface="Arial"/>
                          <a:cs typeface="Arial"/>
                        </a:rPr>
                        <a:t>Sensitivity-limited</a:t>
                      </a:r>
                    </a:p>
                  </a:txBody>
                  <a:tcPr marL="142875" marR="142875" marT="114300" marB="114300" anchor="ctr">
                    <a:solidFill>
                      <a:srgbClr val="F3F5F6"/>
                    </a:solidFill>
                  </a:tcPr>
                </a:tc>
                <a:extLst>
                  <a:ext uri="{0D108BD9-81ED-4DB2-BD59-A6C34878D82A}">
                    <a16:rowId xmlns:a16="http://schemas.microsoft.com/office/drawing/2014/main" val="10002"/>
                  </a:ext>
                </a:extLst>
              </a:tr>
              <a:tr h="735806">
                <a:tc>
                  <a:txBody>
                    <a:bodyPr/>
                    <a:lstStyle/>
                    <a:p>
                      <a:r>
                        <a:rPr sz="1950" b="0">
                          <a:solidFill>
                            <a:srgbClr val="182934"/>
                          </a:solidFill>
                          <a:latin typeface="Arial"/>
                          <a:ea typeface="Arial"/>
                          <a:cs typeface="Arial"/>
                        </a:rPr>
                        <a:t>NSF</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Balmer detected; fails SF selection</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Several excitation mechanisms</a:t>
                      </a:r>
                    </a:p>
                  </a:txBody>
                  <a:tcPr marL="142875" marR="142875"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49A56A82-85C9-4101-A1F3-F33A5F2AADDA}"/>
              </a:ext>
            </a:extLst>
          </p:cNvPr>
          <p:cNvSpPr>
            <a:spLocks noGrp="1"/>
          </p:cNvSpPr>
          <p:nvPr/>
        </p:nvSpPr>
        <p:spPr>
          <a:xfrm>
            <a:off x="533400" y="5200650"/>
            <a:ext cx="11125200" cy="561975"/>
          </a:xfrm>
          <a:prstGeom prst="rect">
            <a:avLst/>
          </a:prstGeom>
          <a:noFill/>
          <a:ln w="0">
            <a:noFill/>
          </a:ln>
        </p:spPr>
        <p:txBody>
          <a:bodyPr wrap="square" lIns="0" tIns="0" rIns="0" bIns="0" anchor="t">
            <a:noAutofit/>
          </a:bodyPr>
          <a:lstStyle/>
          <a:p>
            <a:pPr algn="l">
              <a:defRPr sz="2475" b="1">
                <a:solidFill>
                  <a:srgbClr val="182934"/>
                </a:solidFill>
                <a:latin typeface="Arial"/>
                <a:ea typeface="Arial"/>
                <a:cs typeface="Arial"/>
              </a:defRPr>
            </a:pPr>
            <a:r>
              <a:rPr sz="2475" b="1">
                <a:solidFill>
                  <a:srgbClr val="182934"/>
                </a:solidFill>
                <a:latin typeface="Arial"/>
                <a:ea typeface="Arial"/>
                <a:cs typeface="Arial"/>
              </a:rPr>
              <a:t>Denominator: the valid observed footprint</a:t>
            </a:r>
          </a:p>
        </p:txBody>
      </p:sp>
      <p:sp>
        <p:nvSpPr>
          <p:cNvPr id="8" name="Rectangle 7">
            <a:extLst>
              <a:ext uri="{FF2B5EF4-FFF2-40B4-BE49-F238E27FC236}">
                <a16:creationId xmlns:a16="http://schemas.microsoft.com/office/drawing/2014/main" id="{AF6C0345-F47F-462E-93E6-0AB4AF0F0A39}"/>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ND does not mean zero SFR. NSF alone cannot distinguish DIG, shocks, old stars or nuclear activity.</a:t>
            </a:r>
          </a:p>
        </p:txBody>
      </p:sp>
    </p:spTree>
    <p:extLst>
      <p:ext uri="{BB962C8B-B14F-4D97-AF65-F5344CB8AC3E}">
        <p14:creationId xmlns:p14="http://schemas.microsoft.com/office/powerpoint/2010/main" val="4808921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688689-7A26-4984-8CDB-E42424263097}"/>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ONGOING WORK / PRELIMINARY</a:t>
            </a:r>
          </a:p>
        </p:txBody>
      </p:sp>
      <p:sp>
        <p:nvSpPr>
          <p:cNvPr id="2" name="Rectangle 1">
            <a:extLst>
              <a:ext uri="{FF2B5EF4-FFF2-40B4-BE49-F238E27FC236}">
                <a16:creationId xmlns:a16="http://schemas.microsoft.com/office/drawing/2014/main" id="{88E03AEC-6052-4886-B1B7-7110AE2F7240}"/>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SF occupancy is lower in the post-peak sample</a:t>
            </a:r>
          </a:p>
        </p:txBody>
      </p:sp>
      <p:sp>
        <p:nvSpPr>
          <p:cNvPr id="3" name="Rectangle 2">
            <a:extLst>
              <a:ext uri="{FF2B5EF4-FFF2-40B4-BE49-F238E27FC236}">
                <a16:creationId xmlns:a16="http://schemas.microsoft.com/office/drawing/2014/main" id="{30383827-9F81-425B-81CC-BE0509C40FF5}"/>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4181A39C-5E0A-46F5-9139-E9296DA8E74E}"/>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91F7920E-0EB1-4DAE-BB3C-5379B5C95D8F}"/>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29</a:t>
            </a:r>
          </a:p>
        </p:txBody>
      </p:sp>
      <p:graphicFrame>
        <p:nvGraphicFramePr>
          <p:cNvPr id="14" name="Chart"/>
          <p:cNvGraphicFramePr/>
          <p:nvPr/>
        </p:nvGraphicFramePr>
        <p:xfrm>
          <a:off x="533400" y="1724025"/>
          <a:ext cx="5400675" cy="3762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257925" y="1724025"/>
          <a:ext cx="5400675" cy="3762375"/>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7">
            <a:extLst>
              <a:ext uri="{FF2B5EF4-FFF2-40B4-BE49-F238E27FC236}">
                <a16:creationId xmlns:a16="http://schemas.microsoft.com/office/drawing/2014/main" id="{3FBBD3C6-5B01-478F-9047-34E7C0DD2F47}"/>
              </a:ext>
            </a:extLst>
          </p:cNvPr>
          <p:cNvSpPr>
            <a:spLocks noGrp="1"/>
          </p:cNvSpPr>
          <p:nvPr/>
        </p:nvSpPr>
        <p:spPr>
          <a:xfrm>
            <a:off x="533400" y="5629275"/>
            <a:ext cx="11125200" cy="685800"/>
          </a:xfrm>
          <a:prstGeom prst="rect">
            <a:avLst/>
          </a:prstGeom>
          <a:noFill/>
          <a:ln w="0">
            <a:noFill/>
          </a:ln>
        </p:spPr>
        <p:txBody>
          <a:bodyPr wrap="square" lIns="0" tIns="0" rIns="0" bIns="0" anchor="t">
            <a:noAutofit/>
          </a:bodyPr>
          <a:lstStyle/>
          <a:p>
            <a:pPr algn="l">
              <a:defRPr sz="1950" b="0">
                <a:solidFill>
                  <a:srgbClr val="182934"/>
                </a:solidFill>
                <a:latin typeface="Arial"/>
                <a:ea typeface="Arial"/>
                <a:cs typeface="Arial"/>
              </a:defRPr>
            </a:pPr>
            <a:r>
              <a:rPr sz="1950" b="0">
                <a:solidFill>
                  <a:srgbClr val="182934"/>
                </a:solidFill>
                <a:latin typeface="Arial"/>
                <a:ea typeface="Arial"/>
                <a:cs typeface="Arial"/>
              </a:rPr>
              <a:t>Equal-galaxy means. The S/N cut changes the denominator and removes much of the ND area.</a:t>
            </a:r>
          </a:p>
        </p:txBody>
      </p:sp>
    </p:spTree>
    <p:extLst>
      <p:ext uri="{BB962C8B-B14F-4D97-AF65-F5344CB8AC3E}">
        <p14:creationId xmlns:p14="http://schemas.microsoft.com/office/powerpoint/2010/main" val="1769002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94B8A-69A1-49C9-9DAF-F3872845D707}"/>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ONGOING WORK / PRELIMINARY</a:t>
            </a:r>
          </a:p>
        </p:txBody>
      </p:sp>
      <p:sp>
        <p:nvSpPr>
          <p:cNvPr id="2" name="Rectangle 1">
            <a:extLst>
              <a:ext uri="{FF2B5EF4-FFF2-40B4-BE49-F238E27FC236}">
                <a16:creationId xmlns:a16="http://schemas.microsoft.com/office/drawing/2014/main" id="{5336FB0D-90B7-49F6-8E21-3E9045FDAF12}"/>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Outer non-detections and central non-SF emission</a:t>
            </a:r>
          </a:p>
        </p:txBody>
      </p:sp>
      <p:sp>
        <p:nvSpPr>
          <p:cNvPr id="3" name="Rectangle 2">
            <a:extLst>
              <a:ext uri="{FF2B5EF4-FFF2-40B4-BE49-F238E27FC236}">
                <a16:creationId xmlns:a16="http://schemas.microsoft.com/office/drawing/2014/main" id="{5352A1A9-4095-4DEC-B1F9-DF71D9485B4B}"/>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804AF8A4-C49E-4289-8227-8E413F649A75}"/>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BDA586D8-DA55-4E46-8A31-B2D20D256415}"/>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30</a:t>
            </a:r>
          </a:p>
        </p:txBody>
      </p:sp>
      <p:pic>
        <p:nvPicPr>
          <p:cNvPr id="14" name="Picture 13"/>
          <p:cNvPicPr>
            <a:picLocks noChangeAspect="1"/>
          </p:cNvPicPr>
          <p:nvPr/>
        </p:nvPicPr>
        <p:blipFill>
          <a:blip r:embed="rId3"/>
          <a:stretch/>
        </p:blipFill>
        <p:spPr>
          <a:xfrm>
            <a:off x="533400" y="2014526"/>
            <a:ext cx="11125200" cy="3581423"/>
          </a:xfrm>
          <a:prstGeom prst="rect">
            <a:avLst/>
          </a:prstGeom>
        </p:spPr>
      </p:pic>
      <p:sp>
        <p:nvSpPr>
          <p:cNvPr id="7" name="Rectangle 6">
            <a:extLst>
              <a:ext uri="{FF2B5EF4-FFF2-40B4-BE49-F238E27FC236}">
                <a16:creationId xmlns:a16="http://schemas.microsoft.com/office/drawing/2014/main" id="{A7146C82-B652-4484-95C7-169D4F9B3E00}"/>
              </a:ext>
            </a:extLst>
          </p:cNvPr>
          <p:cNvSpPr>
            <a:spLocks noGrp="1"/>
          </p:cNvSpPr>
          <p:nvPr/>
        </p:nvSpPr>
        <p:spPr>
          <a:xfrm>
            <a:off x="533400" y="1571625"/>
            <a:ext cx="11125200" cy="409575"/>
          </a:xfrm>
          <a:prstGeom prst="rect">
            <a:avLst/>
          </a:prstGeom>
          <a:noFill/>
          <a:ln w="0">
            <a:noFill/>
          </a:ln>
        </p:spPr>
        <p:txBody>
          <a:bodyPr wrap="square" lIns="0" tIns="0" rIns="0" bIns="0" anchor="t">
            <a:noAutofit/>
          </a:bodyPr>
          <a:lstStyle/>
          <a:p>
            <a:pPr algn="l">
              <a:defRPr sz="2025" b="1">
                <a:solidFill>
                  <a:srgbClr val="85457F"/>
                </a:solidFill>
                <a:latin typeface="Arial"/>
                <a:ea typeface="Arial"/>
                <a:cs typeface="Arial"/>
              </a:defRPr>
            </a:pPr>
            <a:r>
              <a:rPr sz="2025" b="1">
                <a:solidFill>
                  <a:srgbClr val="85457F"/>
                </a:solidFill>
                <a:latin typeface="Arial"/>
                <a:ea typeface="Arial"/>
                <a:cs typeface="Arial"/>
              </a:rPr>
              <a:t>Solid: S/N ≥ 25 subset       Dashed: full valid footprint</a:t>
            </a:r>
          </a:p>
        </p:txBody>
      </p:sp>
      <p:sp>
        <p:nvSpPr>
          <p:cNvPr id="8" name="Rectangle 7">
            <a:extLst>
              <a:ext uri="{FF2B5EF4-FFF2-40B4-BE49-F238E27FC236}">
                <a16:creationId xmlns:a16="http://schemas.microsoft.com/office/drawing/2014/main" id="{7F33A8C5-29D1-4D9D-8E9A-110890339AE6}"/>
              </a:ext>
            </a:extLst>
          </p:cNvPr>
          <p:cNvSpPr>
            <a:spLocks noGrp="1"/>
          </p:cNvSpPr>
          <p:nvPr/>
        </p:nvSpPr>
        <p:spPr>
          <a:xfrm>
            <a:off x="533400" y="595312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Existing equal-galaxy radial profiles. Stage averages are not individual evolutionary tracks.</a:t>
            </a:r>
          </a:p>
        </p:txBody>
      </p:sp>
    </p:spTree>
    <p:extLst>
      <p:ext uri="{BB962C8B-B14F-4D97-AF65-F5344CB8AC3E}">
        <p14:creationId xmlns:p14="http://schemas.microsoft.com/office/powerpoint/2010/main" val="2036808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2868259-0FE0-4A4B-80E7-EF9984970291}"/>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ONGOING WORK / PRELIMINARY</a:t>
            </a:r>
          </a:p>
        </p:txBody>
      </p:sp>
      <p:sp>
        <p:nvSpPr>
          <p:cNvPr id="2" name="Rectangle 1">
            <a:extLst>
              <a:ext uri="{FF2B5EF4-FFF2-40B4-BE49-F238E27FC236}">
                <a16:creationId xmlns:a16="http://schemas.microsoft.com/office/drawing/2014/main" id="{03307667-E5CC-4CB4-927A-1DE8F9257B06}"/>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The maps show substantial galaxy-to-galaxy diversity</a:t>
            </a:r>
          </a:p>
        </p:txBody>
      </p:sp>
      <p:sp>
        <p:nvSpPr>
          <p:cNvPr id="3" name="Rectangle 2">
            <a:extLst>
              <a:ext uri="{FF2B5EF4-FFF2-40B4-BE49-F238E27FC236}">
                <a16:creationId xmlns:a16="http://schemas.microsoft.com/office/drawing/2014/main" id="{7FC7BB84-9650-4B64-8BF4-764EE56EF348}"/>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C4C54336-1479-4AF6-8C67-45644B29BD3B}"/>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AAA8B183-F1EB-4B65-848F-0537119C4E72}"/>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31</a:t>
            </a:r>
          </a:p>
        </p:txBody>
      </p:sp>
      <p:sp>
        <p:nvSpPr>
          <p:cNvPr id="6" name="Rectangle 5">
            <a:extLst>
              <a:ext uri="{FF2B5EF4-FFF2-40B4-BE49-F238E27FC236}">
                <a16:creationId xmlns:a16="http://schemas.microsoft.com/office/drawing/2014/main" id="{6E0438B6-399B-4D1B-85E7-44AEE3C20B8D}"/>
              </a:ext>
            </a:extLst>
          </p:cNvPr>
          <p:cNvSpPr>
            <a:spLocks noGrp="1"/>
          </p:cNvSpPr>
          <p:nvPr/>
        </p:nvSpPr>
        <p:spPr>
          <a:xfrm>
            <a:off x="542925" y="1543050"/>
            <a:ext cx="3505200" cy="342900"/>
          </a:xfrm>
          <a:prstGeom prst="rect">
            <a:avLst/>
          </a:prstGeom>
          <a:noFill/>
          <a:ln w="0">
            <a:noFill/>
          </a:ln>
        </p:spPr>
        <p:txBody>
          <a:bodyPr wrap="square" lIns="0" tIns="0" rIns="0" bIns="0" anchor="t">
            <a:noAutofit/>
          </a:bodyPr>
          <a:lstStyle/>
          <a:p>
            <a:pPr algn="ctr">
              <a:defRPr sz="2025" b="1">
                <a:solidFill>
                  <a:srgbClr val="182934"/>
                </a:solidFill>
                <a:latin typeface="Arial"/>
                <a:ea typeface="Arial"/>
                <a:cs typeface="Arial"/>
              </a:defRPr>
            </a:pPr>
            <a:r>
              <a:rPr sz="2025" b="1">
                <a:solidFill>
                  <a:srgbClr val="182934"/>
                </a:solidFill>
                <a:latin typeface="Arial"/>
                <a:ea typeface="Arial"/>
                <a:cs typeface="Arial"/>
              </a:rPr>
              <a:t>NGC4501</a:t>
            </a:r>
          </a:p>
        </p:txBody>
      </p:sp>
      <p:sp>
        <p:nvSpPr>
          <p:cNvPr id="7" name="Rectangle 6">
            <a:extLst>
              <a:ext uri="{FF2B5EF4-FFF2-40B4-BE49-F238E27FC236}">
                <a16:creationId xmlns:a16="http://schemas.microsoft.com/office/drawing/2014/main" id="{575143D3-12F2-4C1C-9FC9-96BCCC924DC6}"/>
              </a:ext>
            </a:extLst>
          </p:cNvPr>
          <p:cNvSpPr>
            <a:spLocks noGrp="1"/>
          </p:cNvSpPr>
          <p:nvPr/>
        </p:nvSpPr>
        <p:spPr>
          <a:xfrm>
            <a:off x="542925" y="1952625"/>
            <a:ext cx="3505200" cy="276225"/>
          </a:xfrm>
          <a:prstGeom prst="rect">
            <a:avLst/>
          </a:prstGeom>
          <a:noFill/>
          <a:ln w="0">
            <a:noFill/>
          </a:ln>
        </p:spPr>
        <p:txBody>
          <a:bodyPr wrap="square" lIns="0" tIns="0" rIns="0" bIns="0" anchor="t">
            <a:noAutofit/>
          </a:bodyPr>
          <a:lstStyle/>
          <a:p>
            <a:pPr algn="ctr">
              <a:defRPr sz="1575" b="0">
                <a:solidFill>
                  <a:srgbClr val="52636C"/>
                </a:solidFill>
                <a:latin typeface="Arial"/>
                <a:ea typeface="Arial"/>
                <a:cs typeface="Arial"/>
              </a:defRPr>
            </a:pPr>
            <a:r>
              <a:rPr sz="1575" b="0">
                <a:solidFill>
                  <a:srgbClr val="52636C"/>
                </a:solidFill>
                <a:latin typeface="Arial"/>
                <a:ea typeface="Arial"/>
                <a:cs typeface="Arial"/>
              </a:rPr>
              <a:t>Close-to-peak</a:t>
            </a:r>
          </a:p>
        </p:txBody>
      </p:sp>
      <p:pic>
        <p:nvPicPr>
          <p:cNvPr id="31" name="Picture 30"/>
          <p:cNvPicPr>
            <a:picLocks noChangeAspect="1"/>
          </p:cNvPicPr>
          <p:nvPr/>
        </p:nvPicPr>
        <p:blipFill>
          <a:blip r:embed="rId3"/>
          <a:stretch/>
        </p:blipFill>
        <p:spPr>
          <a:xfrm>
            <a:off x="523875" y="2451107"/>
            <a:ext cx="3562350" cy="3155935"/>
          </a:xfrm>
          <a:prstGeom prst="rect">
            <a:avLst/>
          </a:prstGeom>
        </p:spPr>
      </p:pic>
      <p:sp>
        <p:nvSpPr>
          <p:cNvPr id="9" name="Rectangle 8">
            <a:extLst>
              <a:ext uri="{FF2B5EF4-FFF2-40B4-BE49-F238E27FC236}">
                <a16:creationId xmlns:a16="http://schemas.microsoft.com/office/drawing/2014/main" id="{021A7494-B150-4260-837B-A51B860B995F}"/>
              </a:ext>
            </a:extLst>
          </p:cNvPr>
          <p:cNvSpPr>
            <a:spLocks noGrp="1"/>
          </p:cNvSpPr>
          <p:nvPr/>
        </p:nvSpPr>
        <p:spPr>
          <a:xfrm>
            <a:off x="4352925" y="1543050"/>
            <a:ext cx="3505200" cy="342900"/>
          </a:xfrm>
          <a:prstGeom prst="rect">
            <a:avLst/>
          </a:prstGeom>
          <a:noFill/>
          <a:ln w="0">
            <a:noFill/>
          </a:ln>
        </p:spPr>
        <p:txBody>
          <a:bodyPr wrap="square" lIns="0" tIns="0" rIns="0" bIns="0" anchor="t">
            <a:noAutofit/>
          </a:bodyPr>
          <a:lstStyle/>
          <a:p>
            <a:pPr algn="ctr">
              <a:defRPr sz="2025" b="1">
                <a:solidFill>
                  <a:srgbClr val="182934"/>
                </a:solidFill>
                <a:latin typeface="Arial"/>
                <a:ea typeface="Arial"/>
                <a:cs typeface="Arial"/>
              </a:defRPr>
            </a:pPr>
            <a:r>
              <a:rPr sz="2025" b="1">
                <a:solidFill>
                  <a:srgbClr val="182934"/>
                </a:solidFill>
                <a:latin typeface="Arial"/>
                <a:ea typeface="Arial"/>
                <a:cs typeface="Arial"/>
              </a:rPr>
              <a:t>NGC4424</a:t>
            </a:r>
          </a:p>
        </p:txBody>
      </p:sp>
      <p:sp>
        <p:nvSpPr>
          <p:cNvPr id="10" name="Rectangle 9">
            <a:extLst>
              <a:ext uri="{FF2B5EF4-FFF2-40B4-BE49-F238E27FC236}">
                <a16:creationId xmlns:a16="http://schemas.microsoft.com/office/drawing/2014/main" id="{D0D4860D-E29B-4411-ADD8-907BA49DF96F}"/>
              </a:ext>
            </a:extLst>
          </p:cNvPr>
          <p:cNvSpPr>
            <a:spLocks noGrp="1"/>
          </p:cNvSpPr>
          <p:nvPr/>
        </p:nvSpPr>
        <p:spPr>
          <a:xfrm>
            <a:off x="4352925" y="1952625"/>
            <a:ext cx="3505200" cy="276225"/>
          </a:xfrm>
          <a:prstGeom prst="rect">
            <a:avLst/>
          </a:prstGeom>
          <a:noFill/>
          <a:ln w="0">
            <a:noFill/>
          </a:ln>
        </p:spPr>
        <p:txBody>
          <a:bodyPr wrap="square" lIns="0" tIns="0" rIns="0" bIns="0" anchor="t">
            <a:noAutofit/>
          </a:bodyPr>
          <a:lstStyle/>
          <a:p>
            <a:pPr algn="ctr">
              <a:defRPr sz="1575" b="0">
                <a:solidFill>
                  <a:srgbClr val="52636C"/>
                </a:solidFill>
                <a:latin typeface="Arial"/>
                <a:ea typeface="Arial"/>
                <a:cs typeface="Arial"/>
              </a:defRPr>
            </a:pPr>
            <a:r>
              <a:rPr sz="1575" b="0">
                <a:solidFill>
                  <a:srgbClr val="52636C"/>
                </a:solidFill>
                <a:latin typeface="Arial"/>
                <a:ea typeface="Arial"/>
                <a:cs typeface="Arial"/>
              </a:rPr>
              <a:t>Close-to-peak</a:t>
            </a:r>
          </a:p>
        </p:txBody>
      </p:sp>
      <p:pic>
        <p:nvPicPr>
          <p:cNvPr id="34" name="Picture 33"/>
          <p:cNvPicPr>
            <a:picLocks noChangeAspect="1"/>
          </p:cNvPicPr>
          <p:nvPr/>
        </p:nvPicPr>
        <p:blipFill>
          <a:blip r:embed="rId4"/>
          <a:stretch/>
        </p:blipFill>
        <p:spPr>
          <a:xfrm>
            <a:off x="4333875" y="3018650"/>
            <a:ext cx="3562350" cy="2020849"/>
          </a:xfrm>
          <a:prstGeom prst="rect">
            <a:avLst/>
          </a:prstGeom>
        </p:spPr>
      </p:pic>
      <p:sp>
        <p:nvSpPr>
          <p:cNvPr id="12" name="Rectangle 11">
            <a:extLst>
              <a:ext uri="{FF2B5EF4-FFF2-40B4-BE49-F238E27FC236}">
                <a16:creationId xmlns:a16="http://schemas.microsoft.com/office/drawing/2014/main" id="{28DFA35A-675B-4785-8198-EF8D1BF6CF9C}"/>
              </a:ext>
            </a:extLst>
          </p:cNvPr>
          <p:cNvSpPr>
            <a:spLocks noGrp="1"/>
          </p:cNvSpPr>
          <p:nvPr/>
        </p:nvSpPr>
        <p:spPr>
          <a:xfrm>
            <a:off x="8162925" y="1543050"/>
            <a:ext cx="3505200" cy="342900"/>
          </a:xfrm>
          <a:prstGeom prst="rect">
            <a:avLst/>
          </a:prstGeom>
          <a:noFill/>
          <a:ln w="0">
            <a:noFill/>
          </a:ln>
        </p:spPr>
        <p:txBody>
          <a:bodyPr wrap="square" lIns="0" tIns="0" rIns="0" bIns="0" anchor="t">
            <a:noAutofit/>
          </a:bodyPr>
          <a:lstStyle/>
          <a:p>
            <a:pPr algn="ctr">
              <a:defRPr sz="2025" b="1">
                <a:solidFill>
                  <a:srgbClr val="182934"/>
                </a:solidFill>
                <a:latin typeface="Arial"/>
                <a:ea typeface="Arial"/>
                <a:cs typeface="Arial"/>
              </a:defRPr>
            </a:pPr>
            <a:r>
              <a:rPr sz="2025" b="1">
                <a:solidFill>
                  <a:srgbClr val="182934"/>
                </a:solidFill>
                <a:latin typeface="Arial"/>
                <a:ea typeface="Arial"/>
                <a:cs typeface="Arial"/>
              </a:rPr>
              <a:t>IC3392</a:t>
            </a:r>
          </a:p>
        </p:txBody>
      </p:sp>
      <p:sp>
        <p:nvSpPr>
          <p:cNvPr id="13" name="Rectangle 12">
            <a:extLst>
              <a:ext uri="{FF2B5EF4-FFF2-40B4-BE49-F238E27FC236}">
                <a16:creationId xmlns:a16="http://schemas.microsoft.com/office/drawing/2014/main" id="{76681546-0DBA-41F9-9AC5-8FDD638E6D2D}"/>
              </a:ext>
            </a:extLst>
          </p:cNvPr>
          <p:cNvSpPr>
            <a:spLocks noGrp="1"/>
          </p:cNvSpPr>
          <p:nvPr/>
        </p:nvSpPr>
        <p:spPr>
          <a:xfrm>
            <a:off x="8162925" y="1952625"/>
            <a:ext cx="3505200" cy="276225"/>
          </a:xfrm>
          <a:prstGeom prst="rect">
            <a:avLst/>
          </a:prstGeom>
          <a:noFill/>
          <a:ln w="0">
            <a:noFill/>
          </a:ln>
        </p:spPr>
        <p:txBody>
          <a:bodyPr wrap="square" lIns="0" tIns="0" rIns="0" bIns="0" anchor="t">
            <a:noAutofit/>
          </a:bodyPr>
          <a:lstStyle/>
          <a:p>
            <a:pPr algn="ctr">
              <a:defRPr sz="1575" b="0">
                <a:solidFill>
                  <a:srgbClr val="52636C"/>
                </a:solidFill>
                <a:latin typeface="Arial"/>
                <a:ea typeface="Arial"/>
                <a:cs typeface="Arial"/>
              </a:defRPr>
            </a:pPr>
            <a:r>
              <a:rPr sz="1575" b="0">
                <a:solidFill>
                  <a:srgbClr val="52636C"/>
                </a:solidFill>
                <a:latin typeface="Arial"/>
                <a:ea typeface="Arial"/>
                <a:cs typeface="Arial"/>
              </a:rPr>
              <a:t>Post-peak</a:t>
            </a:r>
          </a:p>
        </p:txBody>
      </p:sp>
      <p:pic>
        <p:nvPicPr>
          <p:cNvPr id="37" name="Picture 36"/>
          <p:cNvPicPr>
            <a:picLocks noChangeAspect="1"/>
          </p:cNvPicPr>
          <p:nvPr/>
        </p:nvPicPr>
        <p:blipFill>
          <a:blip r:embed="rId5"/>
          <a:stretch/>
        </p:blipFill>
        <p:spPr>
          <a:xfrm>
            <a:off x="8143875" y="2521317"/>
            <a:ext cx="3562350" cy="3015515"/>
          </a:xfrm>
          <a:prstGeom prst="rect">
            <a:avLst/>
          </a:prstGeom>
        </p:spPr>
      </p:pic>
      <p:sp>
        <p:nvSpPr>
          <p:cNvPr id="15" name="Rectangle 14">
            <a:extLst>
              <a:ext uri="{FF2B5EF4-FFF2-40B4-BE49-F238E27FC236}">
                <a16:creationId xmlns:a16="http://schemas.microsoft.com/office/drawing/2014/main" id="{83E5DF5A-86B9-4114-B2F2-270B919C9281}"/>
              </a:ext>
            </a:extLst>
          </p:cNvPr>
          <p:cNvSpPr>
            <a:spLocks noGrp="1"/>
          </p:cNvSpPr>
          <p:nvPr/>
        </p:nvSpPr>
        <p:spPr>
          <a:xfrm>
            <a:off x="1409700" y="5867400"/>
            <a:ext cx="219075" cy="161925"/>
          </a:xfrm>
          <a:prstGeom prst="rect">
            <a:avLst/>
          </a:prstGeom>
          <a:solidFill>
            <a:srgbClr val="2166AC"/>
          </a:solidFill>
          <a:ln w="0">
            <a:noFill/>
          </a:ln>
        </p:spPr>
        <p:txBody>
          <a:bodyPr/>
          <a:lstStyle/>
          <a:p>
            <a:endParaRPr lang="en-US"/>
          </a:p>
        </p:txBody>
      </p:sp>
      <p:sp>
        <p:nvSpPr>
          <p:cNvPr id="16" name="Rectangle 15">
            <a:extLst>
              <a:ext uri="{FF2B5EF4-FFF2-40B4-BE49-F238E27FC236}">
                <a16:creationId xmlns:a16="http://schemas.microsoft.com/office/drawing/2014/main" id="{5F287A4D-EA50-48C1-AF05-05A50B7C964C}"/>
              </a:ext>
            </a:extLst>
          </p:cNvPr>
          <p:cNvSpPr>
            <a:spLocks noGrp="1"/>
          </p:cNvSpPr>
          <p:nvPr/>
        </p:nvSpPr>
        <p:spPr>
          <a:xfrm>
            <a:off x="1724025" y="5800725"/>
            <a:ext cx="2057400" cy="266700"/>
          </a:xfrm>
          <a:prstGeom prst="rect">
            <a:avLst/>
          </a:prstGeom>
          <a:noFill/>
          <a:ln w="0">
            <a:noFill/>
          </a:ln>
        </p:spPr>
        <p:txBody>
          <a:bodyPr wrap="square" lIns="0" tIns="0" rIns="0" bIns="0" anchor="t">
            <a:noAutofit/>
          </a:bodyPr>
          <a:lstStyle/>
          <a:p>
            <a:pPr algn="l">
              <a:defRPr sz="1575" b="0">
                <a:solidFill>
                  <a:srgbClr val="182934"/>
                </a:solidFill>
                <a:latin typeface="Arial"/>
                <a:ea typeface="Arial"/>
                <a:cs typeface="Arial"/>
              </a:defRPr>
            </a:pPr>
            <a:r>
              <a:rPr sz="1575" b="0">
                <a:solidFill>
                  <a:srgbClr val="182934"/>
                </a:solidFill>
                <a:latin typeface="Arial"/>
                <a:ea typeface="Arial"/>
                <a:cs typeface="Arial"/>
              </a:rPr>
              <a:t>SF</a:t>
            </a:r>
          </a:p>
        </p:txBody>
      </p:sp>
      <p:sp>
        <p:nvSpPr>
          <p:cNvPr id="17" name="Rectangle 16">
            <a:extLst>
              <a:ext uri="{FF2B5EF4-FFF2-40B4-BE49-F238E27FC236}">
                <a16:creationId xmlns:a16="http://schemas.microsoft.com/office/drawing/2014/main" id="{174297DB-855B-46DA-B1A6-B0C88AF122C2}"/>
              </a:ext>
            </a:extLst>
          </p:cNvPr>
          <p:cNvSpPr>
            <a:spLocks noGrp="1"/>
          </p:cNvSpPr>
          <p:nvPr/>
        </p:nvSpPr>
        <p:spPr>
          <a:xfrm>
            <a:off x="3743325" y="5867400"/>
            <a:ext cx="219075" cy="161925"/>
          </a:xfrm>
          <a:prstGeom prst="rect">
            <a:avLst/>
          </a:prstGeom>
          <a:solidFill>
            <a:srgbClr val="E69F00"/>
          </a:solidFill>
          <a:ln w="0">
            <a:noFill/>
          </a:ln>
        </p:spPr>
        <p:txBody>
          <a:bodyPr/>
          <a:lstStyle/>
          <a:p>
            <a:endParaRPr lang="en-US"/>
          </a:p>
        </p:txBody>
      </p:sp>
      <p:sp>
        <p:nvSpPr>
          <p:cNvPr id="18" name="Rectangle 17">
            <a:extLst>
              <a:ext uri="{FF2B5EF4-FFF2-40B4-BE49-F238E27FC236}">
                <a16:creationId xmlns:a16="http://schemas.microsoft.com/office/drawing/2014/main" id="{5D10733C-BA11-4A2C-8948-892C0893D0F9}"/>
              </a:ext>
            </a:extLst>
          </p:cNvPr>
          <p:cNvSpPr>
            <a:spLocks noGrp="1"/>
          </p:cNvSpPr>
          <p:nvPr/>
        </p:nvSpPr>
        <p:spPr>
          <a:xfrm>
            <a:off x="4057650" y="5800725"/>
            <a:ext cx="2057400" cy="266700"/>
          </a:xfrm>
          <a:prstGeom prst="rect">
            <a:avLst/>
          </a:prstGeom>
          <a:noFill/>
          <a:ln w="0">
            <a:noFill/>
          </a:ln>
        </p:spPr>
        <p:txBody>
          <a:bodyPr wrap="square" lIns="0" tIns="0" rIns="0" bIns="0" anchor="t">
            <a:noAutofit/>
          </a:bodyPr>
          <a:lstStyle/>
          <a:p>
            <a:pPr algn="l">
              <a:defRPr sz="1575" b="0">
                <a:solidFill>
                  <a:srgbClr val="182934"/>
                </a:solidFill>
                <a:latin typeface="Arial"/>
                <a:ea typeface="Arial"/>
                <a:cs typeface="Arial"/>
              </a:defRPr>
            </a:pPr>
            <a:r>
              <a:rPr sz="1575" b="0">
                <a:solidFill>
                  <a:srgbClr val="182934"/>
                </a:solidFill>
                <a:latin typeface="Arial"/>
                <a:ea typeface="Arial"/>
                <a:cs typeface="Arial"/>
              </a:rPr>
              <a:t>ND</a:t>
            </a:r>
          </a:p>
        </p:txBody>
      </p:sp>
      <p:sp>
        <p:nvSpPr>
          <p:cNvPr id="19" name="Rectangle 18">
            <a:extLst>
              <a:ext uri="{FF2B5EF4-FFF2-40B4-BE49-F238E27FC236}">
                <a16:creationId xmlns:a16="http://schemas.microsoft.com/office/drawing/2014/main" id="{10A78146-0A78-478E-9459-CB4965E22F35}"/>
              </a:ext>
            </a:extLst>
          </p:cNvPr>
          <p:cNvSpPr>
            <a:spLocks noGrp="1"/>
          </p:cNvSpPr>
          <p:nvPr/>
        </p:nvSpPr>
        <p:spPr>
          <a:xfrm>
            <a:off x="6076950" y="5867400"/>
            <a:ext cx="219075" cy="161925"/>
          </a:xfrm>
          <a:prstGeom prst="rect">
            <a:avLst/>
          </a:prstGeom>
          <a:solidFill>
            <a:srgbClr val="B2182B"/>
          </a:solidFill>
          <a:ln w="0">
            <a:noFill/>
          </a:ln>
        </p:spPr>
        <p:txBody>
          <a:bodyPr/>
          <a:lstStyle/>
          <a:p>
            <a:endParaRPr lang="en-US"/>
          </a:p>
        </p:txBody>
      </p:sp>
      <p:sp>
        <p:nvSpPr>
          <p:cNvPr id="20" name="Rectangle 19">
            <a:extLst>
              <a:ext uri="{FF2B5EF4-FFF2-40B4-BE49-F238E27FC236}">
                <a16:creationId xmlns:a16="http://schemas.microsoft.com/office/drawing/2014/main" id="{A3CE9321-7318-456A-8E06-8B1E4BB95676}"/>
              </a:ext>
            </a:extLst>
          </p:cNvPr>
          <p:cNvSpPr>
            <a:spLocks noGrp="1"/>
          </p:cNvSpPr>
          <p:nvPr/>
        </p:nvSpPr>
        <p:spPr>
          <a:xfrm>
            <a:off x="6391275" y="5800725"/>
            <a:ext cx="2057400" cy="266700"/>
          </a:xfrm>
          <a:prstGeom prst="rect">
            <a:avLst/>
          </a:prstGeom>
          <a:noFill/>
          <a:ln w="0">
            <a:noFill/>
          </a:ln>
        </p:spPr>
        <p:txBody>
          <a:bodyPr wrap="square" lIns="0" tIns="0" rIns="0" bIns="0" anchor="t">
            <a:noAutofit/>
          </a:bodyPr>
          <a:lstStyle/>
          <a:p>
            <a:pPr algn="l">
              <a:defRPr sz="1575" b="0">
                <a:solidFill>
                  <a:srgbClr val="182934"/>
                </a:solidFill>
                <a:latin typeface="Arial"/>
                <a:ea typeface="Arial"/>
                <a:cs typeface="Arial"/>
              </a:defRPr>
            </a:pPr>
            <a:r>
              <a:rPr sz="1575" b="0">
                <a:solidFill>
                  <a:srgbClr val="182934"/>
                </a:solidFill>
                <a:latin typeface="Arial"/>
                <a:ea typeface="Arial"/>
                <a:cs typeface="Arial"/>
              </a:rPr>
              <a:t>NSF</a:t>
            </a:r>
          </a:p>
        </p:txBody>
      </p:sp>
      <p:sp>
        <p:nvSpPr>
          <p:cNvPr id="21" name="Rectangle 20">
            <a:extLst>
              <a:ext uri="{FF2B5EF4-FFF2-40B4-BE49-F238E27FC236}">
                <a16:creationId xmlns:a16="http://schemas.microsoft.com/office/drawing/2014/main" id="{8A506F74-61EB-4E40-9645-3F084C42AC61}"/>
              </a:ext>
            </a:extLst>
          </p:cNvPr>
          <p:cNvSpPr>
            <a:spLocks noGrp="1"/>
          </p:cNvSpPr>
          <p:nvPr/>
        </p:nvSpPr>
        <p:spPr>
          <a:xfrm>
            <a:off x="8410575" y="5867400"/>
            <a:ext cx="219075" cy="161925"/>
          </a:xfrm>
          <a:prstGeom prst="rect">
            <a:avLst/>
          </a:prstGeom>
          <a:solidFill>
            <a:srgbClr val="BDBDBD"/>
          </a:solidFill>
          <a:ln w="0">
            <a:noFill/>
          </a:ln>
        </p:spPr>
        <p:txBody>
          <a:bodyPr/>
          <a:lstStyle/>
          <a:p>
            <a:endParaRPr lang="en-US"/>
          </a:p>
        </p:txBody>
      </p:sp>
      <p:sp>
        <p:nvSpPr>
          <p:cNvPr id="22" name="Rectangle 21">
            <a:extLst>
              <a:ext uri="{FF2B5EF4-FFF2-40B4-BE49-F238E27FC236}">
                <a16:creationId xmlns:a16="http://schemas.microsoft.com/office/drawing/2014/main" id="{E980A994-0595-4999-BB9F-99231AE69B43}"/>
              </a:ext>
            </a:extLst>
          </p:cNvPr>
          <p:cNvSpPr>
            <a:spLocks noGrp="1"/>
          </p:cNvSpPr>
          <p:nvPr/>
        </p:nvSpPr>
        <p:spPr>
          <a:xfrm>
            <a:off x="8724900" y="5800725"/>
            <a:ext cx="2057400" cy="266700"/>
          </a:xfrm>
          <a:prstGeom prst="rect">
            <a:avLst/>
          </a:prstGeom>
          <a:noFill/>
          <a:ln w="0">
            <a:noFill/>
          </a:ln>
        </p:spPr>
        <p:txBody>
          <a:bodyPr wrap="square" lIns="0" tIns="0" rIns="0" bIns="0" anchor="t">
            <a:noAutofit/>
          </a:bodyPr>
          <a:lstStyle/>
          <a:p>
            <a:pPr algn="l">
              <a:defRPr sz="1575" b="0">
                <a:solidFill>
                  <a:srgbClr val="182934"/>
                </a:solidFill>
                <a:latin typeface="Arial"/>
                <a:ea typeface="Arial"/>
                <a:cs typeface="Arial"/>
              </a:defRPr>
            </a:pPr>
            <a:r>
              <a:rPr sz="1575" b="0">
                <a:solidFill>
                  <a:srgbClr val="182934"/>
                </a:solidFill>
                <a:latin typeface="Arial"/>
                <a:ea typeface="Arial"/>
                <a:cs typeface="Arial"/>
              </a:rPr>
              <a:t>S/N excluded</a:t>
            </a:r>
          </a:p>
        </p:txBody>
      </p:sp>
      <p:sp>
        <p:nvSpPr>
          <p:cNvPr id="23" name="Rectangle 22">
            <a:extLst>
              <a:ext uri="{FF2B5EF4-FFF2-40B4-BE49-F238E27FC236}">
                <a16:creationId xmlns:a16="http://schemas.microsoft.com/office/drawing/2014/main" id="{37C1DEFC-EDF5-42D3-BAE4-75C400C3A5E4}"/>
              </a:ext>
            </a:extLst>
          </p:cNvPr>
          <p:cNvSpPr>
            <a:spLocks noGrp="1"/>
          </p:cNvSpPr>
          <p:nvPr/>
        </p:nvSpPr>
        <p:spPr>
          <a:xfrm>
            <a:off x="533400" y="614362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Black contour: 1 Rₑ. Selected panels from the stored spatial category maps; common legend reproduced.</a:t>
            </a:r>
          </a:p>
        </p:txBody>
      </p:sp>
    </p:spTree>
    <p:extLst>
      <p:ext uri="{BB962C8B-B14F-4D97-AF65-F5344CB8AC3E}">
        <p14:creationId xmlns:p14="http://schemas.microsoft.com/office/powerpoint/2010/main" val="694037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0222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341E6B7-2E2B-44CE-9B37-A8061A1A7C17}"/>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C8AAC6"/>
                </a:solidFill>
                <a:latin typeface="Arial"/>
                <a:ea typeface="Arial"/>
                <a:cs typeface="Arial"/>
              </a:defRPr>
            </a:pPr>
            <a:r>
              <a:rPr sz="1125" b="1">
                <a:solidFill>
                  <a:srgbClr val="C8AAC6"/>
                </a:solidFill>
                <a:latin typeface="Arial"/>
                <a:ea typeface="Arial"/>
                <a:cs typeface="Arial"/>
              </a:rPr>
              <a:t>ONGOING WORK / NEXT MEASUREMENT</a:t>
            </a:r>
          </a:p>
        </p:txBody>
      </p:sp>
      <p:sp>
        <p:nvSpPr>
          <p:cNvPr id="2" name="Rectangle 1">
            <a:extLst>
              <a:ext uri="{FF2B5EF4-FFF2-40B4-BE49-F238E27FC236}">
                <a16:creationId xmlns:a16="http://schemas.microsoft.com/office/drawing/2014/main" id="{8742AB74-358C-4A23-99A0-143EF3A74292}"/>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Occupancy and surviving-SF intensity are separate</a:t>
            </a:r>
          </a:p>
        </p:txBody>
      </p:sp>
      <p:sp>
        <p:nvSpPr>
          <p:cNvPr id="3" name="Rectangle 2">
            <a:extLst>
              <a:ext uri="{FF2B5EF4-FFF2-40B4-BE49-F238E27FC236}">
                <a16:creationId xmlns:a16="http://schemas.microsoft.com/office/drawing/2014/main" id="{ED93D7FD-3893-4153-B2B3-1AEA860717F8}"/>
              </a:ext>
            </a:extLst>
          </p:cNvPr>
          <p:cNvSpPr>
            <a:spLocks noGrp="1"/>
          </p:cNvSpPr>
          <p:nvPr/>
        </p:nvSpPr>
        <p:spPr>
          <a:xfrm>
            <a:off x="533400" y="6419850"/>
            <a:ext cx="11125200" cy="9525"/>
          </a:xfrm>
          <a:prstGeom prst="rect">
            <a:avLst/>
          </a:prstGeom>
          <a:solidFill>
            <a:srgbClr val="44606F"/>
          </a:solidFill>
          <a:ln w="0">
            <a:noFill/>
          </a:ln>
        </p:spPr>
        <p:txBody>
          <a:bodyPr/>
          <a:lstStyle/>
          <a:p>
            <a:endParaRPr lang="en-US"/>
          </a:p>
        </p:txBody>
      </p:sp>
      <p:sp>
        <p:nvSpPr>
          <p:cNvPr id="4" name="Rectangle 3">
            <a:extLst>
              <a:ext uri="{FF2B5EF4-FFF2-40B4-BE49-F238E27FC236}">
                <a16:creationId xmlns:a16="http://schemas.microsoft.com/office/drawing/2014/main" id="{976CD97E-7F62-44AF-99E6-0AC93417C0A6}"/>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C8D3D8"/>
                </a:solidFill>
                <a:latin typeface="Arial"/>
                <a:ea typeface="Arial"/>
                <a:cs typeface="Arial"/>
              </a:defRPr>
            </a:pPr>
            <a:r>
              <a:rPr sz="975" b="0">
                <a:solidFill>
                  <a:srgbClr val="C8D3D8"/>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22AB6AA9-AEFE-4A69-A35C-4A2C409DC5D9}"/>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C8D3D8"/>
                </a:solidFill>
                <a:latin typeface="Arial"/>
                <a:ea typeface="Arial"/>
                <a:cs typeface="Arial"/>
              </a:defRPr>
            </a:pPr>
            <a:r>
              <a:rPr sz="1200" b="0">
                <a:solidFill>
                  <a:srgbClr val="C8D3D8"/>
                </a:solidFill>
                <a:latin typeface="Arial"/>
                <a:ea typeface="Arial"/>
                <a:cs typeface="Arial"/>
              </a:rPr>
              <a:t>32</a:t>
            </a:r>
          </a:p>
        </p:txBody>
      </p:sp>
      <p:sp>
        <p:nvSpPr>
          <p:cNvPr id="6" name="Rectangle 5">
            <a:extLst>
              <a:ext uri="{FF2B5EF4-FFF2-40B4-BE49-F238E27FC236}">
                <a16:creationId xmlns:a16="http://schemas.microsoft.com/office/drawing/2014/main" id="{8C35E467-C89B-437C-B45D-4567626FEB04}"/>
              </a:ext>
            </a:extLst>
          </p:cNvPr>
          <p:cNvSpPr>
            <a:spLocks noGrp="1"/>
          </p:cNvSpPr>
          <p:nvPr/>
        </p:nvSpPr>
        <p:spPr>
          <a:xfrm>
            <a:off x="533400" y="2162175"/>
            <a:ext cx="5238750" cy="1238250"/>
          </a:xfrm>
          <a:prstGeom prst="rect">
            <a:avLst/>
          </a:prstGeom>
          <a:noFill/>
          <a:ln w="0">
            <a:noFill/>
          </a:ln>
        </p:spPr>
        <p:txBody>
          <a:bodyPr wrap="square" lIns="0" tIns="0" rIns="0" bIns="0" anchor="t">
            <a:noAutofit/>
          </a:bodyPr>
          <a:lstStyle/>
          <a:p>
            <a:pPr algn="l">
              <a:defRPr sz="3000" b="1">
                <a:solidFill>
                  <a:srgbClr val="FFFFFF"/>
                </a:solidFill>
                <a:latin typeface="Arial"/>
                <a:ea typeface="Arial"/>
                <a:cs typeface="Arial"/>
              </a:defRPr>
            </a:pPr>
            <a:r>
              <a:rPr sz="3000" b="1">
                <a:solidFill>
                  <a:srgbClr val="FFFFFF"/>
                </a:solidFill>
                <a:latin typeface="Arial"/>
                <a:ea typeface="Arial"/>
                <a:cs typeface="Arial"/>
              </a:rPr>
              <a:t>How much of the disc</a:t>
            </a:r>
          </a:p>
          <a:p>
            <a:pPr algn="l">
              <a:defRPr sz="3000" b="1">
                <a:solidFill>
                  <a:srgbClr val="FFFFFF"/>
                </a:solidFill>
                <a:latin typeface="Arial"/>
                <a:ea typeface="Arial"/>
                <a:cs typeface="Arial"/>
              </a:defRPr>
            </a:pPr>
            <a:r>
              <a:rPr sz="3000" b="1">
                <a:solidFill>
                  <a:srgbClr val="FFFFFF"/>
                </a:solidFill>
                <a:latin typeface="Arial"/>
                <a:ea typeface="Arial"/>
                <a:cs typeface="Arial"/>
              </a:rPr>
              <a:t>is still forming stars?</a:t>
            </a:r>
          </a:p>
        </p:txBody>
      </p:sp>
      <p:sp>
        <p:nvSpPr>
          <p:cNvPr id="7" name="Rectangle 6">
            <a:extLst>
              <a:ext uri="{FF2B5EF4-FFF2-40B4-BE49-F238E27FC236}">
                <a16:creationId xmlns:a16="http://schemas.microsoft.com/office/drawing/2014/main" id="{D765FE68-8416-4D99-822B-5C1B709C8E42}"/>
              </a:ext>
            </a:extLst>
          </p:cNvPr>
          <p:cNvSpPr>
            <a:spLocks noGrp="1"/>
          </p:cNvSpPr>
          <p:nvPr/>
        </p:nvSpPr>
        <p:spPr>
          <a:xfrm>
            <a:off x="6515100" y="2162175"/>
            <a:ext cx="5181600" cy="1238250"/>
          </a:xfrm>
          <a:prstGeom prst="rect">
            <a:avLst/>
          </a:prstGeom>
          <a:noFill/>
          <a:ln w="0">
            <a:noFill/>
          </a:ln>
        </p:spPr>
        <p:txBody>
          <a:bodyPr wrap="square" lIns="0" tIns="0" rIns="0" bIns="0" anchor="t">
            <a:noAutofit/>
          </a:bodyPr>
          <a:lstStyle/>
          <a:p>
            <a:pPr algn="l">
              <a:defRPr sz="3000" b="1">
                <a:solidFill>
                  <a:srgbClr val="FFFFFF"/>
                </a:solidFill>
                <a:latin typeface="Arial"/>
                <a:ea typeface="Arial"/>
                <a:cs typeface="Arial"/>
              </a:defRPr>
            </a:pPr>
            <a:r>
              <a:rPr sz="3000" b="1">
                <a:solidFill>
                  <a:srgbClr val="FFFFFF"/>
                </a:solidFill>
                <a:latin typeface="Arial"/>
                <a:ea typeface="Arial"/>
                <a:cs typeface="Arial"/>
              </a:rPr>
              <a:t>How strongly do the</a:t>
            </a:r>
          </a:p>
          <a:p>
            <a:pPr algn="l">
              <a:defRPr sz="3000" b="1">
                <a:solidFill>
                  <a:srgbClr val="FFFFFF"/>
                </a:solidFill>
                <a:latin typeface="Arial"/>
                <a:ea typeface="Arial"/>
                <a:cs typeface="Arial"/>
              </a:defRPr>
            </a:pPr>
            <a:r>
              <a:rPr sz="3000" b="1">
                <a:solidFill>
                  <a:srgbClr val="FFFFFF"/>
                </a:solidFill>
                <a:latin typeface="Arial"/>
                <a:ea typeface="Arial"/>
                <a:cs typeface="Arial"/>
              </a:rPr>
              <a:t>surviving regions form stars?</a:t>
            </a:r>
          </a:p>
        </p:txBody>
      </p:sp>
      <p:sp>
        <p:nvSpPr>
          <p:cNvPr id="8" name="Rectangle 7">
            <a:extLst>
              <a:ext uri="{FF2B5EF4-FFF2-40B4-BE49-F238E27FC236}">
                <a16:creationId xmlns:a16="http://schemas.microsoft.com/office/drawing/2014/main" id="{A0BB41D4-1E21-4B4F-A468-7F8AFA17F349}"/>
              </a:ext>
            </a:extLst>
          </p:cNvPr>
          <p:cNvSpPr>
            <a:spLocks noGrp="1"/>
          </p:cNvSpPr>
          <p:nvPr/>
        </p:nvSpPr>
        <p:spPr>
          <a:xfrm>
            <a:off x="533400" y="4124325"/>
            <a:ext cx="5238750" cy="685800"/>
          </a:xfrm>
          <a:prstGeom prst="rect">
            <a:avLst/>
          </a:prstGeom>
          <a:noFill/>
          <a:ln w="0">
            <a:noFill/>
          </a:ln>
        </p:spPr>
        <p:txBody>
          <a:bodyPr wrap="square" lIns="0" tIns="0" rIns="0" bIns="0" anchor="t">
            <a:noAutofit/>
          </a:bodyPr>
          <a:lstStyle/>
          <a:p>
            <a:pPr algn="l">
              <a:defRPr sz="2550" b="1">
                <a:solidFill>
                  <a:srgbClr val="D7BDD5"/>
                </a:solidFill>
                <a:latin typeface="Arial"/>
                <a:ea typeface="Arial"/>
                <a:cs typeface="Arial"/>
              </a:defRPr>
            </a:pPr>
            <a:r>
              <a:rPr sz="2550" b="1">
                <a:solidFill>
                  <a:srgbClr val="D7BDD5"/>
                </a:solidFill>
                <a:latin typeface="Arial"/>
                <a:ea typeface="Arial"/>
                <a:cs typeface="Arial"/>
              </a:rPr>
              <a:t>SF fraction</a:t>
            </a:r>
          </a:p>
        </p:txBody>
      </p:sp>
      <p:sp>
        <p:nvSpPr>
          <p:cNvPr id="9" name="Rectangle 8">
            <a:extLst>
              <a:ext uri="{FF2B5EF4-FFF2-40B4-BE49-F238E27FC236}">
                <a16:creationId xmlns:a16="http://schemas.microsoft.com/office/drawing/2014/main" id="{1EACBCCB-B79D-4BE7-B297-61223CEAEFA0}"/>
              </a:ext>
            </a:extLst>
          </p:cNvPr>
          <p:cNvSpPr>
            <a:spLocks noGrp="1"/>
          </p:cNvSpPr>
          <p:nvPr/>
        </p:nvSpPr>
        <p:spPr>
          <a:xfrm>
            <a:off x="6515100" y="4124325"/>
            <a:ext cx="5181600" cy="876300"/>
          </a:xfrm>
          <a:prstGeom prst="rect">
            <a:avLst/>
          </a:prstGeom>
          <a:noFill/>
          <a:ln w="0">
            <a:noFill/>
          </a:ln>
        </p:spPr>
        <p:txBody>
          <a:bodyPr wrap="square" lIns="0" tIns="0" rIns="0" bIns="0" anchor="t">
            <a:noAutofit/>
          </a:bodyPr>
          <a:lstStyle/>
          <a:p>
            <a:pPr algn="l">
              <a:defRPr sz="2550" b="1">
                <a:solidFill>
                  <a:srgbClr val="D7BDD5"/>
                </a:solidFill>
                <a:latin typeface="Arial"/>
                <a:ea typeface="Arial"/>
                <a:cs typeface="Arial"/>
              </a:defRPr>
            </a:pPr>
            <a:r>
              <a:rPr sz="2550" b="1">
                <a:solidFill>
                  <a:srgbClr val="D7BDD5"/>
                </a:solidFill>
                <a:latin typeface="Arial"/>
                <a:ea typeface="Arial"/>
                <a:cs typeface="Arial"/>
              </a:rPr>
              <a:t>ΣSFR at fixed Σ∗ and radius</a:t>
            </a:r>
          </a:p>
        </p:txBody>
      </p:sp>
      <p:sp>
        <p:nvSpPr>
          <p:cNvPr id="10" name="Rectangle 9">
            <a:extLst>
              <a:ext uri="{FF2B5EF4-FFF2-40B4-BE49-F238E27FC236}">
                <a16:creationId xmlns:a16="http://schemas.microsoft.com/office/drawing/2014/main" id="{31A30170-54CD-4F84-9C79-276D7D95A9FD}"/>
              </a:ext>
            </a:extLst>
          </p:cNvPr>
          <p:cNvSpPr>
            <a:spLocks noGrp="1"/>
          </p:cNvSpPr>
          <p:nvPr/>
        </p:nvSpPr>
        <p:spPr>
          <a:xfrm>
            <a:off x="533400" y="5915025"/>
            <a:ext cx="11125200" cy="295275"/>
          </a:xfrm>
          <a:prstGeom prst="rect">
            <a:avLst/>
          </a:prstGeom>
          <a:noFill/>
          <a:ln w="0">
            <a:noFill/>
          </a:ln>
        </p:spPr>
        <p:txBody>
          <a:bodyPr wrap="square" lIns="0" tIns="0" rIns="0" bIns="0" anchor="t">
            <a:noAutofit/>
          </a:bodyPr>
          <a:lstStyle/>
          <a:p>
            <a:pPr algn="l">
              <a:defRPr sz="1275" b="0">
                <a:solidFill>
                  <a:srgbClr val="C8D3D8"/>
                </a:solidFill>
                <a:latin typeface="Arial"/>
                <a:ea typeface="Arial"/>
                <a:cs typeface="Arial"/>
              </a:defRPr>
            </a:pPr>
            <a:r>
              <a:rPr sz="1275" b="0">
                <a:solidFill>
                  <a:srgbClr val="C8D3D8"/>
                </a:solidFill>
                <a:latin typeface="Arial"/>
                <a:ea typeface="Arial"/>
                <a:cs typeface="Arial"/>
              </a:rPr>
              <a:t>Current occupancy measurements do not yet answer the surviving-intensity question.</a:t>
            </a:r>
          </a:p>
        </p:txBody>
      </p:sp>
    </p:spTree>
    <p:extLst>
      <p:ext uri="{BB962C8B-B14F-4D97-AF65-F5344CB8AC3E}">
        <p14:creationId xmlns:p14="http://schemas.microsoft.com/office/powerpoint/2010/main" val="1015230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AB4E06-A193-44FC-8B3D-1DC90CEF252E}"/>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ONGOING WORK / PRELIMINARY</a:t>
            </a:r>
          </a:p>
        </p:txBody>
      </p:sp>
      <p:sp>
        <p:nvSpPr>
          <p:cNvPr id="2" name="Rectangle 1">
            <a:extLst>
              <a:ext uri="{FF2B5EF4-FFF2-40B4-BE49-F238E27FC236}">
                <a16:creationId xmlns:a16="http://schemas.microsoft.com/office/drawing/2014/main" id="{0C42D5D5-015A-4F7F-8C7B-88F16F0EC4CB}"/>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NGC4254: spiral structure shapes metallicity fluctuations</a:t>
            </a:r>
          </a:p>
        </p:txBody>
      </p:sp>
      <p:sp>
        <p:nvSpPr>
          <p:cNvPr id="3" name="Rectangle 2">
            <a:extLst>
              <a:ext uri="{FF2B5EF4-FFF2-40B4-BE49-F238E27FC236}">
                <a16:creationId xmlns:a16="http://schemas.microsoft.com/office/drawing/2014/main" id="{1C102EA5-D77C-40BD-85AF-947BEB93D7C6}"/>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8C7C0BAC-F280-435E-A1E3-53DC81115091}"/>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23DDE211-6AA6-4B91-B9A4-036F280F9549}"/>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33</a:t>
            </a:r>
          </a:p>
        </p:txBody>
      </p:sp>
      <p:pic>
        <p:nvPicPr>
          <p:cNvPr id="16" name="Picture 15"/>
          <p:cNvPicPr>
            <a:picLocks noChangeAspect="1"/>
          </p:cNvPicPr>
          <p:nvPr/>
        </p:nvPicPr>
        <p:blipFill>
          <a:blip r:embed="rId3"/>
          <a:stretch/>
        </p:blipFill>
        <p:spPr>
          <a:xfrm>
            <a:off x="1214815" y="1466850"/>
            <a:ext cx="5866646" cy="4629150"/>
          </a:xfrm>
          <a:prstGeom prst="rect">
            <a:avLst/>
          </a:prstGeom>
        </p:spPr>
      </p:pic>
      <p:sp>
        <p:nvSpPr>
          <p:cNvPr id="7" name="Rectangle 6">
            <a:extLst>
              <a:ext uri="{FF2B5EF4-FFF2-40B4-BE49-F238E27FC236}">
                <a16:creationId xmlns:a16="http://schemas.microsoft.com/office/drawing/2014/main" id="{4D1A3975-C2BE-45E5-9331-928B4A17F861}"/>
              </a:ext>
            </a:extLst>
          </p:cNvPr>
          <p:cNvSpPr>
            <a:spLocks noGrp="1"/>
          </p:cNvSpPr>
          <p:nvPr/>
        </p:nvSpPr>
        <p:spPr>
          <a:xfrm>
            <a:off x="8334375" y="1647825"/>
            <a:ext cx="2905125" cy="342900"/>
          </a:xfrm>
          <a:prstGeom prst="rect">
            <a:avLst/>
          </a:prstGeom>
          <a:noFill/>
          <a:ln w="0">
            <a:noFill/>
          </a:ln>
        </p:spPr>
        <p:txBody>
          <a:bodyPr wrap="square" lIns="0" tIns="0" rIns="0" bIns="0" anchor="t">
            <a:noAutofit/>
          </a:bodyPr>
          <a:lstStyle/>
          <a:p>
            <a:pPr algn="l">
              <a:defRPr sz="1575" b="1">
                <a:solidFill>
                  <a:srgbClr val="B2182B"/>
                </a:solidFill>
                <a:latin typeface="Arial"/>
                <a:ea typeface="Arial"/>
                <a:cs typeface="Arial"/>
              </a:defRPr>
            </a:pPr>
            <a:r>
              <a:rPr sz="1575" b="1" dirty="0">
                <a:solidFill>
                  <a:srgbClr val="B2182B"/>
                </a:solidFill>
                <a:latin typeface="Arial"/>
                <a:ea typeface="Arial"/>
                <a:cs typeface="Arial"/>
              </a:rPr>
              <a:t>PRELIMINARY</a:t>
            </a:r>
          </a:p>
        </p:txBody>
      </p:sp>
      <p:sp>
        <p:nvSpPr>
          <p:cNvPr id="8" name="Rectangle 7">
            <a:extLst>
              <a:ext uri="{FF2B5EF4-FFF2-40B4-BE49-F238E27FC236}">
                <a16:creationId xmlns:a16="http://schemas.microsoft.com/office/drawing/2014/main" id="{DC483CAD-66BF-4431-9161-74FEF025BAED}"/>
              </a:ext>
            </a:extLst>
          </p:cNvPr>
          <p:cNvSpPr>
            <a:spLocks noGrp="1"/>
          </p:cNvSpPr>
          <p:nvPr/>
        </p:nvSpPr>
        <p:spPr>
          <a:xfrm>
            <a:off x="8239125" y="2200275"/>
            <a:ext cx="3257550" cy="952500"/>
          </a:xfrm>
          <a:prstGeom prst="rect">
            <a:avLst/>
          </a:prstGeom>
          <a:noFill/>
          <a:ln w="0">
            <a:noFill/>
          </a:ln>
        </p:spPr>
        <p:txBody>
          <a:bodyPr wrap="square" lIns="0" tIns="0" rIns="0" bIns="0" anchor="t">
            <a:noAutofit/>
          </a:bodyPr>
          <a:lstStyle/>
          <a:p>
            <a:pPr algn="l">
              <a:defRPr sz="2325" b="1">
                <a:solidFill>
                  <a:srgbClr val="182934"/>
                </a:solidFill>
                <a:latin typeface="Arial"/>
                <a:ea typeface="Arial"/>
                <a:cs typeface="Arial"/>
              </a:defRPr>
            </a:pPr>
            <a:r>
              <a:rPr sz="2325" b="1" dirty="0">
                <a:solidFill>
                  <a:srgbClr val="182934"/>
                </a:solidFill>
                <a:latin typeface="Arial"/>
                <a:ea typeface="Arial"/>
                <a:cs typeface="Arial"/>
              </a:rPr>
              <a:t>Spiral geometry leaves a measurable imprint</a:t>
            </a:r>
          </a:p>
        </p:txBody>
      </p:sp>
      <p:sp>
        <p:nvSpPr>
          <p:cNvPr id="9" name="Rectangle 8">
            <a:extLst>
              <a:ext uri="{FF2B5EF4-FFF2-40B4-BE49-F238E27FC236}">
                <a16:creationId xmlns:a16="http://schemas.microsoft.com/office/drawing/2014/main" id="{AD7119EB-C195-4A14-B12A-604CDC58656F}"/>
              </a:ext>
            </a:extLst>
          </p:cNvPr>
          <p:cNvSpPr>
            <a:spLocks noGrp="1"/>
          </p:cNvSpPr>
          <p:nvPr/>
        </p:nvSpPr>
        <p:spPr>
          <a:xfrm>
            <a:off x="8239125" y="3438525"/>
            <a:ext cx="3257550" cy="2095500"/>
          </a:xfrm>
          <a:prstGeom prst="rect">
            <a:avLst/>
          </a:prstGeom>
          <a:noFill/>
          <a:ln w="0">
            <a:noFill/>
          </a:ln>
        </p:spPr>
        <p:txBody>
          <a:bodyPr wrap="square" lIns="0" tIns="0" rIns="0" bIns="0" anchor="t">
            <a:noAutofit/>
          </a:bodyPr>
          <a:lstStyle/>
          <a:p>
            <a:pPr algn="l">
              <a:defRPr sz="1800" b="0">
                <a:solidFill>
                  <a:srgbClr val="182934"/>
                </a:solidFill>
                <a:latin typeface="Arial"/>
                <a:ea typeface="Arial"/>
                <a:cs typeface="Arial"/>
              </a:defRPr>
            </a:pPr>
            <a:r>
              <a:rPr sz="1800" b="0">
                <a:solidFill>
                  <a:srgbClr val="182934"/>
                </a:solidFill>
                <a:latin typeface="Arial"/>
                <a:ea typeface="Arial"/>
                <a:cs typeface="Arial"/>
              </a:rPr>
              <a:t>Hα source geometry</a:t>
            </a:r>
          </a:p>
          <a:p>
            <a:endParaRPr sz="1800" b="0">
              <a:solidFill>
                <a:srgbClr val="182934"/>
              </a:solidFill>
              <a:latin typeface="Arial"/>
              <a:ea typeface="Arial"/>
              <a:cs typeface="Arial"/>
            </a:endParaRPr>
          </a:p>
          <a:p>
            <a:pPr algn="l">
              <a:defRPr sz="1800" b="0">
                <a:solidFill>
                  <a:srgbClr val="182934"/>
                </a:solidFill>
                <a:latin typeface="Arial"/>
                <a:ea typeface="Arial"/>
                <a:cs typeface="Arial"/>
              </a:defRPr>
            </a:pPr>
            <a:r>
              <a:rPr sz="1800" b="0">
                <a:solidFill>
                  <a:srgbClr val="182934"/>
                </a:solidFill>
                <a:latin typeface="Arial"/>
                <a:ea typeface="Arial"/>
                <a:cs typeface="Arial"/>
              </a:rPr>
              <a:t>Metallicity-fluctuation map</a:t>
            </a:r>
          </a:p>
          <a:p>
            <a:endParaRPr sz="1800" b="0">
              <a:solidFill>
                <a:srgbClr val="182934"/>
              </a:solidFill>
              <a:latin typeface="Arial"/>
              <a:ea typeface="Arial"/>
              <a:cs typeface="Arial"/>
            </a:endParaRPr>
          </a:p>
          <a:p>
            <a:pPr algn="l">
              <a:defRPr sz="1800" b="0">
                <a:solidFill>
                  <a:srgbClr val="182934"/>
                </a:solidFill>
                <a:latin typeface="Arial"/>
                <a:ea typeface="Arial"/>
                <a:cs typeface="Arial"/>
              </a:defRPr>
            </a:pPr>
            <a:r>
              <a:rPr sz="1800" b="0">
                <a:solidFill>
                  <a:srgbClr val="182934"/>
                </a:solidFill>
                <a:latin typeface="Arial"/>
                <a:ea typeface="Arial"/>
                <a:cs typeface="Arial"/>
              </a:rPr>
              <a:t>Two-point correlation</a:t>
            </a:r>
          </a:p>
          <a:p>
            <a:endParaRPr sz="1800" b="0">
              <a:solidFill>
                <a:srgbClr val="182934"/>
              </a:solidFill>
              <a:latin typeface="Arial"/>
              <a:ea typeface="Arial"/>
              <a:cs typeface="Arial"/>
            </a:endParaRPr>
          </a:p>
          <a:p>
            <a:pPr algn="l">
              <a:defRPr sz="1800" b="0">
                <a:solidFill>
                  <a:srgbClr val="182934"/>
                </a:solidFill>
                <a:latin typeface="Arial"/>
                <a:ea typeface="Arial"/>
                <a:cs typeface="Arial"/>
              </a:defRPr>
            </a:pPr>
            <a:r>
              <a:rPr sz="1800" b="0">
                <a:solidFill>
                  <a:srgbClr val="182934"/>
                </a:solidFill>
                <a:latin typeface="Arial"/>
                <a:ea typeface="Arial"/>
                <a:cs typeface="Arial"/>
              </a:rPr>
              <a:t>Spiral-aware components</a:t>
            </a:r>
          </a:p>
        </p:txBody>
      </p:sp>
      <p:sp>
        <p:nvSpPr>
          <p:cNvPr id="10" name="Rectangle 9">
            <a:extLst>
              <a:ext uri="{FF2B5EF4-FFF2-40B4-BE49-F238E27FC236}">
                <a16:creationId xmlns:a16="http://schemas.microsoft.com/office/drawing/2014/main" id="{A94DBA71-3725-459C-8B86-DF08B0E813F5}"/>
              </a:ext>
            </a:extLst>
          </p:cNvPr>
          <p:cNvSpPr>
            <a:spLocks noGrp="1"/>
          </p:cNvSpPr>
          <p:nvPr/>
        </p:nvSpPr>
        <p:spPr>
          <a:xfrm>
            <a:off x="533400" y="61150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User-provided NGC4254 snapshot; no science pipeline recomputed for this talk.</a:t>
            </a:r>
          </a:p>
        </p:txBody>
      </p:sp>
    </p:spTree>
    <p:extLst>
      <p:ext uri="{BB962C8B-B14F-4D97-AF65-F5344CB8AC3E}">
        <p14:creationId xmlns:p14="http://schemas.microsoft.com/office/powerpoint/2010/main" val="327714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5AEC456-BBD3-4507-A564-6C671A4A97FE}"/>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ONGOING WORK / PRELIMINARY</a:t>
            </a:r>
          </a:p>
        </p:txBody>
      </p:sp>
      <p:sp>
        <p:nvSpPr>
          <p:cNvPr id="2" name="Rectangle 1">
            <a:extLst>
              <a:ext uri="{FF2B5EF4-FFF2-40B4-BE49-F238E27FC236}">
                <a16:creationId xmlns:a16="http://schemas.microsoft.com/office/drawing/2014/main" id="{BA708C8B-F2F2-4453-8B5B-AF3690F7AF74}"/>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Four terms separate geometry, memory and source clustering</a:t>
            </a:r>
          </a:p>
        </p:txBody>
      </p:sp>
      <p:sp>
        <p:nvSpPr>
          <p:cNvPr id="3" name="Rectangle 2">
            <a:extLst>
              <a:ext uri="{FF2B5EF4-FFF2-40B4-BE49-F238E27FC236}">
                <a16:creationId xmlns:a16="http://schemas.microsoft.com/office/drawing/2014/main" id="{7E651AC1-95C8-413E-8D13-C68A9DDD7BFB}"/>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E2B18DD1-3BF2-4024-87D6-59A50FD30E4C}"/>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EDF7F606-1ED6-4EE8-9118-0DB684E7CAB5}"/>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34</a:t>
            </a:r>
          </a:p>
        </p:txBody>
      </p:sp>
      <p:graphicFrame>
        <p:nvGraphicFramePr>
          <p:cNvPr id="15" name="Table 14"/>
          <p:cNvGraphicFramePr/>
          <p:nvPr/>
        </p:nvGraphicFramePr>
        <p:xfrm>
          <a:off x="400050" y="1628775"/>
          <a:ext cx="6419850" cy="3661410"/>
        </p:xfrm>
        <a:graphic>
          <a:graphicData uri="http://schemas.openxmlformats.org/drawingml/2006/table">
            <a:tbl>
              <a:tblPr/>
              <a:tblGrid>
                <a:gridCol w="1381125">
                  <a:extLst>
                    <a:ext uri="{9D8B030D-6E8A-4147-A177-3AD203B41FA5}">
                      <a16:colId xmlns:a16="http://schemas.microsoft.com/office/drawing/2014/main" val="20000"/>
                    </a:ext>
                  </a:extLst>
                </a:gridCol>
                <a:gridCol w="5038725">
                  <a:extLst>
                    <a:ext uri="{9D8B030D-6E8A-4147-A177-3AD203B41FA5}">
                      <a16:colId xmlns:a16="http://schemas.microsoft.com/office/drawing/2014/main" val="20001"/>
                    </a:ext>
                  </a:extLst>
                </a:gridCol>
              </a:tblGrid>
              <a:tr h="699135">
                <a:tc>
                  <a:txBody>
                    <a:bodyPr/>
                    <a:lstStyle/>
                    <a:p>
                      <a:r>
                        <a:rPr sz="1725" b="1">
                          <a:solidFill>
                            <a:srgbClr val="FFFFFF"/>
                          </a:solidFill>
                          <a:latin typeface="Arial"/>
                          <a:ea typeface="Arial"/>
                          <a:cs typeface="Arial"/>
                        </a:rPr>
                        <a:t>Term</a:t>
                      </a:r>
                    </a:p>
                  </a:txBody>
                  <a:tcPr marL="142875" marR="142875" marT="114300" marB="114300" anchor="ctr">
                    <a:solidFill>
                      <a:srgbClr val="10222E"/>
                    </a:solidFill>
                  </a:tcPr>
                </a:tc>
                <a:tc>
                  <a:txBody>
                    <a:bodyPr/>
                    <a:lstStyle/>
                    <a:p>
                      <a:r>
                        <a:rPr sz="1725" b="1">
                          <a:solidFill>
                            <a:srgbClr val="FFFFFF"/>
                          </a:solidFill>
                          <a:latin typeface="Arial"/>
                          <a:ea typeface="Arial"/>
                          <a:cs typeface="Arial"/>
                        </a:rPr>
                        <a:t>Physical content</a:t>
                      </a:r>
                    </a:p>
                  </a:txBody>
                  <a:tcPr marL="142875" marR="142875" marT="114300" marB="114300" anchor="ctr">
                    <a:solidFill>
                      <a:srgbClr val="10222E"/>
                    </a:solidFill>
                  </a:tcPr>
                </a:tc>
                <a:extLst>
                  <a:ext uri="{0D108BD9-81ED-4DB2-BD59-A6C34878D82A}">
                    <a16:rowId xmlns:a16="http://schemas.microsoft.com/office/drawing/2014/main" val="10000"/>
                  </a:ext>
                </a:extLst>
              </a:tr>
              <a:tr h="699135">
                <a:tc>
                  <a:txBody>
                    <a:bodyPr/>
                    <a:lstStyle/>
                    <a:p>
                      <a:r>
                        <a:rPr sz="1725" b="0">
                          <a:solidFill>
                            <a:srgbClr val="182934"/>
                          </a:solidFill>
                          <a:latin typeface="Arial"/>
                          <a:ea typeface="Arial"/>
                          <a:cs typeface="Arial"/>
                        </a:rPr>
                        <a:t>C₂ₚ,₀</a:t>
                      </a:r>
                    </a:p>
                  </a:txBody>
                  <a:tcPr marL="142875" marR="142875" marT="114300" marB="114300" anchor="ctr">
                    <a:solidFill>
                      <a:srgbClr val="FFFFFF"/>
                    </a:solidFill>
                  </a:tcPr>
                </a:tc>
                <a:tc>
                  <a:txBody>
                    <a:bodyPr/>
                    <a:lstStyle/>
                    <a:p>
                      <a:r>
                        <a:rPr sz="1725" b="0">
                          <a:solidFill>
                            <a:srgbClr val="182934"/>
                          </a:solidFill>
                          <a:latin typeface="Arial"/>
                          <a:ea typeface="Arial"/>
                          <a:cs typeface="Arial"/>
                        </a:rPr>
                        <a:t>Uniform-field injection–diffusion baseline (KT18)</a:t>
                      </a:r>
                    </a:p>
                  </a:txBody>
                  <a:tcPr marL="142875" marR="142875" marT="114300" marB="114300" anchor="ctr">
                    <a:solidFill>
                      <a:srgbClr val="FFFFFF"/>
                    </a:solidFill>
                  </a:tcPr>
                </a:tc>
                <a:extLst>
                  <a:ext uri="{0D108BD9-81ED-4DB2-BD59-A6C34878D82A}">
                    <a16:rowId xmlns:a16="http://schemas.microsoft.com/office/drawing/2014/main" val="10001"/>
                  </a:ext>
                </a:extLst>
              </a:tr>
              <a:tr h="699135">
                <a:tc>
                  <a:txBody>
                    <a:bodyPr/>
                    <a:lstStyle/>
                    <a:p>
                      <a:r>
                        <a:rPr sz="1725" b="0">
                          <a:solidFill>
                            <a:srgbClr val="182934"/>
                          </a:solidFill>
                          <a:latin typeface="Arial"/>
                          <a:ea typeface="Arial"/>
                          <a:cs typeface="Arial"/>
                        </a:rPr>
                        <a:t>C₂ₚ,N</a:t>
                      </a:r>
                    </a:p>
                  </a:txBody>
                  <a:tcPr marL="142875" marR="142875" marT="114300" marB="114300" anchor="ctr">
                    <a:solidFill>
                      <a:srgbClr val="F3F5F6"/>
                    </a:solidFill>
                  </a:tcPr>
                </a:tc>
                <a:tc>
                  <a:txBody>
                    <a:bodyPr/>
                    <a:lstStyle/>
                    <a:p>
                      <a:r>
                        <a:rPr sz="1725" b="0">
                          <a:solidFill>
                            <a:srgbClr val="182934"/>
                          </a:solidFill>
                          <a:latin typeface="Arial"/>
                          <a:ea typeface="Arial"/>
                          <a:cs typeface="Arial"/>
                        </a:rPr>
                        <a:t>Perturbed spiral field; net term from asymmetry / incomplete mask</a:t>
                      </a:r>
                    </a:p>
                  </a:txBody>
                  <a:tcPr marL="142875" marR="142875" marT="114300" marB="114300" anchor="ctr">
                    <a:solidFill>
                      <a:srgbClr val="F3F5F6"/>
                    </a:solidFill>
                  </a:tcPr>
                </a:tc>
                <a:extLst>
                  <a:ext uri="{0D108BD9-81ED-4DB2-BD59-A6C34878D82A}">
                    <a16:rowId xmlns:a16="http://schemas.microsoft.com/office/drawing/2014/main" val="10002"/>
                  </a:ext>
                </a:extLst>
              </a:tr>
              <a:tr h="699135">
                <a:tc>
                  <a:txBody>
                    <a:bodyPr/>
                    <a:lstStyle/>
                    <a:p>
                      <a:r>
                        <a:rPr sz="1725" b="0">
                          <a:solidFill>
                            <a:srgbClr val="182934"/>
                          </a:solidFill>
                          <a:latin typeface="Arial"/>
                          <a:ea typeface="Arial"/>
                          <a:cs typeface="Arial"/>
                        </a:rPr>
                        <a:t>C_M</a:t>
                      </a:r>
                    </a:p>
                  </a:txBody>
                  <a:tcPr marL="142875" marR="142875" marT="114300" marB="114300" anchor="ctr">
                    <a:solidFill>
                      <a:srgbClr val="FFFFFF"/>
                    </a:solidFill>
                  </a:tcPr>
                </a:tc>
                <a:tc>
                  <a:txBody>
                    <a:bodyPr/>
                    <a:lstStyle/>
                    <a:p>
                      <a:r>
                        <a:rPr sz="1725" b="0">
                          <a:solidFill>
                            <a:srgbClr val="182934"/>
                          </a:solidFill>
                          <a:latin typeface="Arial"/>
                          <a:ea typeface="Arial"/>
                          <a:cs typeface="Arial"/>
                        </a:rPr>
                        <a:t>Cumulative past correlation; spiral memory over the correlation time</a:t>
                      </a:r>
                    </a:p>
                  </a:txBody>
                  <a:tcPr marL="142875" marR="142875" marT="114300" marB="114300" anchor="ctr">
                    <a:solidFill>
                      <a:srgbClr val="FFFFFF"/>
                    </a:solidFill>
                  </a:tcPr>
                </a:tc>
                <a:extLst>
                  <a:ext uri="{0D108BD9-81ED-4DB2-BD59-A6C34878D82A}">
                    <a16:rowId xmlns:a16="http://schemas.microsoft.com/office/drawing/2014/main" val="10003"/>
                  </a:ext>
                </a:extLst>
              </a:tr>
              <a:tr h="699135">
                <a:tc>
                  <a:txBody>
                    <a:bodyPr/>
                    <a:lstStyle/>
                    <a:p>
                      <a:r>
                        <a:rPr sz="1725" b="0">
                          <a:solidFill>
                            <a:srgbClr val="182934"/>
                          </a:solidFill>
                          <a:latin typeface="Arial"/>
                          <a:ea typeface="Arial"/>
                          <a:cs typeface="Arial"/>
                        </a:rPr>
                        <a:t>C_NP</a:t>
                      </a:r>
                    </a:p>
                  </a:txBody>
                  <a:tcPr marL="142875" marR="142875" marT="114300" marB="114300" anchor="ctr">
                    <a:solidFill>
                      <a:srgbClr val="F3F5F6"/>
                    </a:solidFill>
                  </a:tcPr>
                </a:tc>
                <a:tc>
                  <a:txBody>
                    <a:bodyPr/>
                    <a:lstStyle/>
                    <a:p>
                      <a:r>
                        <a:rPr sz="1725" b="0">
                          <a:solidFill>
                            <a:srgbClr val="182934"/>
                          </a:solidFill>
                          <a:latin typeface="Arial"/>
                          <a:ea typeface="Arial"/>
                          <a:cs typeface="Arial"/>
                        </a:rPr>
                        <a:t>Born-in source clustering + diffusion, stellar drift and yield delay</a:t>
                      </a:r>
                    </a:p>
                  </a:txBody>
                  <a:tcPr marL="142875" marR="142875" marT="114300" marB="114300" anchor="ctr">
                    <a:solidFill>
                      <a:srgbClr val="F3F5F6"/>
                    </a:solidFill>
                  </a:tcPr>
                </a:tc>
                <a:extLst>
                  <a:ext uri="{0D108BD9-81ED-4DB2-BD59-A6C34878D82A}">
                    <a16:rowId xmlns:a16="http://schemas.microsoft.com/office/drawing/2014/main" val="10004"/>
                  </a:ext>
                </a:extLst>
              </a:tr>
            </a:tbl>
          </a:graphicData>
        </a:graphic>
      </p:graphicFrame>
      <p:pic>
        <p:nvPicPr>
          <p:cNvPr id="16" name="Picture 15"/>
          <p:cNvPicPr>
            <a:picLocks noChangeAspect="1"/>
          </p:cNvPicPr>
          <p:nvPr/>
        </p:nvPicPr>
        <p:blipFill>
          <a:blip r:embed="rId3"/>
          <a:stretch/>
        </p:blipFill>
        <p:spPr>
          <a:xfrm>
            <a:off x="7226487" y="1733550"/>
            <a:ext cx="4273176" cy="3352800"/>
          </a:xfrm>
          <a:prstGeom prst="rect">
            <a:avLst/>
          </a:prstGeom>
        </p:spPr>
      </p:pic>
      <p:sp>
        <p:nvSpPr>
          <p:cNvPr id="8" name="Rectangle 7">
            <a:extLst>
              <a:ext uri="{FF2B5EF4-FFF2-40B4-BE49-F238E27FC236}">
                <a16:creationId xmlns:a16="http://schemas.microsoft.com/office/drawing/2014/main" id="{2FBBB34B-7692-4707-8513-EA56020DE089}"/>
              </a:ext>
            </a:extLst>
          </p:cNvPr>
          <p:cNvSpPr>
            <a:spLocks noGrp="1"/>
          </p:cNvSpPr>
          <p:nvPr/>
        </p:nvSpPr>
        <p:spPr>
          <a:xfrm>
            <a:off x="533400" y="5410200"/>
            <a:ext cx="11125200" cy="476250"/>
          </a:xfrm>
          <a:prstGeom prst="rect">
            <a:avLst/>
          </a:prstGeom>
          <a:noFill/>
          <a:ln w="0">
            <a:noFill/>
          </a:ln>
        </p:spPr>
        <p:txBody>
          <a:bodyPr wrap="square" lIns="0" tIns="0" rIns="0" bIns="0" anchor="t">
            <a:noAutofit/>
          </a:bodyPr>
          <a:lstStyle/>
          <a:p>
            <a:pPr algn="l">
              <a:defRPr sz="2175" b="1">
                <a:solidFill>
                  <a:srgbClr val="182934"/>
                </a:solidFill>
                <a:latin typeface="Arial"/>
                <a:ea typeface="Arial"/>
                <a:cs typeface="Arial"/>
              </a:defRPr>
            </a:pPr>
            <a:r>
              <a:rPr sz="2175" b="1" dirty="0">
                <a:solidFill>
                  <a:srgbClr val="182934"/>
                </a:solidFill>
                <a:latin typeface="Arial"/>
                <a:ea typeface="Arial"/>
                <a:cs typeface="Arial"/>
              </a:rPr>
              <a:t>Geometry + temporal memory + clustered birth</a:t>
            </a:r>
          </a:p>
        </p:txBody>
      </p:sp>
      <p:sp>
        <p:nvSpPr>
          <p:cNvPr id="9" name="Rectangle 8">
            <a:extLst>
              <a:ext uri="{FF2B5EF4-FFF2-40B4-BE49-F238E27FC236}">
                <a16:creationId xmlns:a16="http://schemas.microsoft.com/office/drawing/2014/main" id="{4512F492-9754-4857-8CC9-4D663EEBC531}"/>
              </a:ext>
            </a:extLst>
          </p:cNvPr>
          <p:cNvSpPr>
            <a:spLocks noGrp="1"/>
          </p:cNvSpPr>
          <p:nvPr/>
        </p:nvSpPr>
        <p:spPr>
          <a:xfrm>
            <a:off x="533400" y="5962650"/>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C₂ₚ,N vanishes for complete symmetric arms under the azimuthal integral; C_NP is a distinct first-order residual.</a:t>
            </a:r>
          </a:p>
        </p:txBody>
      </p:sp>
    </p:spTree>
    <p:extLst>
      <p:ext uri="{BB962C8B-B14F-4D97-AF65-F5344CB8AC3E}">
        <p14:creationId xmlns:p14="http://schemas.microsoft.com/office/powerpoint/2010/main" val="414917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965BC72-A58F-4E5B-8321-1C9D26AF2FA2}"/>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ONGOING WORK / MOLECULAR-GAS TEST</a:t>
            </a:r>
          </a:p>
        </p:txBody>
      </p:sp>
      <p:sp>
        <p:nvSpPr>
          <p:cNvPr id="2" name="Rectangle 1">
            <a:extLst>
              <a:ext uri="{FF2B5EF4-FFF2-40B4-BE49-F238E27FC236}">
                <a16:creationId xmlns:a16="http://schemas.microsoft.com/office/drawing/2014/main" id="{71AA6E29-4881-49F4-9F98-8B2C5D96565A}"/>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dirty="0">
                <a:solidFill>
                  <a:srgbClr val="182934"/>
                </a:solidFill>
                <a:latin typeface="Arial"/>
                <a:ea typeface="Arial"/>
                <a:cs typeface="Arial"/>
              </a:rPr>
              <a:t>ALMA measures the reservoir and depletion time</a:t>
            </a:r>
          </a:p>
        </p:txBody>
      </p:sp>
      <p:sp>
        <p:nvSpPr>
          <p:cNvPr id="3" name="Rectangle 2">
            <a:extLst>
              <a:ext uri="{FF2B5EF4-FFF2-40B4-BE49-F238E27FC236}">
                <a16:creationId xmlns:a16="http://schemas.microsoft.com/office/drawing/2014/main" id="{FBC559A8-0049-46B5-9976-F976EBCF19C7}"/>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27F9BE11-DADB-4483-8CF7-8ABD5073D713}"/>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E9EDC0E3-20E8-4F2E-A4B1-1FB2F75DAFA7}"/>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52636C"/>
                </a:solidFill>
                <a:latin typeface="Arial"/>
                <a:ea typeface="Arial"/>
                <a:cs typeface="Arial"/>
              </a:defRPr>
            </a:pPr>
            <a:r>
              <a:rPr sz="1200" b="0">
                <a:solidFill>
                  <a:srgbClr val="52636C"/>
                </a:solidFill>
                <a:latin typeface="Arial"/>
                <a:ea typeface="Arial"/>
                <a:cs typeface="Arial"/>
              </a:rPr>
              <a:t>35</a:t>
            </a:r>
          </a:p>
        </p:txBody>
      </p:sp>
      <p:sp>
        <p:nvSpPr>
          <p:cNvPr id="6" name="Rectangle 5">
            <a:extLst>
              <a:ext uri="{FF2B5EF4-FFF2-40B4-BE49-F238E27FC236}">
                <a16:creationId xmlns:a16="http://schemas.microsoft.com/office/drawing/2014/main" id="{9DF85701-DBF2-4AB2-AE50-7B34F5DF0366}"/>
              </a:ext>
            </a:extLst>
          </p:cNvPr>
          <p:cNvSpPr>
            <a:spLocks noGrp="1"/>
          </p:cNvSpPr>
          <p:nvPr/>
        </p:nvSpPr>
        <p:spPr>
          <a:xfrm>
            <a:off x="1683115" y="1952625"/>
            <a:ext cx="1787747" cy="762000"/>
          </a:xfrm>
          <a:prstGeom prst="rect">
            <a:avLst/>
          </a:prstGeom>
          <a:noFill/>
          <a:ln w="0">
            <a:noFill/>
          </a:ln>
        </p:spPr>
        <p:txBody>
          <a:bodyPr wrap="none" lIns="0" tIns="0" rIns="0" bIns="0" anchor="t">
            <a:noAutofit/>
          </a:bodyPr>
          <a:lstStyle/>
          <a:p>
            <a:pPr algn="l">
              <a:defRPr sz="3750" b="0">
                <a:solidFill>
                  <a:srgbClr val="007E87"/>
                </a:solidFill>
                <a:latin typeface="Arial"/>
                <a:ea typeface="Arial"/>
                <a:cs typeface="Arial"/>
              </a:defRPr>
            </a:pPr>
            <a:r>
              <a:rPr sz="3750" b="0" dirty="0">
                <a:solidFill>
                  <a:srgbClr val="007E87"/>
                </a:solidFill>
                <a:latin typeface="Arial"/>
                <a:ea typeface="Arial"/>
                <a:cs typeface="Arial"/>
              </a:rPr>
              <a:t>CO → </a:t>
            </a:r>
            <a:r>
              <a:rPr sz="3750" b="0" dirty="0" err="1">
                <a:solidFill>
                  <a:srgbClr val="007E87"/>
                </a:solidFill>
                <a:latin typeface="Arial"/>
                <a:ea typeface="Arial"/>
                <a:cs typeface="Arial"/>
              </a:rPr>
              <a:t>Σ</a:t>
            </a:r>
            <a:endParaRPr sz="3750" b="0" dirty="0">
              <a:solidFill>
                <a:srgbClr val="007E87"/>
              </a:solidFill>
              <a:latin typeface="Arial"/>
              <a:ea typeface="Arial"/>
              <a:cs typeface="Arial"/>
            </a:endParaRPr>
          </a:p>
        </p:txBody>
      </p:sp>
      <p:sp>
        <p:nvSpPr>
          <p:cNvPr id="7" name="Rectangle 6">
            <a:extLst>
              <a:ext uri="{FF2B5EF4-FFF2-40B4-BE49-F238E27FC236}">
                <a16:creationId xmlns:a16="http://schemas.microsoft.com/office/drawing/2014/main" id="{6B59ACDC-223D-4BEE-8EA3-B8AE4EF1E328}"/>
              </a:ext>
            </a:extLst>
          </p:cNvPr>
          <p:cNvSpPr>
            <a:spLocks noGrp="1"/>
          </p:cNvSpPr>
          <p:nvPr/>
        </p:nvSpPr>
        <p:spPr>
          <a:xfrm>
            <a:off x="3432762" y="2152650"/>
            <a:ext cx="465773" cy="762000"/>
          </a:xfrm>
          <a:prstGeom prst="rect">
            <a:avLst/>
          </a:prstGeom>
          <a:noFill/>
          <a:ln w="0">
            <a:noFill/>
          </a:ln>
        </p:spPr>
        <p:txBody>
          <a:bodyPr wrap="none" lIns="0" tIns="0" rIns="0" bIns="0" anchor="t">
            <a:noAutofit/>
          </a:bodyPr>
          <a:lstStyle/>
          <a:p>
            <a:pPr algn="l">
              <a:defRPr sz="2288" b="0">
                <a:solidFill>
                  <a:srgbClr val="007E87"/>
                </a:solidFill>
                <a:latin typeface="Arial"/>
                <a:ea typeface="Arial"/>
                <a:cs typeface="Arial"/>
              </a:defRPr>
            </a:pPr>
            <a:r>
              <a:rPr sz="2288" b="0">
                <a:solidFill>
                  <a:srgbClr val="007E87"/>
                </a:solidFill>
                <a:latin typeface="Arial"/>
                <a:ea typeface="Arial"/>
                <a:cs typeface="Arial"/>
              </a:rPr>
              <a:t>H₂</a:t>
            </a:r>
          </a:p>
        </p:txBody>
      </p:sp>
      <p:sp>
        <p:nvSpPr>
          <p:cNvPr id="8" name="Rectangle 7">
            <a:extLst>
              <a:ext uri="{FF2B5EF4-FFF2-40B4-BE49-F238E27FC236}">
                <a16:creationId xmlns:a16="http://schemas.microsoft.com/office/drawing/2014/main" id="{1AD35CB9-1B24-4F7F-8FA7-28D1232AC344}"/>
              </a:ext>
            </a:extLst>
          </p:cNvPr>
          <p:cNvSpPr>
            <a:spLocks noGrp="1"/>
          </p:cNvSpPr>
          <p:nvPr/>
        </p:nvSpPr>
        <p:spPr>
          <a:xfrm>
            <a:off x="7237809" y="1952625"/>
            <a:ext cx="207455" cy="685800"/>
          </a:xfrm>
          <a:prstGeom prst="rect">
            <a:avLst/>
          </a:prstGeom>
          <a:noFill/>
          <a:ln w="0">
            <a:noFill/>
          </a:ln>
        </p:spPr>
        <p:txBody>
          <a:bodyPr wrap="none" lIns="0" tIns="0" rIns="0" bIns="0" anchor="t">
            <a:noAutofit/>
          </a:bodyPr>
          <a:lstStyle/>
          <a:p>
            <a:pPr algn="l">
              <a:defRPr sz="3375" b="0">
                <a:solidFill>
                  <a:srgbClr val="182934"/>
                </a:solidFill>
                <a:latin typeface="Arial"/>
                <a:ea typeface="Arial"/>
                <a:cs typeface="Arial"/>
              </a:defRPr>
            </a:pPr>
            <a:r>
              <a:rPr sz="3375" b="0">
                <a:solidFill>
                  <a:srgbClr val="182934"/>
                </a:solidFill>
                <a:latin typeface="Arial"/>
                <a:ea typeface="Arial"/>
                <a:cs typeface="Arial"/>
              </a:rPr>
              <a:t>τ</a:t>
            </a:r>
          </a:p>
        </p:txBody>
      </p:sp>
      <p:sp>
        <p:nvSpPr>
          <p:cNvPr id="9" name="Rectangle 8">
            <a:extLst>
              <a:ext uri="{FF2B5EF4-FFF2-40B4-BE49-F238E27FC236}">
                <a16:creationId xmlns:a16="http://schemas.microsoft.com/office/drawing/2014/main" id="{81937E92-D483-476C-9BEC-8384063625CF}"/>
              </a:ext>
            </a:extLst>
          </p:cNvPr>
          <p:cNvSpPr>
            <a:spLocks noGrp="1"/>
          </p:cNvSpPr>
          <p:nvPr/>
        </p:nvSpPr>
        <p:spPr>
          <a:xfrm>
            <a:off x="7407164" y="2132648"/>
            <a:ext cx="474154" cy="685800"/>
          </a:xfrm>
          <a:prstGeom prst="rect">
            <a:avLst/>
          </a:prstGeom>
          <a:noFill/>
          <a:ln w="0">
            <a:noFill/>
          </a:ln>
        </p:spPr>
        <p:txBody>
          <a:bodyPr wrap="none" lIns="0" tIns="0" rIns="0" bIns="0" anchor="t">
            <a:noAutofit/>
          </a:bodyPr>
          <a:lstStyle/>
          <a:p>
            <a:pPr algn="l">
              <a:defRPr sz="2059" b="0">
                <a:solidFill>
                  <a:srgbClr val="182934"/>
                </a:solidFill>
                <a:latin typeface="Arial"/>
                <a:ea typeface="Arial"/>
                <a:cs typeface="Arial"/>
              </a:defRPr>
            </a:pPr>
            <a:r>
              <a:rPr sz="2059" b="0">
                <a:solidFill>
                  <a:srgbClr val="182934"/>
                </a:solidFill>
                <a:latin typeface="Arial"/>
                <a:ea typeface="Arial"/>
                <a:cs typeface="Arial"/>
              </a:rPr>
              <a:t>dep</a:t>
            </a:r>
          </a:p>
        </p:txBody>
      </p:sp>
      <p:sp>
        <p:nvSpPr>
          <p:cNvPr id="10" name="Rectangle 9">
            <a:extLst>
              <a:ext uri="{FF2B5EF4-FFF2-40B4-BE49-F238E27FC236}">
                <a16:creationId xmlns:a16="http://schemas.microsoft.com/office/drawing/2014/main" id="{D722CACC-85E1-4020-A9DD-0E28509D333F}"/>
              </a:ext>
            </a:extLst>
          </p:cNvPr>
          <p:cNvSpPr>
            <a:spLocks noGrp="1"/>
          </p:cNvSpPr>
          <p:nvPr/>
        </p:nvSpPr>
        <p:spPr>
          <a:xfrm>
            <a:off x="7962281" y="1952625"/>
            <a:ext cx="672465" cy="685800"/>
          </a:xfrm>
          <a:prstGeom prst="rect">
            <a:avLst/>
          </a:prstGeom>
          <a:noFill/>
          <a:ln w="0">
            <a:noFill/>
          </a:ln>
        </p:spPr>
        <p:txBody>
          <a:bodyPr wrap="none" lIns="0" tIns="0" rIns="0" bIns="0" anchor="t">
            <a:noAutofit/>
          </a:bodyPr>
          <a:lstStyle/>
          <a:p>
            <a:pPr algn="l">
              <a:defRPr sz="3375" b="0">
                <a:solidFill>
                  <a:srgbClr val="182934"/>
                </a:solidFill>
                <a:latin typeface="Arial"/>
                <a:ea typeface="Arial"/>
                <a:cs typeface="Arial"/>
              </a:defRPr>
            </a:pPr>
            <a:r>
              <a:rPr sz="3375" b="0">
                <a:solidFill>
                  <a:srgbClr val="182934"/>
                </a:solidFill>
                <a:latin typeface="Arial"/>
                <a:ea typeface="Arial"/>
                <a:cs typeface="Arial"/>
              </a:rPr>
              <a:t>= Σ</a:t>
            </a:r>
          </a:p>
        </p:txBody>
      </p:sp>
      <p:sp>
        <p:nvSpPr>
          <p:cNvPr id="11" name="Rectangle 10">
            <a:extLst>
              <a:ext uri="{FF2B5EF4-FFF2-40B4-BE49-F238E27FC236}">
                <a16:creationId xmlns:a16="http://schemas.microsoft.com/office/drawing/2014/main" id="{B20517CB-8472-4E33-B36C-B9CE39CF5585}"/>
              </a:ext>
            </a:extLst>
          </p:cNvPr>
          <p:cNvSpPr>
            <a:spLocks noGrp="1"/>
          </p:cNvSpPr>
          <p:nvPr/>
        </p:nvSpPr>
        <p:spPr>
          <a:xfrm>
            <a:off x="8596646" y="2132648"/>
            <a:ext cx="422815" cy="685800"/>
          </a:xfrm>
          <a:prstGeom prst="rect">
            <a:avLst/>
          </a:prstGeom>
          <a:noFill/>
          <a:ln w="0">
            <a:noFill/>
          </a:ln>
        </p:spPr>
        <p:txBody>
          <a:bodyPr wrap="none" lIns="0" tIns="0" rIns="0" bIns="0" anchor="t">
            <a:noAutofit/>
          </a:bodyPr>
          <a:lstStyle/>
          <a:p>
            <a:pPr algn="l">
              <a:defRPr sz="2059" b="0">
                <a:solidFill>
                  <a:srgbClr val="182934"/>
                </a:solidFill>
                <a:latin typeface="Arial"/>
                <a:ea typeface="Arial"/>
                <a:cs typeface="Arial"/>
              </a:defRPr>
            </a:pPr>
            <a:r>
              <a:rPr sz="2059" b="0">
                <a:solidFill>
                  <a:srgbClr val="182934"/>
                </a:solidFill>
                <a:latin typeface="Arial"/>
                <a:ea typeface="Arial"/>
                <a:cs typeface="Arial"/>
              </a:rPr>
              <a:t>H₂</a:t>
            </a:r>
          </a:p>
        </p:txBody>
      </p:sp>
      <p:sp>
        <p:nvSpPr>
          <p:cNvPr id="12" name="Rectangle 11">
            <a:extLst>
              <a:ext uri="{FF2B5EF4-FFF2-40B4-BE49-F238E27FC236}">
                <a16:creationId xmlns:a16="http://schemas.microsoft.com/office/drawing/2014/main" id="{64EB9A26-4FE1-472B-82F5-F938221A38A8}"/>
              </a:ext>
            </a:extLst>
          </p:cNvPr>
          <p:cNvSpPr>
            <a:spLocks noGrp="1"/>
          </p:cNvSpPr>
          <p:nvPr/>
        </p:nvSpPr>
        <p:spPr>
          <a:xfrm>
            <a:off x="9100423" y="1952625"/>
            <a:ext cx="541210" cy="685800"/>
          </a:xfrm>
          <a:prstGeom prst="rect">
            <a:avLst/>
          </a:prstGeom>
          <a:noFill/>
          <a:ln w="0">
            <a:noFill/>
          </a:ln>
        </p:spPr>
        <p:txBody>
          <a:bodyPr wrap="none" lIns="0" tIns="0" rIns="0" bIns="0" anchor="t">
            <a:noAutofit/>
          </a:bodyPr>
          <a:lstStyle/>
          <a:p>
            <a:pPr algn="l">
              <a:defRPr sz="3375" b="0">
                <a:solidFill>
                  <a:srgbClr val="182934"/>
                </a:solidFill>
                <a:latin typeface="Arial"/>
                <a:ea typeface="Arial"/>
                <a:cs typeface="Arial"/>
              </a:defRPr>
            </a:pPr>
            <a:r>
              <a:rPr sz="3375" b="0">
                <a:solidFill>
                  <a:srgbClr val="182934"/>
                </a:solidFill>
                <a:latin typeface="Arial"/>
                <a:ea typeface="Arial"/>
                <a:cs typeface="Arial"/>
              </a:rPr>
              <a:t>/ Σ</a:t>
            </a:r>
          </a:p>
        </p:txBody>
      </p:sp>
      <p:sp>
        <p:nvSpPr>
          <p:cNvPr id="13" name="Rectangle 12">
            <a:extLst>
              <a:ext uri="{FF2B5EF4-FFF2-40B4-BE49-F238E27FC236}">
                <a16:creationId xmlns:a16="http://schemas.microsoft.com/office/drawing/2014/main" id="{F3A23B1C-ED0D-45EF-A31D-B511616DAC97}"/>
              </a:ext>
            </a:extLst>
          </p:cNvPr>
          <p:cNvSpPr>
            <a:spLocks noGrp="1"/>
          </p:cNvSpPr>
          <p:nvPr/>
        </p:nvSpPr>
        <p:spPr>
          <a:xfrm>
            <a:off x="9603534" y="2132648"/>
            <a:ext cx="560832" cy="685800"/>
          </a:xfrm>
          <a:prstGeom prst="rect">
            <a:avLst/>
          </a:prstGeom>
          <a:noFill/>
          <a:ln w="0">
            <a:noFill/>
          </a:ln>
        </p:spPr>
        <p:txBody>
          <a:bodyPr wrap="none" lIns="0" tIns="0" rIns="0" bIns="0" anchor="t">
            <a:noAutofit/>
          </a:bodyPr>
          <a:lstStyle/>
          <a:p>
            <a:pPr algn="l">
              <a:defRPr sz="2059" b="0">
                <a:solidFill>
                  <a:srgbClr val="182934"/>
                </a:solidFill>
                <a:latin typeface="Arial"/>
                <a:ea typeface="Arial"/>
                <a:cs typeface="Arial"/>
              </a:defRPr>
            </a:pPr>
            <a:r>
              <a:rPr sz="2059" b="0">
                <a:solidFill>
                  <a:srgbClr val="182934"/>
                </a:solidFill>
                <a:latin typeface="Arial"/>
                <a:ea typeface="Arial"/>
                <a:cs typeface="Arial"/>
              </a:rPr>
              <a:t>SFR</a:t>
            </a:r>
          </a:p>
        </p:txBody>
      </p:sp>
      <p:graphicFrame>
        <p:nvGraphicFramePr>
          <p:cNvPr id="29" name="Table 28"/>
          <p:cNvGraphicFramePr/>
          <p:nvPr/>
        </p:nvGraphicFramePr>
        <p:xfrm>
          <a:off x="533400" y="3209925"/>
          <a:ext cx="11125200" cy="2238376"/>
        </p:xfrm>
        <a:graphic>
          <a:graphicData uri="http://schemas.openxmlformats.org/drawingml/2006/table">
            <a:tbl>
              <a:tblPr/>
              <a:tblGrid>
                <a:gridCol w="4391025">
                  <a:extLst>
                    <a:ext uri="{9D8B030D-6E8A-4147-A177-3AD203B41FA5}">
                      <a16:colId xmlns:a16="http://schemas.microsoft.com/office/drawing/2014/main" val="20000"/>
                    </a:ext>
                  </a:extLst>
                </a:gridCol>
                <a:gridCol w="6734175">
                  <a:extLst>
                    <a:ext uri="{9D8B030D-6E8A-4147-A177-3AD203B41FA5}">
                      <a16:colId xmlns:a16="http://schemas.microsoft.com/office/drawing/2014/main" val="20001"/>
                    </a:ext>
                  </a:extLst>
                </a:gridCol>
              </a:tblGrid>
              <a:tr h="559594">
                <a:tc>
                  <a:txBody>
                    <a:bodyPr/>
                    <a:lstStyle/>
                    <a:p>
                      <a:r>
                        <a:rPr sz="2025" b="1">
                          <a:solidFill>
                            <a:srgbClr val="FFFFFF"/>
                          </a:solidFill>
                          <a:latin typeface="Arial"/>
                          <a:ea typeface="Arial"/>
                          <a:cs typeface="Arial"/>
                        </a:rPr>
                        <a:t>Measure</a:t>
                      </a:r>
                    </a:p>
                  </a:txBody>
                  <a:tcPr marL="142875" marR="142875" marT="114300" marB="114300" anchor="ctr">
                    <a:solidFill>
                      <a:srgbClr val="10222E"/>
                    </a:solidFill>
                  </a:tcPr>
                </a:tc>
                <a:tc>
                  <a:txBody>
                    <a:bodyPr/>
                    <a:lstStyle/>
                    <a:p>
                      <a:r>
                        <a:rPr sz="2025" b="1">
                          <a:solidFill>
                            <a:srgbClr val="FFFFFF"/>
                          </a:solidFill>
                          <a:latin typeface="Arial"/>
                          <a:ea typeface="Arial"/>
                          <a:cs typeface="Arial"/>
                        </a:rPr>
                        <a:t>Test</a:t>
                      </a:r>
                    </a:p>
                  </a:txBody>
                  <a:tcPr marL="142875" marR="142875" marT="114300" marB="114300" anchor="ctr">
                    <a:solidFill>
                      <a:srgbClr val="10222E"/>
                    </a:solidFill>
                  </a:tcPr>
                </a:tc>
                <a:extLst>
                  <a:ext uri="{0D108BD9-81ED-4DB2-BD59-A6C34878D82A}">
                    <a16:rowId xmlns:a16="http://schemas.microsoft.com/office/drawing/2014/main" val="10000"/>
                  </a:ext>
                </a:extLst>
              </a:tr>
              <a:tr h="559594">
                <a:tc>
                  <a:txBody>
                    <a:bodyPr/>
                    <a:lstStyle/>
                    <a:p>
                      <a:r>
                        <a:rPr sz="2025" b="0">
                          <a:solidFill>
                            <a:srgbClr val="182934"/>
                          </a:solidFill>
                          <a:latin typeface="Arial"/>
                          <a:ea typeface="Arial"/>
                          <a:cs typeface="Arial"/>
                        </a:rPr>
                        <a:t>Molecular reservoir</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Gas content at fixed stellar density</a:t>
                      </a:r>
                    </a:p>
                  </a:txBody>
                  <a:tcPr marL="142875" marR="142875" marT="114300" marB="114300" anchor="ctr">
                    <a:solidFill>
                      <a:srgbClr val="FFFFFF"/>
                    </a:solidFill>
                  </a:tcPr>
                </a:tc>
                <a:extLst>
                  <a:ext uri="{0D108BD9-81ED-4DB2-BD59-A6C34878D82A}">
                    <a16:rowId xmlns:a16="http://schemas.microsoft.com/office/drawing/2014/main" val="10001"/>
                  </a:ext>
                </a:extLst>
              </a:tr>
              <a:tr h="559594">
                <a:tc>
                  <a:txBody>
                    <a:bodyPr/>
                    <a:lstStyle/>
                    <a:p>
                      <a:r>
                        <a:rPr sz="2025" b="0">
                          <a:solidFill>
                            <a:srgbClr val="182934"/>
                          </a:solidFill>
                          <a:latin typeface="Arial"/>
                          <a:ea typeface="Arial"/>
                          <a:cs typeface="Arial"/>
                        </a:rPr>
                        <a:t>Depletion time / SFE</a:t>
                      </a:r>
                    </a:p>
                  </a:txBody>
                  <a:tcPr marL="142875" marR="142875" marT="114300" marB="114300" anchor="ctr">
                    <a:solidFill>
                      <a:srgbClr val="F3F5F6"/>
                    </a:solidFill>
                  </a:tcPr>
                </a:tc>
                <a:tc>
                  <a:txBody>
                    <a:bodyPr/>
                    <a:lstStyle/>
                    <a:p>
                      <a:r>
                        <a:rPr sz="2025" b="0">
                          <a:solidFill>
                            <a:srgbClr val="182934"/>
                          </a:solidFill>
                          <a:latin typeface="Arial"/>
                          <a:ea typeface="Arial"/>
                          <a:cs typeface="Arial"/>
                        </a:rPr>
                        <a:t>Does the positive branch track τdep?</a:t>
                      </a:r>
                    </a:p>
                  </a:txBody>
                  <a:tcPr marL="142875" marR="142875" marT="114300" marB="114300" anchor="ctr">
                    <a:solidFill>
                      <a:srgbClr val="F3F5F6"/>
                    </a:solidFill>
                  </a:tcPr>
                </a:tc>
                <a:extLst>
                  <a:ext uri="{0D108BD9-81ED-4DB2-BD59-A6C34878D82A}">
                    <a16:rowId xmlns:a16="http://schemas.microsoft.com/office/drawing/2014/main" val="10002"/>
                  </a:ext>
                </a:extLst>
              </a:tr>
              <a:tr h="559594">
                <a:tc>
                  <a:txBody>
                    <a:bodyPr/>
                    <a:lstStyle/>
                    <a:p>
                      <a:r>
                        <a:rPr sz="2025" b="0">
                          <a:solidFill>
                            <a:srgbClr val="182934"/>
                          </a:solidFill>
                          <a:latin typeface="Arial"/>
                          <a:ea typeface="Arial"/>
                          <a:cs typeface="Arial"/>
                        </a:rPr>
                        <a:t>Joint spatial structure</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Are gas and abundance residuals aligned?</a:t>
                      </a:r>
                    </a:p>
                  </a:txBody>
                  <a:tcPr marL="142875" marR="142875"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15" name="Rectangle 14">
            <a:extLst>
              <a:ext uri="{FF2B5EF4-FFF2-40B4-BE49-F238E27FC236}">
                <a16:creationId xmlns:a16="http://schemas.microsoft.com/office/drawing/2014/main" id="{294F0AB5-3C0C-45E9-88ED-4A1339C185F9}"/>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CO conversion, matched beams, apertures, sensitivity and timescales matter. CO does not directly measure ΣΦ.</a:t>
            </a:r>
          </a:p>
        </p:txBody>
      </p:sp>
    </p:spTree>
    <p:extLst>
      <p:ext uri="{BB962C8B-B14F-4D97-AF65-F5344CB8AC3E}">
        <p14:creationId xmlns:p14="http://schemas.microsoft.com/office/powerpoint/2010/main" val="1945377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0222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8C36CE-1404-457C-A7B8-6EECF52B92A0}"/>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C8AAC6"/>
                </a:solidFill>
                <a:latin typeface="Arial"/>
                <a:ea typeface="Arial"/>
                <a:cs typeface="Arial"/>
              </a:defRPr>
            </a:pPr>
            <a:r>
              <a:rPr sz="1125" b="1">
                <a:solidFill>
                  <a:srgbClr val="C8AAC6"/>
                </a:solidFill>
                <a:latin typeface="Arial"/>
                <a:ea typeface="Arial"/>
                <a:cs typeface="Arial"/>
              </a:rPr>
              <a:t>FROM EVIDENCE TO TESTS</a:t>
            </a:r>
          </a:p>
        </p:txBody>
      </p:sp>
      <p:sp>
        <p:nvSpPr>
          <p:cNvPr id="2" name="Rectangle 1">
            <a:extLst>
              <a:ext uri="{FF2B5EF4-FFF2-40B4-BE49-F238E27FC236}">
                <a16:creationId xmlns:a16="http://schemas.microsoft.com/office/drawing/2014/main" id="{3C49AB1C-24E4-4702-994B-98AC743E3689}"/>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A connected research programme</a:t>
            </a:r>
          </a:p>
        </p:txBody>
      </p:sp>
      <p:sp>
        <p:nvSpPr>
          <p:cNvPr id="3" name="Rectangle 2">
            <a:extLst>
              <a:ext uri="{FF2B5EF4-FFF2-40B4-BE49-F238E27FC236}">
                <a16:creationId xmlns:a16="http://schemas.microsoft.com/office/drawing/2014/main" id="{E8F27B1B-92C4-4489-A530-06C579E2927A}"/>
              </a:ext>
            </a:extLst>
          </p:cNvPr>
          <p:cNvSpPr>
            <a:spLocks noGrp="1"/>
          </p:cNvSpPr>
          <p:nvPr/>
        </p:nvSpPr>
        <p:spPr>
          <a:xfrm>
            <a:off x="533400" y="6419850"/>
            <a:ext cx="11125200" cy="9525"/>
          </a:xfrm>
          <a:prstGeom prst="rect">
            <a:avLst/>
          </a:prstGeom>
          <a:solidFill>
            <a:srgbClr val="44606F"/>
          </a:solidFill>
          <a:ln w="0">
            <a:noFill/>
          </a:ln>
        </p:spPr>
        <p:txBody>
          <a:bodyPr/>
          <a:lstStyle/>
          <a:p>
            <a:endParaRPr lang="en-US"/>
          </a:p>
        </p:txBody>
      </p:sp>
      <p:sp>
        <p:nvSpPr>
          <p:cNvPr id="4" name="Rectangle 3">
            <a:extLst>
              <a:ext uri="{FF2B5EF4-FFF2-40B4-BE49-F238E27FC236}">
                <a16:creationId xmlns:a16="http://schemas.microsoft.com/office/drawing/2014/main" id="{5EF1E000-DE0E-42A6-B96B-5776C121FB17}"/>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C8D3D8"/>
                </a:solidFill>
                <a:latin typeface="Arial"/>
                <a:ea typeface="Arial"/>
                <a:cs typeface="Arial"/>
              </a:defRPr>
            </a:pPr>
            <a:r>
              <a:rPr sz="975" b="0">
                <a:solidFill>
                  <a:srgbClr val="C8D3D8"/>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8CAD2E62-6C5D-4F29-80E1-F1C3B3209B0D}"/>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buNone/>
              <a:defRPr sz="1200" b="0">
                <a:solidFill>
                  <a:srgbClr val="C8D3D8"/>
                </a:solidFill>
                <a:latin typeface="Arial"/>
                <a:ea typeface="Arial"/>
                <a:cs typeface="Arial"/>
              </a:defRPr>
            </a:pPr>
            <a:r>
              <a:rPr sz="1200" b="0">
                <a:solidFill>
                  <a:srgbClr val="C8D3D8"/>
                </a:solidFill>
                <a:latin typeface="Arial"/>
                <a:ea typeface="Arial"/>
                <a:cs typeface="Arial"/>
              </a:rPr>
              <a:t>36</a:t>
            </a:r>
          </a:p>
        </p:txBody>
      </p:sp>
      <p:sp>
        <p:nvSpPr>
          <p:cNvPr id="6" name="Rectangle 5">
            <a:extLst>
              <a:ext uri="{FF2B5EF4-FFF2-40B4-BE49-F238E27FC236}">
                <a16:creationId xmlns:a16="http://schemas.microsoft.com/office/drawing/2014/main" id="{693420AE-98CE-47EE-BBD7-CBC72D95A2E9}"/>
              </a:ext>
            </a:extLst>
          </p:cNvPr>
          <p:cNvSpPr>
            <a:spLocks noGrp="1"/>
          </p:cNvSpPr>
          <p:nvPr/>
        </p:nvSpPr>
        <p:spPr>
          <a:xfrm>
            <a:off x="533400" y="2009775"/>
            <a:ext cx="4038600" cy="542925"/>
          </a:xfrm>
          <a:prstGeom prst="rect">
            <a:avLst/>
          </a:prstGeom>
          <a:noFill/>
          <a:ln w="0">
            <a:noFill/>
          </a:ln>
        </p:spPr>
        <p:txBody>
          <a:bodyPr wrap="square" lIns="0" tIns="0" rIns="0" bIns="0" anchor="t">
            <a:noAutofit/>
          </a:bodyPr>
          <a:lstStyle/>
          <a:p>
            <a:pPr algn="l">
              <a:defRPr sz="2700" b="1">
                <a:solidFill>
                  <a:srgbClr val="D7BDD5"/>
                </a:solidFill>
                <a:latin typeface="Arial"/>
                <a:ea typeface="Arial"/>
                <a:cs typeface="Arial"/>
              </a:defRPr>
            </a:pPr>
            <a:r>
              <a:rPr sz="2700" b="1">
                <a:solidFill>
                  <a:srgbClr val="D7BDD5"/>
                </a:solidFill>
                <a:latin typeface="Arial"/>
                <a:ea typeface="Arial"/>
                <a:cs typeface="Arial"/>
              </a:rPr>
              <a:t>Environment</a:t>
            </a:r>
          </a:p>
        </p:txBody>
      </p:sp>
      <p:sp>
        <p:nvSpPr>
          <p:cNvPr id="7" name="Rectangle 6">
            <a:extLst>
              <a:ext uri="{FF2B5EF4-FFF2-40B4-BE49-F238E27FC236}">
                <a16:creationId xmlns:a16="http://schemas.microsoft.com/office/drawing/2014/main" id="{6077796E-227A-4F49-843A-51D538249F7B}"/>
              </a:ext>
            </a:extLst>
          </p:cNvPr>
          <p:cNvSpPr>
            <a:spLocks noGrp="1"/>
          </p:cNvSpPr>
          <p:nvPr/>
        </p:nvSpPr>
        <p:spPr>
          <a:xfrm>
            <a:off x="5019675" y="2009775"/>
            <a:ext cx="6486525" cy="666750"/>
          </a:xfrm>
          <a:prstGeom prst="rect">
            <a:avLst/>
          </a:prstGeom>
          <a:noFill/>
          <a:ln w="0">
            <a:noFill/>
          </a:ln>
        </p:spPr>
        <p:txBody>
          <a:bodyPr wrap="square" lIns="0" tIns="0" rIns="0" bIns="0" anchor="t">
            <a:noAutofit/>
          </a:bodyPr>
          <a:lstStyle/>
          <a:p>
            <a:pPr algn="l">
              <a:defRPr sz="2700" b="0">
                <a:solidFill>
                  <a:srgbClr val="FFFFFF"/>
                </a:solidFill>
                <a:latin typeface="Arial"/>
                <a:ea typeface="Arial"/>
                <a:cs typeface="Arial"/>
              </a:defRPr>
            </a:pPr>
            <a:r>
              <a:rPr sz="2700" b="0">
                <a:solidFill>
                  <a:srgbClr val="FFFFFF"/>
                </a:solidFill>
                <a:latin typeface="Arial"/>
                <a:ea typeface="Arial"/>
                <a:cs typeface="Arial"/>
              </a:rPr>
              <a:t>Where SF remains</a:t>
            </a:r>
          </a:p>
        </p:txBody>
      </p:sp>
      <p:sp>
        <p:nvSpPr>
          <p:cNvPr id="8" name="Rectangle 7">
            <a:extLst>
              <a:ext uri="{FF2B5EF4-FFF2-40B4-BE49-F238E27FC236}">
                <a16:creationId xmlns:a16="http://schemas.microsoft.com/office/drawing/2014/main" id="{42734787-CD08-4D34-AC8B-C7184ACFFDE2}"/>
              </a:ext>
            </a:extLst>
          </p:cNvPr>
          <p:cNvSpPr>
            <a:spLocks noGrp="1"/>
          </p:cNvSpPr>
          <p:nvPr/>
        </p:nvSpPr>
        <p:spPr>
          <a:xfrm>
            <a:off x="533400" y="3228975"/>
            <a:ext cx="4038600" cy="542925"/>
          </a:xfrm>
          <a:prstGeom prst="rect">
            <a:avLst/>
          </a:prstGeom>
          <a:noFill/>
          <a:ln w="0">
            <a:noFill/>
          </a:ln>
        </p:spPr>
        <p:txBody>
          <a:bodyPr wrap="square" lIns="0" tIns="0" rIns="0" bIns="0" anchor="t">
            <a:noAutofit/>
          </a:bodyPr>
          <a:lstStyle/>
          <a:p>
            <a:pPr algn="l">
              <a:defRPr sz="2700" b="1">
                <a:solidFill>
                  <a:srgbClr val="D7BDD5"/>
                </a:solidFill>
                <a:latin typeface="Arial"/>
                <a:ea typeface="Arial"/>
                <a:cs typeface="Arial"/>
              </a:defRPr>
            </a:pPr>
            <a:r>
              <a:rPr sz="2700" b="1">
                <a:solidFill>
                  <a:srgbClr val="D7BDD5"/>
                </a:solidFill>
                <a:latin typeface="Arial"/>
                <a:ea typeface="Arial"/>
                <a:cs typeface="Arial"/>
              </a:rPr>
              <a:t>Internal structure</a:t>
            </a:r>
          </a:p>
        </p:txBody>
      </p:sp>
      <p:sp>
        <p:nvSpPr>
          <p:cNvPr id="9" name="Rectangle 8">
            <a:extLst>
              <a:ext uri="{FF2B5EF4-FFF2-40B4-BE49-F238E27FC236}">
                <a16:creationId xmlns:a16="http://schemas.microsoft.com/office/drawing/2014/main" id="{B273C112-88A2-4E21-A39D-861D91C34435}"/>
              </a:ext>
            </a:extLst>
          </p:cNvPr>
          <p:cNvSpPr>
            <a:spLocks noGrp="1"/>
          </p:cNvSpPr>
          <p:nvPr/>
        </p:nvSpPr>
        <p:spPr>
          <a:xfrm>
            <a:off x="5019675" y="3228975"/>
            <a:ext cx="6486525" cy="666750"/>
          </a:xfrm>
          <a:prstGeom prst="rect">
            <a:avLst/>
          </a:prstGeom>
          <a:noFill/>
          <a:ln w="0">
            <a:noFill/>
          </a:ln>
        </p:spPr>
        <p:txBody>
          <a:bodyPr wrap="square" lIns="0" tIns="0" rIns="0" bIns="0" anchor="t">
            <a:noAutofit/>
          </a:bodyPr>
          <a:lstStyle/>
          <a:p>
            <a:pPr algn="l">
              <a:defRPr sz="2700" b="0">
                <a:solidFill>
                  <a:srgbClr val="FFFFFF"/>
                </a:solidFill>
                <a:latin typeface="Arial"/>
                <a:ea typeface="Arial"/>
                <a:cs typeface="Arial"/>
              </a:defRPr>
            </a:pPr>
            <a:r>
              <a:rPr sz="2700" b="0">
                <a:solidFill>
                  <a:srgbClr val="FFFFFF"/>
                </a:solidFill>
                <a:latin typeface="Arial"/>
                <a:ea typeface="Arial"/>
                <a:cs typeface="Arial"/>
              </a:rPr>
              <a:t>Where metals fluctuate</a:t>
            </a:r>
          </a:p>
        </p:txBody>
      </p:sp>
      <p:sp>
        <p:nvSpPr>
          <p:cNvPr id="10" name="Rectangle 9">
            <a:extLst>
              <a:ext uri="{FF2B5EF4-FFF2-40B4-BE49-F238E27FC236}">
                <a16:creationId xmlns:a16="http://schemas.microsoft.com/office/drawing/2014/main" id="{080BC97A-F776-4C70-AFFD-F9A00D6BF4FE}"/>
              </a:ext>
            </a:extLst>
          </p:cNvPr>
          <p:cNvSpPr>
            <a:spLocks noGrp="1"/>
          </p:cNvSpPr>
          <p:nvPr/>
        </p:nvSpPr>
        <p:spPr>
          <a:xfrm>
            <a:off x="533400" y="4448175"/>
            <a:ext cx="4038600" cy="542925"/>
          </a:xfrm>
          <a:prstGeom prst="rect">
            <a:avLst/>
          </a:prstGeom>
          <a:noFill/>
          <a:ln w="0">
            <a:noFill/>
          </a:ln>
        </p:spPr>
        <p:txBody>
          <a:bodyPr wrap="square" lIns="0" tIns="0" rIns="0" bIns="0" anchor="t">
            <a:noAutofit/>
          </a:bodyPr>
          <a:lstStyle/>
          <a:p>
            <a:pPr algn="l">
              <a:defRPr sz="2700" b="1">
                <a:solidFill>
                  <a:srgbClr val="D7BDD5"/>
                </a:solidFill>
                <a:latin typeface="Arial"/>
                <a:ea typeface="Arial"/>
                <a:cs typeface="Arial"/>
              </a:defRPr>
            </a:pPr>
            <a:r>
              <a:rPr sz="2700" b="1">
                <a:solidFill>
                  <a:srgbClr val="D7BDD5"/>
                </a:solidFill>
                <a:latin typeface="Arial"/>
                <a:ea typeface="Arial"/>
                <a:cs typeface="Arial"/>
              </a:rPr>
              <a:t>Molecular gas</a:t>
            </a:r>
          </a:p>
        </p:txBody>
      </p:sp>
      <p:sp>
        <p:nvSpPr>
          <p:cNvPr id="11" name="Rectangle 10">
            <a:extLst>
              <a:ext uri="{FF2B5EF4-FFF2-40B4-BE49-F238E27FC236}">
                <a16:creationId xmlns:a16="http://schemas.microsoft.com/office/drawing/2014/main" id="{4F3F6879-B788-46A7-B91C-E9FBBE6927D9}"/>
              </a:ext>
            </a:extLst>
          </p:cNvPr>
          <p:cNvSpPr>
            <a:spLocks noGrp="1"/>
          </p:cNvSpPr>
          <p:nvPr/>
        </p:nvSpPr>
        <p:spPr>
          <a:xfrm>
            <a:off x="5019675" y="4448175"/>
            <a:ext cx="6486525" cy="666750"/>
          </a:xfrm>
          <a:prstGeom prst="rect">
            <a:avLst/>
          </a:prstGeom>
          <a:noFill/>
          <a:ln w="0">
            <a:noFill/>
          </a:ln>
        </p:spPr>
        <p:txBody>
          <a:bodyPr wrap="square" lIns="0" tIns="0" rIns="0" bIns="0" anchor="t">
            <a:noAutofit/>
          </a:bodyPr>
          <a:lstStyle/>
          <a:p>
            <a:pPr algn="l">
              <a:defRPr sz="2700" b="0">
                <a:solidFill>
                  <a:srgbClr val="FFFFFF"/>
                </a:solidFill>
                <a:latin typeface="Arial"/>
                <a:ea typeface="Arial"/>
                <a:cs typeface="Arial"/>
              </a:defRPr>
            </a:pPr>
            <a:r>
              <a:rPr sz="2700" b="0">
                <a:solidFill>
                  <a:srgbClr val="FFFFFF"/>
                </a:solidFill>
                <a:latin typeface="Arial"/>
                <a:ea typeface="Arial"/>
                <a:cs typeface="Arial"/>
              </a:rPr>
              <a:t>What feeds the reservoir</a:t>
            </a:r>
          </a:p>
        </p:txBody>
      </p:sp>
    </p:spTree>
    <p:extLst>
      <p:ext uri="{BB962C8B-B14F-4D97-AF65-F5344CB8AC3E}">
        <p14:creationId xmlns:p14="http://schemas.microsoft.com/office/powerpoint/2010/main" val="816259654"/>
      </p:ext>
    </p:extLst>
  </p:cSld>
  <p:clrMapOvr>
    <a:masterClrMapping/>
  </p:clrMapOvr>
</p:sld>
</file>

<file path=ppt/slides/slide36.xml><?xml version="1.0" encoding="utf-8"?>
<p:sld xmlns:p="http://schemas.openxmlformats.org/presentationml/2006/main">
  <p:cSld>
    <p:bg>
      <p:bgPr>
        <a:solidFill xmlns:a="http://schemas.openxmlformats.org/drawingml/2006/main">
          <a:srgbClr val="0E2430"/>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ADDDEE6B-7FF0-4783-A3E3-91C8EF33FBF3}"/>
              </a:ext>
            </a:extLst>
          </p:cNvPr>
          <p:cNvSpPr>
            <a:spLocks xmlns:a="http://schemas.openxmlformats.org/drawingml/2006/main" noGrp="1"/>
          </p:cNvSpPr>
          <p:nvPr/>
        </p:nvSpPr>
        <p:spPr>
          <a:xfrm xmlns:a="http://schemas.openxmlformats.org/drawingml/2006/main">
            <a:off x="533400" y="266700"/>
            <a:ext cx="11001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125" b="1">
                <a:solidFill>
                  <a:srgbClr val="D7BDD5"/>
                </a:solidFill>
                <a:latin typeface="Arial"/>
                <a:ea typeface="Arial"/>
                <a:cs typeface="Arial"/>
              </a:defRPr>
            </a:pPr>
            <a:r>
              <a:rPr sz="1125" b="1">
                <a:solidFill>
                  <a:srgbClr val="D7BDD5"/>
                </a:solidFill>
                <a:latin typeface="Arial"/>
                <a:ea typeface="Arial"/>
                <a:cs typeface="Arial"/>
              </a:rPr>
              <a:t>MAUVE SCIENCE SO FAR</a:t>
            </a:r>
          </a:p>
        </p:txBody>
      </p:sp>
      <p:sp>
        <p:nvSpPr>
          <p:cNvPr id="2" name="Rectangle 1">
            <a:extLst xmlns:a="http://schemas.openxmlformats.org/drawingml/2006/main">
              <a:ext uri="{FF2B5EF4-FFF2-40B4-BE49-F238E27FC236}">
                <a16:creationId xmlns:a16="http://schemas.microsoft.com/office/drawing/2014/main" id="{80B44F46-9C21-4878-9AB2-D534F94C712A}"/>
              </a:ext>
            </a:extLst>
          </p:cNvPr>
          <p:cNvSpPr>
            <a:spLocks xmlns:a="http://schemas.openxmlformats.org/drawingml/2006/main" noGrp="1"/>
          </p:cNvSpPr>
          <p:nvPr/>
        </p:nvSpPr>
        <p:spPr>
          <a:xfrm xmlns:a="http://schemas.openxmlformats.org/drawingml/2006/main">
            <a:off x="533400" y="67627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F7F8F6"/>
                </a:solidFill>
                <a:latin typeface="Arial"/>
                <a:ea typeface="Arial"/>
                <a:cs typeface="Arial"/>
              </a:defRPr>
            </a:pPr>
            <a:r>
              <a:rPr sz="2850" b="1">
                <a:solidFill>
                  <a:srgbClr val="F7F8F6"/>
                </a:solidFill>
                <a:latin typeface="Arial"/>
                <a:ea typeface="Arial"/>
                <a:cs typeface="Arial"/>
              </a:rPr>
              <a:t>What MAUVE has revealed so far</a:t>
            </a:r>
          </a:p>
        </p:txBody>
      </p:sp>
      <p:sp>
        <p:nvSpPr>
          <p:cNvPr id="3" name="Rectangle 2">
            <a:extLst xmlns:a="http://schemas.openxmlformats.org/drawingml/2006/main">
              <a:ext uri="{FF2B5EF4-FFF2-40B4-BE49-F238E27FC236}">
                <a16:creationId xmlns:a16="http://schemas.microsoft.com/office/drawing/2014/main" id="{1AD78FAD-0FEB-46AC-97F1-0AF9335550F0}"/>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45616D"/>
          </a:solidFill>
          <a:ln xmlns:a="http://schemas.openxmlformats.org/drawingml/2006/main" w="0">
            <a:solidFill>
              <a:srgbClr val="45616D"/>
            </a:solid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4632848B-F6BC-41B6-850C-F681EB4EFCE3}"/>
              </a:ext>
            </a:extLst>
          </p:cNvPr>
          <p:cNvSpPr>
            <a:spLocks xmlns:a="http://schemas.openxmlformats.org/drawingml/2006/main" noGrp="1"/>
          </p:cNvSpPr>
          <p:nvPr/>
        </p:nvSpPr>
        <p:spPr>
          <a:xfrm xmlns:a="http://schemas.openxmlformats.org/drawingml/2006/main">
            <a:off x="533400" y="6543675"/>
            <a:ext cx="971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75" b="0">
                <a:solidFill>
                  <a:srgbClr val="B9C6CC"/>
                </a:solidFill>
                <a:latin typeface="Arial"/>
                <a:ea typeface="Arial"/>
                <a:cs typeface="Arial"/>
              </a:defRPr>
            </a:pPr>
            <a:r>
              <a:rPr sz="975" b="0">
                <a:solidFill>
                  <a:srgbClr val="B9C6CC"/>
                </a:solidFill>
                <a:latin typeface="Arial"/>
                <a:ea typeface="Arial"/>
                <a:cs typeface="Arial"/>
              </a:rPr>
              <a:t>Rongjun Huang  |  MAUVE-MUSE  |  Yonsei 2026</a:t>
            </a:r>
          </a:p>
        </p:txBody>
      </p:sp>
      <p:sp>
        <p:nvSpPr>
          <p:cNvPr id="5" name="Rectangle 4">
            <a:extLst xmlns:a="http://schemas.openxmlformats.org/drawingml/2006/main">
              <a:ext uri="{FF2B5EF4-FFF2-40B4-BE49-F238E27FC236}">
                <a16:creationId xmlns:a16="http://schemas.microsoft.com/office/drawing/2014/main" id="{E8DB692D-0F61-41AD-8E8B-8EF683196E9B}"/>
              </a:ext>
            </a:extLst>
          </p:cNvPr>
          <p:cNvSpPr>
            <a:spLocks xmlns:a="http://schemas.openxmlformats.org/drawingml/2006/main" noGrp="1"/>
          </p:cNvSpPr>
          <p:nvPr/>
        </p:nvSpPr>
        <p:spPr>
          <a:xfrm xmlns:a="http://schemas.openxmlformats.org/drawingml/2006/main">
            <a:off x="11096625" y="651510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buNone/>
              <a:defRPr sz="1200" b="0">
                <a:solidFill>
                  <a:srgbClr val="B9C6CC"/>
                </a:solidFill>
                <a:latin typeface="Arial"/>
                <a:ea typeface="Arial"/>
                <a:cs typeface="Arial"/>
              </a:defRPr>
            </a:pPr>
            <a:r>
              <a:rPr sz="1200" b="0">
                <a:solidFill>
                  <a:srgbClr val="B9C6CC"/>
                </a:solidFill>
                <a:latin typeface="Arial"/>
                <a:ea typeface="Arial"/>
                <a:cs typeface="Arial"/>
              </a:rPr>
              <a:t>37</a:t>
            </a:r>
          </a:p>
        </p:txBody>
      </p:sp>
      <p:sp>
        <p:nvSpPr>
          <p:cNvPr id="6" name="Rectangle 5">
            <a:extLst xmlns:a="http://schemas.openxmlformats.org/drawingml/2006/main">
              <a:ext uri="{FF2B5EF4-FFF2-40B4-BE49-F238E27FC236}">
                <a16:creationId xmlns:a16="http://schemas.microsoft.com/office/drawing/2014/main" id="{F1407797-0077-44B8-A4DE-C504E594E70B}"/>
              </a:ext>
            </a:extLst>
          </p:cNvPr>
          <p:cNvSpPr>
            <a:spLocks xmlns:a="http://schemas.openxmlformats.org/drawingml/2006/main" noGrp="1"/>
          </p:cNvSpPr>
          <p:nvPr/>
        </p:nvSpPr>
        <p:spPr>
          <a:xfrm xmlns:a="http://schemas.openxmlformats.org/drawingml/2006/main">
            <a:off x="533400" y="1819275"/>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D7BDD5"/>
                </a:solidFill>
                <a:latin typeface="Arial"/>
                <a:ea typeface="Arial"/>
                <a:cs typeface="Arial"/>
              </a:defRPr>
            </a:pPr>
            <a:r>
              <a:rPr sz="2925" b="1">
                <a:solidFill>
                  <a:srgbClr val="D7BDD5"/>
                </a:solidFill>
                <a:latin typeface="Arial"/>
                <a:ea typeface="Arial"/>
                <a:cs typeface="Arial"/>
              </a:rPr>
              <a:t/>
            </a:r>
          </a:p>
        </p:txBody>
      </p:sp>
      <p:sp>
        <p:nvSpPr>
          <p:cNvPr id="7" name="Rectangle 6">
            <a:extLst xmlns:a="http://schemas.openxmlformats.org/drawingml/2006/main">
              <a:ext uri="{FF2B5EF4-FFF2-40B4-BE49-F238E27FC236}">
                <a16:creationId xmlns:a16="http://schemas.microsoft.com/office/drawing/2014/main" id="{5EA0BB96-A99A-4246-9C06-C4FD14514C2A}"/>
              </a:ext>
            </a:extLst>
          </p:cNvPr>
          <p:cNvSpPr>
            <a:spLocks xmlns:a="http://schemas.openxmlformats.org/drawingml/2006/main" noGrp="1"/>
          </p:cNvSpPr>
          <p:nvPr/>
        </p:nvSpPr>
        <p:spPr>
          <a:xfrm xmlns:a="http://schemas.openxmlformats.org/drawingml/2006/main">
            <a:off x="1514475" y="1828800"/>
            <a:ext cx="100679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
            </a:r>
          </a:p>
        </p:txBody>
      </p:sp>
      <p:sp>
        <p:nvSpPr>
          <p:cNvPr id="8" name="Rectangle 7">
            <a:extLst xmlns:a="http://schemas.openxmlformats.org/drawingml/2006/main">
              <a:ext uri="{FF2B5EF4-FFF2-40B4-BE49-F238E27FC236}">
                <a16:creationId xmlns:a16="http://schemas.microsoft.com/office/drawing/2014/main" id="{AE933004-FF62-4E44-B20D-8846E38BA10E}"/>
              </a:ext>
            </a:extLst>
          </p:cNvPr>
          <p:cNvSpPr>
            <a:spLocks xmlns:a="http://schemas.openxmlformats.org/drawingml/2006/main" noGrp="1"/>
          </p:cNvSpPr>
          <p:nvPr/>
        </p:nvSpPr>
        <p:spPr>
          <a:xfrm xmlns:a="http://schemas.openxmlformats.org/drawingml/2006/main">
            <a:off x="533400" y="3038475"/>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D7BDD5"/>
                </a:solidFill>
                <a:latin typeface="Arial"/>
                <a:ea typeface="Arial"/>
                <a:cs typeface="Arial"/>
              </a:defRPr>
            </a:pPr>
            <a:r>
              <a:rPr sz="2925" b="1">
                <a:solidFill>
                  <a:srgbClr val="D7BDD5"/>
                </a:solidFill>
                <a:latin typeface="Arial"/>
                <a:ea typeface="Arial"/>
                <a:cs typeface="Arial"/>
              </a:rPr>
              <a:t/>
            </a:r>
          </a:p>
        </p:txBody>
      </p:sp>
      <p:sp>
        <p:nvSpPr>
          <p:cNvPr id="9" name="Rectangle 8">
            <a:extLst xmlns:a="http://schemas.openxmlformats.org/drawingml/2006/main">
              <a:ext uri="{FF2B5EF4-FFF2-40B4-BE49-F238E27FC236}">
                <a16:creationId xmlns:a16="http://schemas.microsoft.com/office/drawing/2014/main" id="{22C858EB-BAD1-4548-ACE6-483E2C1532EC}"/>
              </a:ext>
            </a:extLst>
          </p:cNvPr>
          <p:cNvSpPr>
            <a:spLocks xmlns:a="http://schemas.openxmlformats.org/drawingml/2006/main" noGrp="1"/>
          </p:cNvSpPr>
          <p:nvPr/>
        </p:nvSpPr>
        <p:spPr>
          <a:xfrm xmlns:a="http://schemas.openxmlformats.org/drawingml/2006/main">
            <a:off x="1514475" y="3048000"/>
            <a:ext cx="100679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
            </a:r>
          </a:p>
        </p:txBody>
      </p:sp>
      <p:sp>
        <p:nvSpPr>
          <p:cNvPr id="10" name="Rectangle 9">
            <a:extLst xmlns:a="http://schemas.openxmlformats.org/drawingml/2006/main">
              <a:ext uri="{FF2B5EF4-FFF2-40B4-BE49-F238E27FC236}">
                <a16:creationId xmlns:a16="http://schemas.microsoft.com/office/drawing/2014/main" id="{080E489F-FE7A-4717-8BC7-72A3B2F05FB4}"/>
              </a:ext>
            </a:extLst>
          </p:cNvPr>
          <p:cNvSpPr>
            <a:spLocks xmlns:a="http://schemas.openxmlformats.org/drawingml/2006/main" noGrp="1"/>
          </p:cNvSpPr>
          <p:nvPr/>
        </p:nvSpPr>
        <p:spPr>
          <a:xfrm xmlns:a="http://schemas.openxmlformats.org/drawingml/2006/main">
            <a:off x="533400" y="4257675"/>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D7BDD5"/>
                </a:solidFill>
                <a:latin typeface="Arial"/>
                <a:ea typeface="Arial"/>
                <a:cs typeface="Arial"/>
              </a:defRPr>
            </a:pPr>
            <a:r>
              <a:rPr sz="2925" b="1">
                <a:solidFill>
                  <a:srgbClr val="D7BDD5"/>
                </a:solidFill>
                <a:latin typeface="Arial"/>
                <a:ea typeface="Arial"/>
                <a:cs typeface="Arial"/>
              </a:rPr>
              <a:t/>
            </a:r>
          </a:p>
        </p:txBody>
      </p:sp>
      <p:sp>
        <p:nvSpPr>
          <p:cNvPr id="11" name="Rectangle 10">
            <a:extLst xmlns:a="http://schemas.openxmlformats.org/drawingml/2006/main">
              <a:ext uri="{FF2B5EF4-FFF2-40B4-BE49-F238E27FC236}">
                <a16:creationId xmlns:a16="http://schemas.microsoft.com/office/drawing/2014/main" id="{12BF4B83-241E-485F-8166-F745CD100B39}"/>
              </a:ext>
            </a:extLst>
          </p:cNvPr>
          <p:cNvSpPr>
            <a:spLocks xmlns:a="http://schemas.openxmlformats.org/drawingml/2006/main" noGrp="1"/>
          </p:cNvSpPr>
          <p:nvPr/>
        </p:nvSpPr>
        <p:spPr>
          <a:xfrm xmlns:a="http://schemas.openxmlformats.org/drawingml/2006/main">
            <a:off x="1514475" y="4267200"/>
            <a:ext cx="100679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
            </a:r>
          </a:p>
        </p:txBody>
      </p:sp>
      <p:sp>
        <p:nvSpPr>
          <p:cNvPr id="12" name="Rectangle 11">
            <a:extLst xmlns:a="http://schemas.openxmlformats.org/drawingml/2006/main">
              <a:ext uri="{FF2B5EF4-FFF2-40B4-BE49-F238E27FC236}">
                <a16:creationId xmlns:a16="http://schemas.microsoft.com/office/drawing/2014/main" id="{BF606817-B96D-48B9-A585-C4C21B9387ED}"/>
              </a:ext>
            </a:extLst>
          </p:cNvPr>
          <p:cNvSpPr>
            <a:spLocks xmlns:a="http://schemas.openxmlformats.org/drawingml/2006/main" noGrp="1"/>
          </p:cNvSpPr>
          <p:nvPr/>
        </p:nvSpPr>
        <p:spPr>
          <a:xfrm xmlns:a="http://schemas.openxmlformats.org/drawingml/2006/main">
            <a:off x="533400" y="60007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8D3D8"/>
                </a:solidFill>
                <a:latin typeface="Arial"/>
                <a:ea typeface="Arial"/>
                <a:cs typeface="Arial"/>
              </a:defRPr>
            </a:pPr>
            <a:r>
              <a:rPr sz="1275" b="0">
                <a:solidFill>
                  <a:srgbClr val="C8D3D8"/>
                </a:solidFill>
                <a:latin typeface="Arial"/>
                <a:ea typeface="Arial"/>
                <a:cs typeface="Arial"/>
              </a:rPr>
              <a:t/>
            </a:r>
          </a:p>
        </p:txBody>
      </p:sp>
      <p:sp>
        <p:nvSpPr>
          <p:cNvPr id="14" name="result-1-accent">
            <a:extLst xmlns:a="http://schemas.openxmlformats.org/drawingml/2006/main">
              <a:ext uri="{FF2B5EF4-FFF2-40B4-BE49-F238E27FC236}">
                <a16:creationId xmlns:a16="http://schemas.microsoft.com/office/drawing/2014/main" id="{66042520-3E81-4F5C-8F18-7E073FD94633}"/>
              </a:ext>
            </a:extLst>
          </p:cNvPr>
          <p:cNvSpPr>
            <a:spLocks xmlns:a="http://schemas.openxmlformats.org/drawingml/2006/main" noGrp="1"/>
          </p:cNvSpPr>
          <p:nvPr/>
        </p:nvSpPr>
        <p:spPr>
          <a:xfrm xmlns:a="http://schemas.openxmlformats.org/drawingml/2006/main">
            <a:off x="533400" y="1524000"/>
            <a:ext cx="57150" cy="1066800"/>
          </a:xfrm>
          <a:prstGeom xmlns:a="http://schemas.openxmlformats.org/drawingml/2006/main" prst="rect">
            <a:avLst/>
          </a:prstGeom>
          <a:solidFill xmlns:a="http://schemas.openxmlformats.org/drawingml/2006/main">
            <a:srgbClr val="D7BDD5"/>
          </a:solidFill>
          <a:ln xmlns:a="http://schemas.openxmlformats.org/drawingml/2006/main" w="0">
            <a:solidFill>
              <a:srgbClr val="D7BDD5"/>
            </a:solidFill>
          </a:ln>
        </p:spPr>
      </p:sp>
      <p:sp>
        <p:nvSpPr>
          <p:cNvPr id="15" name="result-1-title">
            <a:extLst xmlns:a="http://schemas.openxmlformats.org/drawingml/2006/main">
              <a:ext uri="{FF2B5EF4-FFF2-40B4-BE49-F238E27FC236}">
                <a16:creationId xmlns:a16="http://schemas.microsoft.com/office/drawing/2014/main" id="{D714AEF7-5C71-456F-8D00-0D29CC048650}"/>
              </a:ext>
            </a:extLst>
          </p:cNvPr>
          <p:cNvSpPr>
            <a:spLocks xmlns:a="http://schemas.openxmlformats.org/drawingml/2006/main" noGrp="1"/>
          </p:cNvSpPr>
          <p:nvPr/>
        </p:nvSpPr>
        <p:spPr>
          <a:xfrm xmlns:a="http://schemas.openxmlformats.org/drawingml/2006/main">
            <a:off x="762000" y="1533525"/>
            <a:ext cx="769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75" b="1">
                <a:solidFill>
                  <a:srgbClr val="D7BDD5"/>
                </a:solidFill>
                <a:latin typeface="Arial"/>
                <a:ea typeface="Arial"/>
                <a:cs typeface="Arial"/>
              </a:defRPr>
            </a:pPr>
            <a:r>
              <a:rPr sz="1875" b="1">
                <a:solidFill>
                  <a:srgbClr val="D7BDD5"/>
                </a:solidFill>
                <a:latin typeface="Arial"/>
                <a:ea typeface="Arial"/>
                <a:cs typeface="Arial"/>
              </a:rPr>
              <a:t>Feedback regulates the remaining gas</a:t>
            </a:r>
          </a:p>
        </p:txBody>
      </p:sp>
      <p:sp>
        <p:nvSpPr>
          <p:cNvPr id="16" name="result-1-body">
            <a:extLst xmlns:a="http://schemas.openxmlformats.org/drawingml/2006/main">
              <a:ext uri="{FF2B5EF4-FFF2-40B4-BE49-F238E27FC236}">
                <a16:creationId xmlns:a16="http://schemas.microsoft.com/office/drawing/2014/main" id="{C9E69F21-6611-420B-889C-8C26959AED72}"/>
              </a:ext>
            </a:extLst>
          </p:cNvPr>
          <p:cNvSpPr>
            <a:spLocks xmlns:a="http://schemas.openxmlformats.org/drawingml/2006/main" noGrp="1"/>
          </p:cNvSpPr>
          <p:nvPr/>
        </p:nvSpPr>
        <p:spPr>
          <a:xfrm xmlns:a="http://schemas.openxmlformats.org/drawingml/2006/main">
            <a:off x="762000" y="1876425"/>
            <a:ext cx="769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b="0">
                <a:solidFill>
                  <a:srgbClr val="F7F8F6"/>
                </a:solidFill>
                <a:latin typeface="Arial"/>
                <a:ea typeface="Arial"/>
                <a:cs typeface="Arial"/>
              </a:defRPr>
            </a:pPr>
            <a:r>
              <a:rPr sz="1350" b="0">
                <a:solidFill>
                  <a:srgbClr val="F7F8F6"/>
                </a:solidFill>
                <a:latin typeface="Arial"/>
                <a:ea typeface="Arial"/>
                <a:cs typeface="Arial"/>
              </a:rPr>
              <a:t>A multiphase fountain in NGC4383; feedback may accelerate final quenching in NGC4064.</a:t>
            </a:r>
          </a:p>
        </p:txBody>
      </p:sp>
      <p:sp>
        <p:nvSpPr>
          <p:cNvPr id="17" name="result-1-citation">
            <a:extLst xmlns:a="http://schemas.openxmlformats.org/drawingml/2006/main">
              <a:ext uri="{FF2B5EF4-FFF2-40B4-BE49-F238E27FC236}">
                <a16:creationId xmlns:a16="http://schemas.microsoft.com/office/drawing/2014/main" id="{54D9843F-B7F6-45DA-8D7B-708E2BA1BBE4}"/>
              </a:ext>
            </a:extLst>
          </p:cNvPr>
          <p:cNvSpPr>
            <a:spLocks xmlns:a="http://schemas.openxmlformats.org/drawingml/2006/main" noGrp="1"/>
          </p:cNvSpPr>
          <p:nvPr/>
        </p:nvSpPr>
        <p:spPr>
          <a:xfrm xmlns:a="http://schemas.openxmlformats.org/drawingml/2006/main">
            <a:off x="762000" y="2362200"/>
            <a:ext cx="7696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975" b="0">
                <a:solidFill>
                  <a:srgbClr val="B9C6CC"/>
                </a:solidFill>
                <a:latin typeface="Arial"/>
                <a:ea typeface="Arial"/>
                <a:cs typeface="Arial"/>
              </a:defRPr>
            </a:pPr>
            <a:r>
              <a:rPr sz="975" b="0">
                <a:solidFill>
                  <a:srgbClr val="B9C6CC"/>
                </a:solidFill>
                <a:latin typeface="Arial"/>
                <a:ea typeface="Arial"/>
                <a:cs typeface="Arial"/>
              </a:rPr>
              <a:t>Watts et al. 2024  ·  Cortese et al. 2026  ·  Attwater et al. 2026</a:t>
            </a:r>
          </a:p>
        </p:txBody>
      </p:sp>
      <p:sp>
        <p:nvSpPr>
          <p:cNvPr id="18" name="result-1-image-bg">
            <a:extLst xmlns:a="http://schemas.openxmlformats.org/drawingml/2006/main">
              <a:ext uri="{FF2B5EF4-FFF2-40B4-BE49-F238E27FC236}">
                <a16:creationId xmlns:a16="http://schemas.microsoft.com/office/drawing/2014/main" id="{4AD91473-61AA-4E2D-B7C6-BB940B4AE230}"/>
              </a:ext>
            </a:extLst>
          </p:cNvPr>
          <p:cNvSpPr>
            <a:spLocks xmlns:a="http://schemas.openxmlformats.org/drawingml/2006/main" noGrp="1"/>
          </p:cNvSpPr>
          <p:nvPr/>
        </p:nvSpPr>
        <p:spPr>
          <a:xfrm xmlns:a="http://schemas.openxmlformats.org/drawingml/2006/main">
            <a:off x="8705850" y="1524000"/>
            <a:ext cx="2952750" cy="1066800"/>
          </a:xfrm>
          <a:prstGeom xmlns:a="http://schemas.openxmlformats.org/drawingml/2006/main" prst="rect">
            <a:avLst/>
          </a:prstGeom>
          <a:solidFill xmlns:a="http://schemas.openxmlformats.org/drawingml/2006/main">
            <a:srgbClr val="07171F"/>
          </a:solidFill>
          <a:ln xmlns:a="http://schemas.openxmlformats.org/drawingml/2006/main" w="9525">
            <a:solidFill>
              <a:srgbClr val="45616D"/>
            </a:solid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8c24defc98164172"/>
          <a:stretch xmlns:a="http://schemas.openxmlformats.org/drawingml/2006/main"/>
        </p:blipFill>
        <p:spPr>
          <a:xfrm xmlns:a="http://schemas.openxmlformats.org/drawingml/2006/main">
            <a:off x="9622942" y="1562100"/>
            <a:ext cx="1118565" cy="990600"/>
          </a:xfrm>
          <a:prstGeom xmlns:a="http://schemas.openxmlformats.org/drawingml/2006/main" prst="rect">
            <a:avLst/>
          </a:prstGeom>
        </p:spPr>
      </p:pic>
      <p:sp>
        <p:nvSpPr>
          <p:cNvPr id="20" name="result-1-label">
            <a:extLst xmlns:a="http://schemas.openxmlformats.org/drawingml/2006/main">
              <a:ext uri="{FF2B5EF4-FFF2-40B4-BE49-F238E27FC236}">
                <a16:creationId xmlns:a16="http://schemas.microsoft.com/office/drawing/2014/main" id="{DE58A7E2-D410-48FF-9E37-D01FEF1F018C}"/>
              </a:ext>
            </a:extLst>
          </p:cNvPr>
          <p:cNvSpPr>
            <a:spLocks xmlns:a="http://schemas.openxmlformats.org/drawingml/2006/main" noGrp="1"/>
          </p:cNvSpPr>
          <p:nvPr/>
        </p:nvSpPr>
        <p:spPr>
          <a:xfrm xmlns:a="http://schemas.openxmlformats.org/drawingml/2006/main">
            <a:off x="10287000" y="2390775"/>
            <a:ext cx="12192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825" b="1">
                <a:solidFill>
                  <a:srgbClr val="F7F8F6"/>
                </a:solidFill>
                <a:latin typeface="Arial"/>
                <a:ea typeface="Arial"/>
                <a:cs typeface="Arial"/>
              </a:defRPr>
            </a:pPr>
            <a:r>
              <a:rPr sz="825" b="1">
                <a:solidFill>
                  <a:srgbClr val="F7F8F6"/>
                </a:solidFill>
                <a:latin typeface="Arial"/>
                <a:ea typeface="Arial"/>
                <a:cs typeface="Arial"/>
              </a:rPr>
              <a:t>NGC4383</a:t>
            </a:r>
          </a:p>
        </p:txBody>
      </p:sp>
      <p:sp>
        <p:nvSpPr>
          <p:cNvPr id="21" name="result-2-accent">
            <a:extLst xmlns:a="http://schemas.openxmlformats.org/drawingml/2006/main">
              <a:ext uri="{FF2B5EF4-FFF2-40B4-BE49-F238E27FC236}">
                <a16:creationId xmlns:a16="http://schemas.microsoft.com/office/drawing/2014/main" id="{D0EFBA81-18B4-4D81-9C04-AC1B85D30484}"/>
              </a:ext>
            </a:extLst>
          </p:cNvPr>
          <p:cNvSpPr>
            <a:spLocks xmlns:a="http://schemas.openxmlformats.org/drawingml/2006/main" noGrp="1"/>
          </p:cNvSpPr>
          <p:nvPr/>
        </p:nvSpPr>
        <p:spPr>
          <a:xfrm xmlns:a="http://schemas.openxmlformats.org/drawingml/2006/main">
            <a:off x="533400" y="2781300"/>
            <a:ext cx="57150" cy="1066800"/>
          </a:xfrm>
          <a:prstGeom xmlns:a="http://schemas.openxmlformats.org/drawingml/2006/main" prst="rect">
            <a:avLst/>
          </a:prstGeom>
          <a:solidFill xmlns:a="http://schemas.openxmlformats.org/drawingml/2006/main">
            <a:srgbClr val="67D5C5"/>
          </a:solidFill>
          <a:ln xmlns:a="http://schemas.openxmlformats.org/drawingml/2006/main" w="0">
            <a:solidFill>
              <a:srgbClr val="67D5C5"/>
            </a:solidFill>
          </a:ln>
        </p:spPr>
      </p:sp>
      <p:sp>
        <p:nvSpPr>
          <p:cNvPr id="22" name="result-2-title">
            <a:extLst xmlns:a="http://schemas.openxmlformats.org/drawingml/2006/main">
              <a:ext uri="{FF2B5EF4-FFF2-40B4-BE49-F238E27FC236}">
                <a16:creationId xmlns:a16="http://schemas.microsoft.com/office/drawing/2014/main" id="{67DF240C-64DA-4945-80FC-F57FFFDD807A}"/>
              </a:ext>
            </a:extLst>
          </p:cNvPr>
          <p:cNvSpPr>
            <a:spLocks xmlns:a="http://schemas.openxmlformats.org/drawingml/2006/main" noGrp="1"/>
          </p:cNvSpPr>
          <p:nvPr/>
        </p:nvSpPr>
        <p:spPr>
          <a:xfrm xmlns:a="http://schemas.openxmlformats.org/drawingml/2006/main">
            <a:off x="762000" y="2790825"/>
            <a:ext cx="769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75" b="1">
                <a:solidFill>
                  <a:srgbClr val="67D5C5"/>
                </a:solidFill>
                <a:latin typeface="Arial"/>
                <a:ea typeface="Arial"/>
                <a:cs typeface="Arial"/>
              </a:defRPr>
            </a:pPr>
            <a:r>
              <a:rPr sz="1875" b="1">
                <a:solidFill>
                  <a:srgbClr val="67D5C5"/>
                </a:solidFill>
                <a:latin typeface="Arial"/>
                <a:ea typeface="Arial"/>
                <a:cs typeface="Arial"/>
              </a:rPr>
              <a:t>Environment changes the ionized ISM</a:t>
            </a:r>
          </a:p>
        </p:txBody>
      </p:sp>
      <p:sp>
        <p:nvSpPr>
          <p:cNvPr id="23" name="result-2-body">
            <a:extLst xmlns:a="http://schemas.openxmlformats.org/drawingml/2006/main">
              <a:ext uri="{FF2B5EF4-FFF2-40B4-BE49-F238E27FC236}">
                <a16:creationId xmlns:a16="http://schemas.microsoft.com/office/drawing/2014/main" id="{5A15B891-1252-41D8-8CCB-E84C2607F298}"/>
              </a:ext>
            </a:extLst>
          </p:cNvPr>
          <p:cNvSpPr>
            <a:spLocks xmlns:a="http://schemas.openxmlformats.org/drawingml/2006/main" noGrp="1"/>
          </p:cNvSpPr>
          <p:nvPr/>
        </p:nvSpPr>
        <p:spPr>
          <a:xfrm xmlns:a="http://schemas.openxmlformats.org/drawingml/2006/main">
            <a:off x="762000" y="3133725"/>
            <a:ext cx="769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b="0">
                <a:solidFill>
                  <a:srgbClr val="F7F8F6"/>
                </a:solidFill>
                <a:latin typeface="Arial"/>
                <a:ea typeface="Arial"/>
                <a:cs typeface="Arial"/>
              </a:defRPr>
            </a:pPr>
            <a:r>
              <a:rPr sz="1350" b="0">
                <a:solidFill>
                  <a:srgbClr val="F7F8F6"/>
                </a:solidFill>
                <a:latin typeface="Arial"/>
                <a:ea typeface="Arial"/>
                <a:cs typeface="Arial"/>
              </a:rPr>
              <a:t>As classical H II emission fades, diffuse ionized gas becomes more visible across stripped satellites.</a:t>
            </a:r>
          </a:p>
        </p:txBody>
      </p:sp>
      <p:sp>
        <p:nvSpPr>
          <p:cNvPr id="24" name="result-2-citation">
            <a:extLst xmlns:a="http://schemas.openxmlformats.org/drawingml/2006/main">
              <a:ext uri="{FF2B5EF4-FFF2-40B4-BE49-F238E27FC236}">
                <a16:creationId xmlns:a16="http://schemas.microsoft.com/office/drawing/2014/main" id="{4E275F8A-E753-47EE-9DA9-48D13DF70455}"/>
              </a:ext>
            </a:extLst>
          </p:cNvPr>
          <p:cNvSpPr>
            <a:spLocks xmlns:a="http://schemas.openxmlformats.org/drawingml/2006/main" noGrp="1"/>
          </p:cNvSpPr>
          <p:nvPr/>
        </p:nvSpPr>
        <p:spPr>
          <a:xfrm xmlns:a="http://schemas.openxmlformats.org/drawingml/2006/main">
            <a:off x="762000" y="3619500"/>
            <a:ext cx="7696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975" b="0">
                <a:solidFill>
                  <a:srgbClr val="B9C6CC"/>
                </a:solidFill>
                <a:latin typeface="Arial"/>
                <a:ea typeface="Arial"/>
                <a:cs typeface="Arial"/>
              </a:defRPr>
            </a:pPr>
            <a:r>
              <a:rPr sz="975" b="0">
                <a:solidFill>
                  <a:srgbClr val="B9C6CC"/>
                </a:solidFill>
                <a:latin typeface="Arial"/>
                <a:ea typeface="Arial"/>
                <a:cs typeface="Arial"/>
              </a:rPr>
              <a:t>Brown et al. 2026</a:t>
            </a:r>
          </a:p>
        </p:txBody>
      </p:sp>
      <p:sp>
        <p:nvSpPr>
          <p:cNvPr id="25" name="result-2-image-bg">
            <a:extLst xmlns:a="http://schemas.openxmlformats.org/drawingml/2006/main">
              <a:ext uri="{FF2B5EF4-FFF2-40B4-BE49-F238E27FC236}">
                <a16:creationId xmlns:a16="http://schemas.microsoft.com/office/drawing/2014/main" id="{BFCA037C-B80C-4215-86DC-EDA25BEDABB3}"/>
              </a:ext>
            </a:extLst>
          </p:cNvPr>
          <p:cNvSpPr>
            <a:spLocks xmlns:a="http://schemas.openxmlformats.org/drawingml/2006/main" noGrp="1"/>
          </p:cNvSpPr>
          <p:nvPr/>
        </p:nvSpPr>
        <p:spPr>
          <a:xfrm xmlns:a="http://schemas.openxmlformats.org/drawingml/2006/main">
            <a:off x="8705850" y="2781300"/>
            <a:ext cx="2952750" cy="1066800"/>
          </a:xfrm>
          <a:prstGeom xmlns:a="http://schemas.openxmlformats.org/drawingml/2006/main" prst="rect">
            <a:avLst/>
          </a:prstGeom>
          <a:solidFill xmlns:a="http://schemas.openxmlformats.org/drawingml/2006/main">
            <a:srgbClr val="07171F"/>
          </a:solidFill>
          <a:ln xmlns:a="http://schemas.openxmlformats.org/drawingml/2006/main" w="9525">
            <a:solidFill>
              <a:srgbClr val="45616D"/>
            </a:solid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1ba25c858bc4be2"/>
          <a:stretch xmlns:a="http://schemas.openxmlformats.org/drawingml/2006/main"/>
        </p:blipFill>
        <p:spPr>
          <a:xfrm xmlns:a="http://schemas.openxmlformats.org/drawingml/2006/main">
            <a:off x="9720350" y="2819400"/>
            <a:ext cx="923750" cy="990600"/>
          </a:xfrm>
          <a:prstGeom xmlns:a="http://schemas.openxmlformats.org/drawingml/2006/main" prst="rect">
            <a:avLst/>
          </a:prstGeom>
        </p:spPr>
      </p:pic>
      <p:sp>
        <p:nvSpPr>
          <p:cNvPr id="27" name="result-2-label">
            <a:extLst xmlns:a="http://schemas.openxmlformats.org/drawingml/2006/main">
              <a:ext uri="{FF2B5EF4-FFF2-40B4-BE49-F238E27FC236}">
                <a16:creationId xmlns:a16="http://schemas.microsoft.com/office/drawing/2014/main" id="{1A680ADF-437B-4AA7-AD55-68CE4C9647C1}"/>
              </a:ext>
            </a:extLst>
          </p:cNvPr>
          <p:cNvSpPr>
            <a:spLocks xmlns:a="http://schemas.openxmlformats.org/drawingml/2006/main" noGrp="1"/>
          </p:cNvSpPr>
          <p:nvPr/>
        </p:nvSpPr>
        <p:spPr>
          <a:xfrm xmlns:a="http://schemas.openxmlformats.org/drawingml/2006/main">
            <a:off x="10287000" y="3648075"/>
            <a:ext cx="12192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825" b="1">
                <a:solidFill>
                  <a:srgbClr val="F7F8F6"/>
                </a:solidFill>
                <a:latin typeface="Arial"/>
                <a:ea typeface="Arial"/>
                <a:cs typeface="Arial"/>
              </a:defRPr>
            </a:pPr>
            <a:r>
              <a:rPr sz="825" b="1">
                <a:solidFill>
                  <a:srgbClr val="F7F8F6"/>
                </a:solidFill>
                <a:latin typeface="Arial"/>
                <a:ea typeface="Arial"/>
                <a:cs typeface="Arial"/>
              </a:rPr>
              <a:t>NGC4064</a:t>
            </a:r>
          </a:p>
        </p:txBody>
      </p:sp>
      <p:sp>
        <p:nvSpPr>
          <p:cNvPr id="28" name="result-3-accent">
            <a:extLst xmlns:a="http://schemas.openxmlformats.org/drawingml/2006/main">
              <a:ext uri="{FF2B5EF4-FFF2-40B4-BE49-F238E27FC236}">
                <a16:creationId xmlns:a16="http://schemas.microsoft.com/office/drawing/2014/main" id="{492E57F0-94B8-479E-B7AB-98D745AB63E1}"/>
              </a:ext>
            </a:extLst>
          </p:cNvPr>
          <p:cNvSpPr>
            <a:spLocks xmlns:a="http://schemas.openxmlformats.org/drawingml/2006/main" noGrp="1"/>
          </p:cNvSpPr>
          <p:nvPr/>
        </p:nvSpPr>
        <p:spPr>
          <a:xfrm xmlns:a="http://schemas.openxmlformats.org/drawingml/2006/main">
            <a:off x="533400" y="4038600"/>
            <a:ext cx="57150" cy="1066800"/>
          </a:xfrm>
          <a:prstGeom xmlns:a="http://schemas.openxmlformats.org/drawingml/2006/main" prst="rect">
            <a:avLst/>
          </a:prstGeom>
          <a:solidFill xmlns:a="http://schemas.openxmlformats.org/drawingml/2006/main">
            <a:srgbClr val="83BCEB"/>
          </a:solidFill>
          <a:ln xmlns:a="http://schemas.openxmlformats.org/drawingml/2006/main" w="0">
            <a:solidFill>
              <a:srgbClr val="83BCEB"/>
            </a:solidFill>
          </a:ln>
        </p:spPr>
      </p:sp>
      <p:sp>
        <p:nvSpPr>
          <p:cNvPr id="29" name="result-3-title">
            <a:extLst xmlns:a="http://schemas.openxmlformats.org/drawingml/2006/main">
              <a:ext uri="{FF2B5EF4-FFF2-40B4-BE49-F238E27FC236}">
                <a16:creationId xmlns:a16="http://schemas.microsoft.com/office/drawing/2014/main" id="{1D6ED474-75B2-4577-8131-864D7B3892B4}"/>
              </a:ext>
            </a:extLst>
          </p:cNvPr>
          <p:cNvSpPr>
            <a:spLocks xmlns:a="http://schemas.openxmlformats.org/drawingml/2006/main" noGrp="1"/>
          </p:cNvSpPr>
          <p:nvPr/>
        </p:nvSpPr>
        <p:spPr>
          <a:xfrm xmlns:a="http://schemas.openxmlformats.org/drawingml/2006/main">
            <a:off x="762000" y="4048125"/>
            <a:ext cx="769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75" b="1">
                <a:solidFill>
                  <a:srgbClr val="83BCEB"/>
                </a:solidFill>
                <a:latin typeface="Arial"/>
                <a:ea typeface="Arial"/>
                <a:cs typeface="Arial"/>
              </a:defRPr>
            </a:pPr>
            <a:r>
              <a:rPr sz="1875" b="1">
                <a:solidFill>
                  <a:srgbClr val="83BCEB"/>
                </a:solidFill>
                <a:latin typeface="Arial"/>
                <a:ea typeface="Arial"/>
                <a:cs typeface="Arial"/>
              </a:rPr>
              <a:t>Local enrichment reflects competing processes</a:t>
            </a:r>
          </a:p>
        </p:txBody>
      </p:sp>
      <p:sp>
        <p:nvSpPr>
          <p:cNvPr id="30" name="result-3-body">
            <a:extLst xmlns:a="http://schemas.openxmlformats.org/drawingml/2006/main">
              <a:ext uri="{FF2B5EF4-FFF2-40B4-BE49-F238E27FC236}">
                <a16:creationId xmlns:a16="http://schemas.microsoft.com/office/drawing/2014/main" id="{029F4AAE-D191-431D-B2FB-1EABF92B52B8}"/>
              </a:ext>
            </a:extLst>
          </p:cNvPr>
          <p:cNvSpPr>
            <a:spLocks xmlns:a="http://schemas.openxmlformats.org/drawingml/2006/main" noGrp="1"/>
          </p:cNvSpPr>
          <p:nvPr/>
        </p:nvSpPr>
        <p:spPr>
          <a:xfrm xmlns:a="http://schemas.openxmlformats.org/drawingml/2006/main">
            <a:off x="762000" y="4391025"/>
            <a:ext cx="769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b="0">
                <a:solidFill>
                  <a:srgbClr val="F7F8F6"/>
                </a:solidFill>
                <a:latin typeface="Arial"/>
                <a:ea typeface="Arial"/>
                <a:cs typeface="Arial"/>
              </a:defRPr>
            </a:pPr>
            <a:r>
              <a:rPr sz="1350" b="0">
                <a:solidFill>
                  <a:srgbClr val="F7F8F6"/>
                </a:solidFill>
                <a:latin typeface="Arial"/>
                <a:ea typeface="Arial"/>
                <a:cs typeface="Arial"/>
              </a:rPr>
              <a:t>The metallicity-SFR connection reverses with stellar surface density.</a:t>
            </a:r>
          </a:p>
        </p:txBody>
      </p:sp>
      <p:sp>
        <p:nvSpPr>
          <p:cNvPr id="31" name="result-3-citation">
            <a:extLst xmlns:a="http://schemas.openxmlformats.org/drawingml/2006/main">
              <a:ext uri="{FF2B5EF4-FFF2-40B4-BE49-F238E27FC236}">
                <a16:creationId xmlns:a16="http://schemas.microsoft.com/office/drawing/2014/main" id="{8C45E817-B1BA-44ED-B0F1-67D2A79CE1D8}"/>
              </a:ext>
            </a:extLst>
          </p:cNvPr>
          <p:cNvSpPr>
            <a:spLocks xmlns:a="http://schemas.openxmlformats.org/drawingml/2006/main" noGrp="1"/>
          </p:cNvSpPr>
          <p:nvPr/>
        </p:nvSpPr>
        <p:spPr>
          <a:xfrm xmlns:a="http://schemas.openxmlformats.org/drawingml/2006/main">
            <a:off x="762000" y="4876800"/>
            <a:ext cx="7696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975" b="0">
                <a:solidFill>
                  <a:srgbClr val="B9C6CC"/>
                </a:solidFill>
                <a:latin typeface="Arial"/>
                <a:ea typeface="Arial"/>
                <a:cs typeface="Arial"/>
              </a:defRPr>
            </a:pPr>
            <a:r>
              <a:rPr sz="975" b="0">
                <a:solidFill>
                  <a:srgbClr val="B9C6CC"/>
                </a:solidFill>
                <a:latin typeface="Arial"/>
                <a:ea typeface="Arial"/>
                <a:cs typeface="Arial"/>
              </a:rPr>
              <a:t>Huang et al. 2026</a:t>
            </a:r>
          </a:p>
        </p:txBody>
      </p:sp>
      <p:sp>
        <p:nvSpPr>
          <p:cNvPr id="32" name="result-3-image-bg">
            <a:extLst xmlns:a="http://schemas.openxmlformats.org/drawingml/2006/main">
              <a:ext uri="{FF2B5EF4-FFF2-40B4-BE49-F238E27FC236}">
                <a16:creationId xmlns:a16="http://schemas.microsoft.com/office/drawing/2014/main" id="{8AED35D7-A736-4B61-ACEE-D45C5421C404}"/>
              </a:ext>
            </a:extLst>
          </p:cNvPr>
          <p:cNvSpPr>
            <a:spLocks xmlns:a="http://schemas.openxmlformats.org/drawingml/2006/main" noGrp="1"/>
          </p:cNvSpPr>
          <p:nvPr/>
        </p:nvSpPr>
        <p:spPr>
          <a:xfrm xmlns:a="http://schemas.openxmlformats.org/drawingml/2006/main">
            <a:off x="8705850" y="4038600"/>
            <a:ext cx="2952750" cy="1066800"/>
          </a:xfrm>
          <a:prstGeom xmlns:a="http://schemas.openxmlformats.org/drawingml/2006/main" prst="rect">
            <a:avLst/>
          </a:prstGeom>
          <a:solidFill xmlns:a="http://schemas.openxmlformats.org/drawingml/2006/main">
            <a:srgbClr val="07171F"/>
          </a:solidFill>
          <a:ln xmlns:a="http://schemas.openxmlformats.org/drawingml/2006/main" w="9525">
            <a:solidFill>
              <a:srgbClr val="45616D"/>
            </a:solid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40b6e40e1db6454f"/>
          <a:stretch xmlns:a="http://schemas.openxmlformats.org/drawingml/2006/main"/>
        </p:blipFill>
        <p:spPr>
          <a:xfrm xmlns:a="http://schemas.openxmlformats.org/drawingml/2006/main">
            <a:off x="9683374" y="4076700"/>
            <a:ext cx="997701" cy="990600"/>
          </a:xfrm>
          <a:prstGeom xmlns:a="http://schemas.openxmlformats.org/drawingml/2006/main" prst="rect">
            <a:avLst/>
          </a:prstGeom>
        </p:spPr>
      </p:pic>
      <p:sp>
        <p:nvSpPr>
          <p:cNvPr id="34" name="result-3-label">
            <a:extLst xmlns:a="http://schemas.openxmlformats.org/drawingml/2006/main">
              <a:ext uri="{FF2B5EF4-FFF2-40B4-BE49-F238E27FC236}">
                <a16:creationId xmlns:a16="http://schemas.microsoft.com/office/drawing/2014/main" id="{DA6A81A2-FB7C-4960-95B3-E1FD9E6C2A22}"/>
              </a:ext>
            </a:extLst>
          </p:cNvPr>
          <p:cNvSpPr>
            <a:spLocks xmlns:a="http://schemas.openxmlformats.org/drawingml/2006/main" noGrp="1"/>
          </p:cNvSpPr>
          <p:nvPr/>
        </p:nvSpPr>
        <p:spPr>
          <a:xfrm xmlns:a="http://schemas.openxmlformats.org/drawingml/2006/main">
            <a:off x="10287000" y="4905375"/>
            <a:ext cx="12192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825" b="1">
                <a:solidFill>
                  <a:srgbClr val="F7F8F6"/>
                </a:solidFill>
                <a:latin typeface="Arial"/>
                <a:ea typeface="Arial"/>
                <a:cs typeface="Arial"/>
              </a:defRPr>
            </a:pPr>
            <a:r>
              <a:rPr sz="825" b="1">
                <a:solidFill>
                  <a:srgbClr val="F7F8F6"/>
                </a:solidFill>
                <a:latin typeface="Arial"/>
                <a:ea typeface="Arial"/>
                <a:cs typeface="Arial"/>
              </a:rPr>
              <a:t>Resolved ISM</a:t>
            </a:r>
          </a:p>
        </p:txBody>
      </p:sp>
      <p:sp>
        <p:nvSpPr>
          <p:cNvPr id="35" name="collaboration-band">
            <a:extLst xmlns:a="http://schemas.openxmlformats.org/drawingml/2006/main">
              <a:ext uri="{FF2B5EF4-FFF2-40B4-BE49-F238E27FC236}">
                <a16:creationId xmlns:a16="http://schemas.microsoft.com/office/drawing/2014/main" id="{E401CCB3-DA07-4F10-BFB1-7895C4C7D0E9}"/>
              </a:ext>
            </a:extLst>
          </p:cNvPr>
          <p:cNvSpPr>
            <a:spLocks xmlns:a="http://schemas.openxmlformats.org/drawingml/2006/main" noGrp="1"/>
          </p:cNvSpPr>
          <p:nvPr/>
        </p:nvSpPr>
        <p:spPr>
          <a:xfrm xmlns:a="http://schemas.openxmlformats.org/drawingml/2006/main">
            <a:off x="533400" y="5314950"/>
            <a:ext cx="11125200" cy="895350"/>
          </a:xfrm>
          <a:prstGeom xmlns:a="http://schemas.openxmlformats.org/drawingml/2006/main" prst="rect">
            <a:avLst/>
          </a:prstGeom>
          <a:solidFill xmlns:a="http://schemas.openxmlformats.org/drawingml/2006/main">
            <a:srgbClr val="193441"/>
          </a:solidFill>
          <a:ln xmlns:a="http://schemas.openxmlformats.org/drawingml/2006/main" w="9525">
            <a:solidFill>
              <a:srgbClr val="D7BDD5"/>
            </a:solidFill>
          </a:ln>
        </p:spPr>
      </p:sp>
      <p:sp>
        <p:nvSpPr>
          <p:cNvPr id="36" name="collaboration-kicker">
            <a:extLst xmlns:a="http://schemas.openxmlformats.org/drawingml/2006/main">
              <a:ext uri="{FF2B5EF4-FFF2-40B4-BE49-F238E27FC236}">
                <a16:creationId xmlns:a16="http://schemas.microsoft.com/office/drawing/2014/main" id="{253D5DB8-0DD1-4A8C-AE5B-C6FD839765E6}"/>
              </a:ext>
            </a:extLst>
          </p:cNvPr>
          <p:cNvSpPr>
            <a:spLocks xmlns:a="http://schemas.openxmlformats.org/drawingml/2006/main" noGrp="1"/>
          </p:cNvSpPr>
          <p:nvPr/>
        </p:nvSpPr>
        <p:spPr>
          <a:xfrm xmlns:a="http://schemas.openxmlformats.org/drawingml/2006/main">
            <a:off x="742950" y="54578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050" b="1">
                <a:solidFill>
                  <a:srgbClr val="D7BDD5"/>
                </a:solidFill>
                <a:latin typeface="Arial"/>
                <a:ea typeface="Arial"/>
                <a:cs typeface="Arial"/>
              </a:defRPr>
            </a:pPr>
            <a:r>
              <a:rPr sz="1050" b="1">
                <a:solidFill>
                  <a:srgbClr val="D7BDD5"/>
                </a:solidFill>
                <a:latin typeface="Arial"/>
                <a:ea typeface="Arial"/>
                <a:cs typeface="Arial"/>
              </a:rPr>
              <a:t>THE SURVEY IS ONLY BEGINNING</a:t>
            </a:r>
          </a:p>
        </p:txBody>
      </p:sp>
      <p:sp>
        <p:nvSpPr>
          <p:cNvPr id="37" name="collaboration-invite">
            <a:extLst xmlns:a="http://schemas.openxmlformats.org/drawingml/2006/main">
              <a:ext uri="{FF2B5EF4-FFF2-40B4-BE49-F238E27FC236}">
                <a16:creationId xmlns:a16="http://schemas.microsoft.com/office/drawing/2014/main" id="{A9C62C70-14AA-49D8-94A5-5F8EDE9B0557}"/>
              </a:ext>
            </a:extLst>
          </p:cNvPr>
          <p:cNvSpPr>
            <a:spLocks xmlns:a="http://schemas.openxmlformats.org/drawingml/2006/main" noGrp="1"/>
          </p:cNvSpPr>
          <p:nvPr/>
        </p:nvSpPr>
        <p:spPr>
          <a:xfrm xmlns:a="http://schemas.openxmlformats.org/drawingml/2006/main">
            <a:off x="742950" y="5705475"/>
            <a:ext cx="590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1">
                <a:solidFill>
                  <a:srgbClr val="F7F8F6"/>
                </a:solidFill>
                <a:latin typeface="Arial"/>
                <a:ea typeface="Arial"/>
                <a:cs typeface="Arial"/>
              </a:defRPr>
            </a:pPr>
            <a:r>
              <a:rPr sz="1725" b="1">
                <a:solidFill>
                  <a:srgbClr val="F7F8F6"/>
                </a:solidFill>
                <a:latin typeface="Arial"/>
                <a:ea typeface="Arial"/>
                <a:cs typeface="Arial"/>
              </a:rPr>
              <a:t>New ideas and collaborators are welcome.</a:t>
            </a:r>
          </a:p>
        </p:txBody>
      </p:sp>
      <p:sp>
        <p:nvSpPr>
          <p:cNvPr id="38" name="collaboration-contact">
            <a:extLst xmlns:a="http://schemas.openxmlformats.org/drawingml/2006/main">
              <a:ext uri="{FF2B5EF4-FFF2-40B4-BE49-F238E27FC236}">
                <a16:creationId xmlns:a16="http://schemas.microsoft.com/office/drawing/2014/main" id="{4F765D17-7B0F-404E-A4BD-A01563F4E60D}"/>
              </a:ext>
            </a:extLst>
          </p:cNvPr>
          <p:cNvSpPr>
            <a:spLocks xmlns:a="http://schemas.openxmlformats.org/drawingml/2006/main" noGrp="1"/>
          </p:cNvSpPr>
          <p:nvPr/>
        </p:nvSpPr>
        <p:spPr>
          <a:xfrm xmlns:a="http://schemas.openxmlformats.org/drawingml/2006/main">
            <a:off x="7010400" y="5524500"/>
            <a:ext cx="4381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350" b="1">
                <a:solidFill>
                  <a:srgbClr val="F7F8F6"/>
                </a:solidFill>
                <a:latin typeface="Arial"/>
                <a:ea typeface="Arial"/>
                <a:cs typeface="Arial"/>
              </a:defRPr>
            </a:pPr>
            <a:r>
              <a:rPr sz="1350" b="1">
                <a:solidFill>
                  <a:srgbClr val="F7F8F6"/>
                </a:solidFill>
                <a:latin typeface="Arial"/>
                <a:ea typeface="Arial"/>
                <a:cs typeface="Arial"/>
              </a:rPr>
              <a:t>mauve-pis@googlegroups.com</a:t>
            </a:r>
          </a:p>
          <a:p xmlns:a="http://schemas.openxmlformats.org/drawingml/2006/main">
            <a:pPr algn="r">
              <a:defRPr sz="1350" b="1">
                <a:solidFill>
                  <a:srgbClr val="F7F8F6"/>
                </a:solidFill>
                <a:latin typeface="Arial"/>
                <a:ea typeface="Arial"/>
                <a:cs typeface="Arial"/>
              </a:defRPr>
            </a:pPr>
            <a:r>
              <a:rPr sz="1350" b="1">
                <a:solidFill>
                  <a:srgbClr val="F7F8F6"/>
                </a:solidFill>
                <a:latin typeface="Arial"/>
                <a:ea typeface="Arial"/>
                <a:cs typeface="Arial"/>
              </a:rPr>
              <a:t>mauve.icrar.org</a:t>
            </a:r>
          </a:p>
        </p:txBody>
      </p:sp>
    </p:spTree>
    <p:extLst>
      <p:ext uri="{BB962C8B-B14F-4D97-AF65-F5344CB8AC3E}">
        <p14:creationId xmlns:p14="http://schemas.microsoft.com/office/powerpoint/2010/main" val="1838296748"/>
      </p:ext>
    </p:extLst>
  </p:cSl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F9FD7F4-4F2E-41A0-9D0C-9FA978111F07}"/>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BACKUP B1</a:t>
            </a:r>
          </a:p>
        </p:txBody>
      </p:sp>
      <p:sp>
        <p:nvSpPr>
          <p:cNvPr id="2" name="Rectangle 1">
            <a:extLst>
              <a:ext uri="{FF2B5EF4-FFF2-40B4-BE49-F238E27FC236}">
                <a16:creationId xmlns:a16="http://schemas.microsoft.com/office/drawing/2014/main" id="{B5B06F32-35C9-4C89-8C5C-56CF5AADFD0F}"/>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Survey and analysis sample bookkeeping</a:t>
            </a:r>
          </a:p>
        </p:txBody>
      </p:sp>
      <p:sp>
        <p:nvSpPr>
          <p:cNvPr id="3" name="Rectangle 2">
            <a:extLst>
              <a:ext uri="{FF2B5EF4-FFF2-40B4-BE49-F238E27FC236}">
                <a16:creationId xmlns:a16="http://schemas.microsoft.com/office/drawing/2014/main" id="{9368DBB8-9738-4776-98F3-07925BCC819A}"/>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24F7B2D6-2FCD-40FF-9867-F691BEB66BFC}"/>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3718BCD3-D145-4DE8-BDB7-AFB2F3209830}"/>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B1</a:t>
            </a:r>
          </a:p>
        </p:txBody>
      </p:sp>
      <p:graphicFrame>
        <p:nvGraphicFramePr>
          <p:cNvPr id="13" name="Table 12"/>
          <p:cNvGraphicFramePr/>
          <p:nvPr/>
        </p:nvGraphicFramePr>
        <p:xfrm>
          <a:off x="533400" y="1771650"/>
          <a:ext cx="11125200" cy="3429000"/>
        </p:xfrm>
        <a:graphic>
          <a:graphicData uri="http://schemas.openxmlformats.org/drawingml/2006/table">
            <a:tbl>
              <a:tblPr/>
              <a:tblGrid>
                <a:gridCol w="3438525">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6276975">
                  <a:extLst>
                    <a:ext uri="{9D8B030D-6E8A-4147-A177-3AD203B41FA5}">
                      <a16:colId xmlns:a16="http://schemas.microsoft.com/office/drawing/2014/main" val="20002"/>
                    </a:ext>
                  </a:extLst>
                </a:gridCol>
              </a:tblGrid>
              <a:tr h="685800">
                <a:tc>
                  <a:txBody>
                    <a:bodyPr/>
                    <a:lstStyle/>
                    <a:p>
                      <a:r>
                        <a:rPr sz="1950" b="1">
                          <a:solidFill>
                            <a:srgbClr val="FFFFFF"/>
                          </a:solidFill>
                          <a:latin typeface="Arial"/>
                          <a:ea typeface="Arial"/>
                          <a:cs typeface="Arial"/>
                        </a:rPr>
                        <a:t>Scope</a:t>
                      </a:r>
                    </a:p>
                  </a:txBody>
                  <a:tcPr marL="142875" marR="142875" marT="114300" marB="114300" anchor="ctr">
                    <a:solidFill>
                      <a:srgbClr val="10222E"/>
                    </a:solidFill>
                  </a:tcPr>
                </a:tc>
                <a:tc>
                  <a:txBody>
                    <a:bodyPr/>
                    <a:lstStyle/>
                    <a:p>
                      <a:r>
                        <a:rPr sz="1950" b="1">
                          <a:solidFill>
                            <a:srgbClr val="FFFFFF"/>
                          </a:solidFill>
                          <a:latin typeface="Arial"/>
                          <a:ea typeface="Arial"/>
                          <a:cs typeface="Arial"/>
                        </a:rPr>
                        <a:t>Count</a:t>
                      </a:r>
                    </a:p>
                  </a:txBody>
                  <a:tcPr marL="142875" marR="142875" marT="114300" marB="114300" anchor="ctr">
                    <a:solidFill>
                      <a:srgbClr val="10222E"/>
                    </a:solidFill>
                  </a:tcPr>
                </a:tc>
                <a:tc>
                  <a:txBody>
                    <a:bodyPr/>
                    <a:lstStyle/>
                    <a:p>
                      <a:r>
                        <a:rPr sz="1950" b="1">
                          <a:solidFill>
                            <a:srgbClr val="FFFFFF"/>
                          </a:solidFill>
                          <a:latin typeface="Arial"/>
                          <a:ea typeface="Arial"/>
                          <a:cs typeface="Arial"/>
                        </a:rPr>
                        <a:t>Definition</a:t>
                      </a:r>
                    </a:p>
                  </a:txBody>
                  <a:tcPr marL="142875" marR="142875" marT="114300" marB="114300" anchor="ctr">
                    <a:solidFill>
                      <a:srgbClr val="10222E"/>
                    </a:solidFill>
                  </a:tcPr>
                </a:tc>
                <a:extLst>
                  <a:ext uri="{0D108BD9-81ED-4DB2-BD59-A6C34878D82A}">
                    <a16:rowId xmlns:a16="http://schemas.microsoft.com/office/drawing/2014/main" val="10000"/>
                  </a:ext>
                </a:extLst>
              </a:tr>
              <a:tr h="685800">
                <a:tc>
                  <a:txBody>
                    <a:bodyPr/>
                    <a:lstStyle/>
                    <a:p>
                      <a:r>
                        <a:rPr sz="1950" b="0">
                          <a:solidFill>
                            <a:srgbClr val="182934"/>
                          </a:solidFill>
                          <a:latin typeface="Arial"/>
                          <a:ea typeface="Arial"/>
                          <a:cs typeface="Arial"/>
                        </a:rPr>
                        <a:t>MAUVE survey design</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40</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Programme targets</a:t>
                      </a:r>
                    </a:p>
                  </a:txBody>
                  <a:tcPr marL="142875" marR="142875" marT="114300" marB="114300" anchor="ctr">
                    <a:solidFill>
                      <a:srgbClr val="FFFFFF"/>
                    </a:solidFill>
                  </a:tcPr>
                </a:tc>
                <a:extLst>
                  <a:ext uri="{0D108BD9-81ED-4DB2-BD59-A6C34878D82A}">
                    <a16:rowId xmlns:a16="http://schemas.microsoft.com/office/drawing/2014/main" val="10001"/>
                  </a:ext>
                </a:extLst>
              </a:tr>
              <a:tr h="685800">
                <a:tc>
                  <a:txBody>
                    <a:bodyPr/>
                    <a:lstStyle/>
                    <a:p>
                      <a:r>
                        <a:rPr sz="1950" b="0">
                          <a:solidFill>
                            <a:srgbClr val="182934"/>
                          </a:solidFill>
                          <a:latin typeface="Arial"/>
                          <a:ea typeface="Arial"/>
                          <a:cs typeface="Arial"/>
                        </a:rPr>
                        <a:t>Paper I</a:t>
                      </a:r>
                    </a:p>
                  </a:txBody>
                  <a:tcPr marL="142875" marR="142875" marT="114300" marB="114300" anchor="ctr">
                    <a:solidFill>
                      <a:srgbClr val="F3F5F6"/>
                    </a:solidFill>
                  </a:tcPr>
                </a:tc>
                <a:tc>
                  <a:txBody>
                    <a:bodyPr/>
                    <a:lstStyle/>
                    <a:p>
                      <a:r>
                        <a:rPr sz="1950" b="0">
                          <a:solidFill>
                            <a:srgbClr val="182934"/>
                          </a:solidFill>
                          <a:latin typeface="Arial"/>
                          <a:ea typeface="Arial"/>
                          <a:cs typeface="Arial"/>
                        </a:rPr>
                        <a:t>14</a:t>
                      </a:r>
                    </a:p>
                  </a:txBody>
                  <a:tcPr marL="142875" marR="142875" marT="114300" marB="114300" anchor="ctr">
                    <a:solidFill>
                      <a:srgbClr val="F3F5F6"/>
                    </a:solidFill>
                  </a:tcPr>
                </a:tc>
                <a:tc>
                  <a:txBody>
                    <a:bodyPr/>
                    <a:lstStyle/>
                    <a:p>
                      <a:r>
                        <a:rPr sz="1950" b="0">
                          <a:solidFill>
                            <a:srgbClr val="182934"/>
                          </a:solidFill>
                          <a:latin typeface="Arial"/>
                          <a:ea typeface="Arial"/>
                          <a:cs typeface="Arial"/>
                        </a:rPr>
                        <a:t>Internal MUSE release v2 sample</a:t>
                      </a:r>
                    </a:p>
                  </a:txBody>
                  <a:tcPr marL="142875" marR="142875" marT="114300" marB="114300" anchor="ctr">
                    <a:solidFill>
                      <a:srgbClr val="F3F5F6"/>
                    </a:solidFill>
                  </a:tcPr>
                </a:tc>
                <a:extLst>
                  <a:ext uri="{0D108BD9-81ED-4DB2-BD59-A6C34878D82A}">
                    <a16:rowId xmlns:a16="http://schemas.microsoft.com/office/drawing/2014/main" val="10002"/>
                  </a:ext>
                </a:extLst>
              </a:tr>
              <a:tr h="685800">
                <a:tc>
                  <a:txBody>
                    <a:bodyPr/>
                    <a:lstStyle/>
                    <a:p>
                      <a:r>
                        <a:rPr sz="1950" b="0">
                          <a:solidFill>
                            <a:srgbClr val="182934"/>
                          </a:solidFill>
                          <a:latin typeface="Arial"/>
                          <a:ea typeface="Arial"/>
                          <a:cs typeface="Arial"/>
                        </a:rPr>
                        <a:t>Paper I ensemble</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13</a:t>
                      </a:r>
                    </a:p>
                  </a:txBody>
                  <a:tcPr marL="142875" marR="142875" marT="114300" marB="114300" anchor="ctr">
                    <a:solidFill>
                      <a:srgbClr val="FFFFFF"/>
                    </a:solidFill>
                  </a:tcPr>
                </a:tc>
                <a:tc>
                  <a:txBody>
                    <a:bodyPr/>
                    <a:lstStyle/>
                    <a:p>
                      <a:r>
                        <a:rPr sz="1950" b="0">
                          <a:solidFill>
                            <a:srgbClr val="182934"/>
                          </a:solidFill>
                          <a:latin typeface="Arial"/>
                          <a:ea typeface="Arial"/>
                          <a:cs typeface="Arial"/>
                        </a:rPr>
                        <a:t>NGC4383 excluded</a:t>
                      </a:r>
                    </a:p>
                  </a:txBody>
                  <a:tcPr marL="142875" marR="142875" marT="114300" marB="114300" anchor="ctr">
                    <a:solidFill>
                      <a:srgbClr val="FFFFFF"/>
                    </a:solidFill>
                  </a:tcPr>
                </a:tc>
                <a:extLst>
                  <a:ext uri="{0D108BD9-81ED-4DB2-BD59-A6C34878D82A}">
                    <a16:rowId xmlns:a16="http://schemas.microsoft.com/office/drawing/2014/main" val="10003"/>
                  </a:ext>
                </a:extLst>
              </a:tr>
              <a:tr h="685800">
                <a:tc>
                  <a:txBody>
                    <a:bodyPr/>
                    <a:lstStyle/>
                    <a:p>
                      <a:r>
                        <a:rPr sz="1950" b="0">
                          <a:solidFill>
                            <a:srgbClr val="182934"/>
                          </a:solidFill>
                          <a:latin typeface="Arial"/>
                          <a:ea typeface="Arial"/>
                          <a:cs typeface="Arial"/>
                        </a:rPr>
                        <a:t>Occupancy snapshot</a:t>
                      </a:r>
                    </a:p>
                  </a:txBody>
                  <a:tcPr marL="142875" marR="142875" marT="114300" marB="114300" anchor="ctr">
                    <a:solidFill>
                      <a:srgbClr val="F3F5F6"/>
                    </a:solidFill>
                  </a:tcPr>
                </a:tc>
                <a:tc>
                  <a:txBody>
                    <a:bodyPr/>
                    <a:lstStyle/>
                    <a:p>
                      <a:r>
                        <a:rPr sz="1950" b="0">
                          <a:solidFill>
                            <a:srgbClr val="182934"/>
                          </a:solidFill>
                          <a:latin typeface="Arial"/>
                          <a:ea typeface="Arial"/>
                          <a:cs typeface="Arial"/>
                        </a:rPr>
                        <a:t>26</a:t>
                      </a:r>
                    </a:p>
                  </a:txBody>
                  <a:tcPr marL="142875" marR="142875" marT="114300" marB="114300" anchor="ctr">
                    <a:solidFill>
                      <a:srgbClr val="F3F5F6"/>
                    </a:solidFill>
                  </a:tcPr>
                </a:tc>
                <a:tc>
                  <a:txBody>
                    <a:bodyPr/>
                    <a:lstStyle/>
                    <a:p>
                      <a:r>
                        <a:rPr sz="1950" b="0">
                          <a:solidFill>
                            <a:srgbClr val="182934"/>
                          </a:solidFill>
                          <a:latin typeface="Arial"/>
                          <a:ea typeface="Arial"/>
                          <a:cs typeface="Arial"/>
                        </a:rPr>
                        <a:t>8 pre / 5 close / 13 post product systems</a:t>
                      </a:r>
                    </a:p>
                  </a:txBody>
                  <a:tcPr marL="142875" marR="142875" marT="114300" marB="114300" anchor="ctr">
                    <a:solidFill>
                      <a:srgbClr val="F3F5F6"/>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7B2F81CF-7853-42AF-A5B2-A58385A9699E}"/>
              </a:ext>
            </a:extLst>
          </p:cNvPr>
          <p:cNvSpPr>
            <a:spLocks noGrp="1"/>
          </p:cNvSpPr>
          <p:nvPr/>
        </p:nvSpPr>
        <p:spPr>
          <a:xfrm>
            <a:off x="533400" y="60483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NGC4567_8 represents two physical components in one product. Counts are attached to their analysis scope.</a:t>
            </a:r>
          </a:p>
        </p:txBody>
      </p:sp>
    </p:spTree>
    <p:extLst>
      <p:ext uri="{BB962C8B-B14F-4D97-AF65-F5344CB8AC3E}">
        <p14:creationId xmlns:p14="http://schemas.microsoft.com/office/powerpoint/2010/main" val="398304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0271DD-353A-45A8-BCA7-D3D962D4A062}"/>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BACKUP B2</a:t>
            </a:r>
          </a:p>
        </p:txBody>
      </p:sp>
      <p:sp>
        <p:nvSpPr>
          <p:cNvPr id="2" name="Rectangle 1">
            <a:extLst>
              <a:ext uri="{FF2B5EF4-FFF2-40B4-BE49-F238E27FC236}">
                <a16:creationId xmlns:a16="http://schemas.microsoft.com/office/drawing/2014/main" id="{5BE9CB30-9CE1-411D-B47F-8A774135F365}"/>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Full metallicity-diagnostic comparison</a:t>
            </a:r>
          </a:p>
        </p:txBody>
      </p:sp>
      <p:sp>
        <p:nvSpPr>
          <p:cNvPr id="3" name="Rectangle 2">
            <a:extLst>
              <a:ext uri="{FF2B5EF4-FFF2-40B4-BE49-F238E27FC236}">
                <a16:creationId xmlns:a16="http://schemas.microsoft.com/office/drawing/2014/main" id="{D0D808BF-7374-4214-B608-8702BAB26CAE}"/>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BF2DC494-2AEB-433F-828E-D9F8674C260B}"/>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B028E0EC-0603-4379-8733-1D6A6A346E35}"/>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B2</a:t>
            </a:r>
          </a:p>
        </p:txBody>
      </p:sp>
      <p:pic>
        <p:nvPicPr>
          <p:cNvPr id="13" name="Picture 12"/>
          <p:cNvPicPr>
            <a:picLocks noChangeAspect="1"/>
          </p:cNvPicPr>
          <p:nvPr/>
        </p:nvPicPr>
        <p:blipFill>
          <a:blip r:embed="rId3"/>
          <a:stretch/>
        </p:blipFill>
        <p:spPr>
          <a:xfrm>
            <a:off x="3608185" y="1447800"/>
            <a:ext cx="4975631" cy="4676775"/>
          </a:xfrm>
          <a:prstGeom prst="rect">
            <a:avLst/>
          </a:prstGeom>
        </p:spPr>
      </p:pic>
      <p:sp>
        <p:nvSpPr>
          <p:cNvPr id="7" name="Rectangle 6">
            <a:extLst>
              <a:ext uri="{FF2B5EF4-FFF2-40B4-BE49-F238E27FC236}">
                <a16:creationId xmlns:a16="http://schemas.microsoft.com/office/drawing/2014/main" id="{FCA5FDB6-1BDA-4EBB-9923-D12F1071087E}"/>
              </a:ext>
            </a:extLst>
          </p:cNvPr>
          <p:cNvSpPr>
            <a:spLocks noGrp="1"/>
          </p:cNvSpPr>
          <p:nvPr/>
        </p:nvSpPr>
        <p:spPr>
          <a:xfrm>
            <a:off x="533400" y="616267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Huang et al. 2026, Figure 6. Full four-diagnostic comparison; source axis labels and colours retained.</a:t>
            </a:r>
          </a:p>
        </p:txBody>
      </p:sp>
    </p:spTree>
    <p:extLst>
      <p:ext uri="{BB962C8B-B14F-4D97-AF65-F5344CB8AC3E}">
        <p14:creationId xmlns:p14="http://schemas.microsoft.com/office/powerpoint/2010/main" val="1523185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1BF6C4C-2F7B-4A99-AF09-2009129E7D41}"/>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BACKUP B3</a:t>
            </a:r>
          </a:p>
        </p:txBody>
      </p:sp>
      <p:sp>
        <p:nvSpPr>
          <p:cNvPr id="2" name="Rectangle 1">
            <a:extLst>
              <a:ext uri="{FF2B5EF4-FFF2-40B4-BE49-F238E27FC236}">
                <a16:creationId xmlns:a16="http://schemas.microsoft.com/office/drawing/2014/main" id="{AF04CCD6-A910-4BA7-9853-6F0384073E03}"/>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Metal continuity and the removal term</a:t>
            </a:r>
          </a:p>
        </p:txBody>
      </p:sp>
      <p:sp>
        <p:nvSpPr>
          <p:cNvPr id="3" name="Rectangle 2">
            <a:extLst>
              <a:ext uri="{FF2B5EF4-FFF2-40B4-BE49-F238E27FC236}">
                <a16:creationId xmlns:a16="http://schemas.microsoft.com/office/drawing/2014/main" id="{C28F1B2F-1737-4894-AF34-A9443D897E67}"/>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AD5CB2F8-5064-48B8-82A2-B51A4F51AE7C}"/>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6D791B40-5E68-4349-9AFF-26CBB53E239D}"/>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B3</a:t>
            </a:r>
          </a:p>
        </p:txBody>
      </p:sp>
      <p:sp>
        <p:nvSpPr>
          <p:cNvPr id="6" name="Rectangle 5">
            <a:extLst>
              <a:ext uri="{FF2B5EF4-FFF2-40B4-BE49-F238E27FC236}">
                <a16:creationId xmlns:a16="http://schemas.microsoft.com/office/drawing/2014/main" id="{5708FA50-DE5F-4212-951F-E4AFE2014817}"/>
              </a:ext>
            </a:extLst>
          </p:cNvPr>
          <p:cNvSpPr>
            <a:spLocks noGrp="1"/>
          </p:cNvSpPr>
          <p:nvPr/>
        </p:nvSpPr>
        <p:spPr>
          <a:xfrm>
            <a:off x="3547300" y="1924050"/>
            <a:ext cx="583692"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d(Σ</a:t>
            </a:r>
          </a:p>
        </p:txBody>
      </p:sp>
      <p:sp>
        <p:nvSpPr>
          <p:cNvPr id="7" name="Rectangle 6">
            <a:extLst>
              <a:ext uri="{FF2B5EF4-FFF2-40B4-BE49-F238E27FC236}">
                <a16:creationId xmlns:a16="http://schemas.microsoft.com/office/drawing/2014/main" id="{38EB4B8D-0FF1-4CE9-8B6A-64310DF68716}"/>
              </a:ext>
            </a:extLst>
          </p:cNvPr>
          <p:cNvSpPr>
            <a:spLocks noGrp="1"/>
          </p:cNvSpPr>
          <p:nvPr/>
        </p:nvSpPr>
        <p:spPr>
          <a:xfrm>
            <a:off x="4092892" y="2076069"/>
            <a:ext cx="160877"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g</a:t>
            </a:r>
          </a:p>
        </p:txBody>
      </p:sp>
      <p:sp>
        <p:nvSpPr>
          <p:cNvPr id="8" name="Rectangle 7">
            <a:extLst>
              <a:ext uri="{FF2B5EF4-FFF2-40B4-BE49-F238E27FC236}">
                <a16:creationId xmlns:a16="http://schemas.microsoft.com/office/drawing/2014/main" id="{4D07C25F-219E-4B18-B680-EBC06AA2C02D}"/>
              </a:ext>
            </a:extLst>
          </p:cNvPr>
          <p:cNvSpPr>
            <a:spLocks noGrp="1"/>
          </p:cNvSpPr>
          <p:nvPr/>
        </p:nvSpPr>
        <p:spPr>
          <a:xfrm>
            <a:off x="4316254" y="1924050"/>
            <a:ext cx="1415701"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Z)/dt = Z</a:t>
            </a:r>
          </a:p>
        </p:txBody>
      </p:sp>
      <p:sp>
        <p:nvSpPr>
          <p:cNvPr id="9" name="Rectangle 8">
            <a:extLst>
              <a:ext uri="{FF2B5EF4-FFF2-40B4-BE49-F238E27FC236}">
                <a16:creationId xmlns:a16="http://schemas.microsoft.com/office/drawing/2014/main" id="{B2CF23B6-E5FB-4949-88DB-C15A7C254936}"/>
              </a:ext>
            </a:extLst>
          </p:cNvPr>
          <p:cNvSpPr>
            <a:spLocks noGrp="1"/>
          </p:cNvSpPr>
          <p:nvPr/>
        </p:nvSpPr>
        <p:spPr>
          <a:xfrm>
            <a:off x="5693854" y="2076069"/>
            <a:ext cx="214217"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Φ</a:t>
            </a:r>
          </a:p>
        </p:txBody>
      </p:sp>
      <p:sp>
        <p:nvSpPr>
          <p:cNvPr id="10" name="Rectangle 9">
            <a:extLst>
              <a:ext uri="{FF2B5EF4-FFF2-40B4-BE49-F238E27FC236}">
                <a16:creationId xmlns:a16="http://schemas.microsoft.com/office/drawing/2014/main" id="{B128DFE0-BAFF-4D64-B801-4FFD8A1530C1}"/>
              </a:ext>
            </a:extLst>
          </p:cNvPr>
          <p:cNvSpPr>
            <a:spLocks noGrp="1"/>
          </p:cNvSpPr>
          <p:nvPr/>
        </p:nvSpPr>
        <p:spPr>
          <a:xfrm>
            <a:off x="5869972" y="1924050"/>
            <a:ext cx="261842"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Σ</a:t>
            </a:r>
          </a:p>
        </p:txBody>
      </p:sp>
      <p:sp>
        <p:nvSpPr>
          <p:cNvPr id="11" name="Rectangle 10">
            <a:extLst>
              <a:ext uri="{FF2B5EF4-FFF2-40B4-BE49-F238E27FC236}">
                <a16:creationId xmlns:a16="http://schemas.microsoft.com/office/drawing/2014/main" id="{67021BDF-4719-4B1C-B324-59A79A3B0DF8}"/>
              </a:ext>
            </a:extLst>
          </p:cNvPr>
          <p:cNvSpPr>
            <a:spLocks noGrp="1"/>
          </p:cNvSpPr>
          <p:nvPr/>
        </p:nvSpPr>
        <p:spPr>
          <a:xfrm>
            <a:off x="6093714" y="2076069"/>
            <a:ext cx="214217"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Φ</a:t>
            </a:r>
          </a:p>
        </p:txBody>
      </p:sp>
      <p:sp>
        <p:nvSpPr>
          <p:cNvPr id="12" name="Rectangle 11">
            <a:extLst>
              <a:ext uri="{FF2B5EF4-FFF2-40B4-BE49-F238E27FC236}">
                <a16:creationId xmlns:a16="http://schemas.microsoft.com/office/drawing/2014/main" id="{B7B09483-73FF-4980-BFF5-F98022EBD938}"/>
              </a:ext>
            </a:extLst>
          </p:cNvPr>
          <p:cNvSpPr>
            <a:spLocks noGrp="1"/>
          </p:cNvSpPr>
          <p:nvPr/>
        </p:nvSpPr>
        <p:spPr>
          <a:xfrm>
            <a:off x="6370415" y="1924050"/>
            <a:ext cx="1870996"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y(1 − R)Σ</a:t>
            </a:r>
          </a:p>
        </p:txBody>
      </p:sp>
      <p:sp>
        <p:nvSpPr>
          <p:cNvPr id="13" name="Rectangle 12">
            <a:extLst>
              <a:ext uri="{FF2B5EF4-FFF2-40B4-BE49-F238E27FC236}">
                <a16:creationId xmlns:a16="http://schemas.microsoft.com/office/drawing/2014/main" id="{DE772FCB-D739-4A47-81A1-2B092C047AAA}"/>
              </a:ext>
            </a:extLst>
          </p:cNvPr>
          <p:cNvSpPr>
            <a:spLocks noGrp="1"/>
          </p:cNvSpPr>
          <p:nvPr/>
        </p:nvSpPr>
        <p:spPr>
          <a:xfrm>
            <a:off x="8203311" y="2076069"/>
            <a:ext cx="479489"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SFR</a:t>
            </a:r>
          </a:p>
        </p:txBody>
      </p:sp>
      <p:sp>
        <p:nvSpPr>
          <p:cNvPr id="14" name="Rectangle 13">
            <a:extLst>
              <a:ext uri="{FF2B5EF4-FFF2-40B4-BE49-F238E27FC236}">
                <a16:creationId xmlns:a16="http://schemas.microsoft.com/office/drawing/2014/main" id="{B98042B1-964D-475D-B810-B387C8F2C720}"/>
              </a:ext>
            </a:extLst>
          </p:cNvPr>
          <p:cNvSpPr>
            <a:spLocks noGrp="1"/>
          </p:cNvSpPr>
          <p:nvPr/>
        </p:nvSpPr>
        <p:spPr>
          <a:xfrm>
            <a:off x="4356735" y="2638425"/>
            <a:ext cx="1911096"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Z(1 − R)Σ</a:t>
            </a:r>
          </a:p>
        </p:txBody>
      </p:sp>
      <p:sp>
        <p:nvSpPr>
          <p:cNvPr id="15" name="Rectangle 14">
            <a:extLst>
              <a:ext uri="{FF2B5EF4-FFF2-40B4-BE49-F238E27FC236}">
                <a16:creationId xmlns:a16="http://schemas.microsoft.com/office/drawing/2014/main" id="{F9B3351E-833E-4A29-9F21-988C03812E6A}"/>
              </a:ext>
            </a:extLst>
          </p:cNvPr>
          <p:cNvSpPr>
            <a:spLocks noGrp="1"/>
          </p:cNvSpPr>
          <p:nvPr/>
        </p:nvSpPr>
        <p:spPr>
          <a:xfrm>
            <a:off x="6229731" y="2790444"/>
            <a:ext cx="479489"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SFR</a:t>
            </a:r>
          </a:p>
        </p:txBody>
      </p:sp>
      <p:sp>
        <p:nvSpPr>
          <p:cNvPr id="16" name="Rectangle 15">
            <a:extLst>
              <a:ext uri="{FF2B5EF4-FFF2-40B4-BE49-F238E27FC236}">
                <a16:creationId xmlns:a16="http://schemas.microsoft.com/office/drawing/2014/main" id="{F13A230B-2F1D-4CFF-81C7-609D89435CC5}"/>
              </a:ext>
            </a:extLst>
          </p:cNvPr>
          <p:cNvSpPr>
            <a:spLocks noGrp="1"/>
          </p:cNvSpPr>
          <p:nvPr/>
        </p:nvSpPr>
        <p:spPr>
          <a:xfrm>
            <a:off x="6771703" y="2638425"/>
            <a:ext cx="794861" cy="579120"/>
          </a:xfrm>
          <a:prstGeom prst="rect">
            <a:avLst/>
          </a:prstGeom>
          <a:noFill/>
          <a:ln w="0">
            <a:noFill/>
          </a:ln>
        </p:spPr>
        <p:txBody>
          <a:bodyPr wrap="none" lIns="0" tIns="0" rIns="0" bIns="0" anchor="t">
            <a:noAutofit/>
          </a:bodyPr>
          <a:lstStyle/>
          <a:p>
            <a:pPr algn="l">
              <a:defRPr sz="2850" b="0">
                <a:solidFill>
                  <a:srgbClr val="182934"/>
                </a:solidFill>
                <a:latin typeface="Arial"/>
                <a:ea typeface="Arial"/>
                <a:cs typeface="Arial"/>
              </a:defRPr>
            </a:pPr>
            <a:r>
              <a:rPr sz="2850" b="0">
                <a:solidFill>
                  <a:srgbClr val="182934"/>
                </a:solidFill>
                <a:latin typeface="Arial"/>
                <a:ea typeface="Arial"/>
                <a:cs typeface="Arial"/>
              </a:rPr>
              <a:t>− ZΣ</a:t>
            </a:r>
          </a:p>
        </p:txBody>
      </p:sp>
      <p:sp>
        <p:nvSpPr>
          <p:cNvPr id="17" name="Rectangle 16">
            <a:extLst>
              <a:ext uri="{FF2B5EF4-FFF2-40B4-BE49-F238E27FC236}">
                <a16:creationId xmlns:a16="http://schemas.microsoft.com/office/drawing/2014/main" id="{BE818A67-EEDD-40A5-95EC-30822ED64621}"/>
              </a:ext>
            </a:extLst>
          </p:cNvPr>
          <p:cNvSpPr>
            <a:spLocks noGrp="1"/>
          </p:cNvSpPr>
          <p:nvPr/>
        </p:nvSpPr>
        <p:spPr>
          <a:xfrm>
            <a:off x="7528465" y="2790444"/>
            <a:ext cx="344900" cy="579120"/>
          </a:xfrm>
          <a:prstGeom prst="rect">
            <a:avLst/>
          </a:prstGeom>
          <a:noFill/>
          <a:ln w="0">
            <a:noFill/>
          </a:ln>
        </p:spPr>
        <p:txBody>
          <a:bodyPr wrap="none" lIns="0" tIns="0" rIns="0" bIns="0" anchor="t">
            <a:noAutofit/>
          </a:bodyPr>
          <a:lstStyle/>
          <a:p>
            <a:pPr algn="l">
              <a:defRPr sz="1739" b="0">
                <a:solidFill>
                  <a:srgbClr val="182934"/>
                </a:solidFill>
                <a:latin typeface="Arial"/>
                <a:ea typeface="Arial"/>
                <a:cs typeface="Arial"/>
              </a:defRPr>
            </a:pPr>
            <a:r>
              <a:rPr sz="1739" b="0">
                <a:solidFill>
                  <a:srgbClr val="182934"/>
                </a:solidFill>
                <a:latin typeface="Arial"/>
                <a:ea typeface="Arial"/>
                <a:cs typeface="Arial"/>
              </a:rPr>
              <a:t>out</a:t>
            </a:r>
          </a:p>
        </p:txBody>
      </p:sp>
      <p:sp>
        <p:nvSpPr>
          <p:cNvPr id="18" name="Rectangle 17">
            <a:extLst>
              <a:ext uri="{FF2B5EF4-FFF2-40B4-BE49-F238E27FC236}">
                <a16:creationId xmlns:a16="http://schemas.microsoft.com/office/drawing/2014/main" id="{0C585E69-5A73-4BD6-A763-36C901EE05B5}"/>
              </a:ext>
            </a:extLst>
          </p:cNvPr>
          <p:cNvSpPr>
            <a:spLocks noGrp="1"/>
          </p:cNvSpPr>
          <p:nvPr/>
        </p:nvSpPr>
        <p:spPr>
          <a:xfrm>
            <a:off x="3590877" y="3733800"/>
            <a:ext cx="267748"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Σ</a:t>
            </a:r>
          </a:p>
        </p:txBody>
      </p:sp>
      <p:sp>
        <p:nvSpPr>
          <p:cNvPr id="19" name="Rectangle 18">
            <a:extLst>
              <a:ext uri="{FF2B5EF4-FFF2-40B4-BE49-F238E27FC236}">
                <a16:creationId xmlns:a16="http://schemas.microsoft.com/office/drawing/2014/main" id="{6C46E52A-6B41-47A3-B573-276B2AAB01C8}"/>
              </a:ext>
            </a:extLst>
          </p:cNvPr>
          <p:cNvSpPr>
            <a:spLocks noGrp="1"/>
          </p:cNvSpPr>
          <p:nvPr/>
        </p:nvSpPr>
        <p:spPr>
          <a:xfrm>
            <a:off x="3820525" y="3889820"/>
            <a:ext cx="164116"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g</a:t>
            </a:r>
          </a:p>
        </p:txBody>
      </p:sp>
      <p:sp>
        <p:nvSpPr>
          <p:cNvPr id="20" name="Rectangle 19">
            <a:extLst>
              <a:ext uri="{FF2B5EF4-FFF2-40B4-BE49-F238E27FC236}">
                <a16:creationId xmlns:a16="http://schemas.microsoft.com/office/drawing/2014/main" id="{B89FE133-1869-4AA7-AB03-48F2902114A0}"/>
              </a:ext>
            </a:extLst>
          </p:cNvPr>
          <p:cNvSpPr>
            <a:spLocks noGrp="1"/>
          </p:cNvSpPr>
          <p:nvPr/>
        </p:nvSpPr>
        <p:spPr>
          <a:xfrm>
            <a:off x="4049792" y="3733800"/>
            <a:ext cx="1867853"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dZ/dt = d(Σ</a:t>
            </a:r>
          </a:p>
        </p:txBody>
      </p:sp>
      <p:sp>
        <p:nvSpPr>
          <p:cNvPr id="21" name="Rectangle 20">
            <a:extLst>
              <a:ext uri="{FF2B5EF4-FFF2-40B4-BE49-F238E27FC236}">
                <a16:creationId xmlns:a16="http://schemas.microsoft.com/office/drawing/2014/main" id="{D8A8D914-5B63-49C3-B352-63906C78DAAB}"/>
              </a:ext>
            </a:extLst>
          </p:cNvPr>
          <p:cNvSpPr>
            <a:spLocks noGrp="1"/>
          </p:cNvSpPr>
          <p:nvPr/>
        </p:nvSpPr>
        <p:spPr>
          <a:xfrm>
            <a:off x="5879544" y="3889820"/>
            <a:ext cx="164116"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g</a:t>
            </a:r>
          </a:p>
        </p:txBody>
      </p:sp>
      <p:sp>
        <p:nvSpPr>
          <p:cNvPr id="22" name="Rectangle 21">
            <a:extLst>
              <a:ext uri="{FF2B5EF4-FFF2-40B4-BE49-F238E27FC236}">
                <a16:creationId xmlns:a16="http://schemas.microsoft.com/office/drawing/2014/main" id="{018CFF03-66B1-46B9-80CA-9E62B9FDBA34}"/>
              </a:ext>
            </a:extLst>
          </p:cNvPr>
          <p:cNvSpPr>
            <a:spLocks noGrp="1"/>
          </p:cNvSpPr>
          <p:nvPr/>
        </p:nvSpPr>
        <p:spPr>
          <a:xfrm>
            <a:off x="6108811" y="3733800"/>
            <a:ext cx="1991392"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Z)/dt − Z dΣ</a:t>
            </a:r>
          </a:p>
        </p:txBody>
      </p:sp>
      <p:sp>
        <p:nvSpPr>
          <p:cNvPr id="23" name="Rectangle 22">
            <a:extLst>
              <a:ext uri="{FF2B5EF4-FFF2-40B4-BE49-F238E27FC236}">
                <a16:creationId xmlns:a16="http://schemas.microsoft.com/office/drawing/2014/main" id="{DE0B2208-DC57-498B-B22D-2EE36F8B4640}"/>
              </a:ext>
            </a:extLst>
          </p:cNvPr>
          <p:cNvSpPr>
            <a:spLocks noGrp="1"/>
          </p:cNvSpPr>
          <p:nvPr/>
        </p:nvSpPr>
        <p:spPr>
          <a:xfrm>
            <a:off x="8062103" y="3889820"/>
            <a:ext cx="164116" cy="594360"/>
          </a:xfrm>
          <a:prstGeom prst="rect">
            <a:avLst/>
          </a:prstGeom>
          <a:noFill/>
          <a:ln w="0">
            <a:noFill/>
          </a:ln>
        </p:spPr>
        <p:txBody>
          <a:bodyPr wrap="none" lIns="0" tIns="0" rIns="0" bIns="0" anchor="t">
            <a:noAutofit/>
          </a:bodyPr>
          <a:lstStyle/>
          <a:p>
            <a:pPr algn="l">
              <a:defRPr sz="1784" b="0">
                <a:solidFill>
                  <a:srgbClr val="85457F"/>
                </a:solidFill>
                <a:latin typeface="Arial"/>
                <a:ea typeface="Arial"/>
                <a:cs typeface="Arial"/>
              </a:defRPr>
            </a:pPr>
            <a:r>
              <a:rPr sz="1784" b="0">
                <a:solidFill>
                  <a:srgbClr val="85457F"/>
                </a:solidFill>
                <a:latin typeface="Arial"/>
                <a:ea typeface="Arial"/>
                <a:cs typeface="Arial"/>
              </a:rPr>
              <a:t>g</a:t>
            </a:r>
          </a:p>
        </p:txBody>
      </p:sp>
      <p:sp>
        <p:nvSpPr>
          <p:cNvPr id="24" name="Rectangle 23">
            <a:extLst>
              <a:ext uri="{FF2B5EF4-FFF2-40B4-BE49-F238E27FC236}">
                <a16:creationId xmlns:a16="http://schemas.microsoft.com/office/drawing/2014/main" id="{40F795A7-05A7-43EB-B948-1086F071E2BD}"/>
              </a:ext>
            </a:extLst>
          </p:cNvPr>
          <p:cNvSpPr>
            <a:spLocks noGrp="1"/>
          </p:cNvSpPr>
          <p:nvPr/>
        </p:nvSpPr>
        <p:spPr>
          <a:xfrm>
            <a:off x="8188119" y="3733800"/>
            <a:ext cx="451104" cy="594360"/>
          </a:xfrm>
          <a:prstGeom prst="rect">
            <a:avLst/>
          </a:prstGeom>
          <a:noFill/>
          <a:ln w="0">
            <a:noFill/>
          </a:ln>
        </p:spPr>
        <p:txBody>
          <a:bodyPr wrap="none" lIns="0" tIns="0" rIns="0" bIns="0" anchor="t">
            <a:noAutofit/>
          </a:bodyPr>
          <a:lstStyle/>
          <a:p>
            <a:pPr algn="l">
              <a:defRPr sz="2925" b="0">
                <a:solidFill>
                  <a:srgbClr val="85457F"/>
                </a:solidFill>
                <a:latin typeface="Arial"/>
                <a:ea typeface="Arial"/>
                <a:cs typeface="Arial"/>
              </a:defRPr>
            </a:pPr>
            <a:r>
              <a:rPr sz="2925" b="0">
                <a:solidFill>
                  <a:srgbClr val="85457F"/>
                </a:solidFill>
                <a:latin typeface="Arial"/>
                <a:ea typeface="Arial"/>
                <a:cs typeface="Arial"/>
              </a:rPr>
              <a:t>/dt</a:t>
            </a:r>
          </a:p>
        </p:txBody>
      </p:sp>
      <p:sp>
        <p:nvSpPr>
          <p:cNvPr id="25" name="Rectangle 24">
            <a:extLst>
              <a:ext uri="{FF2B5EF4-FFF2-40B4-BE49-F238E27FC236}">
                <a16:creationId xmlns:a16="http://schemas.microsoft.com/office/drawing/2014/main" id="{9438DF53-8E4E-45BF-906B-4EF6CF19089F}"/>
              </a:ext>
            </a:extLst>
          </p:cNvPr>
          <p:cNvSpPr>
            <a:spLocks noGrp="1"/>
          </p:cNvSpPr>
          <p:nvPr/>
        </p:nvSpPr>
        <p:spPr>
          <a:xfrm>
            <a:off x="533400" y="4838700"/>
            <a:ext cx="11125200" cy="1009650"/>
          </a:xfrm>
          <a:prstGeom prst="rect">
            <a:avLst/>
          </a:prstGeom>
          <a:noFill/>
          <a:ln w="0">
            <a:noFill/>
          </a:ln>
        </p:spPr>
        <p:txBody>
          <a:bodyPr wrap="square" lIns="0" tIns="0" rIns="0" bIns="0" anchor="t">
            <a:noAutofit/>
          </a:bodyPr>
          <a:lstStyle/>
          <a:p>
            <a:pPr algn="l">
              <a:defRPr sz="2175" b="0">
                <a:solidFill>
                  <a:srgbClr val="182934"/>
                </a:solidFill>
                <a:latin typeface="Arial"/>
                <a:ea typeface="Arial"/>
                <a:cs typeface="Arial"/>
              </a:defRPr>
            </a:pPr>
            <a:r>
              <a:rPr sz="2175" b="0">
                <a:solidFill>
                  <a:srgbClr val="182934"/>
                </a:solidFill>
                <a:latin typeface="Arial"/>
                <a:ea typeface="Arial"/>
                <a:cs typeface="Arial"/>
              </a:rPr>
              <a:t>Explicit cancellation requires the removed gas to have abundance Z.</a:t>
            </a:r>
          </a:p>
          <a:p>
            <a:pPr algn="l">
              <a:defRPr sz="2175" b="0">
                <a:solidFill>
                  <a:srgbClr val="182934"/>
                </a:solidFill>
                <a:latin typeface="Arial"/>
                <a:ea typeface="Arial"/>
                <a:cs typeface="Arial"/>
              </a:defRPr>
            </a:pPr>
            <a:r>
              <a:rPr sz="2175" b="0">
                <a:solidFill>
                  <a:srgbClr val="182934"/>
                </a:solidFill>
                <a:latin typeface="Arial"/>
                <a:ea typeface="Arial"/>
                <a:cs typeface="Arial"/>
              </a:rPr>
              <a:t>Metal-enhanced removal would add a term.</a:t>
            </a:r>
          </a:p>
        </p:txBody>
      </p:sp>
    </p:spTree>
    <p:extLst>
      <p:ext uri="{BB962C8B-B14F-4D97-AF65-F5344CB8AC3E}">
        <p14:creationId xmlns:p14="http://schemas.microsoft.com/office/powerpoint/2010/main" val="11592714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2C2CDC-3D71-4170-A62F-897178938B19}"/>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BACKUP B4</a:t>
            </a:r>
          </a:p>
        </p:txBody>
      </p:sp>
      <p:sp>
        <p:nvSpPr>
          <p:cNvPr id="2" name="Rectangle 1">
            <a:extLst>
              <a:ext uri="{FF2B5EF4-FFF2-40B4-BE49-F238E27FC236}">
                <a16:creationId xmlns:a16="http://schemas.microsoft.com/office/drawing/2014/main" id="{1314C47C-3E22-4A33-9B0F-B4E1E6D7946F}"/>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Selection and uncertainty in occupancy</a:t>
            </a:r>
          </a:p>
        </p:txBody>
      </p:sp>
      <p:sp>
        <p:nvSpPr>
          <p:cNvPr id="3" name="Rectangle 2">
            <a:extLst>
              <a:ext uri="{FF2B5EF4-FFF2-40B4-BE49-F238E27FC236}">
                <a16:creationId xmlns:a16="http://schemas.microsoft.com/office/drawing/2014/main" id="{2864DD5C-176F-4004-804C-2B2770E0DA48}"/>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A5C08970-EDAB-41F5-A809-5DF90C37F9E2}"/>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747E8D37-245D-452B-8B96-D11E14D566A4}"/>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B4</a:t>
            </a:r>
          </a:p>
        </p:txBody>
      </p:sp>
      <p:graphicFrame>
        <p:nvGraphicFramePr>
          <p:cNvPr id="13" name="Table 12"/>
          <p:cNvGraphicFramePr/>
          <p:nvPr/>
        </p:nvGraphicFramePr>
        <p:xfrm>
          <a:off x="533400" y="1790700"/>
          <a:ext cx="11125200" cy="2562224"/>
        </p:xfrm>
        <a:graphic>
          <a:graphicData uri="http://schemas.openxmlformats.org/drawingml/2006/table">
            <a:tbl>
              <a:tblPr/>
              <a:tblGrid>
                <a:gridCol w="3819525">
                  <a:extLst>
                    <a:ext uri="{9D8B030D-6E8A-4147-A177-3AD203B41FA5}">
                      <a16:colId xmlns:a16="http://schemas.microsoft.com/office/drawing/2014/main" val="20000"/>
                    </a:ext>
                  </a:extLst>
                </a:gridCol>
                <a:gridCol w="3305175">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640556">
                <a:tc>
                  <a:txBody>
                    <a:bodyPr/>
                    <a:lstStyle/>
                    <a:p>
                      <a:r>
                        <a:rPr sz="2100" b="1">
                          <a:solidFill>
                            <a:srgbClr val="FFFFFF"/>
                          </a:solidFill>
                          <a:latin typeface="Arial"/>
                          <a:ea typeface="Arial"/>
                          <a:cs typeface="Arial"/>
                        </a:rPr>
                        <a:t>S/N ≥ 25 footprint</a:t>
                      </a:r>
                    </a:p>
                  </a:txBody>
                  <a:tcPr marL="142875" marR="142875" marT="114300" marB="114300" anchor="ctr">
                    <a:solidFill>
                      <a:srgbClr val="10222E"/>
                    </a:solidFill>
                  </a:tcPr>
                </a:tc>
                <a:tc>
                  <a:txBody>
                    <a:bodyPr/>
                    <a:lstStyle/>
                    <a:p>
                      <a:r>
                        <a:rPr sz="2100" b="1">
                          <a:solidFill>
                            <a:srgbClr val="FFFFFF"/>
                          </a:solidFill>
                          <a:latin typeface="Arial"/>
                          <a:ea typeface="Arial"/>
                          <a:cs typeface="Arial"/>
                        </a:rPr>
                        <a:t>Mean SF fraction</a:t>
                      </a:r>
                    </a:p>
                  </a:txBody>
                  <a:tcPr marL="142875" marR="142875" marT="114300" marB="114300" anchor="ctr">
                    <a:solidFill>
                      <a:srgbClr val="10222E"/>
                    </a:solidFill>
                  </a:tcPr>
                </a:tc>
                <a:tc>
                  <a:txBody>
                    <a:bodyPr/>
                    <a:lstStyle/>
                    <a:p>
                      <a:r>
                        <a:rPr sz="2100" b="1">
                          <a:solidFill>
                            <a:srgbClr val="FFFFFF"/>
                          </a:solidFill>
                          <a:latin typeface="Arial"/>
                          <a:ea typeface="Arial"/>
                          <a:cs typeface="Arial"/>
                        </a:rPr>
                        <a:t>95% bootstrap interval</a:t>
                      </a:r>
                    </a:p>
                  </a:txBody>
                  <a:tcPr marL="142875" marR="142875" marT="114300" marB="114300" anchor="ctr">
                    <a:solidFill>
                      <a:srgbClr val="10222E"/>
                    </a:solidFill>
                  </a:tcPr>
                </a:tc>
                <a:extLst>
                  <a:ext uri="{0D108BD9-81ED-4DB2-BD59-A6C34878D82A}">
                    <a16:rowId xmlns:a16="http://schemas.microsoft.com/office/drawing/2014/main" val="10000"/>
                  </a:ext>
                </a:extLst>
              </a:tr>
              <a:tr h="640556">
                <a:tc>
                  <a:txBody>
                    <a:bodyPr/>
                    <a:lstStyle/>
                    <a:p>
                      <a:r>
                        <a:rPr sz="2100" b="0">
                          <a:solidFill>
                            <a:srgbClr val="182934"/>
                          </a:solidFill>
                          <a:latin typeface="Arial"/>
                          <a:ea typeface="Arial"/>
                          <a:cs typeface="Arial"/>
                        </a:rPr>
                        <a:t>pre-peak</a:t>
                      </a:r>
                    </a:p>
                  </a:txBody>
                  <a:tcPr marL="142875" marR="142875" marT="114300" marB="114300" anchor="ctr">
                    <a:solidFill>
                      <a:srgbClr val="FFFFFF"/>
                    </a:solidFill>
                  </a:tcPr>
                </a:tc>
                <a:tc>
                  <a:txBody>
                    <a:bodyPr/>
                    <a:lstStyle/>
                    <a:p>
                      <a:r>
                        <a:rPr sz="2100" b="0">
                          <a:solidFill>
                            <a:srgbClr val="182934"/>
                          </a:solidFill>
                          <a:latin typeface="Arial"/>
                          <a:ea typeface="Arial"/>
                          <a:cs typeface="Arial"/>
                        </a:rPr>
                        <a:t>0.494</a:t>
                      </a:r>
                    </a:p>
                  </a:txBody>
                  <a:tcPr marL="142875" marR="142875" marT="114300" marB="114300" anchor="ctr">
                    <a:solidFill>
                      <a:srgbClr val="FFFFFF"/>
                    </a:solidFill>
                  </a:tcPr>
                </a:tc>
                <a:tc>
                  <a:txBody>
                    <a:bodyPr/>
                    <a:lstStyle/>
                    <a:p>
                      <a:r>
                        <a:rPr sz="2100" b="0">
                          <a:solidFill>
                            <a:srgbClr val="182934"/>
                          </a:solidFill>
                          <a:latin typeface="Arial"/>
                          <a:ea typeface="Arial"/>
                          <a:cs typeface="Arial"/>
                        </a:rPr>
                        <a:t>0.396–0.596</a:t>
                      </a:r>
                    </a:p>
                  </a:txBody>
                  <a:tcPr marL="142875" marR="142875" marT="114300" marB="114300" anchor="ctr">
                    <a:solidFill>
                      <a:srgbClr val="FFFFFF"/>
                    </a:solidFill>
                  </a:tcPr>
                </a:tc>
                <a:extLst>
                  <a:ext uri="{0D108BD9-81ED-4DB2-BD59-A6C34878D82A}">
                    <a16:rowId xmlns:a16="http://schemas.microsoft.com/office/drawing/2014/main" val="10001"/>
                  </a:ext>
                </a:extLst>
              </a:tr>
              <a:tr h="640556">
                <a:tc>
                  <a:txBody>
                    <a:bodyPr/>
                    <a:lstStyle/>
                    <a:p>
                      <a:r>
                        <a:rPr sz="2100" b="0">
                          <a:solidFill>
                            <a:srgbClr val="182934"/>
                          </a:solidFill>
                          <a:latin typeface="Arial"/>
                          <a:ea typeface="Arial"/>
                          <a:cs typeface="Arial"/>
                        </a:rPr>
                        <a:t>close-to-peak</a:t>
                      </a:r>
                    </a:p>
                  </a:txBody>
                  <a:tcPr marL="142875" marR="142875" marT="114300" marB="114300" anchor="ctr">
                    <a:solidFill>
                      <a:srgbClr val="F3F5F6"/>
                    </a:solidFill>
                  </a:tcPr>
                </a:tc>
                <a:tc>
                  <a:txBody>
                    <a:bodyPr/>
                    <a:lstStyle/>
                    <a:p>
                      <a:r>
                        <a:rPr sz="2100" b="0">
                          <a:solidFill>
                            <a:srgbClr val="182934"/>
                          </a:solidFill>
                          <a:latin typeface="Arial"/>
                          <a:ea typeface="Arial"/>
                          <a:cs typeface="Arial"/>
                        </a:rPr>
                        <a:t>0.332</a:t>
                      </a:r>
                    </a:p>
                  </a:txBody>
                  <a:tcPr marL="142875" marR="142875" marT="114300" marB="114300" anchor="ctr">
                    <a:solidFill>
                      <a:srgbClr val="F3F5F6"/>
                    </a:solidFill>
                  </a:tcPr>
                </a:tc>
                <a:tc>
                  <a:txBody>
                    <a:bodyPr/>
                    <a:lstStyle/>
                    <a:p>
                      <a:r>
                        <a:rPr sz="2100" b="0">
                          <a:solidFill>
                            <a:srgbClr val="182934"/>
                          </a:solidFill>
                          <a:latin typeface="Arial"/>
                          <a:ea typeface="Arial"/>
                          <a:cs typeface="Arial"/>
                        </a:rPr>
                        <a:t>0.107–0.556</a:t>
                      </a:r>
                    </a:p>
                  </a:txBody>
                  <a:tcPr marL="142875" marR="142875" marT="114300" marB="114300" anchor="ctr">
                    <a:solidFill>
                      <a:srgbClr val="F3F5F6"/>
                    </a:solidFill>
                  </a:tcPr>
                </a:tc>
                <a:extLst>
                  <a:ext uri="{0D108BD9-81ED-4DB2-BD59-A6C34878D82A}">
                    <a16:rowId xmlns:a16="http://schemas.microsoft.com/office/drawing/2014/main" val="10002"/>
                  </a:ext>
                </a:extLst>
              </a:tr>
              <a:tr h="640556">
                <a:tc>
                  <a:txBody>
                    <a:bodyPr/>
                    <a:lstStyle/>
                    <a:p>
                      <a:r>
                        <a:rPr sz="2100" b="0">
                          <a:solidFill>
                            <a:srgbClr val="182934"/>
                          </a:solidFill>
                          <a:latin typeface="Arial"/>
                          <a:ea typeface="Arial"/>
                          <a:cs typeface="Arial"/>
                        </a:rPr>
                        <a:t>post-peak</a:t>
                      </a:r>
                    </a:p>
                  </a:txBody>
                  <a:tcPr marL="142875" marR="142875" marT="114300" marB="114300" anchor="ctr">
                    <a:solidFill>
                      <a:srgbClr val="FFFFFF"/>
                    </a:solidFill>
                  </a:tcPr>
                </a:tc>
                <a:tc>
                  <a:txBody>
                    <a:bodyPr/>
                    <a:lstStyle/>
                    <a:p>
                      <a:r>
                        <a:rPr sz="2100" b="0">
                          <a:solidFill>
                            <a:srgbClr val="182934"/>
                          </a:solidFill>
                          <a:latin typeface="Arial"/>
                          <a:ea typeface="Arial"/>
                          <a:cs typeface="Arial"/>
                        </a:rPr>
                        <a:t>0.101</a:t>
                      </a:r>
                    </a:p>
                  </a:txBody>
                  <a:tcPr marL="142875" marR="142875" marT="114300" marB="114300" anchor="ctr">
                    <a:solidFill>
                      <a:srgbClr val="FFFFFF"/>
                    </a:solidFill>
                  </a:tcPr>
                </a:tc>
                <a:tc>
                  <a:txBody>
                    <a:bodyPr/>
                    <a:lstStyle/>
                    <a:p>
                      <a:r>
                        <a:rPr sz="2100" b="0">
                          <a:solidFill>
                            <a:srgbClr val="182934"/>
                          </a:solidFill>
                          <a:latin typeface="Arial"/>
                          <a:ea typeface="Arial"/>
                          <a:cs typeface="Arial"/>
                        </a:rPr>
                        <a:t>0.054–0.152</a:t>
                      </a:r>
                    </a:p>
                  </a:txBody>
                  <a:tcPr marL="142875" marR="142875"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49D2B879-23C1-41F7-BDA9-C7C64104B0A6}"/>
              </a:ext>
            </a:extLst>
          </p:cNvPr>
          <p:cNvSpPr>
            <a:spLocks noGrp="1"/>
          </p:cNvSpPr>
          <p:nvPr/>
        </p:nvSpPr>
        <p:spPr>
          <a:xfrm>
            <a:off x="533400" y="4962525"/>
            <a:ext cx="11125200" cy="1047750"/>
          </a:xfrm>
          <a:prstGeom prst="rect">
            <a:avLst/>
          </a:prstGeom>
          <a:noFill/>
          <a:ln w="0">
            <a:noFill/>
          </a:ln>
        </p:spPr>
        <p:txBody>
          <a:bodyPr wrap="square" lIns="0" tIns="0" rIns="0" bIns="0" anchor="t">
            <a:noAutofit/>
          </a:bodyPr>
          <a:lstStyle/>
          <a:p>
            <a:pPr algn="l">
              <a:defRPr sz="2175" b="0">
                <a:solidFill>
                  <a:srgbClr val="182934"/>
                </a:solidFill>
                <a:latin typeface="Arial"/>
                <a:ea typeface="Arial"/>
                <a:cs typeface="Arial"/>
              </a:defRPr>
            </a:pPr>
            <a:r>
              <a:rPr sz="2175" b="0">
                <a:solidFill>
                  <a:srgbClr val="182934"/>
                </a:solidFill>
                <a:latin typeface="Arial"/>
                <a:ea typeface="Arial"/>
                <a:cs typeface="Arial"/>
              </a:rPr>
              <a:t>Equal-galaxy weighting; resample whole galaxies.</a:t>
            </a:r>
          </a:p>
          <a:p>
            <a:pPr algn="l">
              <a:defRPr sz="2175" b="0">
                <a:solidFill>
                  <a:srgbClr val="182934"/>
                </a:solidFill>
                <a:latin typeface="Arial"/>
                <a:ea typeface="Arial"/>
                <a:cs typeface="Arial"/>
              </a:defRPr>
            </a:pPr>
            <a:r>
              <a:rPr sz="2175" b="0">
                <a:solidFill>
                  <a:srgbClr val="182934"/>
                </a:solidFill>
                <a:latin typeface="Arial"/>
                <a:ea typeface="Arial"/>
                <a:cs typeface="Arial"/>
              </a:rPr>
              <a:t>The S/N cut is a change of denominator, not a neutral quality filter.</a:t>
            </a:r>
          </a:p>
        </p:txBody>
      </p:sp>
    </p:spTree>
    <p:extLst>
      <p:ext uri="{BB962C8B-B14F-4D97-AF65-F5344CB8AC3E}">
        <p14:creationId xmlns:p14="http://schemas.microsoft.com/office/powerpoint/2010/main" val="261752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D8E536-FB8F-4CA4-B011-22108C8F71A0}"/>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BACKUP B5</a:t>
            </a:r>
          </a:p>
        </p:txBody>
      </p:sp>
      <p:sp>
        <p:nvSpPr>
          <p:cNvPr id="2" name="Rectangle 1">
            <a:extLst>
              <a:ext uri="{FF2B5EF4-FFF2-40B4-BE49-F238E27FC236}">
                <a16:creationId xmlns:a16="http://schemas.microsoft.com/office/drawing/2014/main" id="{84BE6610-1C10-4709-A29D-4E5F7D3746C8}"/>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What CO can and cannot measure</a:t>
            </a:r>
          </a:p>
        </p:txBody>
      </p:sp>
      <p:sp>
        <p:nvSpPr>
          <p:cNvPr id="3" name="Rectangle 2">
            <a:extLst>
              <a:ext uri="{FF2B5EF4-FFF2-40B4-BE49-F238E27FC236}">
                <a16:creationId xmlns:a16="http://schemas.microsoft.com/office/drawing/2014/main" id="{CD9D19BC-D4FB-4741-B05F-DC6B1BE3141C}"/>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2A86D88F-1FA3-4F81-823B-D735671768D9}"/>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23B7996D-6EE9-4606-9E8D-1DFBEB505E9C}"/>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B5</a:t>
            </a:r>
          </a:p>
        </p:txBody>
      </p:sp>
      <p:graphicFrame>
        <p:nvGraphicFramePr>
          <p:cNvPr id="13" name="Table 12"/>
          <p:cNvGraphicFramePr/>
          <p:nvPr/>
        </p:nvGraphicFramePr>
        <p:xfrm>
          <a:off x="533400" y="1905000"/>
          <a:ext cx="11125200" cy="2828924"/>
        </p:xfrm>
        <a:graphic>
          <a:graphicData uri="http://schemas.openxmlformats.org/drawingml/2006/table">
            <a:tbl>
              <a:tblPr/>
              <a:tblGrid>
                <a:gridCol w="5429250">
                  <a:extLst>
                    <a:ext uri="{9D8B030D-6E8A-4147-A177-3AD203B41FA5}">
                      <a16:colId xmlns:a16="http://schemas.microsoft.com/office/drawing/2014/main" val="20000"/>
                    </a:ext>
                  </a:extLst>
                </a:gridCol>
                <a:gridCol w="5695950">
                  <a:extLst>
                    <a:ext uri="{9D8B030D-6E8A-4147-A177-3AD203B41FA5}">
                      <a16:colId xmlns:a16="http://schemas.microsoft.com/office/drawing/2014/main" val="20001"/>
                    </a:ext>
                  </a:extLst>
                </a:gridCol>
              </a:tblGrid>
              <a:tr h="707231">
                <a:tc>
                  <a:txBody>
                    <a:bodyPr/>
                    <a:lstStyle/>
                    <a:p>
                      <a:r>
                        <a:rPr sz="2025" b="1">
                          <a:solidFill>
                            <a:srgbClr val="FFFFFF"/>
                          </a:solidFill>
                          <a:latin typeface="Arial"/>
                          <a:ea typeface="Arial"/>
                          <a:cs typeface="Arial"/>
                        </a:rPr>
                        <a:t>From CO + matched SFR</a:t>
                      </a:r>
                    </a:p>
                  </a:txBody>
                  <a:tcPr marL="142875" marR="142875" marT="114300" marB="114300" anchor="ctr">
                    <a:solidFill>
                      <a:srgbClr val="10222E"/>
                    </a:solidFill>
                  </a:tcPr>
                </a:tc>
                <a:tc>
                  <a:txBody>
                    <a:bodyPr/>
                    <a:lstStyle/>
                    <a:p>
                      <a:r>
                        <a:rPr sz="2025" b="1">
                          <a:solidFill>
                            <a:srgbClr val="FFFFFF"/>
                          </a:solidFill>
                          <a:latin typeface="Arial"/>
                          <a:ea typeface="Arial"/>
                          <a:cs typeface="Arial"/>
                        </a:rPr>
                        <a:t>Still requires additional constraints</a:t>
                      </a:r>
                    </a:p>
                  </a:txBody>
                  <a:tcPr marL="142875" marR="142875" marT="114300" marB="114300" anchor="ctr">
                    <a:solidFill>
                      <a:srgbClr val="10222E"/>
                    </a:solidFill>
                  </a:tcPr>
                </a:tc>
                <a:extLst>
                  <a:ext uri="{0D108BD9-81ED-4DB2-BD59-A6C34878D82A}">
                    <a16:rowId xmlns:a16="http://schemas.microsoft.com/office/drawing/2014/main" val="10000"/>
                  </a:ext>
                </a:extLst>
              </a:tr>
              <a:tr h="707231">
                <a:tc>
                  <a:txBody>
                    <a:bodyPr/>
                    <a:lstStyle/>
                    <a:p>
                      <a:r>
                        <a:rPr sz="2025" b="0">
                          <a:solidFill>
                            <a:srgbClr val="182934"/>
                          </a:solidFill>
                          <a:latin typeface="Arial"/>
                          <a:ea typeface="Arial"/>
                          <a:cs typeface="Arial"/>
                        </a:rPr>
                        <a:t>ΣH₂ after a conversion model</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Replenishment rate into the local reservoir</a:t>
                      </a:r>
                    </a:p>
                  </a:txBody>
                  <a:tcPr marL="142875" marR="142875" marT="114300" marB="114300" anchor="ctr">
                    <a:solidFill>
                      <a:srgbClr val="FFFFFF"/>
                    </a:solidFill>
                  </a:tcPr>
                </a:tc>
                <a:extLst>
                  <a:ext uri="{0D108BD9-81ED-4DB2-BD59-A6C34878D82A}">
                    <a16:rowId xmlns:a16="http://schemas.microsoft.com/office/drawing/2014/main" val="10001"/>
                  </a:ext>
                </a:extLst>
              </a:tr>
              <a:tr h="707231">
                <a:tc>
                  <a:txBody>
                    <a:bodyPr/>
                    <a:lstStyle/>
                    <a:p>
                      <a:r>
                        <a:rPr sz="2025" b="0">
                          <a:solidFill>
                            <a:srgbClr val="182934"/>
                          </a:solidFill>
                          <a:latin typeface="Arial"/>
                          <a:ea typeface="Arial"/>
                          <a:cs typeface="Arial"/>
                        </a:rPr>
                        <a:t>τdep and molecular SFE</a:t>
                      </a:r>
                    </a:p>
                  </a:txBody>
                  <a:tcPr marL="142875" marR="142875" marT="114300" marB="114300" anchor="ctr">
                    <a:solidFill>
                      <a:srgbClr val="F3F5F6"/>
                    </a:solidFill>
                  </a:tcPr>
                </a:tc>
                <a:tc>
                  <a:txBody>
                    <a:bodyPr/>
                    <a:lstStyle/>
                    <a:p>
                      <a:r>
                        <a:rPr sz="2025" b="0">
                          <a:solidFill>
                            <a:srgbClr val="182934"/>
                          </a:solidFill>
                          <a:latin typeface="Arial"/>
                          <a:ea typeface="Arial"/>
                          <a:cs typeface="Arial"/>
                        </a:rPr>
                        <a:t>HI → H₂ conversion rate</a:t>
                      </a:r>
                    </a:p>
                  </a:txBody>
                  <a:tcPr marL="142875" marR="142875" marT="114300" marB="114300" anchor="ctr">
                    <a:solidFill>
                      <a:srgbClr val="F3F5F6"/>
                    </a:solidFill>
                  </a:tcPr>
                </a:tc>
                <a:extLst>
                  <a:ext uri="{0D108BD9-81ED-4DB2-BD59-A6C34878D82A}">
                    <a16:rowId xmlns:a16="http://schemas.microsoft.com/office/drawing/2014/main" val="10002"/>
                  </a:ext>
                </a:extLst>
              </a:tr>
              <a:tr h="707231">
                <a:tc>
                  <a:txBody>
                    <a:bodyPr/>
                    <a:lstStyle/>
                    <a:p>
                      <a:r>
                        <a:rPr sz="2025" b="0">
                          <a:solidFill>
                            <a:srgbClr val="182934"/>
                          </a:solidFill>
                          <a:latin typeface="Arial"/>
                          <a:ea typeface="Arial"/>
                          <a:cs typeface="Arial"/>
                        </a:rPr>
                        <a:t>Molecular spatial structure</a:t>
                      </a:r>
                    </a:p>
                  </a:txBody>
                  <a:tcPr marL="142875" marR="142875" marT="114300" marB="114300" anchor="ctr">
                    <a:solidFill>
                      <a:srgbClr val="FFFFFF"/>
                    </a:solidFill>
                  </a:tcPr>
                </a:tc>
                <a:tc>
                  <a:txBody>
                    <a:bodyPr/>
                    <a:lstStyle/>
                    <a:p>
                      <a:r>
                        <a:rPr sz="2025" b="0">
                          <a:solidFill>
                            <a:srgbClr val="182934"/>
                          </a:solidFill>
                          <a:latin typeface="Arial"/>
                          <a:ea typeface="Arial"/>
                          <a:cs typeface="Arial"/>
                        </a:rPr>
                        <a:t>Transport across a chosen boundary</a:t>
                      </a:r>
                    </a:p>
                  </a:txBody>
                  <a:tcPr marL="142875" marR="142875"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BE75050A-BF58-4281-A253-F62CEDCA9B61}"/>
              </a:ext>
            </a:extLst>
          </p:cNvPr>
          <p:cNvSpPr>
            <a:spLocks noGrp="1"/>
          </p:cNvSpPr>
          <p:nvPr/>
        </p:nvSpPr>
        <p:spPr>
          <a:xfrm>
            <a:off x="533400" y="5334000"/>
            <a:ext cx="11125200" cy="733425"/>
          </a:xfrm>
          <a:prstGeom prst="rect">
            <a:avLst/>
          </a:prstGeom>
          <a:noFill/>
          <a:ln w="0">
            <a:noFill/>
          </a:ln>
        </p:spPr>
        <p:txBody>
          <a:bodyPr wrap="square" lIns="0" tIns="0" rIns="0" bIns="0" anchor="t">
            <a:noAutofit/>
          </a:bodyPr>
          <a:lstStyle/>
          <a:p>
            <a:pPr algn="l">
              <a:defRPr sz="2250" b="0">
                <a:solidFill>
                  <a:srgbClr val="182934"/>
                </a:solidFill>
                <a:latin typeface="Arial"/>
                <a:ea typeface="Arial"/>
                <a:cs typeface="Arial"/>
              </a:defRPr>
            </a:pPr>
            <a:r>
              <a:rPr sz="2250" b="0">
                <a:solidFill>
                  <a:srgbClr val="182934"/>
                </a:solidFill>
                <a:latin typeface="Arial"/>
                <a:ea typeface="Arial"/>
                <a:cs typeface="Arial"/>
              </a:rPr>
              <a:t>Define the reservoir, boundary and gas phase before naming a supply rate.</a:t>
            </a:r>
          </a:p>
        </p:txBody>
      </p:sp>
    </p:spTree>
    <p:extLst>
      <p:ext uri="{BB962C8B-B14F-4D97-AF65-F5344CB8AC3E}">
        <p14:creationId xmlns:p14="http://schemas.microsoft.com/office/powerpoint/2010/main" val="402163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FFAD1DF-D6CD-4076-99C4-09B3B23BCC6E}"/>
              </a:ext>
            </a:extLst>
          </p:cNvPr>
          <p:cNvSpPr>
            <a:spLocks noGrp="1"/>
          </p:cNvSpPr>
          <p:nvPr/>
        </p:nvSpPr>
        <p:spPr>
          <a:xfrm>
            <a:off x="533400" y="266700"/>
            <a:ext cx="11001375" cy="228600"/>
          </a:xfrm>
          <a:prstGeom prst="rect">
            <a:avLst/>
          </a:prstGeom>
          <a:noFill/>
          <a:ln w="0">
            <a:noFill/>
          </a:ln>
        </p:spPr>
        <p:txBody>
          <a:bodyPr wrap="square" lIns="0" tIns="0" rIns="0" bIns="0" anchor="t">
            <a:noAutofit/>
          </a:bodyPr>
          <a:lstStyle/>
          <a:p>
            <a:pPr algn="l">
              <a:defRPr sz="1125" b="1">
                <a:solidFill>
                  <a:srgbClr val="85457F"/>
                </a:solidFill>
                <a:latin typeface="Arial"/>
                <a:ea typeface="Arial"/>
                <a:cs typeface="Arial"/>
              </a:defRPr>
            </a:pPr>
            <a:r>
              <a:rPr sz="1125" b="1">
                <a:solidFill>
                  <a:srgbClr val="85457F"/>
                </a:solidFill>
                <a:latin typeface="Arial"/>
                <a:ea typeface="Arial"/>
                <a:cs typeface="Arial"/>
              </a:rPr>
              <a:t>BACKUP B6</a:t>
            </a:r>
          </a:p>
        </p:txBody>
      </p:sp>
      <p:sp>
        <p:nvSpPr>
          <p:cNvPr id="2" name="Rectangle 1">
            <a:extLst>
              <a:ext uri="{FF2B5EF4-FFF2-40B4-BE49-F238E27FC236}">
                <a16:creationId xmlns:a16="http://schemas.microsoft.com/office/drawing/2014/main" id="{888593B9-C0AF-4DFF-8C5E-4EA8EE326A4A}"/>
              </a:ext>
            </a:extLst>
          </p:cNvPr>
          <p:cNvSpPr>
            <a:spLocks noGrp="1"/>
          </p:cNvSpPr>
          <p:nvPr/>
        </p:nvSpPr>
        <p:spPr>
          <a:xfrm>
            <a:off x="533400" y="676275"/>
            <a:ext cx="11125200" cy="876300"/>
          </a:xfrm>
          <a:prstGeom prst="rect">
            <a:avLst/>
          </a:prstGeom>
          <a:noFill/>
          <a:ln w="0">
            <a:noFill/>
          </a:ln>
        </p:spPr>
        <p:txBody>
          <a:bodyPr wrap="square" lIns="0" tIns="0" rIns="0" bIns="0" anchor="t">
            <a:noAutofit/>
          </a:bodyPr>
          <a:lstStyle/>
          <a:p>
            <a:pPr algn="l">
              <a:defRPr sz="2850" b="1">
                <a:solidFill>
                  <a:srgbClr val="182934"/>
                </a:solidFill>
                <a:latin typeface="Arial"/>
                <a:ea typeface="Arial"/>
                <a:cs typeface="Arial"/>
              </a:defRPr>
            </a:pPr>
            <a:r>
              <a:rPr sz="2850" b="1">
                <a:solidFill>
                  <a:srgbClr val="182934"/>
                </a:solidFill>
                <a:latin typeface="Arial"/>
                <a:ea typeface="Arial"/>
                <a:cs typeface="Arial"/>
              </a:rPr>
              <a:t>References and related MAUVE results</a:t>
            </a:r>
          </a:p>
        </p:txBody>
      </p:sp>
      <p:sp>
        <p:nvSpPr>
          <p:cNvPr id="3" name="Rectangle 2">
            <a:extLst>
              <a:ext uri="{FF2B5EF4-FFF2-40B4-BE49-F238E27FC236}">
                <a16:creationId xmlns:a16="http://schemas.microsoft.com/office/drawing/2014/main" id="{7CF41CE9-7D08-4A41-9288-CB223BB4F1C7}"/>
              </a:ext>
            </a:extLst>
          </p:cNvPr>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
        <p:nvSpPr>
          <p:cNvPr id="4" name="Rectangle 3">
            <a:extLst>
              <a:ext uri="{FF2B5EF4-FFF2-40B4-BE49-F238E27FC236}">
                <a16:creationId xmlns:a16="http://schemas.microsoft.com/office/drawing/2014/main" id="{52EE34B5-2A5B-4AC4-AFF5-E024382A8336}"/>
              </a:ext>
            </a:extLst>
          </p:cNvPr>
          <p:cNvSpPr>
            <a:spLocks noGrp="1"/>
          </p:cNvSpPr>
          <p:nvPr/>
        </p:nvSpPr>
        <p:spPr>
          <a:xfrm>
            <a:off x="533400" y="6543675"/>
            <a:ext cx="9715500" cy="171450"/>
          </a:xfrm>
          <a:prstGeom prst="rect">
            <a:avLst/>
          </a:prstGeom>
          <a:noFill/>
          <a:ln w="0">
            <a:noFill/>
          </a:ln>
        </p:spPr>
        <p:txBody>
          <a:bodyPr wrap="square" lIns="0" tIns="0" rIns="0" bIns="0" anchor="t">
            <a:noAutofit/>
          </a:bodyPr>
          <a:lstStyle/>
          <a:p>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5" name="Rectangle 4">
            <a:extLst>
              <a:ext uri="{FF2B5EF4-FFF2-40B4-BE49-F238E27FC236}">
                <a16:creationId xmlns:a16="http://schemas.microsoft.com/office/drawing/2014/main" id="{EE45D10B-6852-4791-B96A-30D8A62E829C}"/>
              </a:ext>
            </a:extLst>
          </p:cNvPr>
          <p:cNvSpPr>
            <a:spLocks noGrp="1"/>
          </p:cNvSpPr>
          <p:nvPr/>
        </p:nvSpPr>
        <p:spPr>
          <a:xfrm>
            <a:off x="11096625" y="6515100"/>
            <a:ext cx="552450" cy="228600"/>
          </a:xfrm>
          <a:prstGeom prst="rect">
            <a:avLst/>
          </a:prstGeom>
          <a:noFill/>
          <a:ln w="0">
            <a:noFill/>
          </a:ln>
        </p:spPr>
        <p:txBody>
          <a:bodyPr wrap="square" lIns="0" tIns="0" rIns="0" bIns="0" anchor="t">
            <a:noAutofit/>
          </a:bodyPr>
          <a:lstStyle/>
          <a:p>
            <a:pPr algn="r">
              <a:defRPr sz="1200" b="0">
                <a:solidFill>
                  <a:srgbClr val="52636C"/>
                </a:solidFill>
                <a:latin typeface="Arial"/>
                <a:ea typeface="Arial"/>
                <a:cs typeface="Arial"/>
              </a:defRPr>
            </a:pPr>
            <a:r>
              <a:rPr sz="1200" b="0">
                <a:solidFill>
                  <a:srgbClr val="52636C"/>
                </a:solidFill>
                <a:latin typeface="Arial"/>
                <a:ea typeface="Arial"/>
                <a:cs typeface="Arial"/>
              </a:rPr>
              <a:t>B6</a:t>
            </a:r>
          </a:p>
        </p:txBody>
      </p:sp>
      <p:graphicFrame>
        <p:nvGraphicFramePr>
          <p:cNvPr id="14" name="Table 13"/>
          <p:cNvGraphicFramePr/>
          <p:nvPr/>
        </p:nvGraphicFramePr>
        <p:xfrm>
          <a:off x="533400" y="1581150"/>
          <a:ext cx="11125200" cy="4048128"/>
        </p:xfrm>
        <a:graphic>
          <a:graphicData uri="http://schemas.openxmlformats.org/drawingml/2006/table">
            <a:tbl>
              <a:tblPr/>
              <a:tblGrid>
                <a:gridCol w="2857500">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449792">
                <a:tc>
                  <a:txBody>
                    <a:bodyPr/>
                    <a:lstStyle/>
                    <a:p>
                      <a:r>
                        <a:rPr sz="1050" b="1">
                          <a:solidFill>
                            <a:srgbClr val="FFFFFF"/>
                          </a:solidFill>
                          <a:latin typeface="Arial"/>
                          <a:ea typeface="Arial"/>
                          <a:cs typeface="Arial"/>
                        </a:rPr>
                        <a:t>Study</a:t>
                      </a:r>
                    </a:p>
                  </a:txBody>
                  <a:tcPr marL="142875" marR="142875" marT="114300" marB="114300" anchor="ctr">
                    <a:solidFill>
                      <a:srgbClr val="10222E"/>
                    </a:solidFill>
                  </a:tcPr>
                </a:tc>
                <a:tc>
                  <a:txBody>
                    <a:bodyPr/>
                    <a:lstStyle/>
                    <a:p>
                      <a:r>
                        <a:rPr sz="1050" b="1">
                          <a:solidFill>
                            <a:srgbClr val="FFFFFF"/>
                          </a:solidFill>
                          <a:latin typeface="Arial"/>
                          <a:ea typeface="Arial"/>
                          <a:cs typeface="Arial"/>
                        </a:rPr>
                        <a:t>Topic</a:t>
                      </a:r>
                    </a:p>
                  </a:txBody>
                  <a:tcPr marL="142875" marR="142875" marT="114300" marB="114300" anchor="ctr">
                    <a:solidFill>
                      <a:srgbClr val="10222E"/>
                    </a:solidFill>
                  </a:tcPr>
                </a:tc>
                <a:tc>
                  <a:txBody>
                    <a:bodyPr/>
                    <a:lstStyle/>
                    <a:p>
                      <a:r>
                        <a:rPr sz="1050" b="1">
                          <a:solidFill>
                            <a:srgbClr val="FFFFFF"/>
                          </a:solidFill>
                          <a:latin typeface="Arial"/>
                          <a:ea typeface="Arial"/>
                          <a:cs typeface="Arial"/>
                        </a:rPr>
                        <a:t>Link / reference</a:t>
                      </a:r>
                    </a:p>
                  </a:txBody>
                  <a:tcPr marL="142875" marR="142875" marT="114300" marB="114300" anchor="ctr">
                    <a:solidFill>
                      <a:srgbClr val="10222E"/>
                    </a:solidFill>
                  </a:tcPr>
                </a:tc>
                <a:extLst>
                  <a:ext uri="{0D108BD9-81ED-4DB2-BD59-A6C34878D82A}">
                    <a16:rowId xmlns:a16="http://schemas.microsoft.com/office/drawing/2014/main" val="10000"/>
                  </a:ext>
                </a:extLst>
              </a:tr>
              <a:tr h="449792">
                <a:tc>
                  <a:txBody>
                    <a:bodyPr/>
                    <a:lstStyle/>
                    <a:p>
                      <a:r>
                        <a:rPr sz="1050" b="0">
                          <a:solidFill>
                            <a:srgbClr val="182934"/>
                          </a:solidFill>
                          <a:latin typeface="Arial"/>
                          <a:ea typeface="Arial"/>
                          <a:cs typeface="Arial"/>
                        </a:rPr>
                        <a:t>Catinella et al. 2025</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MAUVE survey</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doi.org/10.18727/0722-6691/5393</a:t>
                      </a:r>
                    </a:p>
                  </a:txBody>
                  <a:tcPr marL="142875" marR="142875" marT="114300" marB="114300" anchor="ctr">
                    <a:solidFill>
                      <a:srgbClr val="FFFFFF"/>
                    </a:solidFill>
                  </a:tcPr>
                </a:tc>
                <a:extLst>
                  <a:ext uri="{0D108BD9-81ED-4DB2-BD59-A6C34878D82A}">
                    <a16:rowId xmlns:a16="http://schemas.microsoft.com/office/drawing/2014/main" val="10001"/>
                  </a:ext>
                </a:extLst>
              </a:tr>
              <a:tr h="449792">
                <a:tc>
                  <a:txBody>
                    <a:bodyPr/>
                    <a:lstStyle/>
                    <a:p>
                      <a:r>
                        <a:rPr sz="1050" b="0">
                          <a:solidFill>
                            <a:srgbClr val="182934"/>
                          </a:solidFill>
                          <a:latin typeface="Arial"/>
                          <a:ea typeface="Arial"/>
                          <a:cs typeface="Arial"/>
                        </a:rPr>
                        <a:t>Watts et al. 2024</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NGC4383 ionized outflow</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MNRAS 530, 1968</a:t>
                      </a:r>
                    </a:p>
                  </a:txBody>
                  <a:tcPr marL="142875" marR="142875" marT="114300" marB="114300" anchor="ctr">
                    <a:solidFill>
                      <a:srgbClr val="F3F5F6"/>
                    </a:solidFill>
                  </a:tcPr>
                </a:tc>
                <a:extLst>
                  <a:ext uri="{0D108BD9-81ED-4DB2-BD59-A6C34878D82A}">
                    <a16:rowId xmlns:a16="http://schemas.microsoft.com/office/drawing/2014/main" val="10002"/>
                  </a:ext>
                </a:extLst>
              </a:tr>
              <a:tr h="449792">
                <a:tc>
                  <a:txBody>
                    <a:bodyPr/>
                    <a:lstStyle/>
                    <a:p>
                      <a:r>
                        <a:rPr sz="1050" b="0">
                          <a:solidFill>
                            <a:srgbClr val="182934"/>
                          </a:solidFill>
                          <a:latin typeface="Arial"/>
                          <a:ea typeface="Arial"/>
                          <a:cs typeface="Arial"/>
                        </a:rPr>
                        <a:t>Cortese et al. 2026</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NGC4383 cold gas / fountain</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arxiv.org/abs/2602.01612</a:t>
                      </a:r>
                    </a:p>
                  </a:txBody>
                  <a:tcPr marL="142875" marR="142875" marT="114300" marB="114300" anchor="ctr">
                    <a:solidFill>
                      <a:srgbClr val="FFFFFF"/>
                    </a:solidFill>
                  </a:tcPr>
                </a:tc>
                <a:extLst>
                  <a:ext uri="{0D108BD9-81ED-4DB2-BD59-A6C34878D82A}">
                    <a16:rowId xmlns:a16="http://schemas.microsoft.com/office/drawing/2014/main" val="10003"/>
                  </a:ext>
                </a:extLst>
              </a:tr>
              <a:tr h="449792">
                <a:tc>
                  <a:txBody>
                    <a:bodyPr/>
                    <a:lstStyle/>
                    <a:p>
                      <a:r>
                        <a:rPr sz="1050" b="0">
                          <a:solidFill>
                            <a:srgbClr val="182934"/>
                          </a:solidFill>
                          <a:latin typeface="Arial"/>
                          <a:ea typeface="Arial"/>
                          <a:cs typeface="Arial"/>
                        </a:rPr>
                        <a:t>Attwater et al. 2026</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NGC4064 outflow</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arxiv.org/abs/2512.10574</a:t>
                      </a:r>
                    </a:p>
                  </a:txBody>
                  <a:tcPr marL="142875" marR="142875" marT="114300" marB="114300" anchor="ctr">
                    <a:solidFill>
                      <a:srgbClr val="F3F5F6"/>
                    </a:solidFill>
                  </a:tcPr>
                </a:tc>
                <a:extLst>
                  <a:ext uri="{0D108BD9-81ED-4DB2-BD59-A6C34878D82A}">
                    <a16:rowId xmlns:a16="http://schemas.microsoft.com/office/drawing/2014/main" val="10004"/>
                  </a:ext>
                </a:extLst>
              </a:tr>
              <a:tr h="449792">
                <a:tc>
                  <a:txBody>
                    <a:bodyPr/>
                    <a:lstStyle/>
                    <a:p>
                      <a:r>
                        <a:rPr sz="1050" b="0">
                          <a:solidFill>
                            <a:srgbClr val="182934"/>
                          </a:solidFill>
                          <a:latin typeface="Arial"/>
                          <a:ea typeface="Arial"/>
                          <a:cs typeface="Arial"/>
                        </a:rPr>
                        <a:t>Brown et al. 2026</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Ionization and kinematics</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arxiv.org/abs/2604.20056</a:t>
                      </a:r>
                    </a:p>
                  </a:txBody>
                  <a:tcPr marL="142875" marR="142875" marT="114300" marB="114300" anchor="ctr">
                    <a:solidFill>
                      <a:srgbClr val="FFFFFF"/>
                    </a:solidFill>
                  </a:tcPr>
                </a:tc>
                <a:extLst>
                  <a:ext uri="{0D108BD9-81ED-4DB2-BD59-A6C34878D82A}">
                    <a16:rowId xmlns:a16="http://schemas.microsoft.com/office/drawing/2014/main" val="10005"/>
                  </a:ext>
                </a:extLst>
              </a:tr>
              <a:tr h="449792">
                <a:tc>
                  <a:txBody>
                    <a:bodyPr/>
                    <a:lstStyle/>
                    <a:p>
                      <a:r>
                        <a:rPr sz="1050" b="0">
                          <a:solidFill>
                            <a:srgbClr val="182934"/>
                          </a:solidFill>
                          <a:latin typeface="Arial"/>
                          <a:ea typeface="Arial"/>
                          <a:cs typeface="Arial"/>
                        </a:rPr>
                        <a:t>Forbes et al. 2014</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Stochastic regulator / FMR</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doi.org/10.1093/mnras/stu1142</a:t>
                      </a:r>
                    </a:p>
                  </a:txBody>
                  <a:tcPr marL="142875" marR="142875" marT="114300" marB="114300" anchor="ctr">
                    <a:solidFill>
                      <a:srgbClr val="F3F5F6"/>
                    </a:solidFill>
                  </a:tcPr>
                </a:tc>
                <a:extLst>
                  <a:ext uri="{0D108BD9-81ED-4DB2-BD59-A6C34878D82A}">
                    <a16:rowId xmlns:a16="http://schemas.microsoft.com/office/drawing/2014/main" val="10006"/>
                  </a:ext>
                </a:extLst>
              </a:tr>
              <a:tr h="449792">
                <a:tc>
                  <a:txBody>
                    <a:bodyPr/>
                    <a:lstStyle/>
                    <a:p>
                      <a:r>
                        <a:rPr sz="1050" b="0">
                          <a:solidFill>
                            <a:srgbClr val="182934"/>
                          </a:solidFill>
                          <a:latin typeface="Arial"/>
                          <a:ea typeface="Arial"/>
                          <a:cs typeface="Arial"/>
                        </a:rPr>
                        <a:t>Wang &amp; Lilly 2021</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Inflow versus SFE variability</a:t>
                      </a:r>
                    </a:p>
                  </a:txBody>
                  <a:tcPr marL="142875" marR="142875" marT="114300" marB="114300" anchor="ctr">
                    <a:solidFill>
                      <a:srgbClr val="FFFFFF"/>
                    </a:solidFill>
                  </a:tcPr>
                </a:tc>
                <a:tc>
                  <a:txBody>
                    <a:bodyPr/>
                    <a:lstStyle/>
                    <a:p>
                      <a:r>
                        <a:rPr sz="1050" b="0">
                          <a:solidFill>
                            <a:srgbClr val="182934"/>
                          </a:solidFill>
                          <a:latin typeface="Arial"/>
                          <a:ea typeface="Arial"/>
                          <a:cs typeface="Arial"/>
                        </a:rPr>
                        <a:t>doi.org/10.3847/1538-4357/abe413</a:t>
                      </a:r>
                    </a:p>
                  </a:txBody>
                  <a:tcPr marL="142875" marR="142875" marT="114300" marB="114300" anchor="ctr">
                    <a:solidFill>
                      <a:srgbClr val="FFFFFF"/>
                    </a:solidFill>
                  </a:tcPr>
                </a:tc>
                <a:extLst>
                  <a:ext uri="{0D108BD9-81ED-4DB2-BD59-A6C34878D82A}">
                    <a16:rowId xmlns:a16="http://schemas.microsoft.com/office/drawing/2014/main" val="10007"/>
                  </a:ext>
                </a:extLst>
              </a:tr>
              <a:tr h="449792">
                <a:tc>
                  <a:txBody>
                    <a:bodyPr/>
                    <a:lstStyle/>
                    <a:p>
                      <a:r>
                        <a:rPr sz="1050" b="0">
                          <a:solidFill>
                            <a:srgbClr val="182934"/>
                          </a:solidFill>
                          <a:latin typeface="Arial"/>
                          <a:ea typeface="Arial"/>
                          <a:cs typeface="Arial"/>
                        </a:rPr>
                        <a:t>Huang et al. 2026</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Metallicity–SFR inversion</a:t>
                      </a:r>
                    </a:p>
                  </a:txBody>
                  <a:tcPr marL="142875" marR="142875" marT="114300" marB="114300" anchor="ctr">
                    <a:solidFill>
                      <a:srgbClr val="F3F5F6"/>
                    </a:solidFill>
                  </a:tcPr>
                </a:tc>
                <a:tc>
                  <a:txBody>
                    <a:bodyPr/>
                    <a:lstStyle/>
                    <a:p>
                      <a:r>
                        <a:rPr sz="1050" b="0">
                          <a:solidFill>
                            <a:srgbClr val="182934"/>
                          </a:solidFill>
                          <a:latin typeface="Arial"/>
                          <a:ea typeface="Arial"/>
                          <a:cs typeface="Arial"/>
                        </a:rPr>
                        <a:t>arxiv.org/abs/2605.31412</a:t>
                      </a:r>
                    </a:p>
                  </a:txBody>
                  <a:tcPr marL="142875" marR="142875" marT="114300" marB="114300" anchor="ctr">
                    <a:solidFill>
                      <a:srgbClr val="F3F5F6"/>
                    </a:solidFill>
                  </a:tcPr>
                </a:tc>
                <a:extLst>
                  <a:ext uri="{0D108BD9-81ED-4DB2-BD59-A6C34878D82A}">
                    <a16:rowId xmlns:a16="http://schemas.microsoft.com/office/drawing/2014/main" val="10008"/>
                  </a:ext>
                </a:extLst>
              </a:tr>
            </a:tbl>
          </a:graphicData>
        </a:graphic>
      </p:graphicFrame>
      <p:sp>
        <p:nvSpPr>
          <p:cNvPr id="7" name="Rectangle 6">
            <a:extLst>
              <a:ext uri="{FF2B5EF4-FFF2-40B4-BE49-F238E27FC236}">
                <a16:creationId xmlns:a16="http://schemas.microsoft.com/office/drawing/2014/main" id="{EBACB466-3819-4F7C-8DA0-FB583F07F683}"/>
              </a:ext>
            </a:extLst>
          </p:cNvPr>
          <p:cNvSpPr>
            <a:spLocks noGrp="1"/>
          </p:cNvSpPr>
          <p:nvPr/>
        </p:nvSpPr>
        <p:spPr>
          <a:xfrm>
            <a:off x="533400" y="5743575"/>
            <a:ext cx="11125200" cy="304800"/>
          </a:xfrm>
          <a:prstGeom prst="rect">
            <a:avLst/>
          </a:prstGeom>
          <a:noFill/>
          <a:ln w="0">
            <a:noFill/>
          </a:ln>
        </p:spPr>
        <p:txBody>
          <a:bodyPr wrap="square" lIns="0" tIns="0" rIns="0" bIns="0" anchor="t">
            <a:noAutofit/>
          </a:bodyPr>
          <a:lstStyle/>
          <a:p>
            <a:pPr algn="l">
              <a:defRPr sz="1650" b="1">
                <a:solidFill>
                  <a:srgbClr val="85457F"/>
                </a:solidFill>
                <a:latin typeface="Arial"/>
                <a:ea typeface="Arial"/>
                <a:cs typeface="Arial"/>
              </a:defRPr>
            </a:pPr>
            <a:r>
              <a:rPr sz="1650" b="1">
                <a:solidFill>
                  <a:srgbClr val="85457F"/>
                </a:solidFill>
                <a:latin typeface="Arial"/>
                <a:ea typeface="Arial"/>
                <a:cs typeface="Arial"/>
              </a:rPr>
              <a:t>MAUVE publications: mauve.icrar.org/publications.html</a:t>
            </a:r>
          </a:p>
        </p:txBody>
      </p:sp>
      <p:sp>
        <p:nvSpPr>
          <p:cNvPr id="8" name="Rectangle 7">
            <a:extLst>
              <a:ext uri="{FF2B5EF4-FFF2-40B4-BE49-F238E27FC236}">
                <a16:creationId xmlns:a16="http://schemas.microsoft.com/office/drawing/2014/main" id="{F26555FB-EA27-4989-A666-2049424CC95B}"/>
              </a:ext>
            </a:extLst>
          </p:cNvPr>
          <p:cNvSpPr>
            <a:spLocks noGrp="1"/>
          </p:cNvSpPr>
          <p:nvPr/>
        </p:nvSpPr>
        <p:spPr>
          <a:xfrm>
            <a:off x="533400" y="6105525"/>
            <a:ext cx="11125200" cy="295275"/>
          </a:xfrm>
          <a:prstGeom prst="rect">
            <a:avLst/>
          </a:prstGeom>
          <a:noFill/>
          <a:ln w="0">
            <a:noFill/>
          </a:ln>
        </p:spPr>
        <p:txBody>
          <a:bodyPr wrap="square" lIns="0" tIns="0" rIns="0" bIns="0" anchor="t">
            <a:noAutofit/>
          </a:bodyPr>
          <a:lstStyle/>
          <a:p>
            <a:pPr algn="l">
              <a:defRPr sz="1275" b="0">
                <a:solidFill>
                  <a:srgbClr val="52636C"/>
                </a:solidFill>
                <a:latin typeface="Arial"/>
                <a:ea typeface="Arial"/>
                <a:cs typeface="Arial"/>
              </a:defRPr>
            </a:pPr>
            <a:r>
              <a:rPr sz="1275" b="0">
                <a:solidFill>
                  <a:srgbClr val="52636C"/>
                </a:solidFill>
                <a:latin typeface="Arial"/>
                <a:ea typeface="Arial"/>
                <a:cs typeface="Arial"/>
              </a:rPr>
              <a:t>September occupancy snapshot and local source paths are documented in the notes and accompanying outline.</a:t>
            </a:r>
          </a:p>
        </p:txBody>
      </p:sp>
    </p:spTree>
    <p:extLst>
      <p:ext uri="{BB962C8B-B14F-4D97-AF65-F5344CB8AC3E}">
        <p14:creationId xmlns:p14="http://schemas.microsoft.com/office/powerpoint/2010/main" val="1340338094"/>
      </p:ext>
    </p:extLst>
  </p:cSld>
  <p:clrMapOvr>
    <a:masterClrMapping/>
  </p:clrMapOvr>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nvironment-section">
            <a:extLst xmlns:a="http://schemas.openxmlformats.org/drawingml/2006/main">
              <a:ext uri="{FF2B5EF4-FFF2-40B4-BE49-F238E27FC236}">
                <a16:creationId xmlns:a16="http://schemas.microsoft.com/office/drawing/2014/main" id="{CB2B0396-C366-4CB7-AF47-1A7F28BA0967}"/>
              </a:ext>
            </a:extLst>
          </p:cNvPr>
          <p:cNvSpPr>
            <a:spLocks xmlns:a="http://schemas.openxmlformats.org/drawingml/2006/main" noGrp="1"/>
          </p:cNvSpPr>
          <p:nvPr/>
        </p:nvSpPr>
        <p:spPr>
          <a:xfrm xmlns:a="http://schemas.openxmlformats.org/drawingml/2006/main">
            <a:off x="533400" y="266700"/>
            <a:ext cx="11001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125" b="1">
                <a:solidFill>
                  <a:srgbClr val="85457F"/>
                </a:solidFill>
                <a:latin typeface="Arial"/>
                <a:ea typeface="Arial"/>
                <a:cs typeface="Arial"/>
              </a:defRPr>
            </a:pPr>
            <a:r>
              <a:rPr sz="1125" b="1">
                <a:solidFill>
                  <a:srgbClr val="85457F"/>
                </a:solidFill>
                <a:latin typeface="Arial"/>
                <a:ea typeface="Arial"/>
                <a:cs typeface="Arial"/>
              </a:rPr>
              <a:t>WHY CLUSTER GALAXIES?</a:t>
            </a:r>
          </a:p>
        </p:txBody>
      </p:sp>
      <p:sp>
        <p:nvSpPr>
          <p:cNvPr id="2" name="environment-title">
            <a:extLst xmlns:a="http://schemas.openxmlformats.org/drawingml/2006/main">
              <a:ext uri="{FF2B5EF4-FFF2-40B4-BE49-F238E27FC236}">
                <a16:creationId xmlns:a16="http://schemas.microsoft.com/office/drawing/2014/main" id="{86970993-C390-4313-B492-66B3D181AE59}"/>
              </a:ext>
            </a:extLst>
          </p:cNvPr>
          <p:cNvSpPr>
            <a:spLocks xmlns:a="http://schemas.openxmlformats.org/drawingml/2006/main" noGrp="1"/>
          </p:cNvSpPr>
          <p:nvPr/>
        </p:nvSpPr>
        <p:spPr>
          <a:xfrm xmlns:a="http://schemas.openxmlformats.org/drawingml/2006/main">
            <a:off x="533400" y="6762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850" b="1">
                <a:solidFill>
                  <a:srgbClr val="182934"/>
                </a:solidFill>
                <a:latin typeface="Arial"/>
                <a:ea typeface="Arial"/>
                <a:cs typeface="Arial"/>
              </a:defRPr>
            </a:pPr>
            <a:r>
              <a:rPr sz="2850" b="1">
                <a:solidFill>
                  <a:srgbClr val="182934"/>
                </a:solidFill>
                <a:latin typeface="Arial"/>
                <a:ea typeface="Arial"/>
                <a:cs typeface="Arial"/>
              </a:rPr>
              <a:t>Environment changes the local gas cycle</a:t>
            </a:r>
          </a:p>
        </p:txBody>
      </p:sp>
      <p:sp>
        <p:nvSpPr>
          <p:cNvPr id="3" name="environment-context">
            <a:extLst xmlns:a="http://schemas.openxmlformats.org/drawingml/2006/main">
              <a:ext uri="{FF2B5EF4-FFF2-40B4-BE49-F238E27FC236}">
                <a16:creationId xmlns:a16="http://schemas.microsoft.com/office/drawing/2014/main" id="{72BBC122-EE79-4807-956B-871D381719CC}"/>
              </a:ext>
            </a:extLst>
          </p:cNvPr>
          <p:cNvSpPr>
            <a:spLocks xmlns:a="http://schemas.openxmlformats.org/drawingml/2006/main" noGrp="1"/>
          </p:cNvSpPr>
          <p:nvPr/>
        </p:nvSpPr>
        <p:spPr>
          <a:xfrm xmlns:a="http://schemas.openxmlformats.org/drawingml/2006/main">
            <a:off x="533400" y="1628775"/>
            <a:ext cx="617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Most galaxies live outside clusters.</a:t>
            </a:r>
          </a:p>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~10% inhabit clusters today (model estimate).*</a:t>
            </a:r>
          </a:p>
        </p:txBody>
      </p:sp>
      <p:sp>
        <p:nvSpPr>
          <p:cNvPr id="4" name="integrated-evidence">
            <a:extLst xmlns:a="http://schemas.openxmlformats.org/drawingml/2006/main">
              <a:ext uri="{FF2B5EF4-FFF2-40B4-BE49-F238E27FC236}">
                <a16:creationId xmlns:a16="http://schemas.microsoft.com/office/drawing/2014/main" id="{1BD78514-5ABB-4D1F-9895-19E2CDD4FF8A}"/>
              </a:ext>
            </a:extLst>
          </p:cNvPr>
          <p:cNvSpPr>
            <a:spLocks xmlns:a="http://schemas.openxmlformats.org/drawingml/2006/main" noGrp="1"/>
          </p:cNvSpPr>
          <p:nvPr/>
        </p:nvSpPr>
        <p:spPr>
          <a:xfrm xmlns:a="http://schemas.openxmlformats.org/drawingml/2006/main">
            <a:off x="533400" y="2552700"/>
            <a:ext cx="619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Integrated surveys establish that environment</a:t>
            </a:r>
          </a:p>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changes gas content and star formation, but</a:t>
            </a:r>
          </a:p>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cannot locate the affected processes.</a:t>
            </a:r>
          </a:p>
        </p:txBody>
      </p:sp>
      <p:sp>
        <p:nvSpPr>
          <p:cNvPr id="5" name="remaining-disc-question">
            <a:extLst xmlns:a="http://schemas.openxmlformats.org/drawingml/2006/main">
              <a:ext uri="{FF2B5EF4-FFF2-40B4-BE49-F238E27FC236}">
                <a16:creationId xmlns:a16="http://schemas.microsoft.com/office/drawing/2014/main" id="{6A304E81-3429-4320-ACB8-9DDB664579A7}"/>
              </a:ext>
            </a:extLst>
          </p:cNvPr>
          <p:cNvSpPr>
            <a:spLocks xmlns:a="http://schemas.openxmlformats.org/drawingml/2006/main" noGrp="1"/>
          </p:cNvSpPr>
          <p:nvPr/>
        </p:nvSpPr>
        <p:spPr>
          <a:xfrm xmlns:a="http://schemas.openxmlformats.org/drawingml/2006/main">
            <a:off x="533400" y="3600450"/>
            <a:ext cx="6191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b="1">
                <a:solidFill>
                  <a:srgbClr val="85457F"/>
                </a:solidFill>
                <a:latin typeface="Arial"/>
                <a:ea typeface="Arial"/>
                <a:cs typeface="Arial"/>
              </a:defRPr>
            </a:pPr>
            <a:r>
              <a:rPr sz="2400" b="1">
                <a:solidFill>
                  <a:srgbClr val="85457F"/>
                </a:solidFill>
                <a:latin typeface="Arial"/>
                <a:ea typeface="Arial"/>
                <a:cs typeface="Arial"/>
              </a:rPr>
              <a:t>What happens inside</a:t>
            </a:r>
          </a:p>
          <a:p xmlns:a="http://schemas.openxmlformats.org/drawingml/2006/main">
            <a:pPr algn="l">
              <a:defRPr sz="2400" b="1">
                <a:solidFill>
                  <a:srgbClr val="85457F"/>
                </a:solidFill>
                <a:latin typeface="Arial"/>
                <a:ea typeface="Arial"/>
                <a:cs typeface="Arial"/>
              </a:defRPr>
            </a:pPr>
            <a:r>
              <a:rPr sz="2400" b="1">
                <a:solidFill>
                  <a:srgbClr val="85457F"/>
                </a:solidFill>
                <a:latin typeface="Arial"/>
                <a:ea typeface="Arial"/>
                <a:cs typeface="Arial"/>
              </a:rPr>
              <a:t>the remaining disc?</a:t>
            </a:r>
          </a:p>
        </p:txBody>
      </p:sp>
      <p:sp>
        <p:nvSpPr>
          <p:cNvPr id="6" name="surviving-sf">
            <a:extLst xmlns:a="http://schemas.openxmlformats.org/drawingml/2006/main">
              <a:ext uri="{FF2B5EF4-FFF2-40B4-BE49-F238E27FC236}">
                <a16:creationId xmlns:a16="http://schemas.microsoft.com/office/drawing/2014/main" id="{3B8B344B-9B20-435C-A723-F57AB08ACB8F}"/>
              </a:ext>
            </a:extLst>
          </p:cNvPr>
          <p:cNvSpPr>
            <a:spLocks xmlns:a="http://schemas.openxmlformats.org/drawingml/2006/main" noGrp="1"/>
          </p:cNvSpPr>
          <p:nvPr/>
        </p:nvSpPr>
        <p:spPr>
          <a:xfrm xmlns:a="http://schemas.openxmlformats.org/drawingml/2006/main">
            <a:off x="533400" y="45910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Where does star formation survive?</a:t>
            </a:r>
          </a:p>
        </p:txBody>
      </p:sp>
      <p:sp>
        <p:nvSpPr>
          <p:cNvPr id="7" name="gas-supply">
            <a:extLst xmlns:a="http://schemas.openxmlformats.org/drawingml/2006/main">
              <a:ext uri="{FF2B5EF4-FFF2-40B4-BE49-F238E27FC236}">
                <a16:creationId xmlns:a16="http://schemas.microsoft.com/office/drawing/2014/main" id="{EDC74A03-9CCA-4A00-833A-448C05CE43E4}"/>
              </a:ext>
            </a:extLst>
          </p:cNvPr>
          <p:cNvSpPr>
            <a:spLocks xmlns:a="http://schemas.openxmlformats.org/drawingml/2006/main" noGrp="1"/>
          </p:cNvSpPr>
          <p:nvPr/>
        </p:nvSpPr>
        <p:spPr>
          <a:xfrm xmlns:a="http://schemas.openxmlformats.org/drawingml/2006/main">
            <a:off x="5334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How is the gas replenished?</a:t>
            </a:r>
          </a:p>
        </p:txBody>
      </p:sp>
      <p:sp>
        <p:nvSpPr>
          <p:cNvPr id="8" name="enrichment">
            <a:extLst xmlns:a="http://schemas.openxmlformats.org/drawingml/2006/main">
              <a:ext uri="{FF2B5EF4-FFF2-40B4-BE49-F238E27FC236}">
                <a16:creationId xmlns:a16="http://schemas.microsoft.com/office/drawing/2014/main" id="{AFF59959-31C0-4E22-BC69-CD406EF36F0E}"/>
              </a:ext>
            </a:extLst>
          </p:cNvPr>
          <p:cNvSpPr>
            <a:spLocks xmlns:a="http://schemas.openxmlformats.org/drawingml/2006/main" noGrp="1"/>
          </p:cNvSpPr>
          <p:nvPr/>
        </p:nvSpPr>
        <p:spPr>
          <a:xfrm xmlns:a="http://schemas.openxmlformats.org/drawingml/2006/main">
            <a:off x="533400" y="54483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182934"/>
                </a:solidFill>
                <a:latin typeface="Arial"/>
                <a:ea typeface="Arial"/>
                <a:cs typeface="Arial"/>
              </a:defRPr>
            </a:pPr>
            <a:r>
              <a:rPr sz="1800" b="0">
                <a:solidFill>
                  <a:srgbClr val="182934"/>
                </a:solidFill>
                <a:latin typeface="Arial"/>
                <a:ea typeface="Arial"/>
                <a:cs typeface="Arial"/>
              </a:rPr>
              <a:t>When does enrichment dominate?</a:t>
            </a:r>
          </a:p>
        </p:txBody>
      </p:sp>
      <p:sp>
        <p:nvSpPr>
          <p:cNvPr id="9" name="fraction-reference">
            <a:extLst xmlns:a="http://schemas.openxmlformats.org/drawingml/2006/main">
              <a:ext uri="{FF2B5EF4-FFF2-40B4-BE49-F238E27FC236}">
                <a16:creationId xmlns:a16="http://schemas.microsoft.com/office/drawing/2014/main" id="{7B3AD7C0-CD60-4181-9A2A-6CB7649A2053}"/>
              </a:ext>
            </a:extLst>
          </p:cNvPr>
          <p:cNvSpPr>
            <a:spLocks xmlns:a="http://schemas.openxmlformats.org/drawingml/2006/main" noGrp="1"/>
          </p:cNvSpPr>
          <p:nvPr/>
        </p:nvSpPr>
        <p:spPr>
          <a:xfrm xmlns:a="http://schemas.openxmlformats.org/drawingml/2006/main">
            <a:off x="533400" y="599122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050" b="0">
                <a:solidFill>
                  <a:srgbClr val="52636C"/>
                </a:solidFill>
                <a:latin typeface="Arial"/>
                <a:ea typeface="Arial"/>
                <a:cs typeface="Arial"/>
              </a:defRPr>
            </a:pPr>
            <a:r>
              <a:rPr sz="1050" b="0">
                <a:solidFill>
                  <a:srgbClr val="52636C"/>
                </a:solidFill>
                <a:latin typeface="Arial"/>
                <a:ea typeface="Arial"/>
                <a:cs typeface="Arial"/>
              </a:rPr>
              <a:t>*De Lucia et al. 2012: z~0 model, cluster haloes &gt;~10^14 solar masses.</a:t>
            </a:r>
          </a:p>
          <a:p xmlns:a="http://schemas.openxmlformats.org/drawingml/2006/main">
            <a:pPr algn="l">
              <a:defRPr sz="1050" b="0">
                <a:solidFill>
                  <a:srgbClr val="52636C"/>
                </a:solidFill>
                <a:latin typeface="Arial"/>
                <a:ea typeface="Arial"/>
                <a:cs typeface="Arial"/>
              </a:defRPr>
            </a:pPr>
            <a:r>
              <a:rPr sz="1050" b="0">
                <a:solidFill>
                  <a:srgbClr val="52636C"/>
                </a:solidFill>
                <a:latin typeface="Arial"/>
                <a:ea typeface="Arial"/>
                <a:cs typeface="Arial"/>
              </a:rPr>
              <a:t>Environment fractions depend on the sample and definition.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9b42e97db564b0b"/>
          <a:stretch xmlns:a="http://schemas.openxmlformats.org/drawingml/2006/main"/>
        </p:blipFill>
        <p:spPr>
          <a:xfrm xmlns:a="http://schemas.openxmlformats.org/drawingml/2006/main">
            <a:off x="7086600" y="1533090"/>
            <a:ext cx="4476750" cy="4591920"/>
          </a:xfrm>
          <a:prstGeom xmlns:a="http://schemas.openxmlformats.org/drawingml/2006/main" prst="rect">
            <a:avLst/>
          </a:prstGeom>
        </p:spPr>
      </p:pic>
      <p:sp>
        <p:nvSpPr>
          <p:cNvPr id="11" name="image-credit">
            <a:extLst xmlns:a="http://schemas.openxmlformats.org/drawingml/2006/main">
              <a:ext uri="{FF2B5EF4-FFF2-40B4-BE49-F238E27FC236}">
                <a16:creationId xmlns:a16="http://schemas.microsoft.com/office/drawing/2014/main" id="{B60B36A8-DA69-430B-99CC-B8983E44956A}"/>
              </a:ext>
            </a:extLst>
          </p:cNvPr>
          <p:cNvSpPr>
            <a:spLocks xmlns:a="http://schemas.openxmlformats.org/drawingml/2006/main" noGrp="1"/>
          </p:cNvSpPr>
          <p:nvPr/>
        </p:nvSpPr>
        <p:spPr>
          <a:xfrm xmlns:a="http://schemas.openxmlformats.org/drawingml/2006/main">
            <a:off x="7086600" y="6153150"/>
            <a:ext cx="447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2636C"/>
                </a:solidFill>
                <a:latin typeface="Arial"/>
                <a:ea typeface="Arial"/>
                <a:cs typeface="Arial"/>
              </a:defRPr>
            </a:pPr>
            <a:r>
              <a:rPr sz="1200" b="0">
                <a:solidFill>
                  <a:srgbClr val="52636C"/>
                </a:solidFill>
                <a:latin typeface="Arial"/>
                <a:ea typeface="Arial"/>
                <a:cs typeface="Arial"/>
              </a:rPr>
              <a:t>NGC4501 / MUSE RGB</a:t>
            </a:r>
          </a:p>
        </p:txBody>
      </p:sp>
      <p:sp>
        <p:nvSpPr>
          <p:cNvPr id="12" name="deck-footer">
            <a:extLst xmlns:a="http://schemas.openxmlformats.org/drawingml/2006/main">
              <a:ext uri="{FF2B5EF4-FFF2-40B4-BE49-F238E27FC236}">
                <a16:creationId xmlns:a16="http://schemas.microsoft.com/office/drawing/2014/main" id="{A163F1F7-0E84-40F0-93BB-C7E54D333D30}"/>
              </a:ext>
            </a:extLst>
          </p:cNvPr>
          <p:cNvSpPr>
            <a:spLocks xmlns:a="http://schemas.openxmlformats.org/drawingml/2006/main" noGrp="1"/>
          </p:cNvSpPr>
          <p:nvPr/>
        </p:nvSpPr>
        <p:spPr>
          <a:xfrm xmlns:a="http://schemas.openxmlformats.org/drawingml/2006/main">
            <a:off x="533400" y="6543675"/>
            <a:ext cx="971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975" b="0">
                <a:solidFill>
                  <a:srgbClr val="52636C"/>
                </a:solidFill>
                <a:latin typeface="Arial"/>
                <a:ea typeface="Arial"/>
                <a:cs typeface="Arial"/>
              </a:defRPr>
            </a:pPr>
            <a:r>
              <a:rPr sz="975" b="0">
                <a:solidFill>
                  <a:srgbClr val="52636C"/>
                </a:solidFill>
                <a:latin typeface="Arial"/>
                <a:ea typeface="Arial"/>
                <a:cs typeface="Arial"/>
              </a:rPr>
              <a:t>Rongjun Huang  |  MAUVE-MUSE  |  Yonsei 2026</a:t>
            </a:r>
          </a:p>
        </p:txBody>
      </p:sp>
      <p:sp>
        <p:nvSpPr>
          <p:cNvPr id="13" name="slide-number">
            <a:extLst xmlns:a="http://schemas.openxmlformats.org/drawingml/2006/main">
              <a:ext uri="{FF2B5EF4-FFF2-40B4-BE49-F238E27FC236}">
                <a16:creationId xmlns:a16="http://schemas.microsoft.com/office/drawing/2014/main" id="{742D04C6-C057-40B2-9FE0-08FDE643D146}"/>
              </a:ext>
            </a:extLst>
          </p:cNvPr>
          <p:cNvSpPr>
            <a:spLocks xmlns:a="http://schemas.openxmlformats.org/drawingml/2006/main" noGrp="1"/>
          </p:cNvSpPr>
          <p:nvPr/>
        </p:nvSpPr>
        <p:spPr>
          <a:xfrm xmlns:a="http://schemas.openxmlformats.org/drawingml/2006/main">
            <a:off x="11096625" y="651510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2636C"/>
                </a:solidFill>
                <a:latin typeface="Arial"/>
                <a:ea typeface="Arial"/>
                <a:cs typeface="Arial"/>
              </a:defRPr>
            </a:pPr>
            <a:r>
              <a:rPr sz="1200" b="0">
                <a:solidFill>
                  <a:srgbClr val="52636C"/>
                </a:solidFill>
                <a:latin typeface="Arial"/>
                <a:ea typeface="Arial"/>
                <a:cs typeface="Arial"/>
              </a:rPr>
              <a:t>4</a:t>
            </a:r>
          </a:p>
        </p:txBody>
      </p:sp>
      <p:sp xmlns:a="http://schemas.openxmlformats.org/drawingml/2006/main">
        <p:nvSpPr>
          <p:cNvPr id="24" name="footer-rule"/>
          <p:cNvSpPr>
            <a:spLocks noGrp="1"/>
          </p:cNvSpPr>
          <p:nvPr/>
        </p:nvSpPr>
        <p:spPr>
          <a:xfrm>
            <a:off x="533400" y="6419850"/>
            <a:ext cx="11125200" cy="9525"/>
          </a:xfrm>
          <a:prstGeom prst="rect">
            <a:avLst/>
          </a:prstGeom>
          <a:solidFill>
            <a:srgbClr val="CED6DB"/>
          </a:solidFill>
          <a:ln w="0">
            <a:noFill/>
          </a:ln>
        </p:spPr>
        <p:txBody>
          <a:bodyPr/>
          <a:lstStyle/>
          <a:p>
            <a:endParaRPr lang="en-US"/>
          </a:p>
        </p:txBody>
      </p:sp>
    </p:spTree>
    <p:extLst>
      <p:ext uri="{BB962C8B-B14F-4D97-AF65-F5344CB8AC3E}">
        <p14:creationId xmlns:p14="http://schemas.microsoft.com/office/powerpoint/2010/main" val="673265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370</TotalTime>
  <Words>14818</Words>
  <Application>Microsoft Macintosh PowerPoint</Application>
  <DocSecurity>0</DocSecurity>
  <PresentationFormat>Widescreen</PresentationFormat>
  <Paragraphs>1242</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ChatGPT</vt:lpstr>
      <vt:lpstr>PowerPoint Presentation</vt:lpstr>
      <vt:lpstr>PowerPoint Presentation</vt:lpstr>
      <vt:lpstr>PowerPoint Presentation</vt:lpstr>
      <vt:lpstr>Environment changes the local gas 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Rongjun Huang (22402136)</cp:lastModifiedBy>
  <cp:revision>3</cp:revision>
  <dcterms:created xsi:type="dcterms:W3CDTF">2026-09-10T13:54:29Z</dcterms:created>
  <dcterms:modified xsi:type="dcterms:W3CDTF">2026-09-11T12:15:54Z</dcterms:modified>
</cp:coreProperties>
</file>