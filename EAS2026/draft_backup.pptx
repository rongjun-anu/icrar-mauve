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1AE1-127A-3023-F659-3FD226416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B9D9E-5F05-D3A2-7D5F-9BE20356F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282A-BA51-F346-FFA2-D521B3A439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1D3E95-69F1-014A-95DE-8FDF009C0742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3BD9A-6D2D-4B7A-2453-3B19AE79F5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5182-4643-9CF6-2DD6-0FAB3CE57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EBD2-1D8F-82C4-74EF-0BDD53DE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F612-95D5-37C2-785C-FEA083AE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FE0D-844E-57A2-9E33-6719D11ABC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2EC169-B557-9E42-927E-4E7C38180AB6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757A-AB38-4D74-1AC8-78855E0CC7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78970-F86B-3410-36D1-9D47FFFE3B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5317"/>
            <a:ext cx="2743200" cy="365125"/>
          </a:xfrm>
        </p:spPr>
        <p:txBody>
          <a:bodyPr/>
          <a:lstStyle>
            <a:lvl1pPr>
              <a:buNone/>
              <a:defRPr sz="1400">
                <a:solidFill>
                  <a:srgbClr val="FFFF00"/>
                </a:solidFill>
              </a:defRPr>
            </a:lvl1pPr>
          </a:lstStyle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142F-1FB5-5DD8-D67F-7E80E8C1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7162C-B397-4883-5C10-0E6053D7D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4CFF-C7E5-DD0D-DC61-C41A910C1A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5790D0-4130-7040-A9D4-9344034032ED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D3345-62A7-0789-C22E-372FBB4318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F29C-AC80-15DE-1C37-3DEF0FE496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77B5-5B3F-334A-AC86-A61A86B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480B-4434-EE3D-1FA5-E95DAFD3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13A39-C77C-A304-9BA1-1A210F133C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4E287-94AC-E572-4717-FC3A96EF67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743BA8-4DB1-3E4C-AB24-2681A0CDBBDB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B305-8E7D-F664-7847-9B349CB5C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A6B7-6F9D-F40A-A69B-D3F0CF86A6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D932-6E14-6D46-3A79-7D928488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0F92F-B270-4FC8-9522-51F9D227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AEAA9-9846-8F45-AFED-57EE31EE8B5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E4FB8-8A8C-A0A0-D61B-99E493EAF54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042A3-2101-F429-888C-12B0084E16A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13B5C-453E-F087-3CE2-32D87BC403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E9DDC1-D8D2-2143-8972-448CE37CDA25}" type="datetime1">
              <a:t>6/12/26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9A321-3C9B-3999-8027-E29E975140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5E17C-0F37-E921-12D2-765341772F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F74-6E60-09CB-2CD6-5D01EFE3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2DC52-A8D2-2F0C-B8FC-ED21A60976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95483A8-CC1F-3D4F-819F-BAE8E5152408}" type="datetime1">
              <a:t>6/12/26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3DE21-50E6-92E6-6502-A39F423018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EB879-FEC4-C6B3-8613-67B535F001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DF0D1-440F-8B91-8B91-D44FE810C8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9BA6D1-D24B-2743-A2A0-4A09CAE3DEA7}" type="datetime1">
              <a:t>6/12/26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4090F-CA60-3A3B-FCB8-17BAEDB158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E138B-7661-EFE6-57CB-A464153AB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0869-51A8-B357-75AA-370DB235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177A-99C1-79D7-2338-DCD9D60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40562-E610-476A-1C36-6D4D09256E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C55A0-6DC0-4536-8B0C-871514F8C4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972E4E5-2532-8D46-832D-105BF7EAF174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F5340-36E7-3EBA-92BF-E1B6207A98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C50E4-60F5-9D8A-92A8-753D23821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69-1AE4-B6BF-36EF-D7A08AAB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CBE28-8228-5BB0-8679-E7534B005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36F5F-2865-4E61-8C5A-AB20F47AA5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2288A-3CA4-127E-8DD7-E32158AE0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6E59B7-59D9-E44A-9DCD-22E8030FAC5D}" type="datetime1">
              <a:t>6/12/26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285E-9B55-6B54-7591-09A807A0AC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218CA-F34A-7480-49F9-9284B91CCC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3D46-293F-6510-2F7A-B3215783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E9746-D068-D8E0-0D22-567ED1D8D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914DF-3AED-5A48-D6CB-DC1EAB1C6F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6B833A-36E8-654B-89F9-FA0DC2EFB2E5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49F49-E23A-1923-12F1-D5D952FE7B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91F60-CB72-CB88-5A85-194146E1B5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99B4E-BB04-B2FB-73B4-6954DBF6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B7BC-8908-D08D-E40F-C8672CCB6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FDBAF-752C-B98F-E759-E300B67AA1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5A98B2-6D4A-2348-8FDF-E4DC17A844D9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B0F69-FCA1-44CD-EB7D-3476EB8DC6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94499-1144-993C-E38A-C5411B8A8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4F06C3-B991-414A-9261-5E4DE6471F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261C0-C469-67B6-4CF7-D7B8B639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5A38-8C6C-9F40-E365-3AEE5277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7B12D-A6E3-9DA2-0524-FE42252DF83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314F1-ECF1-8B41-880E-BEEF4E22E69E}" type="datetime1">
              <a:t>6/12/26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892F-C1D2-EC95-F0F0-4839D576F1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A453E-F594-E44F-F320-71B845713E3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F06C3-B991-414A-9261-5E4DE6471F2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BEBD0EF-5A98-491A-ACAB-F4EA5733B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91386"/>
            <a:ext cx="4762500" cy="11698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E0F2B7-B330-48DE-8541-0D1745D59B86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9906000" cy="11811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MAUVE-MUSE: When Metallicity Follows or Fights Star 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5755F-8CF8-4CCF-9248-D9BFA45ACFD3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8572500" cy="4191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>
                <a:solidFill>
                  <a:srgbClr val="67D5FF"/>
                </a:solidFill>
                <a:latin typeface="Aptos"/>
                <a:ea typeface="Aptos"/>
                <a:cs typeface="Aptos"/>
              </a:rPr>
              <a:t>A mass-dependent inversion in Virgo galaxies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7D161-95D8-49B5-B3A0-F14FF3F846E4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6191250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Rongjun Huang</a:t>
            </a:r>
          </a:p>
          <a:p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 behalf of Luca Cortese, Barbara Catinella, Luke Davies and the MAUVE Team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10359-09ED-410F-9D50-54DCAF736EDA}"/>
              </a:ext>
            </a:extLst>
          </p:cNvPr>
          <p:cNvSpPr>
            <a:spLocks noGrp="1"/>
          </p:cNvSpPr>
          <p:nvPr/>
        </p:nvSpPr>
        <p:spPr>
          <a:xfrm>
            <a:off x="704850" y="5105400"/>
            <a:ext cx="2000250" cy="2667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933527-4BF7-43D8-AEF5-1EB57A86D74E}"/>
              </a:ext>
            </a:extLst>
          </p:cNvPr>
          <p:cNvSpPr>
            <a:spLocks noGrp="1"/>
          </p:cNvSpPr>
          <p:nvPr/>
        </p:nvSpPr>
        <p:spPr>
          <a:xfrm>
            <a:off x="781050" y="5153025"/>
            <a:ext cx="1847850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MNRAS in press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3E4C2-8FF4-4073-A04D-5CAB542A83FC}"/>
              </a:ext>
            </a:extLst>
          </p:cNvPr>
          <p:cNvSpPr>
            <a:spLocks noGrp="1"/>
          </p:cNvSpPr>
          <p:nvPr/>
        </p:nvSpPr>
        <p:spPr>
          <a:xfrm>
            <a:off x="2857500" y="5105400"/>
            <a:ext cx="1762125" cy="2667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0FF2C-2844-4BC9-B12F-6073514A81BA}"/>
              </a:ext>
            </a:extLst>
          </p:cNvPr>
          <p:cNvSpPr>
            <a:spLocks noGrp="1"/>
          </p:cNvSpPr>
          <p:nvPr/>
        </p:nvSpPr>
        <p:spPr>
          <a:xfrm>
            <a:off x="2933700" y="5153025"/>
            <a:ext cx="1609725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MAUVE-MUSE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11431-E35E-41C2-AB79-B7BEAC96051F}"/>
              </a:ext>
            </a:extLst>
          </p:cNvPr>
          <p:cNvSpPr>
            <a:spLocks noGrp="1"/>
          </p:cNvSpPr>
          <p:nvPr/>
        </p:nvSpPr>
        <p:spPr>
          <a:xfrm>
            <a:off x="4762500" y="5105400"/>
            <a:ext cx="1476375" cy="2667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929165-8B01-4D04-8557-B33DEDB5D5C9}"/>
              </a:ext>
            </a:extLst>
          </p:cNvPr>
          <p:cNvSpPr>
            <a:spLocks noGrp="1"/>
          </p:cNvSpPr>
          <p:nvPr/>
        </p:nvSpPr>
        <p:spPr>
          <a:xfrm>
            <a:off x="4838700" y="5153025"/>
            <a:ext cx="1323975" cy="152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2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arXiv:2605.31412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403483-1C5D-46D9-A79A-2B34D9DFAF25}"/>
              </a:ext>
            </a:extLst>
          </p:cNvPr>
          <p:cNvSpPr>
            <a:spLocks noGrp="1"/>
          </p:cNvSpPr>
          <p:nvPr/>
        </p:nvSpPr>
        <p:spPr>
          <a:xfrm>
            <a:off x="704850" y="6143625"/>
            <a:ext cx="41910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75" b="1">
                <a:solidFill>
                  <a:srgbClr val="F0B45C"/>
                </a:solidFill>
                <a:latin typeface="Aptos"/>
                <a:ea typeface="Aptos"/>
                <a:cs typeface="Aptos"/>
              </a:rPr>
              <a:t>Lausanne / EAS2026 SS7 / 30 June 2026</a:t>
            </a:r>
          </a:p>
        </p:txBody>
      </p:sp>
    </p:spTree>
    <p:extLst>
      <p:ext uri="{BB962C8B-B14F-4D97-AF65-F5344CB8AC3E}">
        <p14:creationId xmlns:p14="http://schemas.microsoft.com/office/powerpoint/2010/main" val="51548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B695174-C950-47C5-BBD8-42486C6B6F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4C048-044E-4480-AECF-A1D3D9D23C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93631-B5A1-4FD7-BB79-6361973E17D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23BC53-869D-436A-A681-4666A41DC94B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Why this matters: integrated scaling relations mix local regimes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3688" y="1219200"/>
            <a:ext cx="6831724" cy="2667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173B4E-A9D3-4222-888B-A0D4AE09F586}"/>
              </a:ext>
            </a:extLst>
          </p:cNvPr>
          <p:cNvSpPr>
            <a:spLocks noGrp="1"/>
          </p:cNvSpPr>
          <p:nvPr/>
        </p:nvSpPr>
        <p:spPr>
          <a:xfrm>
            <a:off x="7810500" y="1295400"/>
            <a:ext cx="3143250" cy="8191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6C99B-DE6B-454E-8FE9-A9A14931C8FD}"/>
              </a:ext>
            </a:extLst>
          </p:cNvPr>
          <p:cNvSpPr>
            <a:spLocks noGrp="1"/>
          </p:cNvSpPr>
          <p:nvPr/>
        </p:nvSpPr>
        <p:spPr>
          <a:xfrm>
            <a:off x="7810500" y="1295400"/>
            <a:ext cx="76200" cy="819150"/>
          </a:xfrm>
          <a:prstGeom prst="rect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E6FDC8-AF2F-4F3D-B8CC-9E439A84A68E}"/>
              </a:ext>
            </a:extLst>
          </p:cNvPr>
          <p:cNvSpPr>
            <a:spLocks noGrp="1"/>
          </p:cNvSpPr>
          <p:nvPr/>
        </p:nvSpPr>
        <p:spPr>
          <a:xfrm>
            <a:off x="8001000" y="144780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Global 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248404-238B-4EEB-9927-E01D8808EE80}"/>
              </a:ext>
            </a:extLst>
          </p:cNvPr>
          <p:cNvSpPr>
            <a:spLocks noGrp="1"/>
          </p:cNvSpPr>
          <p:nvPr/>
        </p:nvSpPr>
        <p:spPr>
          <a:xfrm>
            <a:off x="8001000" y="1790700"/>
            <a:ext cx="280035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At fixed mass, high-SFR galaxies are often metal-poor: the integrated FMR.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48D12-7331-4422-AB22-A9067D1F8C72}"/>
              </a:ext>
            </a:extLst>
          </p:cNvPr>
          <p:cNvSpPr>
            <a:spLocks noGrp="1"/>
          </p:cNvSpPr>
          <p:nvPr/>
        </p:nvSpPr>
        <p:spPr>
          <a:xfrm>
            <a:off x="7810500" y="2333625"/>
            <a:ext cx="3143250" cy="876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A47B94-F893-41B7-B6B7-021B67FF5DC2}"/>
              </a:ext>
            </a:extLst>
          </p:cNvPr>
          <p:cNvSpPr>
            <a:spLocks noGrp="1"/>
          </p:cNvSpPr>
          <p:nvPr/>
        </p:nvSpPr>
        <p:spPr>
          <a:xfrm>
            <a:off x="7810500" y="2333625"/>
            <a:ext cx="76200" cy="8763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A28B04-B436-47BA-A79C-4FF5DDDDEEEA}"/>
              </a:ext>
            </a:extLst>
          </p:cNvPr>
          <p:cNvSpPr>
            <a:spLocks noGrp="1"/>
          </p:cNvSpPr>
          <p:nvPr/>
        </p:nvSpPr>
        <p:spPr>
          <a:xfrm>
            <a:off x="8001000" y="2486025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Resolved gap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AB936-EFC7-4B2D-A97C-FC0DB405159A}"/>
              </a:ext>
            </a:extLst>
          </p:cNvPr>
          <p:cNvSpPr>
            <a:spLocks noGrp="1"/>
          </p:cNvSpPr>
          <p:nvPr/>
        </p:nvSpPr>
        <p:spPr>
          <a:xfrm>
            <a:off x="8001000" y="2828925"/>
            <a:ext cx="280035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At kpc scales the local metallicity-SFR coupling is not a simple universal anti-correlation.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1E7307-5D44-401A-8BF4-E3927B88745D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3143250" cy="10096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4B678-1992-49AA-A643-2D08B2046AA2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76200" cy="100965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A8ACD-5B1E-4AC0-BA13-52FE05EDB52E}"/>
              </a:ext>
            </a:extLst>
          </p:cNvPr>
          <p:cNvSpPr>
            <a:spLocks noGrp="1"/>
          </p:cNvSpPr>
          <p:nvPr/>
        </p:nvSpPr>
        <p:spPr>
          <a:xfrm>
            <a:off x="8001000" y="358140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SS7 bridge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155103-D15E-4AA6-A607-0811F3E995DF}"/>
              </a:ext>
            </a:extLst>
          </p:cNvPr>
          <p:cNvSpPr>
            <a:spLocks noGrp="1"/>
          </p:cNvSpPr>
          <p:nvPr/>
        </p:nvSpPr>
        <p:spPr>
          <a:xfrm>
            <a:off x="8001000" y="3924300"/>
            <a:ext cx="2800350" cy="4191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At ~100 pc HII-region scales, unresolved measurements combine physically different enrichment regimes.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2B2864-8181-4D1A-9922-11C8733DF4B5}"/>
              </a:ext>
            </a:extLst>
          </p:cNvPr>
          <p:cNvSpPr>
            <a:spLocks noGrp="1"/>
          </p:cNvSpPr>
          <p:nvPr/>
        </p:nvSpPr>
        <p:spPr>
          <a:xfrm>
            <a:off x="797442" y="4476750"/>
            <a:ext cx="9622908" cy="9334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AA97DA-07AD-4D92-87CF-BF3E34D65BCC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9144000" cy="3238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 for this talk: does gas-phase metallicity locally follow or fight star formation?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764565-3927-4539-83E1-E3C85BD69A31}"/>
              </a:ext>
            </a:extLst>
          </p:cNvPr>
          <p:cNvSpPr>
            <a:spLocks noGrp="1"/>
          </p:cNvSpPr>
          <p:nvPr/>
        </p:nvSpPr>
        <p:spPr>
          <a:xfrm>
            <a:off x="1009650" y="5029200"/>
            <a:ext cx="8858250" cy="2476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75" b="0" dirty="0">
                <a:solidFill>
                  <a:srgbClr val="67D5FF"/>
                </a:solidFill>
                <a:latin typeface="Aptos"/>
                <a:ea typeface="Aptos"/>
                <a:cs typeface="Aptos"/>
              </a:rPr>
              <a:t>Answer: the sign changes with local stellar mass surface density.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A2462D-24DD-4F14-87A0-12E4DC999D62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F17CC9-E0AE-4FCF-ADA7-2A30B3FFA6F2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552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17C2E12-A72B-4E15-9F54-AF240EE27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FA9DA-D741-4655-81C4-4F371DDCDC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22B8E-ADEA-40F8-872E-68F88A77594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TEAM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CC091-A067-4913-AE51-F88390B8C9DF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MAUVE: resolving the Virgo baryon cycle at ~100 pc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514350" y="1200150"/>
            <a:ext cx="3714750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F1CCD9-F5BB-4AC3-968A-D90E21730B5E}"/>
              </a:ext>
            </a:extLst>
          </p:cNvPr>
          <p:cNvSpPr>
            <a:spLocks noGrp="1"/>
          </p:cNvSpPr>
          <p:nvPr/>
        </p:nvSpPr>
        <p:spPr>
          <a:xfrm>
            <a:off x="4524375" y="1219200"/>
            <a:ext cx="2952750" cy="11239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E5044-7C42-4B73-B2E8-89F7E2825540}"/>
              </a:ext>
            </a:extLst>
          </p:cNvPr>
          <p:cNvSpPr>
            <a:spLocks noGrp="1"/>
          </p:cNvSpPr>
          <p:nvPr/>
        </p:nvSpPr>
        <p:spPr>
          <a:xfrm>
            <a:off x="4524375" y="1219200"/>
            <a:ext cx="76200" cy="112395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2F1D60-F677-4297-B456-9B801213B2E4}"/>
              </a:ext>
            </a:extLst>
          </p:cNvPr>
          <p:cNvSpPr>
            <a:spLocks noGrp="1"/>
          </p:cNvSpPr>
          <p:nvPr/>
        </p:nvSpPr>
        <p:spPr>
          <a:xfrm>
            <a:off x="4714875" y="1371600"/>
            <a:ext cx="26098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Survey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CC818-B620-4AC3-880A-523B26D9E660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2609850" cy="533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40 Virgo late-type galaxies; MUSE maps the stellar and ionised gas components, with ALMA molecular-gas context.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59A27-8594-4873-AD0A-4F0DA90E22FF}"/>
              </a:ext>
            </a:extLst>
          </p:cNvPr>
          <p:cNvSpPr>
            <a:spLocks noGrp="1"/>
          </p:cNvSpPr>
          <p:nvPr/>
        </p:nvSpPr>
        <p:spPr>
          <a:xfrm>
            <a:off x="7810500" y="1219200"/>
            <a:ext cx="2952750" cy="11239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ED4AB9-14CB-42E8-B416-C1C45A199420}"/>
              </a:ext>
            </a:extLst>
          </p:cNvPr>
          <p:cNvSpPr>
            <a:spLocks noGrp="1"/>
          </p:cNvSpPr>
          <p:nvPr/>
        </p:nvSpPr>
        <p:spPr>
          <a:xfrm>
            <a:off x="7810500" y="1219200"/>
            <a:ext cx="76200" cy="1123950"/>
          </a:xfrm>
          <a:prstGeom prst="rect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06A15-BFA2-4FAD-A938-700510393C16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26098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Outflows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89847-2D77-4381-806D-C1C518FE9181}"/>
              </a:ext>
            </a:extLst>
          </p:cNvPr>
          <p:cNvSpPr>
            <a:spLocks noGrp="1"/>
          </p:cNvSpPr>
          <p:nvPr/>
        </p:nvSpPr>
        <p:spPr>
          <a:xfrm>
            <a:off x="8001000" y="1714500"/>
            <a:ext cx="2609850" cy="533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NGC4383 and NGC4064 show feedback/outflow physics in environmentally affected Virgo galaxies.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48D2F9-03DD-4718-A8BC-8A0BD70FD19E}"/>
              </a:ext>
            </a:extLst>
          </p:cNvPr>
          <p:cNvSpPr>
            <a:spLocks noGrp="1"/>
          </p:cNvSpPr>
          <p:nvPr/>
        </p:nvSpPr>
        <p:spPr>
          <a:xfrm>
            <a:off x="4524375" y="2686050"/>
            <a:ext cx="2952750" cy="11239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7777E4-ECB8-4CED-998A-A34E3C82E342}"/>
              </a:ext>
            </a:extLst>
          </p:cNvPr>
          <p:cNvSpPr>
            <a:spLocks noGrp="1"/>
          </p:cNvSpPr>
          <p:nvPr/>
        </p:nvSpPr>
        <p:spPr>
          <a:xfrm>
            <a:off x="4524375" y="2686050"/>
            <a:ext cx="76200" cy="1123950"/>
          </a:xfrm>
          <a:prstGeom prst="rect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DA1646-924F-4900-83C7-A4836FA41DAD}"/>
              </a:ext>
            </a:extLst>
          </p:cNvPr>
          <p:cNvSpPr>
            <a:spLocks noGrp="1"/>
          </p:cNvSpPr>
          <p:nvPr/>
        </p:nvSpPr>
        <p:spPr>
          <a:xfrm>
            <a:off x="4714875" y="2838450"/>
            <a:ext cx="26098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Multiphase gas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30ACD3-8028-48BD-919D-77B9F179EB9F}"/>
              </a:ext>
            </a:extLst>
          </p:cNvPr>
          <p:cNvSpPr>
            <a:spLocks noGrp="1"/>
          </p:cNvSpPr>
          <p:nvPr/>
        </p:nvSpPr>
        <p:spPr>
          <a:xfrm>
            <a:off x="4714875" y="3181350"/>
            <a:ext cx="2609850" cy="533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Cold neutral and molecular gas trace fountain-flow and gas-supply channels in stripped systems.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8F91D-27C6-47CC-87C0-E7C8B80E031C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952750" cy="112395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AE305E-64B3-4210-965F-3E9BEDB5BA3E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76200" cy="112395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FBBDCC-3B55-4F19-B5D1-FAC19ED73CA7}"/>
              </a:ext>
            </a:extLst>
          </p:cNvPr>
          <p:cNvSpPr>
            <a:spLocks noGrp="1"/>
          </p:cNvSpPr>
          <p:nvPr/>
        </p:nvSpPr>
        <p:spPr>
          <a:xfrm>
            <a:off x="8001000" y="2838450"/>
            <a:ext cx="26098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Population result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7F6EC6-61EF-4B2A-8D52-28D47C3C48F4}"/>
              </a:ext>
            </a:extLst>
          </p:cNvPr>
          <p:cNvSpPr>
            <a:spLocks noGrp="1"/>
          </p:cNvSpPr>
          <p:nvPr/>
        </p:nvSpPr>
        <p:spPr>
          <a:xfrm>
            <a:off x="8001000" y="3181350"/>
            <a:ext cx="2609850" cy="533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Virgo disks show elevated line ratios, DIG/shocks and broadened kinematics.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B55DBA-447D-4E16-842B-A96CA9116B4B}"/>
              </a:ext>
            </a:extLst>
          </p:cNvPr>
          <p:cNvSpPr>
            <a:spLocks noGrp="1"/>
          </p:cNvSpPr>
          <p:nvPr/>
        </p:nvSpPr>
        <p:spPr>
          <a:xfrm>
            <a:off x="4524375" y="4171950"/>
            <a:ext cx="6238875" cy="7048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A328D0-1D3D-48B0-ADC8-8D7161159705}"/>
              </a:ext>
            </a:extLst>
          </p:cNvPr>
          <p:cNvSpPr>
            <a:spLocks noGrp="1"/>
          </p:cNvSpPr>
          <p:nvPr/>
        </p:nvSpPr>
        <p:spPr>
          <a:xfrm>
            <a:off x="4762500" y="4343400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talk adds the chemical-enrichment view: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5AF48F-C2EE-4B7E-AC5E-CF2960BCBDEF}"/>
              </a:ext>
            </a:extLst>
          </p:cNvPr>
          <p:cNvSpPr>
            <a:spLocks noGrp="1"/>
          </p:cNvSpPr>
          <p:nvPr/>
        </p:nvSpPr>
        <p:spPr>
          <a:xfrm>
            <a:off x="4762500" y="4629150"/>
            <a:ext cx="5619750" cy="2095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>
                <a:solidFill>
                  <a:srgbClr val="67D5FF"/>
                </a:solidFill>
                <a:latin typeface="Aptos"/>
                <a:ea typeface="Aptos"/>
                <a:cs typeface="Aptos"/>
              </a:rPr>
              <a:t>when does O/H follow or fight star formation within HII-region regimes?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B5AA96-7C79-4D50-8CC5-56B94B637384}"/>
              </a:ext>
            </a:extLst>
          </p:cNvPr>
          <p:cNvSpPr>
            <a:spLocks noGrp="1"/>
          </p:cNvSpPr>
          <p:nvPr/>
        </p:nvSpPr>
        <p:spPr>
          <a:xfrm>
            <a:off x="514350" y="5000625"/>
            <a:ext cx="9810750" cy="4381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Current MAUVE outputs: Watts 2024; Catinella 2025; Attwater 2026; Cortese 2026; Brown 2026; Huang 2026.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F747CC-82E2-425F-8E50-831F31FAE6D0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MAUVE publications page, checked 2026-06-12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C72FD7-8644-4259-B433-0B28C6DB5AA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87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C732E3-F606-4DE8-96CC-3EDABA32F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FC3C84-A395-4C97-AC2B-B903CAC23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300FA-6A4B-436D-8793-1436C9503E1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9752F-8B88-46B2-BB14-2418969683E4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Data: 14 MAUVE-MUSE Virgo spirals at HII-region scales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9577" r="9577"/>
          <a:stretch>
            <a:fillRect/>
          </a:stretch>
        </p:blipFill>
        <p:spPr>
          <a:xfrm>
            <a:off x="495300" y="1200150"/>
            <a:ext cx="4905375" cy="3524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4D6050-D3A8-42DB-A964-6A2A6EA385C3}"/>
              </a:ext>
            </a:extLst>
          </p:cNvPr>
          <p:cNvSpPr>
            <a:spLocks noGrp="1"/>
          </p:cNvSpPr>
          <p:nvPr/>
        </p:nvSpPr>
        <p:spPr>
          <a:xfrm>
            <a:off x="5791200" y="1257300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86D5A-AE8C-4438-BE92-BAA6410D99CC}"/>
              </a:ext>
            </a:extLst>
          </p:cNvPr>
          <p:cNvSpPr>
            <a:spLocks noGrp="1"/>
          </p:cNvSpPr>
          <p:nvPr/>
        </p:nvSpPr>
        <p:spPr>
          <a:xfrm>
            <a:off x="5791200" y="1257300"/>
            <a:ext cx="76200" cy="10668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E4FE6-06B8-40C9-B57D-200690C2FE14}"/>
              </a:ext>
            </a:extLst>
          </p:cNvPr>
          <p:cNvSpPr>
            <a:spLocks noGrp="1"/>
          </p:cNvSpPr>
          <p:nvPr/>
        </p:nvSpPr>
        <p:spPr>
          <a:xfrm>
            <a:off x="5981700" y="1409700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BC529-61F3-4E27-AD7C-1C72EB1D52B2}"/>
              </a:ext>
            </a:extLst>
          </p:cNvPr>
          <p:cNvSpPr>
            <a:spLocks noGrp="1"/>
          </p:cNvSpPr>
          <p:nvPr/>
        </p:nvSpPr>
        <p:spPr>
          <a:xfrm>
            <a:off x="5981700" y="1752600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14 fully reduced MAUVE-MUSE Virgo spirals in the accepted/in-press paper.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DB781-6285-4042-A3E8-7281CC416F51}"/>
              </a:ext>
            </a:extLst>
          </p:cNvPr>
          <p:cNvSpPr>
            <a:spLocks noGrp="1"/>
          </p:cNvSpPr>
          <p:nvPr/>
        </p:nvSpPr>
        <p:spPr>
          <a:xfrm>
            <a:off x="8439150" y="1257300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1849A-4E4D-498B-BBC2-11F2415C56A2}"/>
              </a:ext>
            </a:extLst>
          </p:cNvPr>
          <p:cNvSpPr>
            <a:spLocks noGrp="1"/>
          </p:cNvSpPr>
          <p:nvPr/>
        </p:nvSpPr>
        <p:spPr>
          <a:xfrm>
            <a:off x="8439150" y="1257300"/>
            <a:ext cx="76200" cy="10668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F17E9-3271-4629-B222-AC3FB1BD4B54}"/>
              </a:ext>
            </a:extLst>
          </p:cNvPr>
          <p:cNvSpPr>
            <a:spLocks noGrp="1"/>
          </p:cNvSpPr>
          <p:nvPr/>
        </p:nvSpPr>
        <p:spPr>
          <a:xfrm>
            <a:off x="8629650" y="1409700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D2F33-30AF-45BB-841B-F0C3C8B7410B}"/>
              </a:ext>
            </a:extLst>
          </p:cNvPr>
          <p:cNvSpPr>
            <a:spLocks noGrp="1"/>
          </p:cNvSpPr>
          <p:nvPr/>
        </p:nvSpPr>
        <p:spPr>
          <a:xfrm>
            <a:off x="8629650" y="1752600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VLT/MUSE maps at roughly 100 pc scales over the molecular-gas disks.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34BE0D-F940-44F3-9892-A9C803403181}"/>
              </a:ext>
            </a:extLst>
          </p:cNvPr>
          <p:cNvSpPr>
            <a:spLocks noGrp="1"/>
          </p:cNvSpPr>
          <p:nvPr/>
        </p:nvSpPr>
        <p:spPr>
          <a:xfrm>
            <a:off x="5791200" y="2714625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7AAB12-1658-4D8C-8ADE-8C2F4F341F6D}"/>
              </a:ext>
            </a:extLst>
          </p:cNvPr>
          <p:cNvSpPr>
            <a:spLocks noGrp="1"/>
          </p:cNvSpPr>
          <p:nvPr/>
        </p:nvSpPr>
        <p:spPr>
          <a:xfrm>
            <a:off x="5791200" y="2714625"/>
            <a:ext cx="76200" cy="1066800"/>
          </a:xfrm>
          <a:prstGeom prst="rect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DDE5C-0FE3-4D81-B928-CD6DEE8B121B}"/>
              </a:ext>
            </a:extLst>
          </p:cNvPr>
          <p:cNvSpPr>
            <a:spLocks noGrp="1"/>
          </p:cNvSpPr>
          <p:nvPr/>
        </p:nvSpPr>
        <p:spPr>
          <a:xfrm>
            <a:off x="5981700" y="2867025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Co-spatial maps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032D4-2E29-407D-801E-2D1F8EB6F8A4}"/>
              </a:ext>
            </a:extLst>
          </p:cNvPr>
          <p:cNvSpPr>
            <a:spLocks noGrp="1"/>
          </p:cNvSpPr>
          <p:nvPr/>
        </p:nvSpPr>
        <p:spPr>
          <a:xfrm>
            <a:off x="5981700" y="3209925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Sigma_*, Sigma_SFR and 12+log(O/H) are measured on the same physical grid.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01ACC0-D2E2-414B-B1D7-9624791A3169}"/>
              </a:ext>
            </a:extLst>
          </p:cNvPr>
          <p:cNvSpPr>
            <a:spLocks noGrp="1"/>
          </p:cNvSpPr>
          <p:nvPr/>
        </p:nvSpPr>
        <p:spPr>
          <a:xfrm>
            <a:off x="8439150" y="2714625"/>
            <a:ext cx="2333625" cy="10668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2B17F-CC8C-4C74-B924-0EE72D0B92C5}"/>
              </a:ext>
            </a:extLst>
          </p:cNvPr>
          <p:cNvSpPr>
            <a:spLocks noGrp="1"/>
          </p:cNvSpPr>
          <p:nvPr/>
        </p:nvSpPr>
        <p:spPr>
          <a:xfrm>
            <a:off x="8439150" y="2714625"/>
            <a:ext cx="76200" cy="10668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D494F7-03E6-4EA7-851B-C7028E9247A0}"/>
              </a:ext>
            </a:extLst>
          </p:cNvPr>
          <p:cNvSpPr>
            <a:spLocks noGrp="1"/>
          </p:cNvSpPr>
          <p:nvPr/>
        </p:nvSpPr>
        <p:spPr>
          <a:xfrm>
            <a:off x="8629650" y="2867025"/>
            <a:ext cx="19907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HII-region focus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ADC8B9-8BF0-405B-9C40-DA1C9EB078B7}"/>
              </a:ext>
            </a:extLst>
          </p:cNvPr>
          <p:cNvSpPr>
            <a:spLocks noGrp="1"/>
          </p:cNvSpPr>
          <p:nvPr/>
        </p:nvSpPr>
        <p:spPr>
          <a:xfrm>
            <a:off x="8629650" y="3209925"/>
            <a:ext cx="1990725" cy="4762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Fiducial analysis uses BPT-selected HII-region spaxels.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705F2-9749-41AE-A18B-8662A0721CFC}"/>
              </a:ext>
            </a:extLst>
          </p:cNvPr>
          <p:cNvSpPr>
            <a:spLocks noGrp="1"/>
          </p:cNvSpPr>
          <p:nvPr/>
        </p:nvSpPr>
        <p:spPr>
          <a:xfrm>
            <a:off x="5791200" y="4171950"/>
            <a:ext cx="4981575" cy="685800"/>
          </a:xfrm>
          <a:prstGeom prst="rect">
            <a:avLst/>
          </a:prstGeom>
          <a:solidFill>
            <a:srgbClr val="E7EDF5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83CDFE-BA42-41EC-9303-D1A364C38A3A}"/>
              </a:ext>
            </a:extLst>
          </p:cNvPr>
          <p:cNvSpPr>
            <a:spLocks noGrp="1"/>
          </p:cNvSpPr>
          <p:nvPr/>
        </p:nvSpPr>
        <p:spPr>
          <a:xfrm>
            <a:off x="6019800" y="4343400"/>
            <a:ext cx="4524375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No internal-review status language: this is a completed single-paper result.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9467AC-223F-4F5F-A126-172DBB7A425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83B613-303E-47F2-A6B7-C14C22C31FF8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135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29193-F208-4DAB-8900-D9685A7DF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0D34D-5204-4ED8-AEF2-10A2706DF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1CD00-CAD1-4CE0-A2A8-4459ADADA33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145E4-8D41-434E-99D1-3B2AB833EBF9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What we measure: co-spatial local maps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219733"/>
            <a:ext cx="10572750" cy="31802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F4494E-F2F5-4C0E-B7C7-1A6ECAE7BE5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F49008-8276-4D93-8EBD-3ECBFC76429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7620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FA82F-2755-4988-B0CB-F1F4B837798B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Stellar 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0CFEC-8144-4D3C-A399-00C011D36055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Sigma_* defines the local mass regime for each HII-region spaxel.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D21C4C-B5F9-46D5-90C2-C0F9D1306CF9}"/>
              </a:ext>
            </a:extLst>
          </p:cNvPr>
          <p:cNvSpPr>
            <a:spLocks noGrp="1"/>
          </p:cNvSpPr>
          <p:nvPr/>
        </p:nvSpPr>
        <p:spPr>
          <a:xfrm>
            <a:off x="4619625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30C42-F4E1-4DEA-AC1A-0E9C19483C5D}"/>
              </a:ext>
            </a:extLst>
          </p:cNvPr>
          <p:cNvSpPr>
            <a:spLocks noGrp="1"/>
          </p:cNvSpPr>
          <p:nvPr/>
        </p:nvSpPr>
        <p:spPr>
          <a:xfrm>
            <a:off x="4619625" y="4762500"/>
            <a:ext cx="76200" cy="7620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582350-0B08-4C0B-B20E-B048F8D77F5C}"/>
              </a:ext>
            </a:extLst>
          </p:cNvPr>
          <p:cNvSpPr>
            <a:spLocks noGrp="1"/>
          </p:cNvSpPr>
          <p:nvPr/>
        </p:nvSpPr>
        <p:spPr>
          <a:xfrm>
            <a:off x="4810125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Current activity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72823-F6F9-47E8-ACB0-EFAA72D3DFEB}"/>
              </a:ext>
            </a:extLst>
          </p:cNvPr>
          <p:cNvSpPr>
            <a:spLocks noGrp="1"/>
          </p:cNvSpPr>
          <p:nvPr/>
        </p:nvSpPr>
        <p:spPr>
          <a:xfrm>
            <a:off x="4810125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Sigma_SFR traces where the ISM is actively forming stars.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1F9492-AAE8-4A20-9E37-EAA1B7D74F81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2905125" cy="7620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1E369-EF65-4C29-8C3B-CBDAC0675A68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76200" cy="7620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D123B4-7E71-4308-8F9D-F87A72E417A5}"/>
              </a:ext>
            </a:extLst>
          </p:cNvPr>
          <p:cNvSpPr>
            <a:spLocks noGrp="1"/>
          </p:cNvSpPr>
          <p:nvPr/>
        </p:nvSpPr>
        <p:spPr>
          <a:xfrm>
            <a:off x="8553450" y="4914900"/>
            <a:ext cx="2562225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Chemical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14B072-9288-4F63-83CC-F26D29160ADA}"/>
              </a:ext>
            </a:extLst>
          </p:cNvPr>
          <p:cNvSpPr>
            <a:spLocks noGrp="1"/>
          </p:cNvSpPr>
          <p:nvPr/>
        </p:nvSpPr>
        <p:spPr>
          <a:xfrm>
            <a:off x="8553450" y="5257800"/>
            <a:ext cx="2562225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O3N2-M13 gives the fiducial oxygen abundance map.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D729FC-CC0E-4900-9924-17A67FDB3541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09AEAC-D300-4D4A-AFAD-99F9F39873E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60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551305-5DB0-4193-B183-63E36B07C9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E66E6D-97A7-4767-BB84-15DEE1ADB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DC6A4-BEAE-4FA2-8A5C-02530121101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VISUAL HINT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84FC6-9647-4B9E-B930-C7175C8F7888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Result 1: the resolved MZR is standard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4988" y="1143000"/>
            <a:ext cx="3384124" cy="5095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1A1833-3ABD-45CF-8EA4-B87294517D05}"/>
              </a:ext>
            </a:extLst>
          </p:cNvPr>
          <p:cNvSpPr>
            <a:spLocks noGrp="1"/>
          </p:cNvSpPr>
          <p:nvPr/>
        </p:nvSpPr>
        <p:spPr>
          <a:xfrm>
            <a:off x="5905500" y="1428750"/>
            <a:ext cx="4095750" cy="87630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7E5A4-B2C8-449C-9DC7-2053740BCBD2}"/>
              </a:ext>
            </a:extLst>
          </p:cNvPr>
          <p:cNvSpPr>
            <a:spLocks noGrp="1"/>
          </p:cNvSpPr>
          <p:nvPr/>
        </p:nvSpPr>
        <p:spPr>
          <a:xfrm>
            <a:off x="6153150" y="1619250"/>
            <a:ext cx="3638550" cy="3238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MAUVE-MUSE follows a normal rMZR at ~100 pc.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1B21F-CBFE-4537-BDF9-42E6C9E00984}"/>
              </a:ext>
            </a:extLst>
          </p:cNvPr>
          <p:cNvSpPr>
            <a:spLocks noGrp="1"/>
          </p:cNvSpPr>
          <p:nvPr/>
        </p:nvSpPr>
        <p:spPr>
          <a:xfrm>
            <a:off x="6096000" y="2838450"/>
            <a:ext cx="95250" cy="9525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C6D9A-5D46-4BB2-A787-5F12FF8CFAFA}"/>
              </a:ext>
            </a:extLst>
          </p:cNvPr>
          <p:cNvSpPr>
            <a:spLocks noGrp="1"/>
          </p:cNvSpPr>
          <p:nvPr/>
        </p:nvSpPr>
        <p:spPr>
          <a:xfrm>
            <a:off x="6324600" y="2743200"/>
            <a:ext cx="3962400" cy="3619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O/H rises with local Sigma_*.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F7ED0B-4A3B-4922-BF1D-667A5EAF2317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95250" cy="9525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4137BA-7F90-42A7-95E6-9F11EF1A7FEE}"/>
              </a:ext>
            </a:extLst>
          </p:cNvPr>
          <p:cNvSpPr>
            <a:spLocks noGrp="1"/>
          </p:cNvSpPr>
          <p:nvPr/>
        </p:nvSpPr>
        <p:spPr>
          <a:xfrm>
            <a:off x="6324600" y="3333750"/>
            <a:ext cx="3962400" cy="3619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The scatter is not random: it carries Sigma_SFR structure.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85D9AA-8C51-47E0-8D85-ABF3442B9190}"/>
              </a:ext>
            </a:extLst>
          </p:cNvPr>
          <p:cNvSpPr>
            <a:spLocks noGrp="1"/>
          </p:cNvSpPr>
          <p:nvPr/>
        </p:nvSpPr>
        <p:spPr>
          <a:xfrm>
            <a:off x="6096000" y="4019550"/>
            <a:ext cx="95250" cy="9525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2D505B-E430-4C9B-8CD6-7910929C7C23}"/>
              </a:ext>
            </a:extLst>
          </p:cNvPr>
          <p:cNvSpPr>
            <a:spLocks noGrp="1"/>
          </p:cNvSpPr>
          <p:nvPr/>
        </p:nvSpPr>
        <p:spPr>
          <a:xfrm>
            <a:off x="6324600" y="3924300"/>
            <a:ext cx="3962400" cy="3619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That structure is the first visual hint of the sign flip.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7724F9-477C-4A2F-965B-C337F44519D0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DEE97B-22C6-4DD9-89C7-2EE117BE3577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167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DB7F9B-A60A-4289-97FF-519AD300A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56EC5D-2670-40D2-8019-BB190F419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55F11E-76EF-4533-9316-9511A58A231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INVERSION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72E3B-A413-4637-B68D-D052EDD60C04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Main result: the metallicity-SFR trend changes sign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8982" y="1200150"/>
            <a:ext cx="7125935" cy="476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80101" y="1257300"/>
            <a:ext cx="2689673" cy="2095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3A130D-61B5-4AF9-A655-A58CF7C82861}"/>
              </a:ext>
            </a:extLst>
          </p:cNvPr>
          <p:cNvSpPr>
            <a:spLocks noGrp="1"/>
          </p:cNvSpPr>
          <p:nvPr/>
        </p:nvSpPr>
        <p:spPr>
          <a:xfrm>
            <a:off x="7962900" y="3562350"/>
            <a:ext cx="2381250" cy="7429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2DDA5A-CBDF-4C78-BEFB-0A84C6212A2A}"/>
              </a:ext>
            </a:extLst>
          </p:cNvPr>
          <p:cNvSpPr>
            <a:spLocks noGrp="1"/>
          </p:cNvSpPr>
          <p:nvPr/>
        </p:nvSpPr>
        <p:spPr>
          <a:xfrm>
            <a:off x="8172450" y="3724275"/>
            <a:ext cx="19621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rho &lt; 0 at low Sigma_*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932895-5D46-4E17-8B61-139D7BFBBE34}"/>
              </a:ext>
            </a:extLst>
          </p:cNvPr>
          <p:cNvSpPr>
            <a:spLocks noGrp="1"/>
          </p:cNvSpPr>
          <p:nvPr/>
        </p:nvSpPr>
        <p:spPr>
          <a:xfrm>
            <a:off x="7962900" y="4476750"/>
            <a:ext cx="2381250" cy="742950"/>
          </a:xfrm>
          <a:prstGeom prst="rect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09EA5-8268-4463-9D30-00B0CF965557}"/>
              </a:ext>
            </a:extLst>
          </p:cNvPr>
          <p:cNvSpPr>
            <a:spLocks noGrp="1"/>
          </p:cNvSpPr>
          <p:nvPr/>
        </p:nvSpPr>
        <p:spPr>
          <a:xfrm>
            <a:off x="8172450" y="4638675"/>
            <a:ext cx="19621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rho &gt; 0 at high Sigma_*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3CF555-84C9-4A5A-915E-F617CC53D068}"/>
              </a:ext>
            </a:extLst>
          </p:cNvPr>
          <p:cNvSpPr>
            <a:spLocks noGrp="1"/>
          </p:cNvSpPr>
          <p:nvPr/>
        </p:nvSpPr>
        <p:spPr>
          <a:xfrm>
            <a:off x="8020050" y="5476875"/>
            <a:ext cx="2381250" cy="3238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Zero-crossing around log Sigma_* ~ 7.5-8.0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123C7-E66F-4739-8C32-5CEC6147700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708316-C941-484B-9B54-28984D92D2F1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791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39BDC0A-5397-4262-A898-A223CDC9B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CD44BB-02ED-4EDD-B07D-F882646696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4711E-1937-4417-8AD0-7FD0E870A42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LOCAL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59A0D-A0DD-44AB-AB91-41BCC98C8C19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Spatial coexistence: both signs live inside the same disk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875" y="1123950"/>
            <a:ext cx="4865500" cy="5191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1EC096-6D3B-49DC-BC9B-7FA8A9C3CA4D}"/>
              </a:ext>
            </a:extLst>
          </p:cNvPr>
          <p:cNvSpPr>
            <a:spLocks noGrp="1"/>
          </p:cNvSpPr>
          <p:nvPr/>
        </p:nvSpPr>
        <p:spPr>
          <a:xfrm>
            <a:off x="6743700" y="13525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6FF61-3720-4BDC-999E-C7FC76CE2980}"/>
              </a:ext>
            </a:extLst>
          </p:cNvPr>
          <p:cNvSpPr>
            <a:spLocks noGrp="1"/>
          </p:cNvSpPr>
          <p:nvPr/>
        </p:nvSpPr>
        <p:spPr>
          <a:xfrm>
            <a:off x="6743700" y="1352550"/>
            <a:ext cx="76200" cy="9906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B7BD38-387D-4881-A4C9-16C55B1494C7}"/>
              </a:ext>
            </a:extLst>
          </p:cNvPr>
          <p:cNvSpPr>
            <a:spLocks noGrp="1"/>
          </p:cNvSpPr>
          <p:nvPr/>
        </p:nvSpPr>
        <p:spPr>
          <a:xfrm>
            <a:off x="6934200" y="1504950"/>
            <a:ext cx="308610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Within one disk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A652BC-77B1-4A48-9284-A045FF5CA953}"/>
              </a:ext>
            </a:extLst>
          </p:cNvPr>
          <p:cNvSpPr>
            <a:spLocks noGrp="1"/>
          </p:cNvSpPr>
          <p:nvPr/>
        </p:nvSpPr>
        <p:spPr>
          <a:xfrm>
            <a:off x="6934200" y="1847850"/>
            <a:ext cx="3086100" cy="4000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NGC4192 contains both positive and negative local O/H-Sigma_SFR structure.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AABDEC-959F-4332-9108-9C49FF5901EB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38F46B-2E49-498F-ABAE-353444140994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76200" cy="9906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81CB1-700D-4BE2-BEF8-E4B1203767E2}"/>
              </a:ext>
            </a:extLst>
          </p:cNvPr>
          <p:cNvSpPr>
            <a:spLocks noGrp="1"/>
          </p:cNvSpPr>
          <p:nvPr/>
        </p:nvSpPr>
        <p:spPr>
          <a:xfrm>
            <a:off x="6934200" y="2838450"/>
            <a:ext cx="308610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Why bin by Sigma_*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338EAD-1188-4305-AB11-7421C6B7B46A}"/>
              </a:ext>
            </a:extLst>
          </p:cNvPr>
          <p:cNvSpPr>
            <a:spLocks noGrp="1"/>
          </p:cNvSpPr>
          <p:nvPr/>
        </p:nvSpPr>
        <p:spPr>
          <a:xfrm>
            <a:off x="6934200" y="3181350"/>
            <a:ext cx="3086100" cy="4000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The mass dependence appears only after grouping HII-region spaxels by local stellar mass surface density.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EE3C8-2842-4B65-B2F3-B4ED05C0A5A8}"/>
              </a:ext>
            </a:extLst>
          </p:cNvPr>
          <p:cNvSpPr>
            <a:spLocks noGrp="1"/>
          </p:cNvSpPr>
          <p:nvPr/>
        </p:nvSpPr>
        <p:spPr>
          <a:xfrm>
            <a:off x="6743700" y="4019550"/>
            <a:ext cx="3429000" cy="9906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2A7A35-7FDF-4EB5-B577-EB7C9C71DF87}"/>
              </a:ext>
            </a:extLst>
          </p:cNvPr>
          <p:cNvSpPr>
            <a:spLocks noGrp="1"/>
          </p:cNvSpPr>
          <p:nvPr/>
        </p:nvSpPr>
        <p:spPr>
          <a:xfrm>
            <a:off x="6743700" y="4019550"/>
            <a:ext cx="76200" cy="9906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F3AB65-D75B-47F4-8B6C-0AF3CDEFB097}"/>
              </a:ext>
            </a:extLst>
          </p:cNvPr>
          <p:cNvSpPr>
            <a:spLocks noGrp="1"/>
          </p:cNvSpPr>
          <p:nvPr/>
        </p:nvSpPr>
        <p:spPr>
          <a:xfrm>
            <a:off x="6934200" y="4171950"/>
            <a:ext cx="308610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Bridge to SS7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739D8-1F45-43A5-92CA-1C7124273353}"/>
              </a:ext>
            </a:extLst>
          </p:cNvPr>
          <p:cNvSpPr>
            <a:spLocks noGrp="1"/>
          </p:cNvSpPr>
          <p:nvPr/>
        </p:nvSpPr>
        <p:spPr>
          <a:xfrm>
            <a:off x="6934200" y="4514850"/>
            <a:ext cx="3086100" cy="4000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Integrated spectra average over a spatial mixture of HII-region regimes.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95F0CF-48EC-4B1E-A1D6-C9AC0A3DCFEE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1919B-B9F4-437B-82ED-321BFF775433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3776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262B7A-CB9A-42A6-9055-72ECF367CF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163A7-7D69-4DF9-B91A-38C6BE889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6D09E-35DD-465D-9182-69F6D28AAB1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GAS REGULATOR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FF17D-8222-40FC-B4CF-1B2793E1FDF7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Interpretation: a competition between enrichment and dilution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7195DA-205A-4A29-9AA5-A929440B9575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2571750" cy="781050"/>
          </a:xfrm>
          <a:prstGeom prst="rect">
            <a:avLst/>
          </a:prstGeom>
          <a:solidFill>
            <a:srgbClr val="E7EDF5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F425A-9F53-49E5-A05D-7BD0C070360E}"/>
              </a:ext>
            </a:extLst>
          </p:cNvPr>
          <p:cNvSpPr>
            <a:spLocks noGrp="1"/>
          </p:cNvSpPr>
          <p:nvPr/>
        </p:nvSpPr>
        <p:spPr>
          <a:xfrm>
            <a:off x="1085850" y="1847850"/>
            <a:ext cx="21526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2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Gas supply variation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508FD-2856-4404-937A-5486BAAF41A9}"/>
              </a:ext>
            </a:extLst>
          </p:cNvPr>
          <p:cNvSpPr>
            <a:spLocks noGrp="1"/>
          </p:cNvSpPr>
          <p:nvPr/>
        </p:nvSpPr>
        <p:spPr>
          <a:xfrm>
            <a:off x="1123950" y="2114550"/>
            <a:ext cx="2095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75" b="0">
                <a:solidFill>
                  <a:srgbClr val="34405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more fresh gas -&gt; higher SFR, lower O/H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2BD84-490A-4402-BA1A-A2D3F6F281E8}"/>
              </a:ext>
            </a:extLst>
          </p:cNvPr>
          <p:cNvSpPr>
            <a:spLocks noGrp="1"/>
          </p:cNvSpPr>
          <p:nvPr/>
        </p:nvSpPr>
        <p:spPr>
          <a:xfrm>
            <a:off x="4800600" y="1581150"/>
            <a:ext cx="2571750" cy="8572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F9472-9E06-4B03-A9F7-9DEE18D7B871}"/>
              </a:ext>
            </a:extLst>
          </p:cNvPr>
          <p:cNvSpPr>
            <a:spLocks noGrp="1"/>
          </p:cNvSpPr>
          <p:nvPr/>
        </p:nvSpPr>
        <p:spPr>
          <a:xfrm>
            <a:off x="5029200" y="1809750"/>
            <a:ext cx="211455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HII-region regime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8A62E-EF86-4AA8-8B34-2B43BCC2C02A}"/>
              </a:ext>
            </a:extLst>
          </p:cNvPr>
          <p:cNvSpPr>
            <a:spLocks noGrp="1"/>
          </p:cNvSpPr>
          <p:nvPr/>
        </p:nvSpPr>
        <p:spPr>
          <a:xfrm>
            <a:off x="5067300" y="2114550"/>
            <a:ext cx="2038350" cy="1714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75" b="0">
                <a:solidFill>
                  <a:srgbClr val="67D5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D5FF"/>
                </a:solidFill>
                <a:latin typeface="Aptos"/>
                <a:ea typeface="Aptos"/>
                <a:cs typeface="Aptos"/>
              </a:rPr>
              <a:t>set by Sigma_* and gas-cycle variability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678EA5-5AD5-4244-A9D6-E211CDFE21CB}"/>
              </a:ext>
            </a:extLst>
          </p:cNvPr>
          <p:cNvSpPr>
            <a:spLocks noGrp="1"/>
          </p:cNvSpPr>
          <p:nvPr/>
        </p:nvSpPr>
        <p:spPr>
          <a:xfrm>
            <a:off x="8686800" y="1619250"/>
            <a:ext cx="2571750" cy="781050"/>
          </a:xfrm>
          <a:prstGeom prst="rect">
            <a:avLst/>
          </a:prstGeom>
          <a:solidFill>
            <a:srgbClr val="E7EDF5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FDDAFA-D2F5-42D0-934F-285F05BD219A}"/>
              </a:ext>
            </a:extLst>
          </p:cNvPr>
          <p:cNvSpPr>
            <a:spLocks noGrp="1"/>
          </p:cNvSpPr>
          <p:nvPr/>
        </p:nvSpPr>
        <p:spPr>
          <a:xfrm>
            <a:off x="8896350" y="1847850"/>
            <a:ext cx="2152650" cy="2095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5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SFE / enrichment variation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1D6FA8-2309-44B6-BFC1-72A274C39F03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1336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75" b="0">
                <a:solidFill>
                  <a:srgbClr val="34405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more efficient SF -&gt; higher SFR, higher O/H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9EFA79-0188-42A8-B167-7E4FA2BD8B49}"/>
              </a:ext>
            </a:extLst>
          </p:cNvPr>
          <p:cNvSpPr>
            <a:spLocks noGrp="1"/>
          </p:cNvSpPr>
          <p:nvPr/>
        </p:nvSpPr>
        <p:spPr>
          <a:xfrm>
            <a:off x="3476625" y="2000250"/>
            <a:ext cx="1238250" cy="38100"/>
          </a:xfrm>
          <a:prstGeom prst="rect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EFEFB334-D524-4E5D-8DA3-D378E41321D6}"/>
              </a:ext>
            </a:extLst>
          </p:cNvPr>
          <p:cNvSpPr>
            <a:spLocks noGrp="1"/>
          </p:cNvSpPr>
          <p:nvPr/>
        </p:nvSpPr>
        <p:spPr>
          <a:xfrm rot="5400000">
            <a:off x="4638675" y="1943100"/>
            <a:ext cx="152400" cy="152400"/>
          </a:xfrm>
          <a:prstGeom prst="triangle">
            <a:avLst/>
          </a:prstGeom>
          <a:solidFill>
            <a:srgbClr val="6D91F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37417A-B01A-4B98-AD73-338AABBA22C3}"/>
              </a:ext>
            </a:extLst>
          </p:cNvPr>
          <p:cNvSpPr>
            <a:spLocks noGrp="1"/>
          </p:cNvSpPr>
          <p:nvPr/>
        </p:nvSpPr>
        <p:spPr>
          <a:xfrm>
            <a:off x="7381875" y="2000250"/>
            <a:ext cx="1228725" cy="38100"/>
          </a:xfrm>
          <a:prstGeom prst="rect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6DD61BF-403C-442F-9C1C-2D26CF30BC6B}"/>
              </a:ext>
            </a:extLst>
          </p:cNvPr>
          <p:cNvSpPr>
            <a:spLocks noGrp="1"/>
          </p:cNvSpPr>
          <p:nvPr/>
        </p:nvSpPr>
        <p:spPr>
          <a:xfrm rot="5400000">
            <a:off x="8534400" y="1943100"/>
            <a:ext cx="152400" cy="152400"/>
          </a:xfrm>
          <a:prstGeom prst="triangle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B6FDE1-99C2-4E32-AF8A-9576EE4C6EBD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9429750" cy="8763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2D7713-EECF-4429-929D-C35025FCDBD9}"/>
              </a:ext>
            </a:extLst>
          </p:cNvPr>
          <p:cNvSpPr>
            <a:spLocks noGrp="1"/>
          </p:cNvSpPr>
          <p:nvPr/>
        </p:nvSpPr>
        <p:spPr>
          <a:xfrm>
            <a:off x="1504950" y="3733800"/>
            <a:ext cx="87058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2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Low-Sigma_* regions are more dilution sensitive; high-Sigma_* regions are more enrichment/SFE sensitive.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BC90EF-9B1B-4D4E-8BBA-ADBF918FD0E8}"/>
              </a:ext>
            </a:extLst>
          </p:cNvPr>
          <p:cNvSpPr>
            <a:spLocks noGrp="1"/>
          </p:cNvSpPr>
          <p:nvPr/>
        </p:nvSpPr>
        <p:spPr>
          <a:xfrm>
            <a:off x="1981200" y="4762500"/>
            <a:ext cx="77152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D66EB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That is why a single global metallicity-SFR anti-correlation is not the right local description.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7748B0-DAEB-4387-81C0-0BFD6A515B68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59AC72-D032-41CF-B508-270F53611E08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1946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23D25E4-ED81-40CC-9B07-466E6181FA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E075C-D504-4E78-8755-8DAAED9E3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CABCC-CFF0-4439-B981-DE225A169DE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AF3B2-6BD5-4027-B37B-C969E5CDAEC0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Robustness: O3N2 is central, but diagnostics matter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303350"/>
            <a:ext cx="6572250" cy="27654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44993" y="4305300"/>
            <a:ext cx="1815764" cy="1714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A32C8A-6118-462B-BEB1-3D7021F59930}"/>
              </a:ext>
            </a:extLst>
          </p:cNvPr>
          <p:cNvSpPr>
            <a:spLocks noGrp="1"/>
          </p:cNvSpPr>
          <p:nvPr/>
        </p:nvSpPr>
        <p:spPr>
          <a:xfrm>
            <a:off x="7715250" y="1390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B387B-7D5A-447B-ABB2-A674A6E21969}"/>
              </a:ext>
            </a:extLst>
          </p:cNvPr>
          <p:cNvSpPr>
            <a:spLocks noGrp="1"/>
          </p:cNvSpPr>
          <p:nvPr/>
        </p:nvSpPr>
        <p:spPr>
          <a:xfrm>
            <a:off x="7715250" y="1390650"/>
            <a:ext cx="76200" cy="8382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EBD40-5221-443F-A78D-49CC300CA4F7}"/>
              </a:ext>
            </a:extLst>
          </p:cNvPr>
          <p:cNvSpPr>
            <a:spLocks noGrp="1"/>
          </p:cNvSpPr>
          <p:nvPr/>
        </p:nvSpPr>
        <p:spPr>
          <a:xfrm>
            <a:off x="7905750" y="15430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What is robust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61077-5192-47F2-A1BC-9D2AD5DD053F}"/>
              </a:ext>
            </a:extLst>
          </p:cNvPr>
          <p:cNvSpPr>
            <a:spLocks noGrp="1"/>
          </p:cNvSpPr>
          <p:nvPr/>
        </p:nvSpPr>
        <p:spPr>
          <a:xfrm>
            <a:off x="7905750" y="1885950"/>
            <a:ext cx="2800350" cy="2476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O3N2 calibrations show the clearest mass-dependent inversion.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BBA59-D655-45AA-B93B-AFB262C0225B}"/>
              </a:ext>
            </a:extLst>
          </p:cNvPr>
          <p:cNvSpPr>
            <a:spLocks noGrp="1"/>
          </p:cNvSpPr>
          <p:nvPr/>
        </p:nvSpPr>
        <p:spPr>
          <a:xfrm>
            <a:off x="7715250" y="2533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7D4708-FF4D-4634-A497-F78F24417E26}"/>
              </a:ext>
            </a:extLst>
          </p:cNvPr>
          <p:cNvSpPr>
            <a:spLocks noGrp="1"/>
          </p:cNvSpPr>
          <p:nvPr/>
        </p:nvSpPr>
        <p:spPr>
          <a:xfrm>
            <a:off x="7715250" y="2533650"/>
            <a:ext cx="76200" cy="8382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700FE3-5BB7-4DD1-A0F1-4F691DB75AE3}"/>
              </a:ext>
            </a:extLst>
          </p:cNvPr>
          <p:cNvSpPr>
            <a:spLocks noGrp="1"/>
          </p:cNvSpPr>
          <p:nvPr/>
        </p:nvSpPr>
        <p:spPr>
          <a:xfrm>
            <a:off x="7905750" y="26860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What is not universal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7929BD-F220-4DA2-9974-FFD7A8062086}"/>
              </a:ext>
            </a:extLst>
          </p:cNvPr>
          <p:cNvSpPr>
            <a:spLocks noGrp="1"/>
          </p:cNvSpPr>
          <p:nvPr/>
        </p:nvSpPr>
        <p:spPr>
          <a:xfrm>
            <a:off x="7905750" y="3028950"/>
            <a:ext cx="2800350" cy="2476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The strength and even visibility of the trend depend on metallicity indicator and excitation selection.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CE46EB-3860-479C-8E20-07D39C8713E5}"/>
              </a:ext>
            </a:extLst>
          </p:cNvPr>
          <p:cNvSpPr>
            <a:spLocks noGrp="1"/>
          </p:cNvSpPr>
          <p:nvPr/>
        </p:nvSpPr>
        <p:spPr>
          <a:xfrm>
            <a:off x="7715250" y="3676650"/>
            <a:ext cx="3143250" cy="8382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4DBD4-0D12-4EE8-86A0-7264672FFEDB}"/>
              </a:ext>
            </a:extLst>
          </p:cNvPr>
          <p:cNvSpPr>
            <a:spLocks noGrp="1"/>
          </p:cNvSpPr>
          <p:nvPr/>
        </p:nvSpPr>
        <p:spPr>
          <a:xfrm>
            <a:off x="7715250" y="3676650"/>
            <a:ext cx="76200" cy="838200"/>
          </a:xfrm>
          <a:prstGeom prst="rect">
            <a:avLst/>
          </a:prstGeom>
          <a:solidFill>
            <a:srgbClr val="EF6A6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105A4-9DAD-44A3-AFC9-0A6C11A78527}"/>
              </a:ext>
            </a:extLst>
          </p:cNvPr>
          <p:cNvSpPr>
            <a:spLocks noGrp="1"/>
          </p:cNvSpPr>
          <p:nvPr/>
        </p:nvSpPr>
        <p:spPr>
          <a:xfrm>
            <a:off x="7905750" y="38290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Physical caveat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0934B-5692-42E7-ABBC-D05CDAA1FEB1}"/>
              </a:ext>
            </a:extLst>
          </p:cNvPr>
          <p:cNvSpPr>
            <a:spLocks noGrp="1"/>
          </p:cNvSpPr>
          <p:nvPr/>
        </p:nvSpPr>
        <p:spPr>
          <a:xfrm>
            <a:off x="7905750" y="4171950"/>
            <a:ext cx="2800350" cy="2476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NGC4383 is treated separately because the outflow system is physically distinct.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F44203-D3D5-4097-9F0F-46B4BD60601E}"/>
              </a:ext>
            </a:extLst>
          </p:cNvPr>
          <p:cNvSpPr>
            <a:spLocks noGrp="1"/>
          </p:cNvSpPr>
          <p:nvPr/>
        </p:nvSpPr>
        <p:spPr>
          <a:xfrm>
            <a:off x="7715250" y="5010150"/>
            <a:ext cx="3143250" cy="4000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So the result is a resolved-regime statement, not a claim that every calibration gives the same secondary relation.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A24B3-0CB4-4E55-908C-FFAE42337816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EAS2026 SS7 | MAUVE-MUSE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5B0CAC-E7BD-49E6-8CE7-36A70E68215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545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4C443CD-BDCA-44CE-806B-20FCCDAFED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D4BC7-0F3D-4E30-878B-02DD85770C6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810750" cy="4953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Take-home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1E294-A358-4768-95BD-5727833016F3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95250" cy="95250"/>
          </a:xfrm>
          <a:prstGeom prst="rect">
            <a:avLst/>
          </a:prstGeom>
          <a:solidFill>
            <a:srgbClr val="67D5F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658F3-B08B-4942-A511-9986208E2F41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834390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 ~100 pc, MAUVE-MUSE recovers a standard resolved mass-metallicity relation.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C0780-3383-4C71-9D12-32DB48B8F730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95250" cy="95250"/>
          </a:xfrm>
          <a:prstGeom prst="rect">
            <a:avLst/>
          </a:prstGeom>
          <a:solidFill>
            <a:srgbClr val="67D5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CE4088-B531-4B27-A8A5-EAFC11742BC6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834390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metallicity-SFR coupling changes sign with local Sigma_*: dilution at low Sigma_*, enrichment/SFE at high Sigma_*.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CC9FD-47BC-4ADB-9C79-501F487D3BB3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95250" cy="95250"/>
          </a:xfrm>
          <a:prstGeom prst="rect">
            <a:avLst/>
          </a:prstGeom>
          <a:solidFill>
            <a:srgbClr val="67D5F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8ADB6-2C9A-44E7-ADF7-69B662774BA5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834390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Unresolved measurements mix these HII-region regimes, so integrated trends hide local physics.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DA9544-754A-40AD-A5AD-3F61AE95806F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4000500" cy="3619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325" b="1">
                <a:solidFill>
                  <a:srgbClr val="F0B45C"/>
                </a:solidFill>
                <a:latin typeface="Aptos"/>
                <a:ea typeface="Aptos"/>
                <a:cs typeface="Aptos"/>
              </a:rPr>
              <a:t>Thank you - questions?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231E0-80B0-446D-BE2E-3C2C45C3CB93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7239000" cy="2476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MAUVE Team / MNRAS in press / arXiv:2605.31412</a:t>
            </a:r>
          </a:p>
        </p:txBody>
      </p:sp>
    </p:spTree>
    <p:extLst>
      <p:ext uri="{BB962C8B-B14F-4D97-AF65-F5344CB8AC3E}">
        <p14:creationId xmlns:p14="http://schemas.microsoft.com/office/powerpoint/2010/main" val="72453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D0E349-E963-45E3-BB8A-AB3398BA5B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E1A75D-4CBD-47C2-BE6D-EB0ADEC15466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723900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68590-3FB0-4738-BCE4-F920B40FF489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8096250" cy="3238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50" b="0">
                <a:solidFill>
                  <a:srgbClr val="67D5FF"/>
                </a:solidFill>
                <a:latin typeface="Aptos"/>
                <a:ea typeface="Aptos"/>
                <a:cs typeface="Aptos"/>
              </a:rPr>
              <a:t>Full figures and technical details if asked</a:t>
            </a:r>
          </a:p>
        </p:txBody>
      </p:sp>
    </p:spTree>
    <p:extLst>
      <p:ext uri="{BB962C8B-B14F-4D97-AF65-F5344CB8AC3E}">
        <p14:creationId xmlns:p14="http://schemas.microsoft.com/office/powerpoint/2010/main" val="16846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A01CCD-6BEB-41FE-BD34-1BDA650837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3F6835-AD47-49FD-B32D-152BE5B77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67E64-F350-4E9E-BEA0-D048CCD8EE5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68A35-BED6-4668-9630-C9F07C220FB2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full rMZR and O/H-Sigma_SFR figure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72026" y="1095375"/>
            <a:ext cx="7095449" cy="5381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B6B747-F284-4504-9312-EAE4AEB7B922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6DFF73-8F9F-404F-A46F-72295DBE5F9C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1470634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58B93C-FD6A-4B04-B612-C6DD923064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C8B9CE-9485-493C-94DF-8EC180C9D8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B95E48-A1DE-42CE-95BB-4DCF205CCBD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FD546-D65A-4C21-B18B-E0F973195B20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calibration and excitation-selection dependence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74772" y="1104900"/>
            <a:ext cx="5699481" cy="5381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93241B-C911-45DA-B4D3-BA148B39184B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2736D-A830-4AF9-85C6-1AE79F03459B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11552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608071-9B7F-4C39-A6CF-54E899B0D2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FBB567-1291-4884-9762-8C14F30D2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33FDE-5738-4E78-85EA-EEA3A982B58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100965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1">
                <a:solidFill>
                  <a:srgbClr val="D66EB4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9B907-E765-476F-8211-A7F18A92488E}"/>
              </a:ext>
            </a:extLst>
          </p:cNvPr>
          <p:cNvSpPr>
            <a:spLocks noGrp="1"/>
          </p:cNvSpPr>
          <p:nvPr/>
        </p:nvSpPr>
        <p:spPr>
          <a:xfrm>
            <a:off x="514350" y="476250"/>
            <a:ext cx="10287000" cy="552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Backup: pipeline details kept out of the main talk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957F3-C73F-480D-A478-FBE5A78D2461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10E85-B373-4339-85D5-63453725F193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76200" cy="1257300"/>
          </a:xfrm>
          <a:prstGeom prst="rect">
            <a:avLst/>
          </a:prstGeom>
          <a:solidFill>
            <a:srgbClr val="D66EB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02133-DB05-444A-8976-6A9E70827ADC}"/>
              </a:ext>
            </a:extLst>
          </p:cNvPr>
          <p:cNvSpPr>
            <a:spLocks noGrp="1"/>
          </p:cNvSpPr>
          <p:nvPr/>
        </p:nvSpPr>
        <p:spPr>
          <a:xfrm>
            <a:off x="102870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Mass.py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851F2-9462-44E6-B574-F79E7CC6B915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nGIST SFH weights + SSP mass-to-light ratio + photometric flux corrections -&gt; Sigma_* map.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B76E3D-D0C3-46CF-ADCD-7F58F8D8499C}"/>
              </a:ext>
            </a:extLst>
          </p:cNvPr>
          <p:cNvSpPr>
            <a:spLocks noGrp="1"/>
          </p:cNvSpPr>
          <p:nvPr/>
        </p:nvSpPr>
        <p:spPr>
          <a:xfrm>
            <a:off x="451485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362C2-7C40-451D-BFD0-15D961289630}"/>
              </a:ext>
            </a:extLst>
          </p:cNvPr>
          <p:cNvSpPr>
            <a:spLocks noGrp="1"/>
          </p:cNvSpPr>
          <p:nvPr/>
        </p:nvSpPr>
        <p:spPr>
          <a:xfrm>
            <a:off x="4514850" y="1504950"/>
            <a:ext cx="76200" cy="1257300"/>
          </a:xfrm>
          <a:prstGeom prst="rect">
            <a:avLst/>
          </a:prstGeom>
          <a:solidFill>
            <a:srgbClr val="F0B45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6369B-E4CF-4D56-BF53-77D331102845}"/>
              </a:ext>
            </a:extLst>
          </p:cNvPr>
          <p:cNvSpPr>
            <a:spLocks noGrp="1"/>
          </p:cNvSpPr>
          <p:nvPr/>
        </p:nvSpPr>
        <p:spPr>
          <a:xfrm>
            <a:off x="470535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SFR+Z.py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BC3C7-E28B-4550-A93F-AD8F73116B9D}"/>
              </a:ext>
            </a:extLst>
          </p:cNvPr>
          <p:cNvSpPr>
            <a:spLocks noGrp="1"/>
          </p:cNvSpPr>
          <p:nvPr/>
        </p:nvSpPr>
        <p:spPr>
          <a:xfrm>
            <a:off x="470535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Balmer-corrected H-alpha luminosity + inclination correction -&gt; Sigma_SFR map.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8043BE-787F-4949-A2CF-6C6A51579848}"/>
              </a:ext>
            </a:extLst>
          </p:cNvPr>
          <p:cNvSpPr>
            <a:spLocks noGrp="1"/>
          </p:cNvSpPr>
          <p:nvPr/>
        </p:nvSpPr>
        <p:spPr>
          <a:xfrm>
            <a:off x="8191500" y="1504950"/>
            <a:ext cx="3143250" cy="1257300"/>
          </a:xfrm>
          <a:prstGeom prst="rect">
            <a:avLst/>
          </a:prstGeom>
          <a:solidFill>
            <a:srgbClr val="EE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ECD29A-CF8E-4DB8-8F8A-BFDA4619E052}"/>
              </a:ext>
            </a:extLst>
          </p:cNvPr>
          <p:cNvSpPr>
            <a:spLocks noGrp="1"/>
          </p:cNvSpPr>
          <p:nvPr/>
        </p:nvSpPr>
        <p:spPr>
          <a:xfrm>
            <a:off x="8191500" y="1504950"/>
            <a:ext cx="76200" cy="1257300"/>
          </a:xfrm>
          <a:prstGeom prst="rect">
            <a:avLst/>
          </a:prstGeom>
          <a:solidFill>
            <a:srgbClr val="3B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0CDA8-631C-4F62-9825-1FA9DC20E59D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2800350" cy="2667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5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SFR+Z.py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BA697-5535-481F-A091-F74CC69C3C3E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2800350" cy="666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88" b="0">
                <a:solidFill>
                  <a:srgbClr val="344053"/>
                </a:solidFill>
                <a:latin typeface="Aptos"/>
                <a:ea typeface="Aptos"/>
                <a:cs typeface="Aptos"/>
              </a:rPr>
              <a:t>BPT-selected HII-region spaxels + O3N2-M13 fiducial calibration -&gt; 12+log(O/H).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8B71B-5993-47AE-A1C5-C73DCB43B463}"/>
              </a:ext>
            </a:extLst>
          </p:cNvPr>
          <p:cNvSpPr>
            <a:spLocks noGrp="1"/>
          </p:cNvSpPr>
          <p:nvPr/>
        </p:nvSpPr>
        <p:spPr>
          <a:xfrm>
            <a:off x="1238250" y="3752850"/>
            <a:ext cx="9334500" cy="742950"/>
          </a:xfrm>
          <a:prstGeom prst="rect">
            <a:avLst/>
          </a:prstGeom>
          <a:solidFill>
            <a:srgbClr val="08111F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AB5B5A-60D0-4CB4-BBEE-389BB2229FB6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8810625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Main-talk wording avoids code names; this slide preserves the technical path for questions.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5D4A2F-1CB6-4EB7-A89F-EEAC2F3C1634}"/>
              </a:ext>
            </a:extLst>
          </p:cNvPr>
          <p:cNvSpPr>
            <a:spLocks noGrp="1"/>
          </p:cNvSpPr>
          <p:nvPr/>
        </p:nvSpPr>
        <p:spPr>
          <a:xfrm>
            <a:off x="514350" y="6553200"/>
            <a:ext cx="7429500" cy="1714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8D86DC-0135-4824-8335-CB6F4511609A}"/>
              </a:ext>
            </a:extLst>
          </p:cNvPr>
          <p:cNvSpPr>
            <a:spLocks noGrp="1"/>
          </p:cNvSpPr>
          <p:nvPr/>
        </p:nvSpPr>
        <p:spPr>
          <a:xfrm>
            <a:off x="10820400" y="6553200"/>
            <a:ext cx="952500" cy="17145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75" b="0">
                <a:solidFill>
                  <a:srgbClr val="6974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489"/>
                </a:solidFill>
                <a:latin typeface="Aptos"/>
                <a:ea typeface="Aptos"/>
                <a:cs typeface="Aptos"/>
              </a:rPr>
              <a:t>B3</a:t>
            </a:r>
          </a:p>
        </p:txBody>
      </p:sp>
    </p:spTree>
    <p:extLst>
      <p:ext uri="{BB962C8B-B14F-4D97-AF65-F5344CB8AC3E}">
        <p14:creationId xmlns:p14="http://schemas.microsoft.com/office/powerpoint/2010/main" val="99390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Macintosh PowerPoint</Application>
  <DocSecurity>0</DocSecurity>
  <PresentationFormat>Widescreen</PresentationFormat>
  <Paragraphs>133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Rongjun Huang</cp:lastModifiedBy>
  <cp:revision>1</cp:revision>
  <dcterms:created xsi:type="dcterms:W3CDTF">2026-06-12T05:35:20Z</dcterms:created>
  <dcterms:modified xsi:type="dcterms:W3CDTF">2026-06-12T05:48:08Z</dcterms:modified>
</cp:coreProperties>
</file>