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8" r:id="rId14"/>
    <p:sldId id="269" r:id="rId15"/>
    <p:sldId id="270" r:id="rId16"/>
  </p:sldIdLst>
  <p:sldSz cx="12192000" cy="6858000"/>
  <p:notesSz cx="6858000" cy="9144000"/>
  <p:defaultTextStyle>
    <a:defPPr>
      <a:defRPr lang="en-US"/>
    </a:defPPr>
    <a:lvl1pPr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–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94658"/>
  </p:normalViewPr>
  <p:slideViewPr>
    <p:cSldViewPr snapToGrid="0">
      <p:cViewPr varScale="1">
        <p:scale>
          <a:sx n="120" d="100"/>
          <a:sy n="120" d="100"/>
        </p:scale>
        <p:origin x="800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4" Type="http://schemas.openxmlformats.org/officeDocument/2006/relationships/slide" Target="slides/slide12.xml"/><Relationship Id="rId15" Type="http://schemas.openxmlformats.org/officeDocument/2006/relationships/slide" Target="slides/slide13.xml"/><Relationship Id="rId16" Type="http://schemas.openxmlformats.org/officeDocument/2006/relationships/slide" Target="slides/slide14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611AE1-127A-3023-F659-3FD22641616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buNone/>
              <a:defRPr sz="6000"/>
            </a:lvl1pPr>
          </a:lstStyle>
          <a:p>
            <a:r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7CB9D9E-5F05-D3A2-7D5F-9BE20356FC5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239282A-BA51-F346-FFA2-D521B3A439F8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D91D3E95-69F1-014A-95DE-8FDF009C0742}" type="datetime1">
              <a:t>6/12/26</a:t>
            </a:fld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B13BD9A-6D2D-4B7A-2453-3B19AE79F5A4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2AC5182-4643-9CF6-2DD6-0FAB3CE57C65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D14F06C3-B991-414A-9261-5E4DE6471F2C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DEEBD2-1D8F-82C4-74EF-0BDD53DEDD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4EAF612-95D5-37C2-785C-FEA083AE69A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t>Click to edit Master text styles</a:t>
            </a:r>
          </a:p>
          <a:p>
            <a:pPr>
              <a:buNone/>
            </a:pPr>
            <a:r>
              <a:t>Second level</a:t>
            </a:r>
          </a:p>
          <a:p>
            <a:pPr>
              <a:buNone/>
            </a:pPr>
            <a:r>
              <a:t>Third level</a:t>
            </a:r>
          </a:p>
          <a:p>
            <a:pPr>
              <a:buNone/>
            </a:pPr>
            <a:r>
              <a:t>Fourth level</a:t>
            </a:r>
          </a:p>
          <a:p>
            <a:pPr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5BCFE0D-844E-57A2-9E33-6719D11ABCC7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F02EC169-B557-9E42-927E-4E7C38180AB6}" type="datetime1">
              <a:t>6/12/26</a:t>
            </a:fld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B55757A-AB38-4D74-1AC8-78855E0CC78E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1378970-F86B-3410-36D1-9D47FFFE3BFB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9448800" y="6495317"/>
            <a:ext cx="2743200" cy="365125"/>
          </a:xfrm>
        </p:spPr>
        <p:txBody>
          <a:bodyPr/>
          <a:lstStyle>
            <a:lvl1pPr>
              <a:buNone/>
              <a:defRPr sz="1400">
                <a:solidFill>
                  <a:srgbClr val="FFFF00"/>
                </a:solidFill>
              </a:defRPr>
            </a:lvl1pPr>
          </a:lstStyle>
          <a:p>
            <a:fld id="{D14F06C3-B991-414A-9261-5E4DE6471F2C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13142F-1FB5-5DD8-D67F-7E80E8C1AD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buNone/>
              <a:defRPr sz="6000"/>
            </a:lvl1pPr>
          </a:lstStyle>
          <a:p>
            <a:r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A77162C-B397-4883-5C10-0E6053D7DCB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>
              <a:buNone/>
            </a:pPr>
            <a:r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3554CFF-C7E5-DD0D-DC61-C41A910C1A46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1D5790D0-4130-7040-A9D4-9344034032ED}" type="datetime1">
              <a:t>6/12/26</a:t>
            </a:fld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A7D3345-62A7-0789-C22E-372FBB4318F6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3C6F29C-AC80-15DE-1C37-3DEF0FE496A6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D14F06C3-B991-414A-9261-5E4DE6471F2C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2B77B5-5B3F-334A-AC86-A61A86B942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99480B-4434-EE3D-1FA5-E95DAFD3C8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>
              <a:buNone/>
            </a:pPr>
            <a:r>
              <a:t>Click to edit Master text styles</a:t>
            </a:r>
          </a:p>
          <a:p>
            <a:pPr>
              <a:buNone/>
            </a:pPr>
            <a:r>
              <a:t>Second level</a:t>
            </a:r>
          </a:p>
          <a:p>
            <a:pPr>
              <a:buNone/>
            </a:pPr>
            <a:r>
              <a:t>Third level</a:t>
            </a:r>
          </a:p>
          <a:p>
            <a:pPr>
              <a:buNone/>
            </a:pPr>
            <a:r>
              <a:t>Fourth level</a:t>
            </a:r>
          </a:p>
          <a:p>
            <a:pPr>
              <a:buNone/>
            </a:pPr>
            <a:r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3413A39-C77C-A304-9BA1-1A210F133C1F}"/>
              </a:ext>
            </a:extLst>
          </p:cNvPr>
          <p:cNvSpPr>
            <a:spLocks noGrp="1"/>
          </p:cNvSpPr>
          <p:nvPr>
            <p:ph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>
              <a:buNone/>
            </a:pPr>
            <a:r>
              <a:t>Click to edit Master text styles</a:t>
            </a:r>
          </a:p>
          <a:p>
            <a:pPr>
              <a:buNone/>
            </a:pPr>
            <a:r>
              <a:t>Second level</a:t>
            </a:r>
          </a:p>
          <a:p>
            <a:pPr>
              <a:buNone/>
            </a:pPr>
            <a:r>
              <a:t>Third level</a:t>
            </a:r>
          </a:p>
          <a:p>
            <a:pPr>
              <a:buNone/>
            </a:pPr>
            <a:r>
              <a:t>Fourth level</a:t>
            </a:r>
          </a:p>
          <a:p>
            <a:pPr>
              <a:buNone/>
            </a:pPr>
            <a:r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E14E287-94AC-E572-4717-FC3A96EF679D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8F743BA8-4DB1-3E4C-AB24-2681A0CDBBDB}" type="datetime1">
              <a:t>6/12/26</a:t>
            </a:fld>
            <a:endParaRPr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E59B305-8E7D-F664-7847-9B349CB5CFE5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7F1A6B7-6F9D-F40A-A69B-D3F0CF86A65B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D14F06C3-B991-414A-9261-5E4DE6471F2C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EDD932-6E14-6D46-3A79-7D92848869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EE0F92F-B270-4FC8-9522-51F9D227F31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>
              <a:buNone/>
            </a:pPr>
            <a:r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99AEAA9-9846-8F45-AFED-57EE31EE8B59}"/>
              </a:ext>
            </a:extLst>
          </p:cNvPr>
          <p:cNvSpPr>
            <a:spLocks noGrp="1"/>
          </p:cNvSpPr>
          <p:nvPr>
            <p:ph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>
              <a:buNone/>
            </a:pPr>
            <a:r>
              <a:t>Click to edit Master text styles</a:t>
            </a:r>
          </a:p>
          <a:p>
            <a:pPr>
              <a:buNone/>
            </a:pPr>
            <a:r>
              <a:t>Second level</a:t>
            </a:r>
          </a:p>
          <a:p>
            <a:pPr>
              <a:buNone/>
            </a:pPr>
            <a:r>
              <a:t>Third level</a:t>
            </a:r>
          </a:p>
          <a:p>
            <a:pPr>
              <a:buNone/>
            </a:pPr>
            <a:r>
              <a:t>Fourth level</a:t>
            </a:r>
          </a:p>
          <a:p>
            <a:pPr>
              <a:buNone/>
            </a:pPr>
            <a:r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00E4FB8-8A8C-A0A0-D61B-99E493EAF54C}"/>
              </a:ext>
            </a:extLst>
          </p:cNvPr>
          <p:cNvSpPr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>
              <a:buNone/>
            </a:pPr>
            <a:r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90042A3-2101-F429-888C-12B0084E16A3}"/>
              </a:ext>
            </a:extLst>
          </p:cNvPr>
          <p:cNvSpPr>
            <a:spLocks noGrp="1"/>
          </p:cNvSpPr>
          <p:nvPr>
            <p:ph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>
              <a:buNone/>
            </a:pPr>
            <a:r>
              <a:t>Click to edit Master text styles</a:t>
            </a:r>
          </a:p>
          <a:p>
            <a:pPr>
              <a:buNone/>
            </a:pPr>
            <a:r>
              <a:t>Second level</a:t>
            </a:r>
          </a:p>
          <a:p>
            <a:pPr>
              <a:buNone/>
            </a:pPr>
            <a:r>
              <a:t>Third level</a:t>
            </a:r>
          </a:p>
          <a:p>
            <a:pPr>
              <a:buNone/>
            </a:pPr>
            <a:r>
              <a:t>Fourth level</a:t>
            </a:r>
          </a:p>
          <a:p>
            <a:pPr>
              <a:buNone/>
            </a:pPr>
            <a:r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9213B5C-453E-F087-3CE2-32D87BC4030A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1FE9DDC1-D8D2-2143-8972-448CE37CDA25}" type="datetime1">
              <a:t>6/12/26</a:t>
            </a:fld>
            <a:endParaRPr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899A321-3C9B-3999-8027-E29E975140C7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465E17C-0F37-E921-12D2-765341772FF2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D14F06C3-B991-414A-9261-5E4DE6471F2C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56FF74-6E60-09CB-2CD6-5D01EFE3F5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5F2DC52-A8D2-2F0C-B8FC-ED21A609764C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095483A8-CC1F-3D4F-819F-BAE8E5152408}" type="datetime1">
              <a:t>6/12/26</a:t>
            </a:fld>
            <a:endParaRPr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F23DE21-50E6-92E6-6502-A39F4230188C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C4EB879-FEC4-C6B3-8613-67B535F00169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D14F06C3-B991-414A-9261-5E4DE6471F2C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53DF0D1-440F-8B91-8B91-D44FE810C82D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F79BA6D1-D24B-2743-A2A0-4A09CAE3DEA7}" type="datetime1">
              <a:t>6/12/26</a:t>
            </a:fld>
            <a:endParaRPr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3F4090F-CA60-3A3B-FCB8-17BAEDB15872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80E138B-7661-EFE6-57CB-A464153AB0CF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D14F06C3-B991-414A-9261-5E4DE6471F2C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720869-51A8-B357-75AA-370DB23504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buNone/>
              <a:defRPr sz="3200"/>
            </a:lvl1pPr>
          </a:lstStyle>
          <a:p>
            <a:r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AF2177A-99C1-79D7-2338-DCD9D602FC4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buNone/>
              <a:defRPr sz="3200"/>
            </a:lvl1pPr>
            <a:lvl2pPr>
              <a:buNone/>
              <a:defRPr sz="2800"/>
            </a:lvl2pPr>
            <a:lvl3pPr>
              <a:buNone/>
              <a:defRPr sz="2400"/>
            </a:lvl3pPr>
            <a:lvl4pPr>
              <a:buNone/>
              <a:defRPr sz="2000"/>
            </a:lvl4pPr>
            <a:lvl5pPr>
              <a:buNone/>
              <a:defRPr sz="2000"/>
            </a:lvl5pPr>
            <a:lvl6pPr>
              <a:buNone/>
              <a:defRPr sz="2000"/>
            </a:lvl6pPr>
            <a:lvl7pPr>
              <a:buNone/>
              <a:defRPr sz="2000"/>
            </a:lvl7pPr>
            <a:lvl8pPr>
              <a:buNone/>
              <a:defRPr sz="2000"/>
            </a:lvl8pPr>
            <a:lvl9pPr>
              <a:buNone/>
              <a:defRPr sz="2000"/>
            </a:lvl9pPr>
          </a:lstStyle>
          <a:p>
            <a:pPr>
              <a:buNone/>
            </a:pPr>
            <a:r>
              <a:t>Click to edit Master text styles</a:t>
            </a:r>
          </a:p>
          <a:p>
            <a:pPr>
              <a:buNone/>
            </a:pPr>
            <a:r>
              <a:t>Second level</a:t>
            </a:r>
          </a:p>
          <a:p>
            <a:pPr>
              <a:buNone/>
            </a:pPr>
            <a:r>
              <a:t>Third level</a:t>
            </a:r>
          </a:p>
          <a:p>
            <a:pPr>
              <a:buNone/>
            </a:pPr>
            <a:r>
              <a:t>Fourth level</a:t>
            </a:r>
          </a:p>
          <a:p>
            <a:pPr>
              <a:buNone/>
            </a:pPr>
            <a:r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F540562-E610-476A-1C36-6D4D09256EE6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>
              <a:buNone/>
            </a:pPr>
            <a:r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24C55A0-6DC0-4536-8B0C-871514F8C472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E972E4E5-2532-8D46-832D-105BF7EAF174}" type="datetime1">
              <a:t>6/12/26</a:t>
            </a:fld>
            <a:endParaRPr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6DF5340-36E7-3EBA-92BF-E1B6207A9814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2DC50E4-60F5-9D8A-92A8-753D23821498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D14F06C3-B991-414A-9261-5E4DE6471F2C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9B8A69-1AE4-B6BF-36EF-D7A08AAB37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buNone/>
              <a:defRPr sz="3200"/>
            </a:lvl1pPr>
          </a:lstStyle>
          <a:p>
            <a:r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57CBE28-8228-5BB0-8679-E7534B00581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8436F5F-2865-4E61-8C5A-AB20F47AA5A1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>
              <a:buNone/>
            </a:pPr>
            <a:r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3A2288A-3CA4-127E-8DD7-E32158AE05F8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B76E59B7-59D9-E44A-9DCD-22E8030FAC5D}" type="datetime1">
              <a:t>6/12/26</a:t>
            </a:fld>
            <a:endParaRPr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51F285E-9B55-6B54-7591-09A807A0ACE6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04218CA-F34A-7480-49F9-9284B91CCCED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D14F06C3-B991-414A-9261-5E4DE6471F2C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BD3D46-293F-6510-2F7A-B32157831B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6EE9746-D068-D8E0-0D22-567ED1D8D6B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vert="eaVert"/>
          <a:lstStyle/>
          <a:p>
            <a:pPr>
              <a:buNone/>
            </a:pPr>
            <a:r>
              <a:t>Click to edit Master text styles</a:t>
            </a:r>
          </a:p>
          <a:p>
            <a:pPr>
              <a:buNone/>
            </a:pPr>
            <a:r>
              <a:t>Second level</a:t>
            </a:r>
          </a:p>
          <a:p>
            <a:pPr>
              <a:buNone/>
            </a:pPr>
            <a:r>
              <a:t>Third level</a:t>
            </a:r>
          </a:p>
          <a:p>
            <a:pPr>
              <a:buNone/>
            </a:pPr>
            <a:r>
              <a:t>Fourth level</a:t>
            </a:r>
          </a:p>
          <a:p>
            <a:pPr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0B914DF-3AED-5A48-D6CB-DC1EAB1C6FA0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FC6B833A-36E8-654B-89F9-FA0DC2EFB2E5}" type="datetime1">
              <a:t>6/12/26</a:t>
            </a:fld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6549F49-E23A-1923-12F1-D5D952FE7B2E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4791F60-CB72-CB88-5A85-194146E1B5FC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D14F06C3-B991-414A-9261-5E4DE6471F2C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7999B4E-BB04-B2FB-73B4-6954DBF67D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451B7BC-8908-D08D-E40F-C8672CCB649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>
              <a:buNone/>
            </a:pPr>
            <a:r>
              <a:t>Click to edit Master text styles</a:t>
            </a:r>
          </a:p>
          <a:p>
            <a:pPr>
              <a:buNone/>
            </a:pPr>
            <a:r>
              <a:t>Second level</a:t>
            </a:r>
          </a:p>
          <a:p>
            <a:pPr>
              <a:buNone/>
            </a:pPr>
            <a:r>
              <a:t>Third level</a:t>
            </a:r>
          </a:p>
          <a:p>
            <a:pPr>
              <a:buNone/>
            </a:pPr>
            <a:r>
              <a:t>Fourth level</a:t>
            </a:r>
          </a:p>
          <a:p>
            <a:pPr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E2FDBAF-752C-B98F-E759-E300B67AA16D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3B5A98B2-6D4A-2348-8FDF-E4DC17A844D9}" type="datetime1">
              <a:t>6/12/26</a:t>
            </a:fld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4BB0F69-FCA1-44CD-EB7D-3476EB8DC652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0294499-1144-993C-E38A-C5411B8A8E7F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D14F06C3-B991-414A-9261-5E4DE6471F2C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29261C0-C469-67B6-4CF7-D7B8B639BD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anchor="ctr">
            <a:normAutofit/>
          </a:bodyPr>
          <a:lstStyle/>
          <a:p>
            <a:r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B805A38-8C6C-9F40-E365-3AEE52773E7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>
            <a:normAutofit/>
          </a:bodyPr>
          <a:lstStyle/>
          <a:p>
            <a:pPr>
              <a:buNone/>
            </a:pPr>
            <a:r>
              <a:t>Click to edit Master text styles</a:t>
            </a:r>
          </a:p>
          <a:p>
            <a:pPr>
              <a:buNone/>
            </a:pPr>
            <a:r>
              <a:t>Second level</a:t>
            </a:r>
          </a:p>
          <a:p>
            <a:pPr>
              <a:buNone/>
            </a:pPr>
            <a:r>
              <a:t>Third level</a:t>
            </a:r>
          </a:p>
          <a:p>
            <a:pPr>
              <a:buNone/>
            </a:pPr>
            <a:r>
              <a:t>Fourth level</a:t>
            </a:r>
          </a:p>
          <a:p>
            <a:pPr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157B12D-A6E3-9DA2-0524-FE42252DF83D}"/>
              </a:ext>
            </a:extLst>
          </p:cNvPr>
          <p:cNvSpPr>
            <a:spLocks noGrp="1"/>
          </p:cNvSpPr>
          <p:nvPr>
            <p:ph type="dt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l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3C314F1-ECF1-8B41-880E-BEEF4E22E69E}" type="datetime1">
              <a:t>6/12/26</a:t>
            </a:fld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B95892F-C1D2-EC95-F0F0-4839D576F12E}"/>
              </a:ext>
            </a:extLst>
          </p:cNvPr>
          <p:cNvSpPr>
            <a:spLocks noGrp="1"/>
          </p:cNvSpPr>
          <p:nvPr>
            <p:ph type="ft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ctr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95A453E-F594-E44F-F320-71B845713E37}"/>
              </a:ext>
            </a:extLst>
          </p:cNvPr>
          <p:cNvSpPr>
            <a:spLocks noGrp="1"/>
          </p:cNvSpPr>
          <p:nvPr>
            <p:ph type="sldNum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r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14F06C3-B991-414A-9261-5E4DE6471F2C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.png"/><Relationship Id="rId4" Type="http://schemas.openxmlformats.org/officeDocument/2006/relationships/image" Target="../media/image12.png"/><Relationship Id="rId5" Type="http://schemas.openxmlformats.org/officeDocument/2006/relationships/image" Target="../media/image13.png"/><Relationship Id="rId6" Type="http://schemas.openxmlformats.org/officeDocument/2006/relationships/image" Target="../media/image14.png"/><Relationship Id="rId7" Type="http://schemas.openxmlformats.org/officeDocument/2006/relationships/image" Target="../media/image15.png"/><Relationship Id="rId8" Type="http://schemas.openxmlformats.org/officeDocument/2006/relationships/image" Target="../media/image16.png"/><Relationship Id="rId9" Type="http://schemas.openxmlformats.org/officeDocument/2006/relationships/image" Target="../media/image17.png"/><Relationship Id="rId10" Type="http://schemas.openxmlformats.org/officeDocument/2006/relationships/image" Target="../media/image18.png"/><Relationship Id="rId11" Type="http://schemas.openxmlformats.org/officeDocument/2006/relationships/image" Target="../media/image19.png"/><Relationship Id="rId12" Type="http://schemas.openxmlformats.org/officeDocument/2006/relationships/image" Target="../media/image20.png"/><Relationship Id="rId13" Type="http://schemas.openxmlformats.org/officeDocument/2006/relationships/image" Target="../media/image2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4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5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6.png"/><Relationship Id="rId4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9.png"/><Relationship Id="rId4" Type="http://schemas.openxmlformats.org/officeDocument/2006/relationships/image" Target="../media/image10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1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0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8BEBD0EF-5A98-491A-ACAB-F4EA5733B7EC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8111F"/>
          </a:solidFill>
        </p:spPr>
        <p:txBody>
          <a:bodyPr/>
          <a:lstStyle/>
          <a:p>
            <a:endParaRPr lang="en-US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495300" y="291386"/>
            <a:ext cx="4762500" cy="1169828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2CE0F2B7-B330-48DE-8541-0D1745D59B86}"/>
              </a:ext>
            </a:extLst>
          </p:cNvPr>
          <p:cNvSpPr>
            <a:spLocks noGrp="1"/>
          </p:cNvSpPr>
          <p:nvPr/>
        </p:nvSpPr>
        <p:spPr>
          <a:xfrm>
            <a:off x="666750" y="1952625"/>
            <a:ext cx="9906000" cy="1181100"/>
          </a:xfrm>
          <a:prstGeom prst="rect">
            <a:avLst/>
          </a:prstGeom>
          <a:noFill/>
        </p:spPr>
        <p:txBody>
          <a:bodyPr wrap="square"/>
          <a:lstStyle/>
          <a:p>
            <a:r>
              <a:rPr sz="28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MAUVE–MUSE: When Metallicity Follows or Fights Star Formation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D25755F-8CF8-4CCF-9248-D9BFA45ACFD3}"/>
              </a:ext>
            </a:extLst>
          </p:cNvPr>
          <p:cNvSpPr>
            <a:spLocks noGrp="1"/>
          </p:cNvSpPr>
          <p:nvPr/>
        </p:nvSpPr>
        <p:spPr>
          <a:xfrm>
            <a:off x="704850" y="3143250"/>
            <a:ext cx="8572500" cy="419100"/>
          </a:xfrm>
          <a:prstGeom prst="rect">
            <a:avLst/>
          </a:prstGeom>
          <a:noFill/>
        </p:spPr>
        <p:txBody>
          <a:bodyPr wrap="square"/>
          <a:lstStyle/>
          <a:p>
            <a:r>
              <a:rPr sz="1800" b="1">
                <a:solidFill>
                  <a:srgbClr val="67D5FF"/>
                </a:solidFill>
                <a:latin typeface="Aptos"/>
                <a:ea typeface="Aptos"/>
                <a:cs typeface="Aptos"/>
              </a:rPr>
              <a:t>A mass-dependent inversion in Virgo galaxies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CF7D161-95D8-49B5-B3A0-F14FF3F846E4}"/>
              </a:ext>
            </a:extLst>
          </p:cNvPr>
          <p:cNvSpPr>
            <a:spLocks noGrp="1"/>
          </p:cNvSpPr>
          <p:nvPr/>
        </p:nvSpPr>
        <p:spPr>
          <a:xfrm>
            <a:off x="704850" y="4191000"/>
            <a:ext cx="6191250" cy="476250"/>
          </a:xfrm>
          <a:prstGeom prst="rect">
            <a:avLst/>
          </a:prstGeom>
          <a:noFill/>
        </p:spPr>
        <p:txBody>
          <a:bodyPr wrap="square"/>
          <a:lstStyle/>
          <a:p>
            <a:r>
              <a:rPr sz="12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Rongjun Huang</a:t>
            </a:r>
          </a:p>
          <a:p>
            <a:r>
              <a:rPr sz="12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on behalf of the MAUVE Team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2C10359-09ED-410F-9D50-54DCAF736EDA}"/>
              </a:ext>
            </a:extLst>
          </p:cNvPr>
          <p:cNvSpPr>
            <a:spLocks noGrp="1"/>
          </p:cNvSpPr>
          <p:nvPr/>
        </p:nvSpPr>
        <p:spPr>
          <a:xfrm>
            <a:off x="704850" y="5105400"/>
            <a:ext cx="2000250" cy="266700"/>
          </a:xfrm>
          <a:prstGeom prst="rect">
            <a:avLst/>
          </a:prstGeom>
          <a:solidFill>
            <a:srgbClr val="D66EB4"/>
          </a:solidFill>
        </p:spPr>
        <p:txBody>
          <a:bodyPr/>
          <a:lstStyle/>
          <a:p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2933527-4BF7-43D8-AEF5-1EB57A86D74E}"/>
              </a:ext>
            </a:extLst>
          </p:cNvPr>
          <p:cNvSpPr>
            <a:spLocks noGrp="1"/>
          </p:cNvSpPr>
          <p:nvPr/>
        </p:nvSpPr>
        <p:spPr>
          <a:xfrm>
            <a:off x="781050" y="5153025"/>
            <a:ext cx="1847850" cy="1524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8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MNRAS in press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793E4C2-8FF4-4073-A04D-5CAB542A83FC}"/>
              </a:ext>
            </a:extLst>
          </p:cNvPr>
          <p:cNvSpPr>
            <a:spLocks noGrp="1"/>
          </p:cNvSpPr>
          <p:nvPr/>
        </p:nvSpPr>
        <p:spPr>
          <a:xfrm>
            <a:off x="2857500" y="5105400"/>
            <a:ext cx="1762125" cy="266700"/>
          </a:xfrm>
          <a:prstGeom prst="rect">
            <a:avLst/>
          </a:prstGeom>
          <a:solidFill>
            <a:srgbClr val="3BC4C4"/>
          </a:solidFill>
        </p:spPr>
        <p:txBody>
          <a:bodyPr/>
          <a:lstStyle/>
          <a:p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1D60FF2C-2844-4BC9-B12F-6073514A81BA}"/>
              </a:ext>
            </a:extLst>
          </p:cNvPr>
          <p:cNvSpPr>
            <a:spLocks noGrp="1"/>
          </p:cNvSpPr>
          <p:nvPr/>
        </p:nvSpPr>
        <p:spPr>
          <a:xfrm>
            <a:off x="2933700" y="5153025"/>
            <a:ext cx="1609725" cy="1524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8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MAUVE–MUSE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82611431-E35E-41C2-AB79-B7BEAC96051F}"/>
              </a:ext>
            </a:extLst>
          </p:cNvPr>
          <p:cNvSpPr>
            <a:spLocks noGrp="1"/>
          </p:cNvSpPr>
          <p:nvPr/>
        </p:nvSpPr>
        <p:spPr>
          <a:xfrm>
            <a:off x="4762500" y="5105400"/>
            <a:ext cx="1476375" cy="266700"/>
          </a:xfrm>
          <a:prstGeom prst="rect">
            <a:avLst/>
          </a:prstGeom>
          <a:solidFill>
            <a:srgbClr val="F0B45C"/>
          </a:solidFill>
        </p:spPr>
        <p:txBody>
          <a:bodyPr/>
          <a:lstStyle/>
          <a:p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60929165-8B01-4D04-8557-B33DEDB5D5C9}"/>
              </a:ext>
            </a:extLst>
          </p:cNvPr>
          <p:cNvSpPr>
            <a:spLocks noGrp="1"/>
          </p:cNvSpPr>
          <p:nvPr/>
        </p:nvSpPr>
        <p:spPr>
          <a:xfrm>
            <a:off x="4838700" y="5153025"/>
            <a:ext cx="1323975" cy="1524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825" b="1">
                <a:solidFill>
                  <a:srgbClr val="152033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152033"/>
                </a:solidFill>
                <a:latin typeface="Aptos"/>
                <a:ea typeface="Aptos"/>
                <a:cs typeface="Aptos"/>
              </a:rPr>
              <a:t>arXiv:2605.31412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D403483-1C5D-46D9-A79A-2B34D9DFAF25}"/>
              </a:ext>
            </a:extLst>
          </p:cNvPr>
          <p:cNvSpPr>
            <a:spLocks noGrp="1"/>
          </p:cNvSpPr>
          <p:nvPr/>
        </p:nvSpPr>
        <p:spPr>
          <a:xfrm>
            <a:off x="704850" y="6143625"/>
            <a:ext cx="4191000" cy="228600"/>
          </a:xfrm>
          <a:prstGeom prst="rect">
            <a:avLst/>
          </a:prstGeom>
          <a:noFill/>
        </p:spPr>
        <p:txBody>
          <a:bodyPr wrap="square"/>
          <a:lstStyle/>
          <a:p>
            <a:r>
              <a:rPr sz="975" b="1">
                <a:solidFill>
                  <a:srgbClr val="F0B45C"/>
                </a:solidFill>
                <a:latin typeface="Aptos"/>
                <a:ea typeface="Aptos"/>
                <a:cs typeface="Aptos"/>
              </a:rPr>
              <a:t>Lausanne / EAS2026 SS7 / 30 June 2026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621792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Rongjun Huang, Luca Cortese, Barbara Catinella, Luke Davies, Toby Brown, Andrei Ristea, ...</a:t>
            </a:r>
          </a:p>
        </p:txBody>
      </p:sp>
    </p:spTree>
    <p:extLst>
      <p:ext uri="{BB962C8B-B14F-4D97-AF65-F5344CB8AC3E}">
        <p14:creationId xmlns:p14="http://schemas.microsoft.com/office/powerpoint/2010/main" val="51548380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603688" y="1219200"/>
            <a:ext cx="6831724" cy="26670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Motivation: integrated trends mix local regimes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3200400"/>
            <a:ext cx="8229600" cy="1371600"/>
          </a:xfrm>
          <a:prstGeom prst="rect">
            <a:avLst/>
          </a:prstGeom>
          <a:solidFill>
            <a:srgbClr val="F0F0F0"/>
          </a:solidFill>
          <a:ln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2400">
                <a:solidFill>
                  <a:srgbClr val="000000"/>
                </a:solidFill>
              </a:defRPr>
            </a:pPr>
            <a:r>
              <a:t>Question: At H II-region scales, does metallicity follow or fight star formation?</a:t>
            </a:r>
          </a:p>
          <a:p>
            <a:pPr>
              <a:defRPr sz="2400">
                <a:solidFill>
                  <a:srgbClr val="000000"/>
                </a:solidFill>
              </a:defRPr>
            </a:pPr>
            <a:r>
              <a:t>Answer: both — the sign depends on local stellar mass surface density.</a:t>
            </a:r>
          </a:p>
        </p:txBody>
      </p:sp>
    </p:spTree>
    <p:extLst>
      <p:ext uri="{BB962C8B-B14F-4D97-AF65-F5344CB8AC3E}">
        <p14:creationId xmlns:p14="http://schemas.microsoft.com/office/powerpoint/2010/main" val="129552294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11480" y="164592"/>
            <a:ext cx="11338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/>
            </a:pPr>
            <a:r>
              <a:t>MAUVE: resolving the Virgo baryon cycle at ~100 pc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621792"/>
            <a:ext cx="11338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/>
            </a:pPr>
            <a:r>
              <a:t>MAUVE connects feedback, gas cycling, ISM excitation, and chemical enrichment in environmentally processed Virgo disks.</a:t>
            </a:r>
          </a:p>
        </p:txBody>
      </p:sp>
      <p:pic>
        <p:nvPicPr>
          <p:cNvPr id="4" name="Picture 3" descr="Watts2024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14400" y="1188720"/>
            <a:ext cx="4572000" cy="192024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914400" y="310896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200"/>
              <a:t>Ionised outflow
</a:t>
            </a:r>
            <a:r>
              <a:rPr sz="1200"/>
              <a:t>NGC4383 hosts a ~6 kpc bipolar outflow.</a:t>
            </a:r>
          </a:p>
        </p:txBody>
      </p:sp>
      <p:pic>
        <p:nvPicPr>
          <p:cNvPr id="6" name="Picture 5" descr="Attwater2026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675120" y="1188720"/>
            <a:ext cx="4572000" cy="192024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675120" y="310896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200"/>
              <a:t>Feedback quenching
</a:t>
            </a:r>
            <a:r>
              <a:rPr sz="1200"/>
              <a:t>NGC4064 shows feedback-driven gas removal after stripping.</a:t>
            </a:r>
          </a:p>
        </p:txBody>
      </p:sp>
      <p:pic>
        <p:nvPicPr>
          <p:cNvPr id="8" name="Picture 7" descr="Cortese2026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914400" y="3474720"/>
            <a:ext cx="4572000" cy="192024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914400" y="539496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200"/>
              <a:t>Multiphase gas cycling
</a:t>
            </a:r>
            <a:r>
              <a:rPr sz="1200"/>
              <a:t>Cold and ionised gas trace fountain-flow structure.</a:t>
            </a:r>
          </a:p>
        </p:txBody>
      </p:sp>
      <p:pic>
        <p:nvPicPr>
          <p:cNvPr id="10" name="Picture 9" descr="Huang2026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675120" y="3474720"/>
            <a:ext cx="4572000" cy="192024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675120" y="539496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200"/>
              <a:t>Chemical enrichment
</a:t>
            </a:r>
            <a:r>
              <a:rPr sz="1200"/>
              <a:t>This talk: O/H–ΣSFR coupling flips sign at fixed Σ*.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11480" y="5852160"/>
            <a:ext cx="11338560" cy="502920"/>
          </a:xfrm>
          <a:prstGeom prst="rect">
            <a:avLst/>
          </a:prstGeom>
          <a:solidFill>
            <a:srgbClr val="F0F0F0"/>
          </a:solidFill>
          <a:ln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b="1" sz="1300">
                <a:solidFill>
                  <a:srgbClr val="000000"/>
                </a:solidFill>
              </a:rPr>
              <a:t>Population ISM context — Brown+2026: </a:t>
            </a:r>
            <a:r>
              <a:rPr sz="1300">
                <a:solidFill>
                  <a:srgbClr val="000000"/>
                </a:solidFill>
              </a:rPr>
              <a:t>MAUVE disks show elevated line ratios, enhanced DIG/shock-like excitation, and broadened ionised-gas kinematics compared with field disks.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11480" y="6446520"/>
            <a:ext cx="113385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/>
            </a:pPr>
            <a:r>
              <a:t>Figure credits: Watts+2024; Attwater+2026; Cortese+2026; Huang+2026. Population context: Brown+2026.</a:t>
            </a:r>
          </a:p>
        </p:txBody>
      </p:sp>
    </p:spTree>
    <p:extLst>
      <p:ext uri="{BB962C8B-B14F-4D97-AF65-F5344CB8AC3E}">
        <p14:creationId xmlns:p14="http://schemas.microsoft.com/office/powerpoint/2010/main" val="42587816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ctangle 25">
            <a:extLst>
              <a:ext uri="{FF2B5EF4-FFF2-40B4-BE49-F238E27FC236}">
                <a16:creationId xmlns:a16="http://schemas.microsoft.com/office/drawing/2014/main" id="{BAC732E3-F606-4DE8-96CC-3EDABA32F72E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8FC"/>
          </a:solidFill>
        </p:spPr>
        <p:txBody>
          <a:bodyPr/>
          <a:lstStyle/>
          <a:p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79FC3C84-A395-4C97-AC2B-B903CAC2334D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D66EB4"/>
          </a:solidFill>
        </p:spPr>
        <p:txBody>
          <a:bodyPr/>
          <a:lstStyle/>
          <a:p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D3300FA-6A4B-436D-8793-1436C9503E15}"/>
              </a:ext>
            </a:extLst>
          </p:cNvPr>
          <p:cNvSpPr>
            <a:spLocks noGrp="1"/>
          </p:cNvSpPr>
          <p:nvPr/>
        </p:nvSpPr>
        <p:spPr>
          <a:xfrm>
            <a:off x="514350" y="247650"/>
            <a:ext cx="10096500" cy="228600"/>
          </a:xfrm>
          <a:prstGeom prst="rect">
            <a:avLst/>
          </a:prstGeom>
          <a:noFill/>
        </p:spPr>
        <p:txBody>
          <a:bodyPr wrap="square"/>
          <a:lstStyle/>
          <a:p>
            <a:r>
              <a:rPr sz="900" b="1">
                <a:solidFill>
                  <a:srgbClr val="D66EB4"/>
                </a:solidFill>
                <a:latin typeface="Aptos"/>
                <a:ea typeface="Aptos"/>
                <a:cs typeface="Aptos"/>
              </a:rPr>
              <a:t>SAMPLE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A619752F-8B88-46B2-BB14-2418969683E4}"/>
              </a:ext>
            </a:extLst>
          </p:cNvPr>
          <p:cNvSpPr>
            <a:spLocks noGrp="1"/>
          </p:cNvSpPr>
          <p:nvPr/>
        </p:nvSpPr>
        <p:spPr>
          <a:xfrm>
            <a:off x="514350" y="476250"/>
            <a:ext cx="10287000" cy="552450"/>
          </a:xfrm>
          <a:prstGeom prst="rect">
            <a:avLst/>
          </a:prstGeom>
          <a:noFill/>
        </p:spPr>
        <p:txBody>
          <a:bodyPr wrap="square"/>
          <a:lstStyle/>
          <a:p>
            <a:r>
              <a:rPr sz="2100" b="1">
                <a:solidFill>
                  <a:srgbClr val="152033"/>
                </a:solidFill>
                <a:latin typeface="Aptos"/>
                <a:ea typeface="Aptos"/>
                <a:cs typeface="Aptos"/>
              </a:rPr>
              <a:t>Data: 14 MAUVE–MUSE Virgo spirals at H II-region scales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rcRect l="9577" r="9577"/>
          <a:stretch>
            <a:fillRect/>
          </a:stretch>
        </p:blipFill>
        <p:spPr>
          <a:xfrm>
            <a:off x="495300" y="1200150"/>
            <a:ext cx="4905375" cy="3524250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CC4D6050-D3A8-42DB-A964-6A2A6EA385C3}"/>
              </a:ext>
            </a:extLst>
          </p:cNvPr>
          <p:cNvSpPr>
            <a:spLocks noGrp="1"/>
          </p:cNvSpPr>
          <p:nvPr/>
        </p:nvSpPr>
        <p:spPr>
          <a:xfrm>
            <a:off x="5791200" y="1257300"/>
            <a:ext cx="2333625" cy="1066800"/>
          </a:xfrm>
          <a:prstGeom prst="rect">
            <a:avLst/>
          </a:prstGeom>
          <a:solidFill>
            <a:srgbClr val="EEF2F7"/>
          </a:solidFill>
        </p:spPr>
        <p:txBody>
          <a:bodyPr/>
          <a:lstStyle/>
          <a:p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2286D5A-AE8C-4438-BE92-BAA6410D99CC}"/>
              </a:ext>
            </a:extLst>
          </p:cNvPr>
          <p:cNvSpPr>
            <a:spLocks noGrp="1"/>
          </p:cNvSpPr>
          <p:nvPr/>
        </p:nvSpPr>
        <p:spPr>
          <a:xfrm>
            <a:off x="5791200" y="1257300"/>
            <a:ext cx="76200" cy="1066800"/>
          </a:xfrm>
          <a:prstGeom prst="rect">
            <a:avLst/>
          </a:prstGeom>
          <a:solidFill>
            <a:srgbClr val="D66EB4"/>
          </a:solidFill>
        </p:spPr>
        <p:txBody>
          <a:bodyPr/>
          <a:lstStyle/>
          <a:p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2CE4FE6-06B8-40C9-B57D-200690C2FE14}"/>
              </a:ext>
            </a:extLst>
          </p:cNvPr>
          <p:cNvSpPr>
            <a:spLocks noGrp="1"/>
          </p:cNvSpPr>
          <p:nvPr/>
        </p:nvSpPr>
        <p:spPr>
          <a:xfrm>
            <a:off x="5981700" y="1409700"/>
            <a:ext cx="1990725" cy="266700"/>
          </a:xfrm>
          <a:prstGeom prst="rect">
            <a:avLst/>
          </a:prstGeom>
          <a:noFill/>
        </p:spPr>
        <p:txBody>
          <a:bodyPr wrap="square"/>
          <a:lstStyle/>
          <a:p>
            <a:r>
              <a:rPr sz="1350" b="1">
                <a:solidFill>
                  <a:srgbClr val="152033"/>
                </a:solidFill>
                <a:latin typeface="Aptos"/>
                <a:ea typeface="Aptos"/>
                <a:cs typeface="Aptos"/>
              </a:rPr>
              <a:t>Sample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AC3BC529-61F3-4E27-AD7C-1C72EB1D52B2}"/>
              </a:ext>
            </a:extLst>
          </p:cNvPr>
          <p:cNvSpPr>
            <a:spLocks noGrp="1"/>
          </p:cNvSpPr>
          <p:nvPr/>
        </p:nvSpPr>
        <p:spPr>
          <a:xfrm>
            <a:off x="5981700" y="1752600"/>
            <a:ext cx="1990725" cy="476250"/>
          </a:xfrm>
          <a:prstGeom prst="rect">
            <a:avLst/>
          </a:prstGeom>
          <a:noFill/>
        </p:spPr>
        <p:txBody>
          <a:bodyPr wrap="square"/>
          <a:lstStyle/>
          <a:p>
            <a:r>
              <a:rPr sz="1088" b="0">
                <a:solidFill>
                  <a:srgbClr val="344053"/>
                </a:solidFill>
                <a:latin typeface="Aptos"/>
                <a:ea typeface="Aptos"/>
                <a:cs typeface="Aptos"/>
              </a:rPr>
              <a:t>14 fully reduced MAUVE–MUSE Virgo spirals in the accepted/in-press paper.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74DB781-6285-4042-A3E8-7281CC416F51}"/>
              </a:ext>
            </a:extLst>
          </p:cNvPr>
          <p:cNvSpPr>
            <a:spLocks noGrp="1"/>
          </p:cNvSpPr>
          <p:nvPr/>
        </p:nvSpPr>
        <p:spPr>
          <a:xfrm>
            <a:off x="8439150" y="1257300"/>
            <a:ext cx="2333625" cy="1066800"/>
          </a:xfrm>
          <a:prstGeom prst="rect">
            <a:avLst/>
          </a:prstGeom>
          <a:solidFill>
            <a:srgbClr val="EEF2F7"/>
          </a:solidFill>
        </p:spPr>
        <p:txBody>
          <a:bodyPr/>
          <a:lstStyle/>
          <a:p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471849A-4E4D-498B-BBC2-11F2415C56A2}"/>
              </a:ext>
            </a:extLst>
          </p:cNvPr>
          <p:cNvSpPr>
            <a:spLocks noGrp="1"/>
          </p:cNvSpPr>
          <p:nvPr/>
        </p:nvSpPr>
        <p:spPr>
          <a:xfrm>
            <a:off x="8439150" y="1257300"/>
            <a:ext cx="76200" cy="1066800"/>
          </a:xfrm>
          <a:prstGeom prst="rect">
            <a:avLst/>
          </a:prstGeom>
          <a:solidFill>
            <a:srgbClr val="3BC4C4"/>
          </a:solidFill>
        </p:spPr>
        <p:txBody>
          <a:bodyPr/>
          <a:lstStyle/>
          <a:p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8DF17E9-3271-4629-B222-AC3FB1BD4B54}"/>
              </a:ext>
            </a:extLst>
          </p:cNvPr>
          <p:cNvSpPr>
            <a:spLocks noGrp="1"/>
          </p:cNvSpPr>
          <p:nvPr/>
        </p:nvSpPr>
        <p:spPr>
          <a:xfrm>
            <a:off x="8629650" y="1409700"/>
            <a:ext cx="1990725" cy="266700"/>
          </a:xfrm>
          <a:prstGeom prst="rect">
            <a:avLst/>
          </a:prstGeom>
          <a:noFill/>
        </p:spPr>
        <p:txBody>
          <a:bodyPr wrap="square"/>
          <a:lstStyle/>
          <a:p>
            <a:r>
              <a:rPr sz="1350" b="1">
                <a:solidFill>
                  <a:srgbClr val="152033"/>
                </a:solidFill>
                <a:latin typeface="Aptos"/>
                <a:ea typeface="Aptos"/>
                <a:cs typeface="Aptos"/>
              </a:rPr>
              <a:t>Resolution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CECD2F33-30AF-45BB-841B-F0C3C8B7410B}"/>
              </a:ext>
            </a:extLst>
          </p:cNvPr>
          <p:cNvSpPr>
            <a:spLocks noGrp="1"/>
          </p:cNvSpPr>
          <p:nvPr/>
        </p:nvSpPr>
        <p:spPr>
          <a:xfrm>
            <a:off x="8629650" y="1752600"/>
            <a:ext cx="1990725" cy="476250"/>
          </a:xfrm>
          <a:prstGeom prst="rect">
            <a:avLst/>
          </a:prstGeom>
          <a:noFill/>
        </p:spPr>
        <p:txBody>
          <a:bodyPr wrap="square"/>
          <a:lstStyle/>
          <a:p>
            <a:r>
              <a:rPr sz="1088" b="0">
                <a:solidFill>
                  <a:srgbClr val="344053"/>
                </a:solidFill>
                <a:latin typeface="Aptos"/>
                <a:ea typeface="Aptos"/>
                <a:cs typeface="Aptos"/>
              </a:rPr>
              <a:t>VLT/MUSE maps at roughly 100 pc scales over the molecular-gas disks.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B34BE0D-F940-44F3-9892-A9C803403181}"/>
              </a:ext>
            </a:extLst>
          </p:cNvPr>
          <p:cNvSpPr>
            <a:spLocks noGrp="1"/>
          </p:cNvSpPr>
          <p:nvPr/>
        </p:nvSpPr>
        <p:spPr>
          <a:xfrm>
            <a:off x="5791200" y="2714625"/>
            <a:ext cx="2333625" cy="1066800"/>
          </a:xfrm>
          <a:prstGeom prst="rect">
            <a:avLst/>
          </a:prstGeom>
          <a:solidFill>
            <a:srgbClr val="EEF2F7"/>
          </a:solidFill>
        </p:spPr>
        <p:txBody>
          <a:bodyPr/>
          <a:lstStyle/>
          <a:p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107AAB12-1658-4D8C-8ADE-8C2F4F341F6D}"/>
              </a:ext>
            </a:extLst>
          </p:cNvPr>
          <p:cNvSpPr>
            <a:spLocks noGrp="1"/>
          </p:cNvSpPr>
          <p:nvPr/>
        </p:nvSpPr>
        <p:spPr>
          <a:xfrm>
            <a:off x="5791200" y="2714625"/>
            <a:ext cx="76200" cy="1066800"/>
          </a:xfrm>
          <a:prstGeom prst="rect">
            <a:avLst/>
          </a:prstGeom>
          <a:solidFill>
            <a:srgbClr val="6D91F2"/>
          </a:solidFill>
        </p:spPr>
        <p:txBody>
          <a:bodyPr/>
          <a:lstStyle/>
          <a:p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7CFDDE5C-0FE3-4D81-B928-CD6DEE8B121B}"/>
              </a:ext>
            </a:extLst>
          </p:cNvPr>
          <p:cNvSpPr>
            <a:spLocks noGrp="1"/>
          </p:cNvSpPr>
          <p:nvPr/>
        </p:nvSpPr>
        <p:spPr>
          <a:xfrm>
            <a:off x="5981700" y="2867025"/>
            <a:ext cx="1990725" cy="266700"/>
          </a:xfrm>
          <a:prstGeom prst="rect">
            <a:avLst/>
          </a:prstGeom>
          <a:noFill/>
        </p:spPr>
        <p:txBody>
          <a:bodyPr wrap="square"/>
          <a:lstStyle/>
          <a:p>
            <a:r>
              <a:rPr sz="1350" b="1">
                <a:solidFill>
                  <a:srgbClr val="152033"/>
                </a:solidFill>
                <a:latin typeface="Aptos"/>
                <a:ea typeface="Aptos"/>
                <a:cs typeface="Aptos"/>
              </a:rPr>
              <a:t>Co-spatial maps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8F3032D4-2E29-407D-801E-2D1F8EB6F8A4}"/>
              </a:ext>
            </a:extLst>
          </p:cNvPr>
          <p:cNvSpPr>
            <a:spLocks noGrp="1"/>
          </p:cNvSpPr>
          <p:nvPr/>
        </p:nvSpPr>
        <p:spPr>
          <a:xfrm>
            <a:off x="5981700" y="3209925"/>
            <a:ext cx="1990725" cy="476250"/>
          </a:xfrm>
          <a:prstGeom prst="rect">
            <a:avLst/>
          </a:prstGeom>
          <a:noFill/>
        </p:spPr>
        <p:txBody>
          <a:bodyPr wrap="square"/>
          <a:lstStyle/>
          <a:p>
            <a:r>
              <a:rPr sz="1088" b="0">
                <a:solidFill>
                  <a:srgbClr val="344053"/>
                </a:solidFill>
                <a:latin typeface="Aptos"/>
                <a:ea typeface="Aptos"/>
                <a:cs typeface="Aptos"/>
              </a:rPr>
              <a:t>Σ*, ΣSFR and 12+log(O/H) are measured on the same physical grid.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0C01ACC0-D2E2-414B-B1D7-9624791A3169}"/>
              </a:ext>
            </a:extLst>
          </p:cNvPr>
          <p:cNvSpPr>
            <a:spLocks noGrp="1"/>
          </p:cNvSpPr>
          <p:nvPr/>
        </p:nvSpPr>
        <p:spPr>
          <a:xfrm>
            <a:off x="8439150" y="2714625"/>
            <a:ext cx="2333625" cy="1066800"/>
          </a:xfrm>
          <a:prstGeom prst="rect">
            <a:avLst/>
          </a:prstGeom>
          <a:solidFill>
            <a:srgbClr val="EEF2F7"/>
          </a:solidFill>
        </p:spPr>
        <p:txBody>
          <a:bodyPr/>
          <a:lstStyle/>
          <a:p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78A2B17F-CC8C-4C74-B924-0EE72D0B92C5}"/>
              </a:ext>
            </a:extLst>
          </p:cNvPr>
          <p:cNvSpPr>
            <a:spLocks noGrp="1"/>
          </p:cNvSpPr>
          <p:nvPr/>
        </p:nvSpPr>
        <p:spPr>
          <a:xfrm>
            <a:off x="8439150" y="2714625"/>
            <a:ext cx="76200" cy="1066800"/>
          </a:xfrm>
          <a:prstGeom prst="rect">
            <a:avLst/>
          </a:prstGeom>
          <a:solidFill>
            <a:srgbClr val="F0B45C"/>
          </a:solidFill>
        </p:spPr>
        <p:txBody>
          <a:bodyPr/>
          <a:lstStyle/>
          <a:p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86D494F7-03E6-4EA7-851B-C7028E9247A0}"/>
              </a:ext>
            </a:extLst>
          </p:cNvPr>
          <p:cNvSpPr>
            <a:spLocks noGrp="1"/>
          </p:cNvSpPr>
          <p:nvPr/>
        </p:nvSpPr>
        <p:spPr>
          <a:xfrm>
            <a:off x="8629650" y="2867025"/>
            <a:ext cx="1990725" cy="266700"/>
          </a:xfrm>
          <a:prstGeom prst="rect">
            <a:avLst/>
          </a:prstGeom>
          <a:noFill/>
        </p:spPr>
        <p:txBody>
          <a:bodyPr wrap="square"/>
          <a:lstStyle/>
          <a:p>
            <a:r>
              <a:rPr sz="1350" b="1">
                <a:solidFill>
                  <a:srgbClr val="152033"/>
                </a:solidFill>
                <a:latin typeface="Aptos"/>
                <a:ea typeface="Aptos"/>
                <a:cs typeface="Aptos"/>
              </a:rPr>
              <a:t>H II-region focus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3DADC8B9-8BF0-405B-9C40-DA1C9EB078B7}"/>
              </a:ext>
            </a:extLst>
          </p:cNvPr>
          <p:cNvSpPr>
            <a:spLocks noGrp="1"/>
          </p:cNvSpPr>
          <p:nvPr/>
        </p:nvSpPr>
        <p:spPr>
          <a:xfrm>
            <a:off x="8629650" y="3209925"/>
            <a:ext cx="1990725" cy="476250"/>
          </a:xfrm>
          <a:prstGeom prst="rect">
            <a:avLst/>
          </a:prstGeom>
          <a:noFill/>
        </p:spPr>
        <p:txBody>
          <a:bodyPr wrap="square"/>
          <a:lstStyle/>
          <a:p>
            <a:r>
              <a:rPr sz="1088" b="0">
                <a:solidFill>
                  <a:srgbClr val="344053"/>
                </a:solidFill>
                <a:latin typeface="Aptos"/>
                <a:ea typeface="Aptos"/>
                <a:cs typeface="Aptos"/>
              </a:rPr>
              <a:t>Fiducial analysis uses BPT-selected H II-region spaxels.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C80705F2-9749-41AE-A18B-8662A0721CFC}"/>
              </a:ext>
            </a:extLst>
          </p:cNvPr>
          <p:cNvSpPr>
            <a:spLocks noGrp="1"/>
          </p:cNvSpPr>
          <p:nvPr/>
        </p:nvSpPr>
        <p:spPr>
          <a:xfrm>
            <a:off x="5791200" y="4171950"/>
            <a:ext cx="4981575" cy="685800"/>
          </a:xfrm>
          <a:prstGeom prst="rect">
            <a:avLst/>
          </a:prstGeom>
          <a:solidFill>
            <a:srgbClr val="E7EDF5"/>
          </a:solidFill>
        </p:spPr>
        <p:txBody>
          <a:bodyPr/>
          <a:lstStyle/>
          <a:p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019467AC-223F-4F5F-A126-172DBB7A4254}"/>
              </a:ext>
            </a:extLst>
          </p:cNvPr>
          <p:cNvSpPr>
            <a:spLocks noGrp="1"/>
          </p:cNvSpPr>
          <p:nvPr/>
        </p:nvSpPr>
        <p:spPr>
          <a:xfrm>
            <a:off x="514350" y="6553200"/>
            <a:ext cx="7429500" cy="171450"/>
          </a:xfrm>
          <a:prstGeom prst="rect">
            <a:avLst/>
          </a:prstGeom>
          <a:noFill/>
        </p:spPr>
        <p:txBody>
          <a:bodyPr wrap="square"/>
          <a:lstStyle/>
          <a:p>
            <a:r>
              <a:rPr sz="675" b="0">
                <a:solidFill>
                  <a:srgbClr val="697489"/>
                </a:solidFill>
                <a:latin typeface="Aptos"/>
                <a:ea typeface="Aptos"/>
                <a:cs typeface="Aptos"/>
              </a:rPr>
              <a:t>EAS2026 SS7 | MAUVE–MUSE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CE83B613-303E-47F2-A6B7-C14C22C31FF8}"/>
              </a:ext>
            </a:extLst>
          </p:cNvPr>
          <p:cNvSpPr>
            <a:spLocks noGrp="1"/>
          </p:cNvSpPr>
          <p:nvPr/>
        </p:nvSpPr>
        <p:spPr>
          <a:xfrm>
            <a:off x="10820400" y="6553200"/>
            <a:ext cx="952500" cy="17145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defRPr sz="675" b="0">
                <a:solidFill>
                  <a:srgbClr val="697489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697489"/>
                </a:solidFill>
                <a:latin typeface="Aptos"/>
                <a:ea typeface="Aptos"/>
                <a:cs typeface="Aptos"/>
              </a:rPr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156135630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ctangle 19">
            <a:extLst>
              <a:ext uri="{FF2B5EF4-FFF2-40B4-BE49-F238E27FC236}">
                <a16:creationId xmlns:a16="http://schemas.microsoft.com/office/drawing/2014/main" id="{74929193-F208-4DAB-8900-D9685A7DF12E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8FC"/>
          </a:solidFill>
        </p:spPr>
        <p:txBody>
          <a:bodyPr/>
          <a:lstStyle/>
          <a:p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0110D34D-5204-4ED8-AEF2-10A2706DF0E6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D66EB4"/>
          </a:solidFill>
        </p:spPr>
        <p:txBody>
          <a:bodyPr/>
          <a:lstStyle/>
          <a:p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A61CD00-CAD1-4CE0-A2A8-4459ADADA332}"/>
              </a:ext>
            </a:extLst>
          </p:cNvPr>
          <p:cNvSpPr>
            <a:spLocks noGrp="1"/>
          </p:cNvSpPr>
          <p:nvPr/>
        </p:nvSpPr>
        <p:spPr>
          <a:xfrm>
            <a:off x="514350" y="247650"/>
            <a:ext cx="10096500" cy="228600"/>
          </a:xfrm>
          <a:prstGeom prst="rect">
            <a:avLst/>
          </a:prstGeom>
          <a:noFill/>
        </p:spPr>
        <p:txBody>
          <a:bodyPr wrap="square"/>
          <a:lstStyle/>
          <a:p>
            <a:r>
              <a:rPr sz="900" b="1">
                <a:solidFill>
                  <a:srgbClr val="D66EB4"/>
                </a:solidFill>
                <a:latin typeface="Aptos"/>
                <a:ea typeface="Aptos"/>
                <a:cs typeface="Aptos"/>
              </a:rPr>
              <a:t>MEASUREMENT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25145E4-8D41-434E-99D1-3B2AB833EBF9}"/>
              </a:ext>
            </a:extLst>
          </p:cNvPr>
          <p:cNvSpPr>
            <a:spLocks noGrp="1"/>
          </p:cNvSpPr>
          <p:nvPr/>
        </p:nvSpPr>
        <p:spPr>
          <a:xfrm>
            <a:off x="514350" y="476250"/>
            <a:ext cx="10287000" cy="552450"/>
          </a:xfrm>
          <a:prstGeom prst="rect">
            <a:avLst/>
          </a:prstGeom>
          <a:noFill/>
        </p:spPr>
        <p:txBody>
          <a:bodyPr wrap="square"/>
          <a:lstStyle/>
          <a:p>
            <a:r>
              <a:rPr sz="2100" b="1">
                <a:solidFill>
                  <a:srgbClr val="152033"/>
                </a:solidFill>
                <a:latin typeface="Aptos"/>
                <a:ea typeface="Aptos"/>
                <a:cs typeface="Aptos"/>
              </a:rPr>
              <a:t>What we measure: co-spatial local maps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552450" y="1219733"/>
            <a:ext cx="10572750" cy="3180283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DDF4494E-F2F5-4C0E-B7C7-1A6ECAE7BE59}"/>
              </a:ext>
            </a:extLst>
          </p:cNvPr>
          <p:cNvSpPr>
            <a:spLocks noGrp="1"/>
          </p:cNvSpPr>
          <p:nvPr/>
        </p:nvSpPr>
        <p:spPr>
          <a:xfrm>
            <a:off x="876300" y="4762500"/>
            <a:ext cx="2905125" cy="762000"/>
          </a:xfrm>
          <a:prstGeom prst="rect">
            <a:avLst/>
          </a:prstGeom>
          <a:solidFill>
            <a:srgbClr val="EEF2F7"/>
          </a:solidFill>
        </p:spPr>
        <p:txBody>
          <a:bodyPr/>
          <a:lstStyle/>
          <a:p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7F49008-8276-4D93-8EBD-3ECBFC764299}"/>
              </a:ext>
            </a:extLst>
          </p:cNvPr>
          <p:cNvSpPr>
            <a:spLocks noGrp="1"/>
          </p:cNvSpPr>
          <p:nvPr/>
        </p:nvSpPr>
        <p:spPr>
          <a:xfrm>
            <a:off x="876300" y="4762500"/>
            <a:ext cx="76200" cy="762000"/>
          </a:xfrm>
          <a:prstGeom prst="rect">
            <a:avLst/>
          </a:prstGeom>
          <a:solidFill>
            <a:srgbClr val="D66EB4"/>
          </a:solidFill>
        </p:spPr>
        <p:txBody>
          <a:bodyPr/>
          <a:lstStyle/>
          <a:p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792FA82F-2755-4988-B0CB-F1F4B837798B}"/>
              </a:ext>
            </a:extLst>
          </p:cNvPr>
          <p:cNvSpPr>
            <a:spLocks noGrp="1"/>
          </p:cNvSpPr>
          <p:nvPr/>
        </p:nvSpPr>
        <p:spPr>
          <a:xfrm>
            <a:off x="1066800" y="4914900"/>
            <a:ext cx="2562225" cy="266700"/>
          </a:xfrm>
          <a:prstGeom prst="rect">
            <a:avLst/>
          </a:prstGeom>
          <a:noFill/>
        </p:spPr>
        <p:txBody>
          <a:bodyPr wrap="square"/>
          <a:lstStyle/>
          <a:p>
            <a:r>
              <a:t>Local mass regime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8920CFEC-8144-4D3C-A399-00C011D36055}"/>
              </a:ext>
            </a:extLst>
          </p:cNvPr>
          <p:cNvSpPr>
            <a:spLocks noGrp="1"/>
          </p:cNvSpPr>
          <p:nvPr/>
        </p:nvSpPr>
        <p:spPr>
          <a:xfrm>
            <a:off x="1066800" y="5257800"/>
            <a:ext cx="2562225" cy="171450"/>
          </a:xfrm>
          <a:prstGeom prst="rect">
            <a:avLst/>
          </a:prstGeom>
          <a:noFill/>
        </p:spPr>
        <p:txBody>
          <a:bodyPr wrap="square"/>
          <a:lstStyle/>
          <a:p>
            <a:r>
              <a:rPr sz="1088" b="0">
                <a:solidFill>
                  <a:srgbClr val="344053"/>
                </a:solidFill>
                <a:latin typeface="Aptos"/>
                <a:ea typeface="Aptos"/>
                <a:cs typeface="Aptos"/>
              </a:rPr>
              <a:t>Σ* defines the local mass regime for each H II-region spaxel.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6D21C4C-B5F9-46D5-90C2-C0F9D1306CF9}"/>
              </a:ext>
            </a:extLst>
          </p:cNvPr>
          <p:cNvSpPr>
            <a:spLocks noGrp="1"/>
          </p:cNvSpPr>
          <p:nvPr/>
        </p:nvSpPr>
        <p:spPr>
          <a:xfrm>
            <a:off x="4619625" y="4762500"/>
            <a:ext cx="2905125" cy="762000"/>
          </a:xfrm>
          <a:prstGeom prst="rect">
            <a:avLst/>
          </a:prstGeom>
          <a:solidFill>
            <a:srgbClr val="EEF2F7"/>
          </a:solidFill>
        </p:spPr>
        <p:txBody>
          <a:bodyPr/>
          <a:lstStyle/>
          <a:p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31130C42-F4E1-4DEA-AC1A-0E9C19483C5D}"/>
              </a:ext>
            </a:extLst>
          </p:cNvPr>
          <p:cNvSpPr>
            <a:spLocks noGrp="1"/>
          </p:cNvSpPr>
          <p:nvPr/>
        </p:nvSpPr>
        <p:spPr>
          <a:xfrm>
            <a:off x="4619625" y="4762500"/>
            <a:ext cx="76200" cy="762000"/>
          </a:xfrm>
          <a:prstGeom prst="rect">
            <a:avLst/>
          </a:prstGeom>
          <a:solidFill>
            <a:srgbClr val="F0B45C"/>
          </a:solidFill>
        </p:spPr>
        <p:txBody>
          <a:bodyPr/>
          <a:lstStyle/>
          <a:p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D7582350-0B08-4C0B-B20E-B048F8D77F5C}"/>
              </a:ext>
            </a:extLst>
          </p:cNvPr>
          <p:cNvSpPr>
            <a:spLocks noGrp="1"/>
          </p:cNvSpPr>
          <p:nvPr/>
        </p:nvSpPr>
        <p:spPr>
          <a:xfrm>
            <a:off x="4810125" y="4914900"/>
            <a:ext cx="2562225" cy="266700"/>
          </a:xfrm>
          <a:prstGeom prst="rect">
            <a:avLst/>
          </a:prstGeom>
          <a:noFill/>
        </p:spPr>
        <p:txBody>
          <a:bodyPr wrap="square"/>
          <a:lstStyle/>
          <a:p>
            <a:r>
              <a:t>Current star formation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75172823-F6F9-47E8-ACB0-EFAA72D3DFEB}"/>
              </a:ext>
            </a:extLst>
          </p:cNvPr>
          <p:cNvSpPr>
            <a:spLocks noGrp="1"/>
          </p:cNvSpPr>
          <p:nvPr/>
        </p:nvSpPr>
        <p:spPr>
          <a:xfrm>
            <a:off x="4810125" y="5257800"/>
            <a:ext cx="2562225" cy="171450"/>
          </a:xfrm>
          <a:prstGeom prst="rect">
            <a:avLst/>
          </a:prstGeom>
          <a:noFill/>
        </p:spPr>
        <p:txBody>
          <a:bodyPr wrap="square"/>
          <a:lstStyle/>
          <a:p>
            <a:r>
              <a:rPr sz="1088" b="0">
                <a:solidFill>
                  <a:srgbClr val="344053"/>
                </a:solidFill>
                <a:latin typeface="Aptos"/>
                <a:ea typeface="Aptos"/>
                <a:cs typeface="Aptos"/>
              </a:rPr>
              <a:t>ΣSFR traces where the ISM is actively forming stars.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691F9492-AAE8-4A20-9E37-EAA1B7D74F81}"/>
              </a:ext>
            </a:extLst>
          </p:cNvPr>
          <p:cNvSpPr>
            <a:spLocks noGrp="1"/>
          </p:cNvSpPr>
          <p:nvPr/>
        </p:nvSpPr>
        <p:spPr>
          <a:xfrm>
            <a:off x="8362950" y="4762500"/>
            <a:ext cx="2905125" cy="762000"/>
          </a:xfrm>
          <a:prstGeom prst="rect">
            <a:avLst/>
          </a:prstGeom>
          <a:solidFill>
            <a:srgbClr val="EEF2F7"/>
          </a:solidFill>
        </p:spPr>
        <p:txBody>
          <a:bodyPr/>
          <a:lstStyle/>
          <a:p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C1E1E369-EF65-4C29-8C3B-CBDAC0675A68}"/>
              </a:ext>
            </a:extLst>
          </p:cNvPr>
          <p:cNvSpPr>
            <a:spLocks noGrp="1"/>
          </p:cNvSpPr>
          <p:nvPr/>
        </p:nvSpPr>
        <p:spPr>
          <a:xfrm>
            <a:off x="8362950" y="4762500"/>
            <a:ext cx="76200" cy="762000"/>
          </a:xfrm>
          <a:prstGeom prst="rect">
            <a:avLst/>
          </a:prstGeom>
          <a:solidFill>
            <a:srgbClr val="3BC4C4"/>
          </a:solidFill>
        </p:spPr>
        <p:txBody>
          <a:bodyPr/>
          <a:lstStyle/>
          <a:p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03D123B4-7E71-4308-8F9D-F87A72E417A5}"/>
              </a:ext>
            </a:extLst>
          </p:cNvPr>
          <p:cNvSpPr>
            <a:spLocks noGrp="1"/>
          </p:cNvSpPr>
          <p:nvPr/>
        </p:nvSpPr>
        <p:spPr>
          <a:xfrm>
            <a:off x="8553450" y="4914900"/>
            <a:ext cx="2562225" cy="266700"/>
          </a:xfrm>
          <a:prstGeom prst="rect">
            <a:avLst/>
          </a:prstGeom>
          <a:noFill/>
        </p:spPr>
        <p:txBody>
          <a:bodyPr wrap="square"/>
          <a:lstStyle/>
          <a:p>
            <a:r>
              <a:t>Gas-phase enrichment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9314B072-9288-4F63-83CC-F26D29160ADA}"/>
              </a:ext>
            </a:extLst>
          </p:cNvPr>
          <p:cNvSpPr>
            <a:spLocks noGrp="1"/>
          </p:cNvSpPr>
          <p:nvPr/>
        </p:nvSpPr>
        <p:spPr>
          <a:xfrm>
            <a:off x="8553450" y="5257800"/>
            <a:ext cx="2562225" cy="171450"/>
          </a:xfrm>
          <a:prstGeom prst="rect">
            <a:avLst/>
          </a:prstGeom>
          <a:noFill/>
        </p:spPr>
        <p:txBody>
          <a:bodyPr wrap="square"/>
          <a:lstStyle/>
          <a:p>
            <a:r>
              <a:rPr sz="1088" b="0">
                <a:solidFill>
                  <a:srgbClr val="344053"/>
                </a:solidFill>
                <a:latin typeface="Aptos"/>
                <a:ea typeface="Aptos"/>
                <a:cs typeface="Aptos"/>
              </a:rPr>
              <a:t>O3N2-M13 gives the fiducial oxygen abundance map.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E6D729FC-CC0E-4900-9924-17A67FDB3541}"/>
              </a:ext>
            </a:extLst>
          </p:cNvPr>
          <p:cNvSpPr>
            <a:spLocks noGrp="1"/>
          </p:cNvSpPr>
          <p:nvPr/>
        </p:nvSpPr>
        <p:spPr>
          <a:xfrm>
            <a:off x="514350" y="6553200"/>
            <a:ext cx="7429500" cy="171450"/>
          </a:xfrm>
          <a:prstGeom prst="rect">
            <a:avLst/>
          </a:prstGeom>
          <a:noFill/>
        </p:spPr>
        <p:txBody>
          <a:bodyPr wrap="square"/>
          <a:lstStyle/>
          <a:p>
            <a:r>
              <a:rPr sz="675" b="0">
                <a:solidFill>
                  <a:srgbClr val="697489"/>
                </a:solidFill>
                <a:latin typeface="Aptos"/>
                <a:ea typeface="Aptos"/>
                <a:cs typeface="Aptos"/>
              </a:rPr>
              <a:t>EAS2026 SS7 | MAUVE–MUSE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8109AEAC-D300-4D4A-AFAD-99F9F39873EC}"/>
              </a:ext>
            </a:extLst>
          </p:cNvPr>
          <p:cNvSpPr>
            <a:spLocks noGrp="1"/>
          </p:cNvSpPr>
          <p:nvPr/>
        </p:nvSpPr>
        <p:spPr>
          <a:xfrm>
            <a:off x="10820400" y="6553200"/>
            <a:ext cx="952500" cy="17145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defRPr sz="675" b="0">
                <a:solidFill>
                  <a:srgbClr val="697489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697489"/>
                </a:solidFill>
                <a:latin typeface="Aptos"/>
                <a:ea typeface="Aptos"/>
                <a:cs typeface="Aptos"/>
              </a:rPr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34360028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182880" y="1143000"/>
            <a:ext cx="5943600" cy="5095875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The resolved MZR is already in place at ~100 pc</a:t>
            </a:r>
          </a:p>
        </p:txBody>
      </p:sp>
      <p:sp>
        <p:nvSpPr>
          <p:cNvPr id="7" name="Rectangle 6"/>
          <p:cNvSpPr/>
          <p:nvPr/>
        </p:nvSpPr>
        <p:spPr>
          <a:xfrm>
            <a:off x="6217920" y="1828800"/>
            <a:ext cx="2743200" cy="3657600"/>
          </a:xfrm>
          <a:prstGeom prst="rect">
            <a:avLst/>
          </a:prstGeom>
          <a:solidFill>
            <a:srgbClr val="FFFFFF"/>
          </a:solidFill>
          <a:ln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>
              <a:defRPr sz="1800">
                <a:solidFill>
                  <a:srgbClr val="000000"/>
                </a:solidFill>
              </a:defRPr>
            </a:pPr>
            <a:r>
              <a:t>Standard rMZR:</a:t>
            </a:r>
          </a:p>
          <a:p>
            <a:pPr>
              <a:defRPr sz="1800">
                <a:solidFill>
                  <a:srgbClr val="000000"/>
                </a:solidFill>
              </a:defRPr>
            </a:pPr>
            <a:r>
              <a:t>O/H increases with local Σ*.</a:t>
            </a:r>
          </a:p>
          <a:p>
            <a:pPr>
              <a:defRPr sz="1800">
                <a:solidFill>
                  <a:srgbClr val="000000"/>
                </a:solidFill>
              </a:defRPr>
            </a:pPr>
          </a:p>
          <a:p>
            <a:pPr>
              <a:defRPr sz="1800">
                <a:solidFill>
                  <a:srgbClr val="000000"/>
                </a:solidFill>
              </a:defRPr>
            </a:pPr>
            <a:r>
              <a:t>High-Σ* flattening:</a:t>
            </a:r>
          </a:p>
          <a:p>
            <a:pPr>
              <a:defRPr sz="1800">
                <a:solidFill>
                  <a:srgbClr val="000000"/>
                </a:solidFill>
              </a:defRPr>
            </a:pPr>
            <a:r>
              <a:t>the relation saturates in dense regions.</a:t>
            </a:r>
          </a:p>
          <a:p>
            <a:pPr>
              <a:defRPr sz="1800">
                <a:solidFill>
                  <a:srgbClr val="000000"/>
                </a:solidFill>
              </a:defRPr>
            </a:pPr>
          </a:p>
          <a:p>
            <a:pPr>
              <a:defRPr sz="1800">
                <a:solidFill>
                  <a:srgbClr val="000000"/>
                </a:solidFill>
              </a:defRPr>
            </a:pPr>
            <a:r>
              <a:t>Non-random scatter:</a:t>
            </a:r>
          </a:p>
          <a:p>
            <a:pPr>
              <a:defRPr sz="1800">
                <a:solidFill>
                  <a:srgbClr val="000000"/>
                </a:solidFill>
              </a:defRPr>
            </a:pPr>
            <a:r>
              <a:t>residuals are ordered by ΣSFR.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21792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EAS2026 SS7 | MAUVE–MUSE</a:t>
            </a:r>
          </a:p>
        </p:txBody>
      </p:sp>
    </p:spTree>
    <p:extLst>
      <p:ext uri="{BB962C8B-B14F-4D97-AF65-F5344CB8AC3E}">
        <p14:creationId xmlns:p14="http://schemas.microsoft.com/office/powerpoint/2010/main" val="93167769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91440" y="1200150"/>
            <a:ext cx="6217920" cy="4762500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91440" y="1257300"/>
            <a:ext cx="6217920" cy="20955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Main result: the metallicity–SFR trend changes sign</a:t>
            </a:r>
          </a:p>
        </p:txBody>
      </p:sp>
      <p:sp>
        <p:nvSpPr>
          <p:cNvPr id="8" name="Rectangle 7"/>
          <p:cNvSpPr/>
          <p:nvPr/>
        </p:nvSpPr>
        <p:spPr>
          <a:xfrm>
            <a:off x="4114800" y="1828800"/>
            <a:ext cx="548640" cy="4114800"/>
          </a:xfrm>
          <a:prstGeom prst="rect">
            <a:avLst/>
          </a:prstGeom>
          <a:solidFill>
            <a:srgbClr val="9696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114800" y="1371600"/>
            <a:ext cx="1371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/>
            </a:pPr>
            <a:r>
              <a:t>sign reversal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0" y="1828800"/>
            <a:ext cx="23774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Low Σ*</a:t>
            </a:r>
          </a:p>
          <a:p>
            <a:r>
              <a:t>high ΣSFR → low O/H</a:t>
            </a:r>
          </a:p>
          <a:p>
            <a:r>
              <a:t>dilution-dominated</a:t>
            </a:r>
          </a:p>
          <a:p/>
          <a:p>
            <a:r>
              <a:t>High Σ*</a:t>
            </a:r>
          </a:p>
          <a:p>
            <a:r>
              <a:t>high ΣSFR → high O/H</a:t>
            </a:r>
          </a:p>
          <a:p>
            <a:r>
              <a:t>enrichment/SFE-dominated</a:t>
            </a:r>
          </a:p>
          <a:p/>
          <a:p>
            <a:r>
              <a:t>Transition</a:t>
            </a:r>
          </a:p>
          <a:p>
            <a:r>
              <a:t>log Σ* ≈ 7.5–8.0</a:t>
            </a:r>
          </a:p>
        </p:txBody>
      </p:sp>
    </p:spTree>
    <p:extLst>
      <p:ext uri="{BB962C8B-B14F-4D97-AF65-F5344CB8AC3E}">
        <p14:creationId xmlns:p14="http://schemas.microsoft.com/office/powerpoint/2010/main" val="212791186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ctangle 19">
            <a:extLst>
              <a:ext uri="{FF2B5EF4-FFF2-40B4-BE49-F238E27FC236}">
                <a16:creationId xmlns:a16="http://schemas.microsoft.com/office/drawing/2014/main" id="{D39BDC0A-5397-4262-A898-A223CDC9BFBB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8FC"/>
          </a:solidFill>
        </p:spPr>
        <p:txBody>
          <a:bodyPr/>
          <a:lstStyle/>
          <a:p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28CD44BB-02ED-4EDD-B07D-F8826466963F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D66EB4"/>
          </a:solidFill>
        </p:spPr>
        <p:txBody>
          <a:bodyPr/>
          <a:lstStyle/>
          <a:p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3704711E-1937-4417-8AD0-7FD0E870A42B}"/>
              </a:ext>
            </a:extLst>
          </p:cNvPr>
          <p:cNvSpPr>
            <a:spLocks noGrp="1"/>
          </p:cNvSpPr>
          <p:nvPr/>
        </p:nvSpPr>
        <p:spPr>
          <a:xfrm>
            <a:off x="514350" y="247650"/>
            <a:ext cx="10096500" cy="228600"/>
          </a:xfrm>
          <a:prstGeom prst="rect">
            <a:avLst/>
          </a:prstGeom>
          <a:noFill/>
        </p:spPr>
        <p:txBody>
          <a:bodyPr wrap="square"/>
          <a:lstStyle/>
          <a:p>
            <a:r>
              <a:rPr sz="900" b="1">
                <a:solidFill>
                  <a:srgbClr val="D66EB4"/>
                </a:solidFill>
                <a:latin typeface="Aptos"/>
                <a:ea typeface="Aptos"/>
                <a:cs typeface="Aptos"/>
              </a:rPr>
              <a:t>LOCAL STRUCTURE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1043875" y="1123950"/>
            <a:ext cx="4865500" cy="5191125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F51EC096-6D3B-49DC-BC9B-7FA8A9C3CA4D}"/>
              </a:ext>
            </a:extLst>
          </p:cNvPr>
          <p:cNvSpPr>
            <a:spLocks noGrp="1"/>
          </p:cNvSpPr>
          <p:nvPr/>
        </p:nvSpPr>
        <p:spPr>
          <a:xfrm>
            <a:off x="6743700" y="1352550"/>
            <a:ext cx="3429000" cy="990600"/>
          </a:xfrm>
          <a:prstGeom prst="rect">
            <a:avLst/>
          </a:prstGeom>
          <a:solidFill>
            <a:srgbClr val="EEF2F7"/>
          </a:solidFill>
        </p:spPr>
        <p:txBody>
          <a:bodyPr/>
          <a:lstStyle/>
          <a:p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E4A6FF61-3720-4BDC-999E-C7FC76CE2980}"/>
              </a:ext>
            </a:extLst>
          </p:cNvPr>
          <p:cNvSpPr>
            <a:spLocks noGrp="1"/>
          </p:cNvSpPr>
          <p:nvPr/>
        </p:nvSpPr>
        <p:spPr>
          <a:xfrm>
            <a:off x="6743700" y="1352550"/>
            <a:ext cx="76200" cy="990600"/>
          </a:xfrm>
          <a:prstGeom prst="rect">
            <a:avLst/>
          </a:prstGeom>
          <a:solidFill>
            <a:srgbClr val="D66EB4"/>
          </a:solidFill>
        </p:spPr>
        <p:txBody>
          <a:bodyPr/>
          <a:lstStyle/>
          <a:p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2AABDEC-959F-4332-9108-9C49FF5901EB}"/>
              </a:ext>
            </a:extLst>
          </p:cNvPr>
          <p:cNvSpPr>
            <a:spLocks noGrp="1"/>
          </p:cNvSpPr>
          <p:nvPr/>
        </p:nvSpPr>
        <p:spPr>
          <a:xfrm>
            <a:off x="6743700" y="2686050"/>
            <a:ext cx="3429000" cy="990600"/>
          </a:xfrm>
          <a:prstGeom prst="rect">
            <a:avLst/>
          </a:prstGeom>
          <a:solidFill>
            <a:srgbClr val="EEF2F7"/>
          </a:solidFill>
        </p:spPr>
        <p:txBody>
          <a:bodyPr/>
          <a:lstStyle/>
          <a:p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3338F46B-2E49-498F-ABAE-353444140994}"/>
              </a:ext>
            </a:extLst>
          </p:cNvPr>
          <p:cNvSpPr>
            <a:spLocks noGrp="1"/>
          </p:cNvSpPr>
          <p:nvPr/>
        </p:nvSpPr>
        <p:spPr>
          <a:xfrm>
            <a:off x="6743700" y="2686050"/>
            <a:ext cx="76200" cy="990600"/>
          </a:xfrm>
          <a:prstGeom prst="rect">
            <a:avLst/>
          </a:prstGeom>
          <a:solidFill>
            <a:srgbClr val="3BC4C4"/>
          </a:solidFill>
        </p:spPr>
        <p:txBody>
          <a:bodyPr/>
          <a:lstStyle/>
          <a:p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E8EE3C8-2842-4B65-B2F3-B4ED05C0A5A8}"/>
              </a:ext>
            </a:extLst>
          </p:cNvPr>
          <p:cNvSpPr>
            <a:spLocks noGrp="1"/>
          </p:cNvSpPr>
          <p:nvPr/>
        </p:nvSpPr>
        <p:spPr>
          <a:xfrm>
            <a:off x="6743700" y="4019550"/>
            <a:ext cx="3429000" cy="990600"/>
          </a:xfrm>
          <a:prstGeom prst="rect">
            <a:avLst/>
          </a:prstGeom>
          <a:solidFill>
            <a:srgbClr val="EEF2F7"/>
          </a:solidFill>
        </p:spPr>
        <p:txBody>
          <a:bodyPr/>
          <a:lstStyle/>
          <a:p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F92A7A35-7FDF-4EB5-B577-EB7C9C71DF87}"/>
              </a:ext>
            </a:extLst>
          </p:cNvPr>
          <p:cNvSpPr>
            <a:spLocks noGrp="1"/>
          </p:cNvSpPr>
          <p:nvPr/>
        </p:nvSpPr>
        <p:spPr>
          <a:xfrm>
            <a:off x="6743700" y="4019550"/>
            <a:ext cx="76200" cy="990600"/>
          </a:xfrm>
          <a:prstGeom prst="rect">
            <a:avLst/>
          </a:prstGeom>
          <a:solidFill>
            <a:srgbClr val="F0B45C"/>
          </a:solidFill>
        </p:spPr>
        <p:txBody>
          <a:bodyPr/>
          <a:lstStyle/>
          <a:p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5495F0CF-48EC-4B1E-A1D6-C9AC0A3DCFEE}"/>
              </a:ext>
            </a:extLst>
          </p:cNvPr>
          <p:cNvSpPr>
            <a:spLocks noGrp="1"/>
          </p:cNvSpPr>
          <p:nvPr/>
        </p:nvSpPr>
        <p:spPr>
          <a:xfrm>
            <a:off x="514350" y="6553200"/>
            <a:ext cx="7429500" cy="171450"/>
          </a:xfrm>
          <a:prstGeom prst="rect">
            <a:avLst/>
          </a:prstGeom>
          <a:noFill/>
        </p:spPr>
        <p:txBody>
          <a:bodyPr wrap="square"/>
          <a:lstStyle/>
          <a:p>
            <a:r>
              <a:rPr sz="675" b="0">
                <a:solidFill>
                  <a:srgbClr val="697489"/>
                </a:solidFill>
                <a:latin typeface="Aptos"/>
                <a:ea typeface="Aptos"/>
                <a:cs typeface="Aptos"/>
              </a:rPr>
              <a:t>EAS2026 SS7 | MAUVE–MUSE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CD81919B-B9F4-437B-82ED-321BFF775433}"/>
              </a:ext>
            </a:extLst>
          </p:cNvPr>
          <p:cNvSpPr>
            <a:spLocks noGrp="1"/>
          </p:cNvSpPr>
          <p:nvPr/>
        </p:nvSpPr>
        <p:spPr>
          <a:xfrm>
            <a:off x="10820400" y="6553200"/>
            <a:ext cx="952500" cy="17145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defRPr sz="675" b="0">
                <a:solidFill>
                  <a:srgbClr val="697489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697489"/>
                </a:solidFill>
                <a:latin typeface="Aptos"/>
                <a:ea typeface="Aptos"/>
                <a:cs typeface="Aptos"/>
              </a:rPr>
              <a:t>8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The sign flip is not only a population average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669280" y="1828800"/>
            <a:ext cx="329184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NGC4192 spans the transition regime.</a:t>
            </a:r>
          </a:p>
          <a:p>
            <a:r>
              <a:t>Local residuals show both concordant and discordant O/H–ΣSFR structure.</a:t>
            </a:r>
          </a:p>
          <a:p/>
          <a:p>
            <a:r>
              <a:t>Red: high-high or low-low</a:t>
            </a:r>
          </a:p>
          <a:p>
            <a:r>
              <a:t>Blue: high-low or low-high</a:t>
            </a:r>
          </a:p>
          <a:p>
            <a:r>
              <a:t>Grey: weak / ambiguous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" y="594360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/>
            </a:pPr>
            <a:r>
              <a:t>Integrated spectra average over this spatial mixture of H II-region regimes.</a:t>
            </a:r>
          </a:p>
        </p:txBody>
      </p:sp>
    </p:spTree>
    <p:extLst>
      <p:ext uri="{BB962C8B-B14F-4D97-AF65-F5344CB8AC3E}">
        <p14:creationId xmlns:p14="http://schemas.microsoft.com/office/powerpoint/2010/main" val="73776608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Interpretation: a competition between enrichment and dilution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828800"/>
            <a:ext cx="27432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/>
            </a:pPr>
            <a:r>
              <a:t>Gas-supply variation</a:t>
            </a:r>
          </a:p>
          <a:p>
            <a:pPr algn="ctr">
              <a:defRPr sz="2000"/>
            </a:pPr>
          </a:p>
          <a:p>
            <a:pPr algn="ctr">
              <a:defRPr sz="2000"/>
            </a:pPr>
            <a:r>
              <a:t>ΔΣgas ↑ → ΔΣSFR ↑</a:t>
            </a:r>
          </a:p>
          <a:p>
            <a:pPr algn="ctr">
              <a:defRPr sz="2000"/>
            </a:pPr>
            <a:r>
              <a:t>ΔO/H ↓</a:t>
            </a:r>
          </a:p>
          <a:p>
            <a:pPr algn="ctr">
              <a:defRPr sz="2000"/>
            </a:pPr>
          </a:p>
          <a:p>
            <a:pPr algn="ctr">
              <a:defRPr sz="2000"/>
            </a:pPr>
          </a:p>
          <a:p>
            <a:pPr algn="ctr">
              <a:defRPr b="1" sz="2000"/>
            </a:pPr>
            <a:r>
              <a:t>negative coupling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0" y="1828800"/>
            <a:ext cx="27432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/>
            </a:pPr>
            <a:r>
              <a:t>Local gas regulator</a:t>
            </a:r>
          </a:p>
          <a:p>
            <a:pPr algn="ctr">
              <a:defRPr sz="2000"/>
            </a:pPr>
          </a:p>
          <a:p>
            <a:pPr algn="ctr">
              <a:defRPr sz="2000"/>
            </a:pPr>
            <a:r>
              <a:t>local H II-region regime</a:t>
            </a:r>
          </a:p>
          <a:p>
            <a:pPr algn="ctr">
              <a:defRPr sz="2000"/>
            </a:pPr>
          </a:p>
          <a:p>
            <a:pPr algn="ctr">
              <a:defRPr sz="2000"/>
            </a:pPr>
            <a:r>
              <a:t>sign depends on dominant variability</a:t>
            </a:r>
          </a:p>
          <a:p>
            <a:pPr algn="ctr">
              <a:defRPr sz="2000"/>
            </a:pPr>
          </a:p>
          <a:p>
            <a:pPr algn="ctr">
              <a:defRPr sz="2000"/>
            </a:pPr>
          </a:p>
          <a:p>
            <a:pPr algn="ctr">
              <a:defRPr b="1" sz="2000"/>
            </a:pPr>
            <a:r>
              <a:t>local regulator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0" y="1828800"/>
            <a:ext cx="27432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/>
            </a:pPr>
            <a:r>
              <a:t>SFE/enrichment variation</a:t>
            </a:r>
          </a:p>
          <a:p>
            <a:pPr algn="ctr">
              <a:defRPr sz="2000"/>
            </a:pPr>
          </a:p>
          <a:p>
            <a:pPr algn="ctr">
              <a:defRPr sz="2000"/>
            </a:pPr>
            <a:r>
              <a:t>ΔSFE ↑ → ΔΣSFR ↑</a:t>
            </a:r>
          </a:p>
          <a:p>
            <a:pPr algn="ctr">
              <a:defRPr sz="2000"/>
            </a:pPr>
            <a:r>
              <a:t>ΔO/H ↑</a:t>
            </a:r>
          </a:p>
          <a:p>
            <a:pPr algn="ctr">
              <a:defRPr sz="2000"/>
            </a:pPr>
          </a:p>
          <a:p>
            <a:pPr algn="ctr">
              <a:defRPr sz="2000"/>
            </a:pPr>
          </a:p>
          <a:p>
            <a:pPr algn="ctr">
              <a:defRPr b="1" sz="2000"/>
            </a:pPr>
            <a:r>
              <a:t>positive coupling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548640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/>
            </a:pPr>
            <a:r>
              <a:t>The sign is a diagnostic of which short-timescale variability dominates locally.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21792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EAS2026 SS7 | MAUVE–MUSE</a:t>
            </a:r>
          </a:p>
        </p:txBody>
      </p:sp>
    </p:spTree>
    <p:extLst>
      <p:ext uri="{BB962C8B-B14F-4D97-AF65-F5344CB8AC3E}">
        <p14:creationId xmlns:p14="http://schemas.microsoft.com/office/powerpoint/2010/main" val="171946736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>
            <a:extLst>
              <a:ext uri="{FF2B5EF4-FFF2-40B4-BE49-F238E27FC236}">
                <a16:creationId xmlns:a16="http://schemas.microsoft.com/office/drawing/2014/main" id="{B23D25E4-ED81-40CC-9B07-466E6181FAA5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8FC"/>
          </a:solidFill>
        </p:spPr>
        <p:txBody>
          <a:bodyPr/>
          <a:lstStyle/>
          <a:p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9E0E075C-D504-4E78-8755-8DAAED9E32A6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D66EB4"/>
          </a:solidFill>
        </p:spPr>
        <p:txBody>
          <a:bodyPr/>
          <a:lstStyle/>
          <a:p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642CABCC-CFF0-4439-B981-DE225A169DE4}"/>
              </a:ext>
            </a:extLst>
          </p:cNvPr>
          <p:cNvSpPr>
            <a:spLocks noGrp="1"/>
          </p:cNvSpPr>
          <p:nvPr/>
        </p:nvSpPr>
        <p:spPr>
          <a:xfrm>
            <a:off x="514350" y="247650"/>
            <a:ext cx="10096500" cy="228600"/>
          </a:xfrm>
          <a:prstGeom prst="rect">
            <a:avLst/>
          </a:prstGeom>
          <a:noFill/>
        </p:spPr>
        <p:txBody>
          <a:bodyPr wrap="square"/>
          <a:lstStyle/>
          <a:p>
            <a:r>
              <a:t>ROBUSTNESS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6CAF3B2-6BD5-4027-B37B-C969E5CDAEC0}"/>
              </a:ext>
            </a:extLst>
          </p:cNvPr>
          <p:cNvSpPr>
            <a:spLocks noGrp="1"/>
          </p:cNvSpPr>
          <p:nvPr/>
        </p:nvSpPr>
        <p:spPr>
          <a:xfrm>
            <a:off x="514350" y="476250"/>
            <a:ext cx="10287000" cy="552450"/>
          </a:xfrm>
          <a:prstGeom prst="rect">
            <a:avLst/>
          </a:prstGeom>
          <a:noFill/>
        </p:spPr>
        <p:txBody>
          <a:bodyPr wrap="square"/>
          <a:lstStyle/>
          <a:p>
            <a:r>
              <a:t>The rMZR is stable; the secondary trend is calibration-sensitive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182880" y="1303350"/>
            <a:ext cx="5303520" cy="2765401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182880" y="4305300"/>
            <a:ext cx="5303520" cy="1714500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9BA32C8A-6118-462B-BEB1-3D7021F59930}"/>
              </a:ext>
            </a:extLst>
          </p:cNvPr>
          <p:cNvSpPr>
            <a:spLocks noGrp="1"/>
          </p:cNvSpPr>
          <p:nvPr/>
        </p:nvSpPr>
        <p:spPr>
          <a:xfrm>
            <a:off x="7715250" y="1390650"/>
            <a:ext cx="3143250" cy="838200"/>
          </a:xfrm>
          <a:prstGeom prst="rect">
            <a:avLst/>
          </a:prstGeom>
          <a:solidFill>
            <a:srgbClr val="EEF2F7"/>
          </a:solidFill>
        </p:spPr>
        <p:txBody>
          <a:bodyPr/>
          <a:lstStyle/>
          <a:p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DC4B387B-7D5A-447B-ABB2-A674A6E21969}"/>
              </a:ext>
            </a:extLst>
          </p:cNvPr>
          <p:cNvSpPr>
            <a:spLocks noGrp="1"/>
          </p:cNvSpPr>
          <p:nvPr/>
        </p:nvSpPr>
        <p:spPr>
          <a:xfrm>
            <a:off x="7715250" y="1390650"/>
            <a:ext cx="76200" cy="838200"/>
          </a:xfrm>
          <a:prstGeom prst="rect">
            <a:avLst/>
          </a:prstGeom>
          <a:solidFill>
            <a:srgbClr val="3BC4C4"/>
          </a:solidFill>
        </p:spPr>
        <p:txBody>
          <a:bodyPr/>
          <a:lstStyle/>
          <a:p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AA7BBA59-D655-45AA-B93B-AFB262C0225B}"/>
              </a:ext>
            </a:extLst>
          </p:cNvPr>
          <p:cNvSpPr>
            <a:spLocks noGrp="1"/>
          </p:cNvSpPr>
          <p:nvPr/>
        </p:nvSpPr>
        <p:spPr>
          <a:xfrm>
            <a:off x="7715250" y="2533650"/>
            <a:ext cx="3143250" cy="838200"/>
          </a:xfrm>
          <a:prstGeom prst="rect">
            <a:avLst/>
          </a:prstGeom>
          <a:solidFill>
            <a:srgbClr val="EEF2F7"/>
          </a:solidFill>
        </p:spPr>
        <p:txBody>
          <a:bodyPr/>
          <a:lstStyle/>
          <a:p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07D4708-FF4D-4634-A497-F78F24417E26}"/>
              </a:ext>
            </a:extLst>
          </p:cNvPr>
          <p:cNvSpPr>
            <a:spLocks noGrp="1"/>
          </p:cNvSpPr>
          <p:nvPr/>
        </p:nvSpPr>
        <p:spPr>
          <a:xfrm>
            <a:off x="7715250" y="2533650"/>
            <a:ext cx="76200" cy="838200"/>
          </a:xfrm>
          <a:prstGeom prst="rect">
            <a:avLst/>
          </a:prstGeom>
          <a:solidFill>
            <a:srgbClr val="F0B45C"/>
          </a:solidFill>
        </p:spPr>
        <p:txBody>
          <a:bodyPr/>
          <a:lstStyle/>
          <a:p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B8CE46EB-3860-479C-8E20-07D39C8713E5}"/>
              </a:ext>
            </a:extLst>
          </p:cNvPr>
          <p:cNvSpPr>
            <a:spLocks noGrp="1"/>
          </p:cNvSpPr>
          <p:nvPr/>
        </p:nvSpPr>
        <p:spPr>
          <a:xfrm>
            <a:off x="7715250" y="3676650"/>
            <a:ext cx="3143250" cy="838200"/>
          </a:xfrm>
          <a:prstGeom prst="rect">
            <a:avLst/>
          </a:prstGeom>
          <a:solidFill>
            <a:srgbClr val="EEF2F7"/>
          </a:solidFill>
        </p:spPr>
        <p:txBody>
          <a:bodyPr/>
          <a:lstStyle/>
          <a:p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AE74DBD4-0D12-4EE8-86A0-7264672FFEDB}"/>
              </a:ext>
            </a:extLst>
          </p:cNvPr>
          <p:cNvSpPr>
            <a:spLocks noGrp="1"/>
          </p:cNvSpPr>
          <p:nvPr/>
        </p:nvSpPr>
        <p:spPr>
          <a:xfrm>
            <a:off x="7715250" y="3676650"/>
            <a:ext cx="76200" cy="838200"/>
          </a:xfrm>
          <a:prstGeom prst="rect">
            <a:avLst/>
          </a:prstGeom>
          <a:solidFill>
            <a:srgbClr val="EF6A64"/>
          </a:solidFill>
        </p:spPr>
        <p:txBody>
          <a:bodyPr/>
          <a:lstStyle/>
          <a:p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1D4A24B3-0CB4-4E55-908C-FFAE42337816}"/>
              </a:ext>
            </a:extLst>
          </p:cNvPr>
          <p:cNvSpPr>
            <a:spLocks noGrp="1"/>
          </p:cNvSpPr>
          <p:nvPr/>
        </p:nvSpPr>
        <p:spPr>
          <a:xfrm>
            <a:off x="514350" y="6553200"/>
            <a:ext cx="7429500" cy="171450"/>
          </a:xfrm>
          <a:prstGeom prst="rect">
            <a:avLst/>
          </a:prstGeom>
          <a:noFill/>
        </p:spPr>
        <p:txBody>
          <a:bodyPr wrap="square"/>
          <a:lstStyle/>
          <a:p>
            <a:r>
              <a:rPr sz="675" b="0">
                <a:solidFill>
                  <a:srgbClr val="697489"/>
                </a:solidFill>
                <a:latin typeface="Aptos"/>
                <a:ea typeface="Aptos"/>
                <a:cs typeface="Aptos"/>
              </a:rPr>
              <a:t>EAS2026 SS7 | MAUVE–MUSE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DF5B0CAC-E7BD-49E6-8CE7-36A70E68215C}"/>
              </a:ext>
            </a:extLst>
          </p:cNvPr>
          <p:cNvSpPr>
            <a:spLocks noGrp="1"/>
          </p:cNvSpPr>
          <p:nvPr/>
        </p:nvSpPr>
        <p:spPr>
          <a:xfrm>
            <a:off x="10820400" y="6553200"/>
            <a:ext cx="952500" cy="17145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defRPr sz="675" b="0">
                <a:solidFill>
                  <a:srgbClr val="697489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697489"/>
                </a:solidFill>
                <a:latin typeface="Aptos"/>
                <a:ea typeface="Aptos"/>
                <a:cs typeface="Aptos"/>
              </a:rPr>
              <a:t>10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669280" y="1828800"/>
            <a:ext cx="329184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/>
            </a:pPr>
            <a:r>
              <a:t>Stable primary relation</a:t>
            </a:r>
          </a:p>
          <a:p>
            <a:pPr>
              <a:defRPr sz="1600"/>
            </a:pPr>
            <a:r>
              <a:t>all diagnostics recover a broadly standard rMZR</a:t>
            </a:r>
          </a:p>
          <a:p>
            <a:pPr>
              <a:defRPr sz="1600"/>
            </a:pPr>
          </a:p>
          <a:p>
            <a:pPr>
              <a:defRPr sz="1600"/>
            </a:pPr>
            <a:r>
              <a:t>Strongest inversion</a:t>
            </a:r>
          </a:p>
          <a:p>
            <a:pPr>
              <a:defRPr sz="1600"/>
            </a:pPr>
            <a:r>
              <a:t>O3N2–M13 and O3N2–C20</a:t>
            </a:r>
          </a:p>
          <a:p>
            <a:pPr>
              <a:defRPr sz="1600"/>
            </a:pPr>
          </a:p>
          <a:p>
            <a:pPr>
              <a:defRPr sz="1600"/>
            </a:pPr>
            <a:r>
              <a:t>Systematic sensitivity</a:t>
            </a:r>
          </a:p>
          <a:p>
            <a:pPr>
              <a:defRPr sz="1600"/>
            </a:pPr>
            <a:r>
              <a:t>N2S2/S-based diagnostics and mixed excitation weaken or alter the secondary trend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" y="621792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/>
            </a:pPr>
            <a:r>
              <a:t>NGC4383 is excluded from the ensemble: physically distinct outflow / metallicity outlier.</a:t>
            </a:r>
          </a:p>
        </p:txBody>
      </p:sp>
    </p:spTree>
    <p:extLst>
      <p:ext uri="{BB962C8B-B14F-4D97-AF65-F5344CB8AC3E}">
        <p14:creationId xmlns:p14="http://schemas.microsoft.com/office/powerpoint/2010/main" val="176545952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Take-home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828800"/>
            <a:ext cx="77724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>
                <a:solidFill>
                  <a:srgbClr val="FFFFFF"/>
                </a:solidFill>
              </a:defRPr>
            </a:pPr>
            <a:r>
              <a:t>1. MAUVE–MUSE resolves the rMZR in Virgo spirals at ~100 pc.</a:t>
            </a:r>
          </a:p>
          <a:p>
            <a:pPr>
              <a:defRPr sz="2200">
                <a:solidFill>
                  <a:srgbClr val="FFFFFF"/>
                </a:solidFill>
              </a:defRPr>
            </a:pPr>
          </a:p>
          <a:p>
            <a:pPr>
              <a:defRPr sz="2200">
                <a:solidFill>
                  <a:srgbClr val="FFFFFF"/>
                </a:solidFill>
              </a:defRPr>
            </a:pPr>
            <a:r>
              <a:t>2. At fixed Σ*, O/H–ΣSFR residuals flip sign: dilution at low Σ*, enrichment/SFE at high Σ*.</a:t>
            </a:r>
          </a:p>
          <a:p>
            <a:pPr>
              <a:defRPr sz="2200">
                <a:solidFill>
                  <a:srgbClr val="FFFFFF"/>
                </a:solidFill>
              </a:defRPr>
            </a:pPr>
          </a:p>
          <a:p>
            <a:pPr>
              <a:defRPr sz="2200">
                <a:solidFill>
                  <a:srgbClr val="FFFFFF"/>
                </a:solidFill>
              </a:defRPr>
            </a:pPr>
            <a:r>
              <a:t>3. Integrated spectra mix these local H II-region regimes, hiding the underlying gas-cycle physics.</a:t>
            </a:r>
          </a:p>
          <a:p>
            <a:pPr>
              <a:defRPr sz="2200">
                <a:solidFill>
                  <a:srgbClr val="FFFFFF"/>
                </a:solidFill>
              </a:defRPr>
            </a:pPr>
          </a:p>
          <a:p>
            <a:pPr>
              <a:defRPr sz="2200">
                <a:solidFill>
                  <a:srgbClr val="FFFFFF"/>
                </a:solidFill>
              </a:defRPr>
            </a:pPr>
            <a:r>
              <a:t>Metallicity does not simply follow or fight star formation — it depends on local regime.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0" y="6217920"/>
            <a:ext cx="2286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FFFFFF"/>
                </a:solidFill>
              </a:defRPr>
            </a:pPr>
            <a:r>
              <a:t>Thank you - questions?</a:t>
            </a:r>
          </a:p>
        </p:txBody>
      </p:sp>
    </p:spTree>
    <p:extLst>
      <p:ext uri="{BB962C8B-B14F-4D97-AF65-F5344CB8AC3E}">
        <p14:creationId xmlns:p14="http://schemas.microsoft.com/office/powerpoint/2010/main" val="72453741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88A01CCD-6BEB-41FE-BD34-1BDA650837B4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8FC"/>
          </a:solidFill>
        </p:spPr>
        <p:txBody>
          <a:bodyPr/>
          <a:lstStyle/>
          <a:p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BA3F6835-AD47-49FD-B32D-152BE5B778C4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D66EB4"/>
          </a:solidFill>
        </p:spPr>
        <p:txBody>
          <a:bodyPr/>
          <a:lstStyle/>
          <a:p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B0F67E64-F350-4E9E-BEA0-D048CCD8EE5B}"/>
              </a:ext>
            </a:extLst>
          </p:cNvPr>
          <p:cNvSpPr>
            <a:spLocks noGrp="1"/>
          </p:cNvSpPr>
          <p:nvPr/>
        </p:nvSpPr>
        <p:spPr>
          <a:xfrm>
            <a:off x="514350" y="247650"/>
            <a:ext cx="10096500" cy="228600"/>
          </a:xfrm>
          <a:prstGeom prst="rect">
            <a:avLst/>
          </a:prstGeom>
          <a:noFill/>
        </p:spPr>
        <p:txBody>
          <a:bodyPr wrap="square"/>
          <a:lstStyle/>
          <a:p>
            <a:r>
              <a:rPr sz="900" b="1">
                <a:solidFill>
                  <a:srgbClr val="D66EB4"/>
                </a:solidFill>
                <a:latin typeface="Aptos"/>
                <a:ea typeface="Aptos"/>
                <a:cs typeface="Aptos"/>
              </a:rPr>
              <a:t>BACKUP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6E68A35-BED6-4668-9630-C9F07C220FB2}"/>
              </a:ext>
            </a:extLst>
          </p:cNvPr>
          <p:cNvSpPr>
            <a:spLocks noGrp="1"/>
          </p:cNvSpPr>
          <p:nvPr/>
        </p:nvSpPr>
        <p:spPr>
          <a:xfrm>
            <a:off x="514350" y="476250"/>
            <a:ext cx="10287000" cy="552450"/>
          </a:xfrm>
          <a:prstGeom prst="rect">
            <a:avLst/>
          </a:prstGeom>
          <a:noFill/>
        </p:spPr>
        <p:txBody>
          <a:bodyPr wrap="square"/>
          <a:lstStyle/>
          <a:p>
            <a:r>
              <a:rPr sz="2100" b="1">
                <a:solidFill>
                  <a:srgbClr val="152033"/>
                </a:solidFill>
                <a:latin typeface="Aptos"/>
                <a:ea typeface="Aptos"/>
                <a:cs typeface="Aptos"/>
              </a:rPr>
              <a:t>Backup: full rMZR and O/H-ΣSFR figure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2072026" y="1095375"/>
            <a:ext cx="7095449" cy="5381625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34B6B747-F284-4504-9312-EAE4AEB7B922}"/>
              </a:ext>
            </a:extLst>
          </p:cNvPr>
          <p:cNvSpPr>
            <a:spLocks noGrp="1"/>
          </p:cNvSpPr>
          <p:nvPr/>
        </p:nvSpPr>
        <p:spPr>
          <a:xfrm>
            <a:off x="514350" y="6553200"/>
            <a:ext cx="7429500" cy="171450"/>
          </a:xfrm>
          <a:prstGeom prst="rect">
            <a:avLst/>
          </a:prstGeom>
          <a:noFill/>
        </p:spPr>
        <p:txBody>
          <a:bodyPr wrap="square"/>
          <a:lstStyle/>
          <a:p>
            <a:r>
              <a:rPr sz="675" b="0">
                <a:solidFill>
                  <a:srgbClr val="697489"/>
                </a:solidFill>
                <a:latin typeface="Aptos"/>
                <a:ea typeface="Aptos"/>
                <a:cs typeface="Aptos"/>
              </a:rPr>
              <a:t>Backup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06DFF73-8F9F-404F-A46F-72295DBE5F9C}"/>
              </a:ext>
            </a:extLst>
          </p:cNvPr>
          <p:cNvSpPr>
            <a:spLocks noGrp="1"/>
          </p:cNvSpPr>
          <p:nvPr/>
        </p:nvSpPr>
        <p:spPr>
          <a:xfrm>
            <a:off x="10820400" y="6553200"/>
            <a:ext cx="952500" cy="17145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defRPr sz="675" b="0">
                <a:solidFill>
                  <a:srgbClr val="697489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697489"/>
                </a:solidFill>
                <a:latin typeface="Aptos"/>
                <a:ea typeface="Aptos"/>
                <a:cs typeface="Aptos"/>
              </a:rPr>
              <a:t>B1</a:t>
            </a:r>
          </a:p>
        </p:txBody>
      </p:sp>
    </p:spTree>
    <p:extLst>
      <p:ext uri="{BB962C8B-B14F-4D97-AF65-F5344CB8AC3E}">
        <p14:creationId xmlns:p14="http://schemas.microsoft.com/office/powerpoint/2010/main" val="147063473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A358B93C-FD6A-4B04-B612-C6DD9230643D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8FC"/>
          </a:solidFill>
        </p:spPr>
        <p:txBody>
          <a:bodyPr/>
          <a:lstStyle/>
          <a:p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70C8B9CE-9485-493C-94DF-8EC180C9D8FD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D66EB4"/>
          </a:solidFill>
        </p:spPr>
        <p:txBody>
          <a:bodyPr/>
          <a:lstStyle/>
          <a:p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2CB95E48-A1DE-42CE-95BB-4DCF205CCBD8}"/>
              </a:ext>
            </a:extLst>
          </p:cNvPr>
          <p:cNvSpPr>
            <a:spLocks noGrp="1"/>
          </p:cNvSpPr>
          <p:nvPr/>
        </p:nvSpPr>
        <p:spPr>
          <a:xfrm>
            <a:off x="514350" y="247650"/>
            <a:ext cx="10096500" cy="228600"/>
          </a:xfrm>
          <a:prstGeom prst="rect">
            <a:avLst/>
          </a:prstGeom>
          <a:noFill/>
        </p:spPr>
        <p:txBody>
          <a:bodyPr wrap="square"/>
          <a:lstStyle/>
          <a:p>
            <a:r>
              <a:rPr sz="900" b="1">
                <a:solidFill>
                  <a:srgbClr val="D66EB4"/>
                </a:solidFill>
                <a:latin typeface="Aptos"/>
                <a:ea typeface="Aptos"/>
                <a:cs typeface="Aptos"/>
              </a:rPr>
              <a:t>BACKUP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18FD546-D65A-4C21-B18B-E0F973195B20}"/>
              </a:ext>
            </a:extLst>
          </p:cNvPr>
          <p:cNvSpPr>
            <a:spLocks noGrp="1"/>
          </p:cNvSpPr>
          <p:nvPr/>
        </p:nvSpPr>
        <p:spPr>
          <a:xfrm>
            <a:off x="514350" y="476250"/>
            <a:ext cx="10287000" cy="552450"/>
          </a:xfrm>
          <a:prstGeom prst="rect">
            <a:avLst/>
          </a:prstGeom>
          <a:noFill/>
        </p:spPr>
        <p:txBody>
          <a:bodyPr wrap="square"/>
          <a:lstStyle/>
          <a:p>
            <a:r>
              <a:rPr sz="2100" b="1">
                <a:solidFill>
                  <a:srgbClr val="152033"/>
                </a:solidFill>
                <a:latin typeface="Aptos"/>
                <a:ea typeface="Aptos"/>
                <a:cs typeface="Aptos"/>
              </a:rPr>
              <a:t>Backup: calibration and excitation-selection dependence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2774772" y="1104900"/>
            <a:ext cx="5699481" cy="5381625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E693241B-C911-45DA-B4D3-BA148B39184B}"/>
              </a:ext>
            </a:extLst>
          </p:cNvPr>
          <p:cNvSpPr>
            <a:spLocks noGrp="1"/>
          </p:cNvSpPr>
          <p:nvPr/>
        </p:nvSpPr>
        <p:spPr>
          <a:xfrm>
            <a:off x="514350" y="6553200"/>
            <a:ext cx="7429500" cy="171450"/>
          </a:xfrm>
          <a:prstGeom prst="rect">
            <a:avLst/>
          </a:prstGeom>
          <a:noFill/>
        </p:spPr>
        <p:txBody>
          <a:bodyPr wrap="square"/>
          <a:lstStyle/>
          <a:p>
            <a:r>
              <a:rPr sz="675" b="0">
                <a:solidFill>
                  <a:srgbClr val="697489"/>
                </a:solidFill>
                <a:latin typeface="Aptos"/>
                <a:ea typeface="Aptos"/>
                <a:cs typeface="Aptos"/>
              </a:rPr>
              <a:t>Backup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5102736D-A830-4AF9-85C6-1AE79F03459B}"/>
              </a:ext>
            </a:extLst>
          </p:cNvPr>
          <p:cNvSpPr>
            <a:spLocks noGrp="1"/>
          </p:cNvSpPr>
          <p:nvPr/>
        </p:nvSpPr>
        <p:spPr>
          <a:xfrm>
            <a:off x="10820400" y="6553200"/>
            <a:ext cx="952500" cy="17145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defRPr sz="675" b="0">
                <a:solidFill>
                  <a:srgbClr val="697489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697489"/>
                </a:solidFill>
                <a:latin typeface="Aptos"/>
                <a:ea typeface="Aptos"/>
                <a:cs typeface="Aptos"/>
              </a:rPr>
              <a:t>B2</a:t>
            </a:r>
          </a:p>
        </p:txBody>
      </p:sp>
    </p:spTree>
    <p:extLst>
      <p:ext uri="{BB962C8B-B14F-4D97-AF65-F5344CB8AC3E}">
        <p14:creationId xmlns:p14="http://schemas.microsoft.com/office/powerpoint/2010/main" val="11552632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angle 20">
            <a:extLst>
              <a:ext uri="{FF2B5EF4-FFF2-40B4-BE49-F238E27FC236}">
                <a16:creationId xmlns:a16="http://schemas.microsoft.com/office/drawing/2014/main" id="{FF608071-9B7F-4C39-A6CF-54E899B0D291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8FC"/>
          </a:solidFill>
        </p:spPr>
        <p:txBody>
          <a:bodyPr/>
          <a:lstStyle/>
          <a:p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FBFBB567-1291-4884-9762-8C14F30D2C31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D66EB4"/>
          </a:solidFill>
        </p:spPr>
        <p:txBody>
          <a:bodyPr/>
          <a:lstStyle/>
          <a:p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B0A33FDE-5738-4E78-85EA-EEA3A982B589}"/>
              </a:ext>
            </a:extLst>
          </p:cNvPr>
          <p:cNvSpPr>
            <a:spLocks noGrp="1"/>
          </p:cNvSpPr>
          <p:nvPr/>
        </p:nvSpPr>
        <p:spPr>
          <a:xfrm>
            <a:off x="514350" y="247650"/>
            <a:ext cx="10096500" cy="228600"/>
          </a:xfrm>
          <a:prstGeom prst="rect">
            <a:avLst/>
          </a:prstGeom>
          <a:noFill/>
        </p:spPr>
        <p:txBody>
          <a:bodyPr wrap="square"/>
          <a:lstStyle/>
          <a:p>
            <a:r>
              <a:rPr sz="900" b="1">
                <a:solidFill>
                  <a:srgbClr val="D66EB4"/>
                </a:solidFill>
                <a:latin typeface="Aptos"/>
                <a:ea typeface="Aptos"/>
                <a:cs typeface="Aptos"/>
              </a:rPr>
              <a:t>BACKUP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C29B907-E765-476F-8211-A7F18A92488E}"/>
              </a:ext>
            </a:extLst>
          </p:cNvPr>
          <p:cNvSpPr>
            <a:spLocks noGrp="1"/>
          </p:cNvSpPr>
          <p:nvPr/>
        </p:nvSpPr>
        <p:spPr>
          <a:xfrm>
            <a:off x="514350" y="476250"/>
            <a:ext cx="10287000" cy="552450"/>
          </a:xfrm>
          <a:prstGeom prst="rect">
            <a:avLst/>
          </a:prstGeom>
          <a:noFill/>
        </p:spPr>
        <p:txBody>
          <a:bodyPr wrap="square"/>
          <a:lstStyle/>
          <a:p>
            <a:r>
              <a:rPr sz="2100" b="1">
                <a:solidFill>
                  <a:srgbClr val="152033"/>
                </a:solidFill>
                <a:latin typeface="Aptos"/>
                <a:ea typeface="Aptos"/>
                <a:cs typeface="Aptos"/>
              </a:rPr>
              <a:t>Backup: pipeline details kept out of the main talk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20957F3-C73F-480D-A478-FBE5A78D2461}"/>
              </a:ext>
            </a:extLst>
          </p:cNvPr>
          <p:cNvSpPr>
            <a:spLocks noGrp="1"/>
          </p:cNvSpPr>
          <p:nvPr/>
        </p:nvSpPr>
        <p:spPr>
          <a:xfrm>
            <a:off x="838200" y="1504950"/>
            <a:ext cx="3143250" cy="1257300"/>
          </a:xfrm>
          <a:prstGeom prst="rect">
            <a:avLst/>
          </a:prstGeom>
          <a:solidFill>
            <a:srgbClr val="EEF2F7"/>
          </a:solidFill>
        </p:spPr>
        <p:txBody>
          <a:bodyPr/>
          <a:lstStyle/>
          <a:p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4110E85-B373-4339-85D5-63453725F193}"/>
              </a:ext>
            </a:extLst>
          </p:cNvPr>
          <p:cNvSpPr>
            <a:spLocks noGrp="1"/>
          </p:cNvSpPr>
          <p:nvPr/>
        </p:nvSpPr>
        <p:spPr>
          <a:xfrm>
            <a:off x="838200" y="1504950"/>
            <a:ext cx="76200" cy="1257300"/>
          </a:xfrm>
          <a:prstGeom prst="rect">
            <a:avLst/>
          </a:prstGeom>
          <a:solidFill>
            <a:srgbClr val="D66EB4"/>
          </a:solidFill>
        </p:spPr>
        <p:txBody>
          <a:bodyPr/>
          <a:lstStyle/>
          <a:p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4902133-DB05-444A-8976-6A9E70827ADC}"/>
              </a:ext>
            </a:extLst>
          </p:cNvPr>
          <p:cNvSpPr>
            <a:spLocks noGrp="1"/>
          </p:cNvSpPr>
          <p:nvPr/>
        </p:nvSpPr>
        <p:spPr>
          <a:xfrm>
            <a:off x="1028700" y="1657350"/>
            <a:ext cx="2800350" cy="266700"/>
          </a:xfrm>
          <a:prstGeom prst="rect">
            <a:avLst/>
          </a:prstGeom>
          <a:noFill/>
        </p:spPr>
        <p:txBody>
          <a:bodyPr wrap="square"/>
          <a:lstStyle/>
          <a:p>
            <a:r>
              <a:rPr sz="1350" b="1">
                <a:solidFill>
                  <a:srgbClr val="152033"/>
                </a:solidFill>
                <a:latin typeface="Aptos"/>
                <a:ea typeface="Aptos"/>
                <a:cs typeface="Aptos"/>
              </a:rPr>
              <a:t>Mass.py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9C1851F2-9462-44E6-B574-F79E7CC6B915}"/>
              </a:ext>
            </a:extLst>
          </p:cNvPr>
          <p:cNvSpPr>
            <a:spLocks noGrp="1"/>
          </p:cNvSpPr>
          <p:nvPr/>
        </p:nvSpPr>
        <p:spPr>
          <a:xfrm>
            <a:off x="1028700" y="2000250"/>
            <a:ext cx="2800350" cy="666750"/>
          </a:xfrm>
          <a:prstGeom prst="rect">
            <a:avLst/>
          </a:prstGeom>
          <a:noFill/>
        </p:spPr>
        <p:txBody>
          <a:bodyPr wrap="square"/>
          <a:lstStyle/>
          <a:p>
            <a:r>
              <a:rPr sz="1088" b="0">
                <a:solidFill>
                  <a:srgbClr val="344053"/>
                </a:solidFill>
                <a:latin typeface="Aptos"/>
                <a:ea typeface="Aptos"/>
                <a:cs typeface="Aptos"/>
              </a:rPr>
              <a:t>nGIST SFH weights + SSP mass-to-light ratio + photometric flux corrections → Σ* map.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60B76E3D-D0C3-46CF-ADCD-7F58F8D8499C}"/>
              </a:ext>
            </a:extLst>
          </p:cNvPr>
          <p:cNvSpPr>
            <a:spLocks noGrp="1"/>
          </p:cNvSpPr>
          <p:nvPr/>
        </p:nvSpPr>
        <p:spPr>
          <a:xfrm>
            <a:off x="4514850" y="1504950"/>
            <a:ext cx="3143250" cy="1257300"/>
          </a:xfrm>
          <a:prstGeom prst="rect">
            <a:avLst/>
          </a:prstGeom>
          <a:solidFill>
            <a:srgbClr val="EEF2F7"/>
          </a:solidFill>
        </p:spPr>
        <p:txBody>
          <a:bodyPr/>
          <a:lstStyle/>
          <a:p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82362C2-7C40-451D-BFD0-15D961289630}"/>
              </a:ext>
            </a:extLst>
          </p:cNvPr>
          <p:cNvSpPr>
            <a:spLocks noGrp="1"/>
          </p:cNvSpPr>
          <p:nvPr/>
        </p:nvSpPr>
        <p:spPr>
          <a:xfrm>
            <a:off x="4514850" y="1504950"/>
            <a:ext cx="76200" cy="1257300"/>
          </a:xfrm>
          <a:prstGeom prst="rect">
            <a:avLst/>
          </a:prstGeom>
          <a:solidFill>
            <a:srgbClr val="F0B45C"/>
          </a:solidFill>
        </p:spPr>
        <p:txBody>
          <a:bodyPr/>
          <a:lstStyle/>
          <a:p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11D6369B-E4CF-4D56-BF53-77D331102845}"/>
              </a:ext>
            </a:extLst>
          </p:cNvPr>
          <p:cNvSpPr>
            <a:spLocks noGrp="1"/>
          </p:cNvSpPr>
          <p:nvPr/>
        </p:nvSpPr>
        <p:spPr>
          <a:xfrm>
            <a:off x="4705350" y="1657350"/>
            <a:ext cx="2800350" cy="266700"/>
          </a:xfrm>
          <a:prstGeom prst="rect">
            <a:avLst/>
          </a:prstGeom>
          <a:noFill/>
        </p:spPr>
        <p:txBody>
          <a:bodyPr wrap="square"/>
          <a:lstStyle/>
          <a:p>
            <a:r>
              <a:rPr sz="1350" b="1">
                <a:solidFill>
                  <a:srgbClr val="152033"/>
                </a:solidFill>
                <a:latin typeface="Aptos"/>
                <a:ea typeface="Aptos"/>
                <a:cs typeface="Aptos"/>
              </a:rPr>
              <a:t>SFR+Z.py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76BC3C7-E28B-4550-A93F-AD8F73116B9D}"/>
              </a:ext>
            </a:extLst>
          </p:cNvPr>
          <p:cNvSpPr>
            <a:spLocks noGrp="1"/>
          </p:cNvSpPr>
          <p:nvPr/>
        </p:nvSpPr>
        <p:spPr>
          <a:xfrm>
            <a:off x="4705350" y="2000250"/>
            <a:ext cx="2800350" cy="666750"/>
          </a:xfrm>
          <a:prstGeom prst="rect">
            <a:avLst/>
          </a:prstGeom>
          <a:noFill/>
        </p:spPr>
        <p:txBody>
          <a:bodyPr wrap="square"/>
          <a:lstStyle/>
          <a:p>
            <a:r>
              <a:rPr sz="1088" b="0">
                <a:solidFill>
                  <a:srgbClr val="344053"/>
                </a:solidFill>
                <a:latin typeface="Aptos"/>
                <a:ea typeface="Aptos"/>
                <a:cs typeface="Aptos"/>
              </a:rPr>
              <a:t>Balmer-corrected H-alpha luminosity + inclination correction → ΣSFR map.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5D8043BE-787F-4949-A2CF-6C6A51579848}"/>
              </a:ext>
            </a:extLst>
          </p:cNvPr>
          <p:cNvSpPr>
            <a:spLocks noGrp="1"/>
          </p:cNvSpPr>
          <p:nvPr/>
        </p:nvSpPr>
        <p:spPr>
          <a:xfrm>
            <a:off x="8191500" y="1504950"/>
            <a:ext cx="3143250" cy="1257300"/>
          </a:xfrm>
          <a:prstGeom prst="rect">
            <a:avLst/>
          </a:prstGeom>
          <a:solidFill>
            <a:srgbClr val="EEF2F7"/>
          </a:solidFill>
        </p:spPr>
        <p:txBody>
          <a:bodyPr/>
          <a:lstStyle/>
          <a:p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5ECD29A-CF8E-4DB8-8F8A-BFDA4619E052}"/>
              </a:ext>
            </a:extLst>
          </p:cNvPr>
          <p:cNvSpPr>
            <a:spLocks noGrp="1"/>
          </p:cNvSpPr>
          <p:nvPr/>
        </p:nvSpPr>
        <p:spPr>
          <a:xfrm>
            <a:off x="8191500" y="1504950"/>
            <a:ext cx="76200" cy="1257300"/>
          </a:xfrm>
          <a:prstGeom prst="rect">
            <a:avLst/>
          </a:prstGeom>
          <a:solidFill>
            <a:srgbClr val="3BC4C4"/>
          </a:solidFill>
        </p:spPr>
        <p:txBody>
          <a:bodyPr/>
          <a:lstStyle/>
          <a:p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4EF0CDA8-631C-4F62-9825-1FA9DC20E59D}"/>
              </a:ext>
            </a:extLst>
          </p:cNvPr>
          <p:cNvSpPr>
            <a:spLocks noGrp="1"/>
          </p:cNvSpPr>
          <p:nvPr/>
        </p:nvSpPr>
        <p:spPr>
          <a:xfrm>
            <a:off x="8382000" y="1657350"/>
            <a:ext cx="2800350" cy="266700"/>
          </a:xfrm>
          <a:prstGeom prst="rect">
            <a:avLst/>
          </a:prstGeom>
          <a:noFill/>
        </p:spPr>
        <p:txBody>
          <a:bodyPr wrap="square"/>
          <a:lstStyle/>
          <a:p>
            <a:r>
              <a:rPr sz="1350" b="1">
                <a:solidFill>
                  <a:srgbClr val="152033"/>
                </a:solidFill>
                <a:latin typeface="Aptos"/>
                <a:ea typeface="Aptos"/>
                <a:cs typeface="Aptos"/>
              </a:rPr>
              <a:t>SFR+Z.py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E2CBA697-5535-481F-A091-F74CC69C3C3E}"/>
              </a:ext>
            </a:extLst>
          </p:cNvPr>
          <p:cNvSpPr>
            <a:spLocks noGrp="1"/>
          </p:cNvSpPr>
          <p:nvPr/>
        </p:nvSpPr>
        <p:spPr>
          <a:xfrm>
            <a:off x="8382000" y="2000250"/>
            <a:ext cx="2800350" cy="666750"/>
          </a:xfrm>
          <a:prstGeom prst="rect">
            <a:avLst/>
          </a:prstGeom>
          <a:noFill/>
        </p:spPr>
        <p:txBody>
          <a:bodyPr wrap="square"/>
          <a:lstStyle/>
          <a:p>
            <a:r>
              <a:rPr sz="1088" b="0">
                <a:solidFill>
                  <a:srgbClr val="344053"/>
                </a:solidFill>
                <a:latin typeface="Aptos"/>
                <a:ea typeface="Aptos"/>
                <a:cs typeface="Aptos"/>
              </a:rPr>
              <a:t>BPT-selected H II-region spaxels + O3N2-M13 fiducial calibration → 12+log(O/H).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B1E8B71B-5993-47AE-A1C5-C73DCB43B463}"/>
              </a:ext>
            </a:extLst>
          </p:cNvPr>
          <p:cNvSpPr>
            <a:spLocks noGrp="1"/>
          </p:cNvSpPr>
          <p:nvPr/>
        </p:nvSpPr>
        <p:spPr>
          <a:xfrm>
            <a:off x="1238250" y="3752850"/>
            <a:ext cx="9334500" cy="742950"/>
          </a:xfrm>
          <a:prstGeom prst="rect">
            <a:avLst/>
          </a:prstGeom>
          <a:solidFill>
            <a:srgbClr val="08111F"/>
          </a:solidFill>
        </p:spPr>
        <p:txBody>
          <a:bodyPr/>
          <a:lstStyle/>
          <a:p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E5AB5B5A-60D0-4CB4-BBEE-389BB2229FB6}"/>
              </a:ext>
            </a:extLst>
          </p:cNvPr>
          <p:cNvSpPr>
            <a:spLocks noGrp="1"/>
          </p:cNvSpPr>
          <p:nvPr/>
        </p:nvSpPr>
        <p:spPr>
          <a:xfrm>
            <a:off x="1504950" y="3962400"/>
            <a:ext cx="8810625" cy="28575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6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650" b="1" dirty="0">
                <a:solidFill>
                  <a:srgbClr val="FFFFFF"/>
                </a:solidFill>
                <a:latin typeface="Aptos"/>
                <a:ea typeface="Aptos"/>
                <a:cs typeface="Aptos"/>
              </a:rPr>
              <a:t>Main-talk wording avoids code names; this slide preserves the technical path for questions.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095D4A2F-1CB6-4EB7-A89F-EEAC2F3C1634}"/>
              </a:ext>
            </a:extLst>
          </p:cNvPr>
          <p:cNvSpPr>
            <a:spLocks noGrp="1"/>
          </p:cNvSpPr>
          <p:nvPr/>
        </p:nvSpPr>
        <p:spPr>
          <a:xfrm>
            <a:off x="514350" y="6553200"/>
            <a:ext cx="7429500" cy="171450"/>
          </a:xfrm>
          <a:prstGeom prst="rect">
            <a:avLst/>
          </a:prstGeom>
          <a:noFill/>
        </p:spPr>
        <p:txBody>
          <a:bodyPr wrap="square"/>
          <a:lstStyle/>
          <a:p>
            <a:r>
              <a:rPr sz="675" b="0">
                <a:solidFill>
                  <a:srgbClr val="697489"/>
                </a:solidFill>
                <a:latin typeface="Aptos"/>
                <a:ea typeface="Aptos"/>
                <a:cs typeface="Aptos"/>
              </a:rPr>
              <a:t>Backup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948D86DC-0135-4824-8335-CB6F4511609A}"/>
              </a:ext>
            </a:extLst>
          </p:cNvPr>
          <p:cNvSpPr>
            <a:spLocks noGrp="1"/>
          </p:cNvSpPr>
          <p:nvPr/>
        </p:nvSpPr>
        <p:spPr>
          <a:xfrm>
            <a:off x="10820400" y="6553200"/>
            <a:ext cx="952500" cy="17145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defRPr sz="675" b="0">
                <a:solidFill>
                  <a:srgbClr val="697489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697489"/>
                </a:solidFill>
                <a:latin typeface="Aptos"/>
                <a:ea typeface="Aptos"/>
                <a:cs typeface="Aptos"/>
              </a:rPr>
              <a:t>B3</a:t>
            </a:r>
          </a:p>
        </p:txBody>
      </p:sp>
    </p:spTree>
    <p:extLst>
      <p:ext uri="{BB962C8B-B14F-4D97-AF65-F5344CB8AC3E}">
        <p14:creationId xmlns:p14="http://schemas.microsoft.com/office/powerpoint/2010/main" val="99390946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918</Words>
  <Application>Microsoft Macintosh PowerPoint</Application>
  <DocSecurity>0</DocSecurity>
  <PresentationFormat>Widescreen</PresentationFormat>
  <Paragraphs>133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Aptos</vt:lpstr>
      <vt:lpstr>Aptos Display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Rongjun Huang</cp:lastModifiedBy>
  <cp:revision>1</cp:revision>
  <dcterms:created xsi:type="dcterms:W3CDTF">2026-06-12T05:35:20Z</dcterms:created>
  <dcterms:modified xsi:type="dcterms:W3CDTF">2026-06-12T05:48:08Z</dcterms:modified>
</cp:coreProperties>
</file>